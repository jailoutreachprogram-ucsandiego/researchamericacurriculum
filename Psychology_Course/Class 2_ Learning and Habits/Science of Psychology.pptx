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7"/>
  </p:notesMasterIdLst>
  <p:sldIdLst>
    <p:sldId id="269" r:id="rId2"/>
    <p:sldId id="270"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07" r:id="rId40"/>
    <p:sldId id="308" r:id="rId41"/>
    <p:sldId id="309" r:id="rId42"/>
    <p:sldId id="310" r:id="rId43"/>
    <p:sldId id="311" r:id="rId44"/>
    <p:sldId id="312" r:id="rId45"/>
    <p:sldId id="313" r:id="rId46"/>
    <p:sldId id="314" r:id="rId47"/>
    <p:sldId id="315" r:id="rId48"/>
    <p:sldId id="316" r:id="rId49"/>
    <p:sldId id="317" r:id="rId50"/>
    <p:sldId id="318" r:id="rId51"/>
    <p:sldId id="319" r:id="rId52"/>
    <p:sldId id="320" r:id="rId53"/>
    <p:sldId id="321" r:id="rId54"/>
    <p:sldId id="322" r:id="rId55"/>
    <p:sldId id="323" r:id="rId56"/>
  </p:sldIdLst>
  <p:sldSz cx="9144000" cy="5143500" type="screen16x9"/>
  <p:notesSz cx="6858000" cy="9144000"/>
  <p:embeddedFontLst>
    <p:embeddedFont>
      <p:font typeface="EB Garamond" panose="020F0502020204030204" pitchFamily="2" charset="0"/>
      <p:regular r:id="rId58"/>
      <p:bold r:id="rId59"/>
      <p:italic r:id="rId60"/>
      <p:boldItalic r:id="rId61"/>
    </p:embeddedFont>
    <p:embeddedFont>
      <p:font typeface="Maven Pro" panose="020B0604020202020204" charset="0"/>
      <p:regular r:id="rId62"/>
      <p:bold r:id="rId63"/>
    </p:embeddedFont>
    <p:embeddedFont>
      <p:font typeface="Nunito" pitchFamily="2" charset="0"/>
      <p:regular r:id="rId64"/>
      <p:bold r:id="rId65"/>
      <p:italic r:id="rId66"/>
      <p:boldItalic r:id="rId67"/>
    </p:embeddedFont>
    <p:embeddedFont>
      <p:font typeface="Roboto" panose="02000000000000000000" pitchFamily="2"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8" roundtripDataSignature="AMtx7mi4dlLZsTms+WBstlEbEfOYaxZWi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4BFB638-F785-423E-8C43-A966A99C0DAA}">
  <a:tblStyle styleId="{F4BFB638-F785-423E-8C43-A966A99C0DA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89"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font" Target="fonts/font4.fntdata"/><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font" Target="fonts/font13.fntdata"/><Relationship Id="rId88" Type="http://customschemas.google.com/relationships/presentationmetadata" Target="metadata"/><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14.fntdata"/><Relationship Id="rId9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doi.org/10.1146/annurev-psych-122414-033417"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doi.org/10.1146/annurev-psych-122414-033417"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onlinelibrary.wiley.com/doi/abs/10.1002/ejsp.674#fn1" TargetMode="External"/><Relationship Id="rId2" Type="http://schemas.openxmlformats.org/officeDocument/2006/relationships/slide" Target="../slides/slide45.xml"/><Relationship Id="rId1" Type="http://schemas.openxmlformats.org/officeDocument/2006/relationships/notesMaster" Target="../notesMasters/notesMaster1.xml"/><Relationship Id="rId5" Type="http://schemas.openxmlformats.org/officeDocument/2006/relationships/hyperlink" Target="https://doi.org/10.1177/1539449219876877" TargetMode="External"/><Relationship Id="rId4" Type="http://schemas.openxmlformats.org/officeDocument/2006/relationships/hyperlink" Target="https://doi.org/10.1002/ejsp.674" TargetMode="Externa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cas-sca.journals.uvic.ca/index.php/anthropologica/article/view/1493/1261" TargetMode="External"/><Relationship Id="rId2" Type="http://schemas.openxmlformats.org/officeDocument/2006/relationships/slide" Target="../slides/slide52.xml"/><Relationship Id="rId1" Type="http://schemas.openxmlformats.org/officeDocument/2006/relationships/notesMaster" Target="../notesMasters/notesMaster1.xml"/><Relationship Id="rId5" Type="http://schemas.openxmlformats.org/officeDocument/2006/relationships/hyperlink" Target="https://mysteriesofcanada.com/alberta/wechuge-horror-of-the-northern-woods/" TargetMode="External"/><Relationship Id="rId4" Type="http://schemas.openxmlformats.org/officeDocument/2006/relationships/hyperlink" Target="https://en.wikipedia.org/wiki/Wechuge" TargetMode="Externa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f682ff2984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9" name="Google Shape;389;g3f682ff2984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5" name="Google Shape;39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emphasize learning objectives, connect back to them during lesson and afterwards.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7" name="Google Shape;40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And this is plastic! Can change - waking up at 4am vs waking up at 8am may shift affiliation of lunchtime etc.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3" name="Google Shape;41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0" name="Google Shape;42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7" name="Google Shape;44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f6bd4abed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8" name="Google Shape;458;g3f6bd4abed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4" name="Google Shape;46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3f6bd4abedf_1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4" name="Google Shape;474;g3f6bd4abedf_1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3f6bd4abedf_1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4" name="Google Shape;484;g3f6bd4abedf_1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3f6bd4abedf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4" name="Google Shape;494;g3f6bd4abedf_1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4" name="Google Shape;50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3f6bd4abedf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0" name="Google Shape;510;g3f6bd4abedf_1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f6bd4abedf_1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6" name="Google Shape;516;g3f6bd4abedf_1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f6bd4abedf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2" name="Google Shape;522;g3f6bd4abedf_1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f6bd4abedf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8" name="Google Shape;528;g3f6bd4abedf_1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f6bd4abedf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4" name="Google Shape;534;g3f6bd4abedf_1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0" name="Google Shape;54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6" name="Google Shape;546;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2" name="Google Shape;55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6" name="Google Shape;57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3f6c98727f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9" name="Google Shape;589;g3f6c98727f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5" name="Google Shape;59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Scenario 1: positive reinforcement</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Scenario 2: negative punishment</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Scenario 3: positive punishment</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Scenario 4: negative reinforcement</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solidFill>
                  <a:schemeClr val="dk1"/>
                </a:solidFill>
              </a:rPr>
              <a:t>Scenario 5: </a:t>
            </a:r>
            <a:r>
              <a:rPr lang="en">
                <a:solidFill>
                  <a:schemeClr val="dk1"/>
                </a:solidFill>
                <a:latin typeface="Roboto"/>
                <a:ea typeface="Roboto"/>
                <a:cs typeface="Roboto"/>
                <a:sym typeface="Roboto"/>
              </a:rPr>
              <a:t>This is negative reinforcement because an unpleasant stimulus (pain) is removed to increase the behavior of taking medicine in the future.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3f65876b5c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3f65876b5c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3f6bd4abedf_1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3f6bd4abedf_1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3f68d628453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3f68d628453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9" name="Google Shape;61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Habituation, sensitization, cognitive learning (latent learning - buildup knowledge even if dont need it right away, internal thought - use memory, thought, attention instead of automatic responses)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8" name="Google Shape;628;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4" name="Google Shape;63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0" name="Google Shape;640;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3f6c98727f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7" name="Google Shape;647;g3f6c98727f8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3" name="Google Shape;653;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9" name="Google Shape;659;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300">
                <a:solidFill>
                  <a:srgbClr val="1B1B1B"/>
                </a:solidFill>
                <a:highlight>
                  <a:srgbClr val="FFFFFF"/>
                </a:highlight>
                <a:latin typeface="Times New Roman"/>
                <a:ea typeface="Times New Roman"/>
                <a:cs typeface="Times New Roman"/>
                <a:sym typeface="Times New Roman"/>
              </a:rPr>
              <a:t>Habits are not instincts nor reflexive!</a:t>
            </a:r>
            <a:endParaRPr sz="1300">
              <a:solidFill>
                <a:srgbClr val="1B1B1B"/>
              </a:solidFill>
              <a:highlight>
                <a:srgbClr val="FFFFFF"/>
              </a:highlight>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endParaRPr sz="1300">
              <a:solidFill>
                <a:srgbClr val="1B1B1B"/>
              </a:solidFill>
              <a:highlight>
                <a:srgbClr val="FFFFFF"/>
              </a:highlight>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r>
              <a:rPr lang="en" sz="1300">
                <a:solidFill>
                  <a:srgbClr val="1B1B1B"/>
                </a:solidFill>
                <a:highlight>
                  <a:srgbClr val="FFFFFF"/>
                </a:highlight>
                <a:latin typeface="Times New Roman"/>
                <a:ea typeface="Times New Roman"/>
                <a:cs typeface="Times New Roman"/>
                <a:sym typeface="Times New Roman"/>
              </a:rPr>
              <a:t>“Habit is a process by which a stimulus generates an impulse to act as a result of a learned stimulus-response association” -</a:t>
            </a:r>
            <a:r>
              <a:rPr lang="en" sz="1300">
                <a:solidFill>
                  <a:srgbClr val="1B1B1B"/>
                </a:solidFill>
                <a:latin typeface="Times New Roman"/>
                <a:ea typeface="Times New Roman"/>
                <a:cs typeface="Times New Roman"/>
                <a:sym typeface="Times New Roman"/>
              </a:rPr>
              <a:t> Gardner 2015 </a:t>
            </a:r>
            <a:r>
              <a:rPr lang="en" sz="1200">
                <a:solidFill>
                  <a:srgbClr val="212121"/>
                </a:solidFill>
                <a:latin typeface="Roboto"/>
                <a:ea typeface="Roboto"/>
                <a:cs typeface="Roboto"/>
                <a:sym typeface="Roboto"/>
              </a:rPr>
              <a:t>Gardner B. A review and analysis of the use of 'habit' in understanding, predicting and influencing health-related behaviour. Health Psychol Rev. 2015;9(3):277-95. doi: 10.1080/17437199.2013.876238. Epub 2014 Jan 21. PMID: 25207647; PMCID: PMC4566897. </a:t>
            </a:r>
            <a:endParaRPr sz="1200">
              <a:solidFill>
                <a:srgbClr val="212121"/>
              </a:solidFill>
              <a:latin typeface="Roboto"/>
              <a:ea typeface="Roboto"/>
              <a:cs typeface="Roboto"/>
              <a:sym typeface="Roboto"/>
            </a:endParaRPr>
          </a:p>
          <a:p>
            <a:pPr marL="0" lvl="0" indent="0" algn="l" rtl="0">
              <a:lnSpc>
                <a:spcPct val="100000"/>
              </a:lnSpc>
              <a:spcBef>
                <a:spcPts val="0"/>
              </a:spcBef>
              <a:spcAft>
                <a:spcPts val="0"/>
              </a:spcAft>
              <a:buSzPts val="1100"/>
              <a:buNone/>
            </a:pPr>
            <a:endParaRPr sz="1200">
              <a:solidFill>
                <a:srgbClr val="212121"/>
              </a:solidFill>
              <a:latin typeface="Roboto"/>
              <a:ea typeface="Roboto"/>
              <a:cs typeface="Roboto"/>
              <a:sym typeface="Roboto"/>
            </a:endParaRPr>
          </a:p>
          <a:p>
            <a:pPr marL="0" lvl="0" indent="0" algn="l" rtl="0">
              <a:lnSpc>
                <a:spcPct val="100000"/>
              </a:lnSpc>
              <a:spcBef>
                <a:spcPts val="0"/>
              </a:spcBef>
              <a:spcAft>
                <a:spcPts val="0"/>
              </a:spcAft>
              <a:buSzPts val="1100"/>
              <a:buNone/>
            </a:pPr>
            <a:r>
              <a:rPr lang="en" sz="1200">
                <a:solidFill>
                  <a:srgbClr val="212121"/>
                </a:solidFill>
                <a:latin typeface="Roboto"/>
                <a:ea typeface="Roboto"/>
                <a:cs typeface="Roboto"/>
                <a:sym typeface="Roboto"/>
              </a:rPr>
              <a:t>“</a:t>
            </a:r>
            <a:r>
              <a:rPr lang="en" sz="1350">
                <a:solidFill>
                  <a:srgbClr val="333333"/>
                </a:solidFill>
                <a:highlight>
                  <a:srgbClr val="FFFFFF"/>
                </a:highlight>
              </a:rPr>
              <a:t>A variety of cues might trigger habit performance, including aspects of physical environments, other people, and preceding actions in a sequence. Once habits form, perception of the relevant context cues automatically activates the mental representation of the habitual response” - Wood and Rünger 2016 </a:t>
            </a:r>
            <a:r>
              <a:rPr lang="en" sz="1000">
                <a:solidFill>
                  <a:srgbClr val="333333"/>
                </a:solidFill>
                <a:highlight>
                  <a:srgbClr val="FFFFFF"/>
                </a:highlight>
              </a:rPr>
              <a:t>Wendy Wood, Dennis Rünger. 2016. Psychology of Habit. </a:t>
            </a:r>
            <a:r>
              <a:rPr lang="en" sz="1000" i="1">
                <a:solidFill>
                  <a:srgbClr val="333333"/>
                </a:solidFill>
                <a:highlight>
                  <a:srgbClr val="FFFFFF"/>
                </a:highlight>
              </a:rPr>
              <a:t>Annual Review of Psychology</a:t>
            </a:r>
            <a:r>
              <a:rPr lang="en" sz="1000">
                <a:solidFill>
                  <a:srgbClr val="333333"/>
                </a:solidFill>
                <a:highlight>
                  <a:srgbClr val="FFFFFF"/>
                </a:highlight>
              </a:rPr>
              <a:t> 67:289-314. </a:t>
            </a:r>
            <a:r>
              <a:rPr lang="en" sz="1000" u="sng">
                <a:solidFill>
                  <a:srgbClr val="2F5E83"/>
                </a:solidFill>
                <a:highlight>
                  <a:srgbClr val="FFFFFF"/>
                </a:highlight>
                <a:hlinkClick r:id="rId3">
                  <a:extLst>
                    <a:ext uri="{A12FA001-AC4F-418D-AE19-62706E023703}">
                      <ahyp:hlinkClr xmlns:ahyp="http://schemas.microsoft.com/office/drawing/2018/hyperlinkcolor" val="tx"/>
                    </a:ext>
                  </a:extLst>
                </a:hlinkClick>
              </a:rPr>
              <a:t>https://doi.org/10.1146/annurev-psych-122414-033417</a:t>
            </a:r>
            <a:endParaRPr sz="1200">
              <a:solidFill>
                <a:srgbClr val="212121"/>
              </a:solidFill>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5" name="Google Shape;66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a:t>
            </a:r>
            <a:r>
              <a:rPr lang="en" sz="1350">
                <a:solidFill>
                  <a:srgbClr val="333333"/>
                </a:solidFill>
                <a:highlight>
                  <a:srgbClr val="FFFFFF"/>
                </a:highlight>
              </a:rPr>
              <a:t>habitual and goal-directed behaviors are mediated by neural circuits that link cortical brain areas and the basal ganglia (BG), a collection of subcortical nuclei. These circuits are organized as anatomically separate reentrant loops, two of which are essential for deliberate and habitual responding” - Wood 2016</a:t>
            </a:r>
            <a:endParaRPr sz="1350">
              <a:solidFill>
                <a:srgbClr val="333333"/>
              </a:solidFill>
              <a:highlight>
                <a:srgbClr val="FFFFFF"/>
              </a:highlight>
            </a:endParaRPr>
          </a:p>
          <a:p>
            <a:pPr marL="0" lvl="0" indent="0" algn="l" rtl="0">
              <a:lnSpc>
                <a:spcPct val="100000"/>
              </a:lnSpc>
              <a:spcBef>
                <a:spcPts val="0"/>
              </a:spcBef>
              <a:spcAft>
                <a:spcPts val="0"/>
              </a:spcAft>
              <a:buSzPts val="1100"/>
              <a:buNone/>
            </a:pPr>
            <a:endParaRPr sz="1350">
              <a:solidFill>
                <a:srgbClr val="333333"/>
              </a:solidFill>
              <a:highlight>
                <a:srgbClr val="FFFFFF"/>
              </a:highlight>
            </a:endParaRPr>
          </a:p>
          <a:p>
            <a:pPr marL="0" lvl="0" indent="0" algn="l" rtl="0">
              <a:lnSpc>
                <a:spcPct val="100000"/>
              </a:lnSpc>
              <a:spcBef>
                <a:spcPts val="0"/>
              </a:spcBef>
              <a:spcAft>
                <a:spcPts val="0"/>
              </a:spcAft>
              <a:buSzPts val="1100"/>
              <a:buNone/>
            </a:pPr>
            <a:r>
              <a:rPr lang="en" sz="1350">
                <a:solidFill>
                  <a:srgbClr val="333333"/>
                </a:solidFill>
                <a:highlight>
                  <a:srgbClr val="FFFFFF"/>
                </a:highlight>
              </a:rPr>
              <a:t>Basal ganglia vital for context (active at start and end of habit) not for directly storing memory. </a:t>
            </a:r>
            <a:endParaRPr sz="1350">
              <a:solidFill>
                <a:srgbClr val="333333"/>
              </a:solidFill>
              <a:highlight>
                <a:srgbClr val="FFFFFF"/>
              </a:highlight>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5" name="Google Shape;675;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Also acetylcholine, serotonin, roles in habit formation.</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3" name="Google Shape;693;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000">
                <a:solidFill>
                  <a:srgbClr val="333333"/>
                </a:solidFill>
                <a:highlight>
                  <a:srgbClr val="FFFFFF"/>
                </a:highlight>
              </a:rPr>
              <a:t>Wendy Wood, Dennis Rünger. 2016. Psychology of Habit. </a:t>
            </a:r>
            <a:r>
              <a:rPr lang="en" sz="1000" i="1">
                <a:solidFill>
                  <a:srgbClr val="333333"/>
                </a:solidFill>
                <a:highlight>
                  <a:srgbClr val="FFFFFF"/>
                </a:highlight>
              </a:rPr>
              <a:t>Annual Review of Psychology</a:t>
            </a:r>
            <a:r>
              <a:rPr lang="en" sz="1000">
                <a:solidFill>
                  <a:srgbClr val="333333"/>
                </a:solidFill>
                <a:highlight>
                  <a:srgbClr val="FFFFFF"/>
                </a:highlight>
              </a:rPr>
              <a:t> 67:289-314. </a:t>
            </a:r>
            <a:r>
              <a:rPr lang="en" sz="1000" u="sng">
                <a:solidFill>
                  <a:srgbClr val="2F5E83"/>
                </a:solidFill>
                <a:highlight>
                  <a:srgbClr val="FFFFFF"/>
                </a:highlight>
                <a:hlinkClick r:id="rId3">
                  <a:extLst>
                    <a:ext uri="{A12FA001-AC4F-418D-AE19-62706E023703}">
                      <ahyp:hlinkClr xmlns:ahyp="http://schemas.microsoft.com/office/drawing/2018/hyperlinkcolor" val="tx"/>
                    </a:ext>
                  </a:extLst>
                </a:hlinkClick>
              </a:rPr>
              <a:t>https://doi.org/10.1146/annurev-psych-122414-033417</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3" name="Google Shape;703;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Or just being morning time, or the smell of coffee someone else is brewing.</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Cue is the context surrounding the previous reward</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3" name="Google Shape;713;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9" name="Google Shape;719;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1600">
                <a:solidFill>
                  <a:srgbClr val="595959"/>
                </a:solidFill>
              </a:rPr>
              <a:t>Encourage insight: You can’t always remove the cue (like stress), but you can replace the routine with something healthier that gives a similar reward (like deep breathing, journaling, or talking it out).</a:t>
            </a:r>
            <a:endParaRPr sz="1600">
              <a:solidFill>
                <a:srgbClr val="595959"/>
              </a:solidFill>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5" name="Google Shape;725;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600" b="1">
                <a:solidFill>
                  <a:schemeClr val="dk1"/>
                </a:solidFill>
              </a:rPr>
              <a:t>Nice - write this stuff on board to connect back to the learning types we covered:</a:t>
            </a:r>
            <a:endParaRPr sz="16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800">
                <a:solidFill>
                  <a:srgbClr val="595959"/>
                </a:solidFill>
              </a:rPr>
              <a:t>Briefly discuss how understanding these learning processes gives tools to change:</a:t>
            </a:r>
            <a:endParaRPr sz="1800">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sz="1800">
                <a:solidFill>
                  <a:srgbClr val="595959"/>
                </a:solidFill>
              </a:rPr>
              <a:t>Classical: re-pair triggers with new meanings</a:t>
            </a:r>
            <a:endParaRPr sz="1800">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sz="1800">
                <a:solidFill>
                  <a:srgbClr val="595959"/>
                </a:solidFill>
              </a:rPr>
              <a:t>Operant: change rewards/consequences</a:t>
            </a:r>
            <a:endParaRPr sz="1800">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sz="1800">
                <a:solidFill>
                  <a:srgbClr val="595959"/>
                </a:solidFill>
              </a:rPr>
              <a:t>Observational: surround yourself with better models</a:t>
            </a:r>
            <a:endParaRPr sz="1800">
              <a:solidFill>
                <a:srgbClr val="595959"/>
              </a:solidFill>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3f68d628453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3f68d628453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Even the step of recognition is a large step. Also visualization, context, altered reward (see types of learning below)</a:t>
            </a:r>
            <a:endParaRPr/>
          </a:p>
          <a:p>
            <a:pPr marL="0" lvl="0" indent="0" algn="l" rtl="0">
              <a:spcBef>
                <a:spcPts val="0"/>
              </a:spcBef>
              <a:spcAft>
                <a:spcPts val="0"/>
              </a:spcAft>
              <a:buNone/>
            </a:pPr>
            <a:endParaRPr/>
          </a:p>
          <a:p>
            <a:pPr marL="0" lvl="0" indent="0" algn="l" rtl="0">
              <a:spcBef>
                <a:spcPts val="0"/>
              </a:spcBef>
              <a:spcAft>
                <a:spcPts val="0"/>
              </a:spcAft>
              <a:buNone/>
            </a:pPr>
            <a:r>
              <a:rPr lang="en" sz="1050">
                <a:solidFill>
                  <a:srgbClr val="1C1D1E"/>
                </a:solidFill>
                <a:highlight>
                  <a:srgbClr val="FFFFFF"/>
                </a:highlight>
              </a:rPr>
              <a:t>Lally, P., van Jaarsveld, C.H.M., Potts, H.W.W. and Wardle, J. (2010), How are habits formed: Modelling habit formation in the real world</a:t>
            </a:r>
            <a:r>
              <a:rPr lang="en" sz="1300" baseline="30000">
                <a:solidFill>
                  <a:srgbClr val="123D80"/>
                </a:solidFill>
                <a:highlight>
                  <a:srgbClr val="FFFFFF"/>
                </a:highlight>
                <a:uFill>
                  <a:noFill/>
                </a:uFill>
                <a:hlinkClick r:id="rId3">
                  <a:extLst>
                    <a:ext uri="{A12FA001-AC4F-418D-AE19-62706E023703}">
                      <ahyp:hlinkClr xmlns:ahyp="http://schemas.microsoft.com/office/drawing/2018/hyperlinkcolor" val="tx"/>
                    </a:ext>
                  </a:extLst>
                </a:hlinkClick>
              </a:rPr>
              <a:t>†</a:t>
            </a:r>
            <a:r>
              <a:rPr lang="en" sz="1050">
                <a:solidFill>
                  <a:srgbClr val="1C1D1E"/>
                </a:solidFill>
                <a:highlight>
                  <a:srgbClr val="FFFFFF"/>
                </a:highlight>
              </a:rPr>
              <a:t>. Eur. J. Soc. Psychol., 40: 998-1009. </a:t>
            </a:r>
            <a:r>
              <a:rPr lang="en" sz="1050">
                <a:solidFill>
                  <a:srgbClr val="123D80"/>
                </a:solidFill>
                <a:highlight>
                  <a:srgbClr val="FFFFFF"/>
                </a:highlight>
                <a:uFill>
                  <a:noFill/>
                </a:uFill>
                <a:hlinkClick r:id="rId4">
                  <a:extLst>
                    <a:ext uri="{A12FA001-AC4F-418D-AE19-62706E023703}">
                      <ahyp:hlinkClr xmlns:ahyp="http://schemas.microsoft.com/office/drawing/2018/hyperlinkcolor" val="tx"/>
                    </a:ext>
                  </a:extLst>
                </a:hlinkClick>
              </a:rPr>
              <a:t>https://doi.org/10.1002/ejsp.674</a:t>
            </a:r>
            <a:endParaRPr/>
          </a:p>
          <a:p>
            <a:pPr marL="0" lvl="0" indent="0" algn="l" rtl="0">
              <a:spcBef>
                <a:spcPts val="0"/>
              </a:spcBef>
              <a:spcAft>
                <a:spcPts val="0"/>
              </a:spcAft>
              <a:buNone/>
            </a:pPr>
            <a:endParaRPr/>
          </a:p>
          <a:p>
            <a:pPr marL="0" lvl="0" indent="0" algn="l" rtl="0">
              <a:spcBef>
                <a:spcPts val="0"/>
              </a:spcBef>
              <a:spcAft>
                <a:spcPts val="0"/>
              </a:spcAft>
              <a:buNone/>
            </a:pPr>
            <a:r>
              <a:rPr lang="en" sz="1200">
                <a:solidFill>
                  <a:srgbClr val="333333"/>
                </a:solidFill>
                <a:highlight>
                  <a:srgbClr val="FFFFFF"/>
                </a:highlight>
              </a:rPr>
              <a:t>Fritz H, Hu Y-L, Gahman K, Almacen C, Ottolini J. Intervention to Modify Habits: A Scoping Review. </a:t>
            </a:r>
            <a:r>
              <a:rPr lang="en" sz="1200" i="1">
                <a:solidFill>
                  <a:srgbClr val="333333"/>
                </a:solidFill>
                <a:highlight>
                  <a:srgbClr val="FFFFFF"/>
                </a:highlight>
              </a:rPr>
              <a:t>OTJR: Occupational Therapy Journal of Research</a:t>
            </a:r>
            <a:r>
              <a:rPr lang="en" sz="1200">
                <a:solidFill>
                  <a:srgbClr val="333333"/>
                </a:solidFill>
                <a:highlight>
                  <a:srgbClr val="FFFFFF"/>
                </a:highlight>
              </a:rPr>
              <a:t>. 2020;40(2):99-112. doi:</a:t>
            </a:r>
            <a:r>
              <a:rPr lang="en" sz="1200" u="sng">
                <a:solidFill>
                  <a:srgbClr val="2537C6"/>
                </a:solidFill>
                <a:highlight>
                  <a:srgbClr val="FFFFFF"/>
                </a:highlight>
                <a:hlinkClick r:id="rId5">
                  <a:extLst>
                    <a:ext uri="{A12FA001-AC4F-418D-AE19-62706E023703}">
                      <ahyp:hlinkClr xmlns:ahyp="http://schemas.microsoft.com/office/drawing/2018/hyperlinkcolor" val="tx"/>
                    </a:ext>
                  </a:extLst>
                </a:hlinkClick>
              </a:rPr>
              <a:t>10.1177/1539449219876877</a:t>
            </a:r>
            <a:endParaRPr/>
          </a:p>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3f99c6e39bf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8" name="Google Shape;738;g3f99c6e39b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3f99c6e39bf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3" name="Google Shape;743;g3f99c6e39bf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3f99c6e39bf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9" name="Google Shape;749;g3f99c6e39bf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3f99c6e39bf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3f99c6e39bf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3f99c6e39bf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3f99c6e39bf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3f6ebbd21f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7" name="Google Shape;777;g3f6ebbd21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3f99c6e39bf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9" name="Google Shape;789;g3f99c6e39bf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https://cas-sca.journals.uvic.ca/index.php/anthropologica/article/view/1493/1261</a:t>
            </a:r>
            <a:r>
              <a:rPr lang="en"/>
              <a:t> </a:t>
            </a:r>
            <a:endParaRPr/>
          </a:p>
          <a:p>
            <a:pPr marL="0" lvl="0" indent="0" algn="l" rtl="0">
              <a:spcBef>
                <a:spcPts val="0"/>
              </a:spcBef>
              <a:spcAft>
                <a:spcPts val="0"/>
              </a:spcAft>
              <a:buNone/>
            </a:pPr>
            <a:r>
              <a:rPr lang="en" u="sng">
                <a:solidFill>
                  <a:schemeClr val="hlink"/>
                </a:solidFill>
                <a:hlinkClick r:id="rId4"/>
              </a:rPr>
              <a:t>https://en.wikipedia.org/wiki/Wechuge</a:t>
            </a:r>
            <a:r>
              <a:rPr lang="en"/>
              <a:t> </a:t>
            </a:r>
            <a:endParaRPr/>
          </a:p>
          <a:p>
            <a:pPr marL="0" lvl="0" indent="0" algn="l" rtl="0">
              <a:spcBef>
                <a:spcPts val="0"/>
              </a:spcBef>
              <a:spcAft>
                <a:spcPts val="0"/>
              </a:spcAft>
              <a:buNone/>
            </a:pPr>
            <a:r>
              <a:rPr lang="en" u="sng">
                <a:solidFill>
                  <a:schemeClr val="hlink"/>
                </a:solidFill>
                <a:hlinkClick r:id="rId5"/>
              </a:rPr>
              <a:t>https://mysteriesofcanada.com/alberta/wechuge-horror-of-the-northern-woods/</a:t>
            </a:r>
            <a:r>
              <a:rPr lang="en"/>
              <a:t> </a:t>
            </a:r>
            <a:endParaRPr/>
          </a:p>
          <a:p>
            <a:pPr marL="0" lvl="0" indent="0" algn="l" rtl="0">
              <a:spcBef>
                <a:spcPts val="0"/>
              </a:spcBef>
              <a:spcAft>
                <a:spcPts val="0"/>
              </a:spcAft>
              <a:buNone/>
            </a:pPr>
            <a:endParaRPr/>
          </a:p>
          <a:p>
            <a:pPr marL="0" lvl="0" indent="0" algn="l" rtl="0">
              <a:spcBef>
                <a:spcPts val="0"/>
              </a:spcBef>
              <a:spcAft>
                <a:spcPts val="0"/>
              </a:spcAft>
              <a:buNone/>
            </a:pPr>
            <a:r>
              <a:rPr lang="en"/>
              <a:t>**Part of being a scientist is being open to all interpretations until enough data to show one is likely or unlikely.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3f6ebbd21f1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7" name="Google Shape;797;g3f6ebbd21f1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3f6ebbd21f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5" name="Google Shape;805;g3f6ebbd21f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3f6ebbd21f1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3" name="Google Shape;813;g3f6ebbd21f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33"/>
          <p:cNvGrpSpPr/>
          <p:nvPr/>
        </p:nvGrpSpPr>
        <p:grpSpPr>
          <a:xfrm>
            <a:off x="7343003" y="3409675"/>
            <a:ext cx="1691422" cy="1732548"/>
            <a:chOff x="7343003" y="3409675"/>
            <a:chExt cx="1691422" cy="1732548"/>
          </a:xfrm>
        </p:grpSpPr>
        <p:grpSp>
          <p:nvGrpSpPr>
            <p:cNvPr id="11" name="Google Shape;11;p33"/>
            <p:cNvGrpSpPr/>
            <p:nvPr/>
          </p:nvGrpSpPr>
          <p:grpSpPr>
            <a:xfrm>
              <a:off x="7343003" y="4453711"/>
              <a:ext cx="316800" cy="688512"/>
              <a:chOff x="7343003" y="4453711"/>
              <a:chExt cx="316800" cy="688512"/>
            </a:xfrm>
          </p:grpSpPr>
          <p:sp>
            <p:nvSpPr>
              <p:cNvPr id="12" name="Google Shape;12;p33"/>
              <p:cNvSpPr/>
              <p:nvPr/>
            </p:nvSpPr>
            <p:spPr>
              <a:xfrm>
                <a:off x="7343003" y="4453711"/>
                <a:ext cx="316800" cy="688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33"/>
              <p:cNvSpPr/>
              <p:nvPr/>
            </p:nvSpPr>
            <p:spPr>
              <a:xfrm>
                <a:off x="7343003" y="4801723"/>
                <a:ext cx="316800" cy="340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 name="Google Shape;14;p33"/>
            <p:cNvGrpSpPr/>
            <p:nvPr/>
          </p:nvGrpSpPr>
          <p:grpSpPr>
            <a:xfrm>
              <a:off x="7801210" y="4105700"/>
              <a:ext cx="316800" cy="1036523"/>
              <a:chOff x="7801210" y="4105700"/>
              <a:chExt cx="316800" cy="1036523"/>
            </a:xfrm>
          </p:grpSpPr>
          <p:sp>
            <p:nvSpPr>
              <p:cNvPr id="15" name="Google Shape;15;p33"/>
              <p:cNvSpPr/>
              <p:nvPr/>
            </p:nvSpPr>
            <p:spPr>
              <a:xfrm>
                <a:off x="7801210" y="4453711"/>
                <a:ext cx="316800" cy="688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3"/>
              <p:cNvSpPr/>
              <p:nvPr/>
            </p:nvSpPr>
            <p:spPr>
              <a:xfrm>
                <a:off x="7801210" y="4105700"/>
                <a:ext cx="316800" cy="1036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3"/>
              <p:cNvSpPr/>
              <p:nvPr/>
            </p:nvSpPr>
            <p:spPr>
              <a:xfrm>
                <a:off x="7801210" y="4801723"/>
                <a:ext cx="316800" cy="340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 name="Google Shape;18;p33"/>
            <p:cNvGrpSpPr/>
            <p:nvPr/>
          </p:nvGrpSpPr>
          <p:grpSpPr>
            <a:xfrm>
              <a:off x="8259418" y="3757688"/>
              <a:ext cx="316800" cy="1384535"/>
              <a:chOff x="8259418" y="3757688"/>
              <a:chExt cx="316800" cy="1384535"/>
            </a:xfrm>
          </p:grpSpPr>
          <p:sp>
            <p:nvSpPr>
              <p:cNvPr id="19" name="Google Shape;19;p33"/>
              <p:cNvSpPr/>
              <p:nvPr/>
            </p:nvSpPr>
            <p:spPr>
              <a:xfrm>
                <a:off x="8259418" y="4453711"/>
                <a:ext cx="316800" cy="688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3"/>
              <p:cNvSpPr/>
              <p:nvPr/>
            </p:nvSpPr>
            <p:spPr>
              <a:xfrm>
                <a:off x="8259418" y="3757688"/>
                <a:ext cx="316800" cy="1384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3"/>
              <p:cNvSpPr/>
              <p:nvPr/>
            </p:nvSpPr>
            <p:spPr>
              <a:xfrm>
                <a:off x="8259418" y="4105700"/>
                <a:ext cx="316800" cy="1036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3"/>
              <p:cNvSpPr/>
              <p:nvPr/>
            </p:nvSpPr>
            <p:spPr>
              <a:xfrm>
                <a:off x="8259418" y="4801723"/>
                <a:ext cx="316800" cy="340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 name="Google Shape;23;p33"/>
            <p:cNvGrpSpPr/>
            <p:nvPr/>
          </p:nvGrpSpPr>
          <p:grpSpPr>
            <a:xfrm>
              <a:off x="8717625" y="3409675"/>
              <a:ext cx="316800" cy="1732548"/>
              <a:chOff x="8717625" y="3409675"/>
              <a:chExt cx="316800" cy="1732548"/>
            </a:xfrm>
          </p:grpSpPr>
          <p:sp>
            <p:nvSpPr>
              <p:cNvPr id="24" name="Google Shape;24;p33"/>
              <p:cNvSpPr/>
              <p:nvPr/>
            </p:nvSpPr>
            <p:spPr>
              <a:xfrm>
                <a:off x="8717625" y="4453711"/>
                <a:ext cx="316800" cy="688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3"/>
              <p:cNvSpPr/>
              <p:nvPr/>
            </p:nvSpPr>
            <p:spPr>
              <a:xfrm>
                <a:off x="8717625" y="3757688"/>
                <a:ext cx="316800" cy="1384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33"/>
              <p:cNvSpPr/>
              <p:nvPr/>
            </p:nvSpPr>
            <p:spPr>
              <a:xfrm>
                <a:off x="8717625" y="4105700"/>
                <a:ext cx="316800" cy="1036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3"/>
              <p:cNvSpPr/>
              <p:nvPr/>
            </p:nvSpPr>
            <p:spPr>
              <a:xfrm>
                <a:off x="8717625" y="3409675"/>
                <a:ext cx="316800" cy="1732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33"/>
              <p:cNvSpPr/>
              <p:nvPr/>
            </p:nvSpPr>
            <p:spPr>
              <a:xfrm>
                <a:off x="8717625" y="4801723"/>
                <a:ext cx="316800" cy="340500"/>
              </a:xfrm>
              <a:prstGeom prst="round2SameRect">
                <a:avLst>
                  <a:gd name="adj1" fmla="val 50000"/>
                  <a:gd name="adj2" fmla="val 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29" name="Google Shape;29;p33"/>
          <p:cNvGrpSpPr/>
          <p:nvPr/>
        </p:nvGrpSpPr>
        <p:grpSpPr>
          <a:xfrm>
            <a:off x="5043503" y="0"/>
            <a:ext cx="3814072" cy="3839102"/>
            <a:chOff x="5043503" y="0"/>
            <a:chExt cx="3814072" cy="3839102"/>
          </a:xfrm>
        </p:grpSpPr>
        <p:sp>
          <p:nvSpPr>
            <p:cNvPr id="30" name="Google Shape;30;p33"/>
            <p:cNvSpPr/>
            <p:nvPr/>
          </p:nvSpPr>
          <p:spPr>
            <a:xfrm>
              <a:off x="8460975" y="1817775"/>
              <a:ext cx="396600" cy="396600"/>
            </a:xfrm>
            <a:prstGeom prst="ellipse">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33"/>
            <p:cNvSpPr/>
            <p:nvPr/>
          </p:nvSpPr>
          <p:spPr>
            <a:xfrm rot="-9830444">
              <a:off x="6469759" y="3480728"/>
              <a:ext cx="320148" cy="320148"/>
            </a:xfrm>
            <a:prstGeom prst="ellipse">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7647812" y="2704283"/>
              <a:ext cx="635219" cy="635219"/>
              <a:chOff x="6725724" y="2701260"/>
              <a:chExt cx="1208101" cy="1208100"/>
            </a:xfrm>
          </p:grpSpPr>
          <p:sp>
            <p:nvSpPr>
              <p:cNvPr id="33" name="Google Shape;33;p33"/>
              <p:cNvSpPr/>
              <p:nvPr/>
            </p:nvSpPr>
            <p:spPr>
              <a:xfrm rot="5400000">
                <a:off x="6725725" y="2701260"/>
                <a:ext cx="1208100" cy="1208100"/>
              </a:xfrm>
              <a:prstGeom prst="ellipse">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6725724" y="2701260"/>
                <a:ext cx="1208100" cy="1208100"/>
              </a:xfrm>
              <a:prstGeom prst="pie">
                <a:avLst>
                  <a:gd name="adj1" fmla="val 8244818"/>
                  <a:gd name="adj2" fmla="val 16246175"/>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33"/>
              <p:cNvSpPr/>
              <p:nvPr/>
            </p:nvSpPr>
            <p:spPr>
              <a:xfrm rot="5400000">
                <a:off x="6954988" y="2930398"/>
                <a:ext cx="749700" cy="749700"/>
              </a:xfrm>
              <a:prstGeom prst="ellipse">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 name="Google Shape;36;p33"/>
            <p:cNvSpPr/>
            <p:nvPr/>
          </p:nvSpPr>
          <p:spPr>
            <a:xfrm>
              <a:off x="8460975" y="1817775"/>
              <a:ext cx="396600" cy="396600"/>
            </a:xfrm>
            <a:prstGeom prst="pie">
              <a:avLst>
                <a:gd name="adj1" fmla="val 19376841"/>
                <a:gd name="adj2" fmla="val 1620000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7" name="Google Shape;37;p33"/>
            <p:cNvGrpSpPr/>
            <p:nvPr/>
          </p:nvGrpSpPr>
          <p:grpSpPr>
            <a:xfrm>
              <a:off x="7952720" y="179238"/>
              <a:ext cx="873165" cy="873003"/>
              <a:chOff x="7754428" y="208725"/>
              <a:chExt cx="541800" cy="541800"/>
            </a:xfrm>
          </p:grpSpPr>
          <p:sp>
            <p:nvSpPr>
              <p:cNvPr id="38" name="Google Shape;38;p33"/>
              <p:cNvSpPr/>
              <p:nvPr/>
            </p:nvSpPr>
            <p:spPr>
              <a:xfrm rot="-8647347">
                <a:off x="7831319" y="285616"/>
                <a:ext cx="388018" cy="388018"/>
              </a:xfrm>
              <a:prstGeom prst="ellipse">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33"/>
              <p:cNvSpPr/>
              <p:nvPr/>
            </p:nvSpPr>
            <p:spPr>
              <a:xfrm rot="-8647347">
                <a:off x="7831319" y="285616"/>
                <a:ext cx="388018" cy="388018"/>
              </a:xfrm>
              <a:prstGeom prst="pie">
                <a:avLst>
                  <a:gd name="adj1" fmla="val 19376841"/>
                  <a:gd name="adj2" fmla="val 12313574"/>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0" name="Google Shape;40;p33"/>
            <p:cNvSpPr/>
            <p:nvPr/>
          </p:nvSpPr>
          <p:spPr>
            <a:xfrm>
              <a:off x="5399840" y="356365"/>
              <a:ext cx="2577000" cy="2577000"/>
            </a:xfrm>
            <a:prstGeom prst="ellipse">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33"/>
            <p:cNvSpPr/>
            <p:nvPr/>
          </p:nvSpPr>
          <p:spPr>
            <a:xfrm rot="2043858">
              <a:off x="5503813" y="460310"/>
              <a:ext cx="2369480" cy="2369480"/>
            </a:xfrm>
            <a:prstGeom prst="ellipse">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3"/>
            <p:cNvSpPr/>
            <p:nvPr/>
          </p:nvSpPr>
          <p:spPr>
            <a:xfrm>
              <a:off x="5399795" y="360281"/>
              <a:ext cx="2577000" cy="2577000"/>
            </a:xfrm>
            <a:prstGeom prst="pie">
              <a:avLst>
                <a:gd name="adj1" fmla="val 8801158"/>
                <a:gd name="adj2" fmla="val 1620000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33"/>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33"/>
            <p:cNvSpPr/>
            <p:nvPr/>
          </p:nvSpPr>
          <p:spPr>
            <a:xfrm>
              <a:off x="5399795" y="356358"/>
              <a:ext cx="2577000" cy="2577000"/>
            </a:xfrm>
            <a:prstGeom prst="pie">
              <a:avLst>
                <a:gd name="adj1" fmla="val 12554101"/>
                <a:gd name="adj2" fmla="val 1620000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33"/>
            <p:cNvSpPr/>
            <p:nvPr/>
          </p:nvSpPr>
          <p:spPr>
            <a:xfrm rot="-9830444">
              <a:off x="6469759" y="3480727"/>
              <a:ext cx="320148" cy="320148"/>
            </a:xfrm>
            <a:prstGeom prst="pie">
              <a:avLst>
                <a:gd name="adj1" fmla="val 19376841"/>
                <a:gd name="adj2" fmla="val 16200000"/>
              </a:avLst>
            </a:prstGeom>
            <a:solidFill>
              <a:schemeClr val="lt1">
                <a:alpha val="941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6" name="Google Shape;46;p33"/>
          <p:cNvSpPr txBox="1">
            <a:spLocks noGrp="1"/>
          </p:cNvSpPr>
          <p:nvPr>
            <p:ph type="ctrTitle"/>
          </p:nvPr>
        </p:nvSpPr>
        <p:spPr>
          <a:xfrm>
            <a:off x="824000" y="1613813"/>
            <a:ext cx="4255500" cy="18729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47" name="Google Shape;47;p33"/>
          <p:cNvSpPr txBox="1">
            <a:spLocks noGrp="1"/>
          </p:cNvSpPr>
          <p:nvPr>
            <p:ph type="subTitle" idx="1"/>
          </p:nvPr>
        </p:nvSpPr>
        <p:spPr>
          <a:xfrm>
            <a:off x="824000" y="3596300"/>
            <a:ext cx="4255500" cy="695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33"/>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9"/>
        <p:cNvGrpSpPr/>
        <p:nvPr/>
      </p:nvGrpSpPr>
      <p:grpSpPr>
        <a:xfrm>
          <a:off x="0" y="0"/>
          <a:ext cx="0" cy="0"/>
          <a:chOff x="0" y="0"/>
          <a:chExt cx="0" cy="0"/>
        </a:xfrm>
      </p:grpSpPr>
      <p:grpSp>
        <p:nvGrpSpPr>
          <p:cNvPr id="50" name="Google Shape;50;p34"/>
          <p:cNvGrpSpPr/>
          <p:nvPr/>
        </p:nvGrpSpPr>
        <p:grpSpPr>
          <a:xfrm>
            <a:off x="625966" y="299376"/>
            <a:ext cx="999312" cy="999312"/>
            <a:chOff x="348199" y="179450"/>
            <a:chExt cx="1116300" cy="1116300"/>
          </a:xfrm>
        </p:grpSpPr>
        <p:sp>
          <p:nvSpPr>
            <p:cNvPr id="51" name="Google Shape;51;p3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3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3" name="Google Shape;53;p34"/>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4" name="Google Shape;54;p34"/>
          <p:cNvSpPr txBox="1">
            <a:spLocks noGrp="1"/>
          </p:cNvSpPr>
          <p:nvPr>
            <p:ph type="body" idx="1"/>
          </p:nvPr>
        </p:nvSpPr>
        <p:spPr>
          <a:xfrm>
            <a:off x="1303800" y="1990050"/>
            <a:ext cx="7030500" cy="2541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55" name="Google Shape;55;p34"/>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56"/>
        <p:cNvGrpSpPr/>
        <p:nvPr/>
      </p:nvGrpSpPr>
      <p:grpSpPr>
        <a:xfrm>
          <a:off x="0" y="0"/>
          <a:ext cx="0" cy="0"/>
          <a:chOff x="0" y="0"/>
          <a:chExt cx="0" cy="0"/>
        </a:xfrm>
      </p:grpSpPr>
      <p:grpSp>
        <p:nvGrpSpPr>
          <p:cNvPr id="57" name="Google Shape;57;p35"/>
          <p:cNvGrpSpPr/>
          <p:nvPr/>
        </p:nvGrpSpPr>
        <p:grpSpPr>
          <a:xfrm>
            <a:off x="146769" y="3406"/>
            <a:ext cx="1233214" cy="1384535"/>
            <a:chOff x="146769" y="3406"/>
            <a:chExt cx="1233214" cy="1384535"/>
          </a:xfrm>
        </p:grpSpPr>
        <p:grpSp>
          <p:nvGrpSpPr>
            <p:cNvPr id="58" name="Google Shape;58;p35"/>
            <p:cNvGrpSpPr/>
            <p:nvPr/>
          </p:nvGrpSpPr>
          <p:grpSpPr>
            <a:xfrm>
              <a:off x="1063183" y="3406"/>
              <a:ext cx="316800" cy="688513"/>
              <a:chOff x="1063183" y="3406"/>
              <a:chExt cx="316800" cy="688513"/>
            </a:xfrm>
          </p:grpSpPr>
          <p:sp>
            <p:nvSpPr>
              <p:cNvPr id="59" name="Google Shape;59;p35"/>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35"/>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1" name="Google Shape;61;p35"/>
            <p:cNvGrpSpPr/>
            <p:nvPr/>
          </p:nvGrpSpPr>
          <p:grpSpPr>
            <a:xfrm>
              <a:off x="604976" y="3406"/>
              <a:ext cx="316800" cy="1036524"/>
              <a:chOff x="604976" y="3406"/>
              <a:chExt cx="316800" cy="1036524"/>
            </a:xfrm>
          </p:grpSpPr>
          <p:sp>
            <p:nvSpPr>
              <p:cNvPr id="62" name="Google Shape;62;p35"/>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35"/>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35"/>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5" name="Google Shape;65;p35"/>
            <p:cNvGrpSpPr/>
            <p:nvPr/>
          </p:nvGrpSpPr>
          <p:grpSpPr>
            <a:xfrm>
              <a:off x="146769" y="3406"/>
              <a:ext cx="316800" cy="1384535"/>
              <a:chOff x="146769" y="3406"/>
              <a:chExt cx="316800" cy="1384535"/>
            </a:xfrm>
          </p:grpSpPr>
          <p:sp>
            <p:nvSpPr>
              <p:cNvPr id="66" name="Google Shape;66;p35"/>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35"/>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35"/>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35"/>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70" name="Google Shape;70;p35"/>
          <p:cNvGrpSpPr/>
          <p:nvPr/>
        </p:nvGrpSpPr>
        <p:grpSpPr>
          <a:xfrm>
            <a:off x="6775084" y="2904008"/>
            <a:ext cx="2186147" cy="2239500"/>
            <a:chOff x="6775084" y="2904008"/>
            <a:chExt cx="2186147" cy="2239500"/>
          </a:xfrm>
        </p:grpSpPr>
        <p:grpSp>
          <p:nvGrpSpPr>
            <p:cNvPr id="71" name="Google Shape;71;p35"/>
            <p:cNvGrpSpPr/>
            <p:nvPr/>
          </p:nvGrpSpPr>
          <p:grpSpPr>
            <a:xfrm>
              <a:off x="6775084" y="4253708"/>
              <a:ext cx="409500" cy="889800"/>
              <a:chOff x="6775084" y="4253708"/>
              <a:chExt cx="409500" cy="889800"/>
            </a:xfrm>
          </p:grpSpPr>
          <p:sp>
            <p:nvSpPr>
              <p:cNvPr id="72" name="Google Shape;72;p35"/>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35"/>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4" name="Google Shape;74;p35"/>
            <p:cNvGrpSpPr/>
            <p:nvPr/>
          </p:nvGrpSpPr>
          <p:grpSpPr>
            <a:xfrm>
              <a:off x="7367299" y="3804008"/>
              <a:ext cx="409500" cy="1339500"/>
              <a:chOff x="7367299" y="3804008"/>
              <a:chExt cx="409500" cy="1339500"/>
            </a:xfrm>
          </p:grpSpPr>
          <p:sp>
            <p:nvSpPr>
              <p:cNvPr id="75" name="Google Shape;75;p35"/>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35"/>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35"/>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8" name="Google Shape;78;p35"/>
            <p:cNvGrpSpPr/>
            <p:nvPr/>
          </p:nvGrpSpPr>
          <p:grpSpPr>
            <a:xfrm>
              <a:off x="7959516" y="3354008"/>
              <a:ext cx="409500" cy="1789500"/>
              <a:chOff x="7959516" y="3354008"/>
              <a:chExt cx="409500" cy="1789500"/>
            </a:xfrm>
          </p:grpSpPr>
          <p:sp>
            <p:nvSpPr>
              <p:cNvPr id="79" name="Google Shape;79;p35"/>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35"/>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35"/>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35"/>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3" name="Google Shape;83;p35"/>
            <p:cNvGrpSpPr/>
            <p:nvPr/>
          </p:nvGrpSpPr>
          <p:grpSpPr>
            <a:xfrm>
              <a:off x="8551731" y="2904008"/>
              <a:ext cx="409500" cy="2239500"/>
              <a:chOff x="8551731" y="2904008"/>
              <a:chExt cx="409500" cy="2239500"/>
            </a:xfrm>
          </p:grpSpPr>
          <p:sp>
            <p:nvSpPr>
              <p:cNvPr id="84" name="Google Shape;84;p35"/>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35"/>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35"/>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35"/>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35"/>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89" name="Google Shape;89;p35"/>
          <p:cNvSpPr txBox="1">
            <a:spLocks noGrp="1"/>
          </p:cNvSpPr>
          <p:nvPr>
            <p:ph type="title"/>
          </p:nvPr>
        </p:nvSpPr>
        <p:spPr>
          <a:xfrm>
            <a:off x="824000" y="1613825"/>
            <a:ext cx="5857800" cy="18729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90" name="Google Shape;90;p35"/>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36"/>
          <p:cNvGrpSpPr/>
          <p:nvPr/>
        </p:nvGrpSpPr>
        <p:grpSpPr>
          <a:xfrm>
            <a:off x="625966" y="299376"/>
            <a:ext cx="999312" cy="999312"/>
            <a:chOff x="348199" y="179450"/>
            <a:chExt cx="1116300" cy="1116300"/>
          </a:xfrm>
        </p:grpSpPr>
        <p:sp>
          <p:nvSpPr>
            <p:cNvPr id="93" name="Google Shape;93;p3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3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5" name="Google Shape;95;p36"/>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6" name="Google Shape;96;p36"/>
          <p:cNvSpPr txBox="1">
            <a:spLocks noGrp="1"/>
          </p:cNvSpPr>
          <p:nvPr>
            <p:ph type="body" idx="1"/>
          </p:nvPr>
        </p:nvSpPr>
        <p:spPr>
          <a:xfrm>
            <a:off x="1303800" y="1990050"/>
            <a:ext cx="3430500" cy="2541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97" name="Google Shape;97;p36"/>
          <p:cNvSpPr txBox="1">
            <a:spLocks noGrp="1"/>
          </p:cNvSpPr>
          <p:nvPr>
            <p:ph type="body" idx="2"/>
          </p:nvPr>
        </p:nvSpPr>
        <p:spPr>
          <a:xfrm>
            <a:off x="4903650" y="1990050"/>
            <a:ext cx="3430500" cy="2541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98" name="Google Shape;98;p36"/>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37"/>
          <p:cNvGrpSpPr/>
          <p:nvPr/>
        </p:nvGrpSpPr>
        <p:grpSpPr>
          <a:xfrm>
            <a:off x="625966" y="299376"/>
            <a:ext cx="999312" cy="999312"/>
            <a:chOff x="348199" y="179450"/>
            <a:chExt cx="1116300" cy="1116300"/>
          </a:xfrm>
        </p:grpSpPr>
        <p:sp>
          <p:nvSpPr>
            <p:cNvPr id="101" name="Google Shape;101;p3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3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3" name="Google Shape;103;p37"/>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4" name="Google Shape;104;p37"/>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38"/>
          <p:cNvGrpSpPr/>
          <p:nvPr/>
        </p:nvGrpSpPr>
        <p:grpSpPr>
          <a:xfrm>
            <a:off x="625966" y="299376"/>
            <a:ext cx="999312" cy="999312"/>
            <a:chOff x="348199" y="179450"/>
            <a:chExt cx="1116300" cy="1116300"/>
          </a:xfrm>
        </p:grpSpPr>
        <p:sp>
          <p:nvSpPr>
            <p:cNvPr id="107" name="Google Shape;107;p38"/>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38"/>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9" name="Google Shape;109;p38"/>
          <p:cNvSpPr txBox="1">
            <a:spLocks noGrp="1"/>
          </p:cNvSpPr>
          <p:nvPr>
            <p:ph type="title"/>
          </p:nvPr>
        </p:nvSpPr>
        <p:spPr>
          <a:xfrm>
            <a:off x="1303800" y="598575"/>
            <a:ext cx="3312000" cy="1590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0" name="Google Shape;110;p38"/>
          <p:cNvSpPr txBox="1">
            <a:spLocks noGrp="1"/>
          </p:cNvSpPr>
          <p:nvPr>
            <p:ph type="body" idx="1"/>
          </p:nvPr>
        </p:nvSpPr>
        <p:spPr>
          <a:xfrm>
            <a:off x="1303800" y="2309675"/>
            <a:ext cx="3312000" cy="22218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111" name="Google Shape;111;p38"/>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39"/>
          <p:cNvGrpSpPr/>
          <p:nvPr/>
        </p:nvGrpSpPr>
        <p:grpSpPr>
          <a:xfrm>
            <a:off x="6866714" y="1255"/>
            <a:ext cx="2267380" cy="2601741"/>
            <a:chOff x="6790514" y="1255"/>
            <a:chExt cx="2267380" cy="2601741"/>
          </a:xfrm>
        </p:grpSpPr>
        <p:grpSp>
          <p:nvGrpSpPr>
            <p:cNvPr id="114" name="Google Shape;114;p39"/>
            <p:cNvGrpSpPr/>
            <p:nvPr/>
          </p:nvGrpSpPr>
          <p:grpSpPr>
            <a:xfrm>
              <a:off x="7067536" y="1255"/>
              <a:ext cx="1990358" cy="1990303"/>
              <a:chOff x="7067536" y="1255"/>
              <a:chExt cx="1990358" cy="1990303"/>
            </a:xfrm>
          </p:grpSpPr>
          <p:sp>
            <p:nvSpPr>
              <p:cNvPr id="115" name="Google Shape;115;p39"/>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9"/>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9"/>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8" name="Google Shape;118;p39"/>
            <p:cNvGrpSpPr/>
            <p:nvPr/>
          </p:nvGrpSpPr>
          <p:grpSpPr>
            <a:xfrm>
              <a:off x="8207126" y="1807997"/>
              <a:ext cx="795000" cy="795000"/>
              <a:chOff x="8207126" y="1807997"/>
              <a:chExt cx="795000" cy="795000"/>
            </a:xfrm>
          </p:grpSpPr>
          <p:sp>
            <p:nvSpPr>
              <p:cNvPr id="119" name="Google Shape;119;p39"/>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9"/>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9"/>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2" name="Google Shape;122;p39"/>
            <p:cNvGrpSpPr/>
            <p:nvPr/>
          </p:nvGrpSpPr>
          <p:grpSpPr>
            <a:xfrm>
              <a:off x="6790514" y="118857"/>
              <a:ext cx="548700" cy="548700"/>
              <a:chOff x="6790514" y="118857"/>
              <a:chExt cx="548700" cy="548700"/>
            </a:xfrm>
          </p:grpSpPr>
          <p:sp>
            <p:nvSpPr>
              <p:cNvPr id="123" name="Google Shape;123;p39"/>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39"/>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25" name="Google Shape;125;p39"/>
          <p:cNvSpPr txBox="1">
            <a:spLocks noGrp="1"/>
          </p:cNvSpPr>
          <p:nvPr>
            <p:ph type="title"/>
          </p:nvPr>
        </p:nvSpPr>
        <p:spPr>
          <a:xfrm>
            <a:off x="824000" y="763600"/>
            <a:ext cx="5857800" cy="35733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126" name="Google Shape;126;p39"/>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41"/>
          <p:cNvGrpSpPr/>
          <p:nvPr/>
        </p:nvGrpSpPr>
        <p:grpSpPr>
          <a:xfrm>
            <a:off x="713373" y="3847119"/>
            <a:ext cx="825392" cy="825392"/>
            <a:chOff x="348199" y="179450"/>
            <a:chExt cx="1116300" cy="1116300"/>
          </a:xfrm>
        </p:grpSpPr>
        <p:sp>
          <p:nvSpPr>
            <p:cNvPr id="137" name="Google Shape;137;p41"/>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41"/>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9" name="Google Shape;139;p41"/>
          <p:cNvSpPr txBox="1">
            <a:spLocks noGrp="1"/>
          </p:cNvSpPr>
          <p:nvPr>
            <p:ph type="body" idx="1"/>
          </p:nvPr>
        </p:nvSpPr>
        <p:spPr>
          <a:xfrm>
            <a:off x="1303800" y="4138975"/>
            <a:ext cx="5843100" cy="534900"/>
          </a:xfrm>
          <a:prstGeom prst="rect">
            <a:avLst/>
          </a:prstGeom>
          <a:noFill/>
          <a:ln>
            <a:noFill/>
          </a:ln>
        </p:spPr>
        <p:txBody>
          <a:bodyPr spcFirstLastPara="1" wrap="square" lIns="91425" tIns="91425" rIns="91425" bIns="91425" anchor="t"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140" name="Google Shape;140;p4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42"/>
          <p:cNvGrpSpPr/>
          <p:nvPr/>
        </p:nvGrpSpPr>
        <p:grpSpPr>
          <a:xfrm>
            <a:off x="52" y="4099200"/>
            <a:ext cx="9144036" cy="1044300"/>
            <a:chOff x="52" y="4099200"/>
            <a:chExt cx="9144036" cy="1044300"/>
          </a:xfrm>
        </p:grpSpPr>
        <p:grpSp>
          <p:nvGrpSpPr>
            <p:cNvPr id="143" name="Google Shape;143;p42"/>
            <p:cNvGrpSpPr/>
            <p:nvPr/>
          </p:nvGrpSpPr>
          <p:grpSpPr>
            <a:xfrm>
              <a:off x="52" y="4309200"/>
              <a:ext cx="231622" cy="834300"/>
              <a:chOff x="2688737" y="4301380"/>
              <a:chExt cx="231900" cy="834300"/>
            </a:xfrm>
          </p:grpSpPr>
          <p:sp>
            <p:nvSpPr>
              <p:cNvPr id="144" name="Google Shape;144;p42"/>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42"/>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42"/>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42"/>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8" name="Google Shape;148;p42"/>
            <p:cNvGrpSpPr/>
            <p:nvPr/>
          </p:nvGrpSpPr>
          <p:grpSpPr>
            <a:xfrm>
              <a:off x="371406" y="4099200"/>
              <a:ext cx="231622" cy="1044300"/>
              <a:chOff x="2688737" y="4091380"/>
              <a:chExt cx="231900" cy="1044300"/>
            </a:xfrm>
          </p:grpSpPr>
          <p:sp>
            <p:nvSpPr>
              <p:cNvPr id="149" name="Google Shape;149;p42"/>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42"/>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42"/>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42"/>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42"/>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4" name="Google Shape;154;p42"/>
            <p:cNvGrpSpPr/>
            <p:nvPr/>
          </p:nvGrpSpPr>
          <p:grpSpPr>
            <a:xfrm>
              <a:off x="742761" y="4309200"/>
              <a:ext cx="231622" cy="834300"/>
              <a:chOff x="2688737" y="4301380"/>
              <a:chExt cx="231900" cy="834300"/>
            </a:xfrm>
          </p:grpSpPr>
          <p:sp>
            <p:nvSpPr>
              <p:cNvPr id="155" name="Google Shape;155;p42"/>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42"/>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42"/>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42"/>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9" name="Google Shape;159;p42"/>
            <p:cNvGrpSpPr/>
            <p:nvPr/>
          </p:nvGrpSpPr>
          <p:grpSpPr>
            <a:xfrm>
              <a:off x="1114115" y="4518900"/>
              <a:ext cx="231622" cy="624600"/>
              <a:chOff x="2688737" y="4511080"/>
              <a:chExt cx="231900" cy="624600"/>
            </a:xfrm>
          </p:grpSpPr>
          <p:sp>
            <p:nvSpPr>
              <p:cNvPr id="160" name="Google Shape;160;p42"/>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42"/>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42"/>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3" name="Google Shape;163;p42"/>
            <p:cNvGrpSpPr/>
            <p:nvPr/>
          </p:nvGrpSpPr>
          <p:grpSpPr>
            <a:xfrm>
              <a:off x="1856753" y="4099200"/>
              <a:ext cx="231600" cy="1044300"/>
              <a:chOff x="1856753" y="4099200"/>
              <a:chExt cx="231600" cy="1044300"/>
            </a:xfrm>
          </p:grpSpPr>
          <p:sp>
            <p:nvSpPr>
              <p:cNvPr id="164" name="Google Shape;164;p42"/>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42"/>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42"/>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42"/>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42"/>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9" name="Google Shape;169;p42"/>
            <p:cNvGrpSpPr/>
            <p:nvPr/>
          </p:nvGrpSpPr>
          <p:grpSpPr>
            <a:xfrm>
              <a:off x="2228107" y="4309200"/>
              <a:ext cx="231600" cy="834300"/>
              <a:chOff x="2228107" y="4309200"/>
              <a:chExt cx="231600" cy="834300"/>
            </a:xfrm>
          </p:grpSpPr>
          <p:sp>
            <p:nvSpPr>
              <p:cNvPr id="170" name="Google Shape;170;p42"/>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42"/>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42"/>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42"/>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4" name="Google Shape;174;p42"/>
            <p:cNvGrpSpPr/>
            <p:nvPr/>
          </p:nvGrpSpPr>
          <p:grpSpPr>
            <a:xfrm>
              <a:off x="2599462" y="4518900"/>
              <a:ext cx="231600" cy="624600"/>
              <a:chOff x="2599462" y="4518900"/>
              <a:chExt cx="231600" cy="624600"/>
            </a:xfrm>
          </p:grpSpPr>
          <p:sp>
            <p:nvSpPr>
              <p:cNvPr id="175" name="Google Shape;175;p42"/>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42"/>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42"/>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8" name="Google Shape;178;p42"/>
            <p:cNvGrpSpPr/>
            <p:nvPr/>
          </p:nvGrpSpPr>
          <p:grpSpPr>
            <a:xfrm>
              <a:off x="3342171" y="4099200"/>
              <a:ext cx="231600" cy="1044300"/>
              <a:chOff x="3342171" y="4099200"/>
              <a:chExt cx="231600" cy="1044300"/>
            </a:xfrm>
          </p:grpSpPr>
          <p:sp>
            <p:nvSpPr>
              <p:cNvPr id="179" name="Google Shape;179;p42"/>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42"/>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42"/>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42"/>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42"/>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4" name="Google Shape;184;p42"/>
            <p:cNvGrpSpPr/>
            <p:nvPr/>
          </p:nvGrpSpPr>
          <p:grpSpPr>
            <a:xfrm>
              <a:off x="3713525" y="4309200"/>
              <a:ext cx="231600" cy="834300"/>
              <a:chOff x="3713525" y="4309200"/>
              <a:chExt cx="231600" cy="834300"/>
            </a:xfrm>
          </p:grpSpPr>
          <p:sp>
            <p:nvSpPr>
              <p:cNvPr id="185" name="Google Shape;185;p42"/>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42"/>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42"/>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42"/>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9" name="Google Shape;189;p42"/>
            <p:cNvGrpSpPr/>
            <p:nvPr/>
          </p:nvGrpSpPr>
          <p:grpSpPr>
            <a:xfrm>
              <a:off x="1485398" y="4309200"/>
              <a:ext cx="231600" cy="834300"/>
              <a:chOff x="1485398" y="4309200"/>
              <a:chExt cx="231600" cy="834300"/>
            </a:xfrm>
          </p:grpSpPr>
          <p:sp>
            <p:nvSpPr>
              <p:cNvPr id="190" name="Google Shape;190;p42"/>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42"/>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42"/>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42"/>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4" name="Google Shape;194;p42"/>
            <p:cNvGrpSpPr/>
            <p:nvPr/>
          </p:nvGrpSpPr>
          <p:grpSpPr>
            <a:xfrm>
              <a:off x="4084879" y="4518900"/>
              <a:ext cx="231600" cy="624600"/>
              <a:chOff x="4084879" y="4518900"/>
              <a:chExt cx="231600" cy="624600"/>
            </a:xfrm>
          </p:grpSpPr>
          <p:sp>
            <p:nvSpPr>
              <p:cNvPr id="195" name="Google Shape;195;p42"/>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42"/>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42"/>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8" name="Google Shape;198;p42"/>
            <p:cNvGrpSpPr/>
            <p:nvPr/>
          </p:nvGrpSpPr>
          <p:grpSpPr>
            <a:xfrm>
              <a:off x="2970816" y="4309200"/>
              <a:ext cx="231600" cy="834300"/>
              <a:chOff x="2970816" y="4309200"/>
              <a:chExt cx="231600" cy="834300"/>
            </a:xfrm>
          </p:grpSpPr>
          <p:sp>
            <p:nvSpPr>
              <p:cNvPr id="199" name="Google Shape;199;p42"/>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p42"/>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42"/>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42"/>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3" name="Google Shape;203;p42"/>
            <p:cNvGrpSpPr/>
            <p:nvPr/>
          </p:nvGrpSpPr>
          <p:grpSpPr>
            <a:xfrm>
              <a:off x="4456234" y="4309200"/>
              <a:ext cx="231600" cy="834300"/>
              <a:chOff x="4456234" y="4309200"/>
              <a:chExt cx="231600" cy="834300"/>
            </a:xfrm>
          </p:grpSpPr>
          <p:sp>
            <p:nvSpPr>
              <p:cNvPr id="204" name="Google Shape;204;p42"/>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42"/>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42"/>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42"/>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8" name="Google Shape;208;p42"/>
            <p:cNvGrpSpPr/>
            <p:nvPr/>
          </p:nvGrpSpPr>
          <p:grpSpPr>
            <a:xfrm>
              <a:off x="4827588" y="4099200"/>
              <a:ext cx="231600" cy="1044300"/>
              <a:chOff x="4827588" y="4099200"/>
              <a:chExt cx="231600" cy="1044300"/>
            </a:xfrm>
          </p:grpSpPr>
          <p:sp>
            <p:nvSpPr>
              <p:cNvPr id="209" name="Google Shape;209;p42"/>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42"/>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42"/>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42"/>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42"/>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4" name="Google Shape;214;p42"/>
            <p:cNvGrpSpPr/>
            <p:nvPr/>
          </p:nvGrpSpPr>
          <p:grpSpPr>
            <a:xfrm>
              <a:off x="5198943" y="4309200"/>
              <a:ext cx="231600" cy="834300"/>
              <a:chOff x="5198943" y="4309200"/>
              <a:chExt cx="231600" cy="834300"/>
            </a:xfrm>
          </p:grpSpPr>
          <p:sp>
            <p:nvSpPr>
              <p:cNvPr id="215" name="Google Shape;215;p42"/>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42"/>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42"/>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42"/>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9" name="Google Shape;219;p42"/>
            <p:cNvGrpSpPr/>
            <p:nvPr/>
          </p:nvGrpSpPr>
          <p:grpSpPr>
            <a:xfrm>
              <a:off x="5570297" y="4518900"/>
              <a:ext cx="231600" cy="624600"/>
              <a:chOff x="5570297" y="4518900"/>
              <a:chExt cx="231600" cy="624600"/>
            </a:xfrm>
          </p:grpSpPr>
          <p:sp>
            <p:nvSpPr>
              <p:cNvPr id="220" name="Google Shape;220;p42"/>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42"/>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42"/>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3" name="Google Shape;223;p42"/>
            <p:cNvGrpSpPr/>
            <p:nvPr/>
          </p:nvGrpSpPr>
          <p:grpSpPr>
            <a:xfrm>
              <a:off x="5941652" y="4309200"/>
              <a:ext cx="231600" cy="834300"/>
              <a:chOff x="5941652" y="4309200"/>
              <a:chExt cx="231600" cy="834300"/>
            </a:xfrm>
          </p:grpSpPr>
          <p:sp>
            <p:nvSpPr>
              <p:cNvPr id="224" name="Google Shape;224;p42"/>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42"/>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42"/>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42"/>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8" name="Google Shape;228;p42"/>
            <p:cNvGrpSpPr/>
            <p:nvPr/>
          </p:nvGrpSpPr>
          <p:grpSpPr>
            <a:xfrm>
              <a:off x="6313006" y="4099200"/>
              <a:ext cx="231600" cy="1044300"/>
              <a:chOff x="6313006" y="4099200"/>
              <a:chExt cx="231600" cy="1044300"/>
            </a:xfrm>
          </p:grpSpPr>
          <p:sp>
            <p:nvSpPr>
              <p:cNvPr id="229" name="Google Shape;229;p42"/>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42"/>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42"/>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p42"/>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42"/>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4" name="Google Shape;234;p42"/>
            <p:cNvGrpSpPr/>
            <p:nvPr/>
          </p:nvGrpSpPr>
          <p:grpSpPr>
            <a:xfrm>
              <a:off x="6684361" y="4309200"/>
              <a:ext cx="231600" cy="834300"/>
              <a:chOff x="6684361" y="4309200"/>
              <a:chExt cx="231600" cy="834300"/>
            </a:xfrm>
          </p:grpSpPr>
          <p:sp>
            <p:nvSpPr>
              <p:cNvPr id="235" name="Google Shape;235;p42"/>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42"/>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42"/>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42"/>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9" name="Google Shape;239;p42"/>
            <p:cNvGrpSpPr/>
            <p:nvPr/>
          </p:nvGrpSpPr>
          <p:grpSpPr>
            <a:xfrm>
              <a:off x="7055715" y="4518900"/>
              <a:ext cx="231600" cy="624600"/>
              <a:chOff x="7055715" y="4518900"/>
              <a:chExt cx="231600" cy="624600"/>
            </a:xfrm>
          </p:grpSpPr>
          <p:sp>
            <p:nvSpPr>
              <p:cNvPr id="240" name="Google Shape;240;p42"/>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42"/>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42"/>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3" name="Google Shape;243;p42"/>
            <p:cNvGrpSpPr/>
            <p:nvPr/>
          </p:nvGrpSpPr>
          <p:grpSpPr>
            <a:xfrm>
              <a:off x="7798424" y="4099200"/>
              <a:ext cx="231600" cy="1044300"/>
              <a:chOff x="7798424" y="4099200"/>
              <a:chExt cx="231600" cy="1044300"/>
            </a:xfrm>
          </p:grpSpPr>
          <p:sp>
            <p:nvSpPr>
              <p:cNvPr id="244" name="Google Shape;244;p42"/>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42"/>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42"/>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42"/>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42"/>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9" name="Google Shape;249;p42"/>
            <p:cNvGrpSpPr/>
            <p:nvPr/>
          </p:nvGrpSpPr>
          <p:grpSpPr>
            <a:xfrm>
              <a:off x="8169779" y="4309200"/>
              <a:ext cx="231600" cy="834300"/>
              <a:chOff x="8169779" y="4309200"/>
              <a:chExt cx="231600" cy="834300"/>
            </a:xfrm>
          </p:grpSpPr>
          <p:sp>
            <p:nvSpPr>
              <p:cNvPr id="250" name="Google Shape;250;p42"/>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42"/>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p42"/>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42"/>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4" name="Google Shape;254;p42"/>
            <p:cNvGrpSpPr/>
            <p:nvPr/>
          </p:nvGrpSpPr>
          <p:grpSpPr>
            <a:xfrm>
              <a:off x="7427070" y="4309200"/>
              <a:ext cx="231600" cy="834300"/>
              <a:chOff x="7427070" y="4309200"/>
              <a:chExt cx="231600" cy="834300"/>
            </a:xfrm>
          </p:grpSpPr>
          <p:sp>
            <p:nvSpPr>
              <p:cNvPr id="255" name="Google Shape;255;p42"/>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42"/>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42"/>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42"/>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9" name="Google Shape;259;p42"/>
            <p:cNvGrpSpPr/>
            <p:nvPr/>
          </p:nvGrpSpPr>
          <p:grpSpPr>
            <a:xfrm>
              <a:off x="8541133" y="4518900"/>
              <a:ext cx="231600" cy="624600"/>
              <a:chOff x="8541133" y="4518900"/>
              <a:chExt cx="231600" cy="624600"/>
            </a:xfrm>
          </p:grpSpPr>
          <p:sp>
            <p:nvSpPr>
              <p:cNvPr id="260" name="Google Shape;260;p42"/>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42"/>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42"/>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3" name="Google Shape;263;p42"/>
            <p:cNvGrpSpPr/>
            <p:nvPr/>
          </p:nvGrpSpPr>
          <p:grpSpPr>
            <a:xfrm>
              <a:off x="8912488" y="4309200"/>
              <a:ext cx="231600" cy="834300"/>
              <a:chOff x="8912488" y="4309200"/>
              <a:chExt cx="231600" cy="834300"/>
            </a:xfrm>
          </p:grpSpPr>
          <p:sp>
            <p:nvSpPr>
              <p:cNvPr id="264" name="Google Shape;264;p42"/>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42"/>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42"/>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42"/>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268" name="Google Shape;268;p42"/>
          <p:cNvSpPr txBox="1">
            <a:spLocks noGrp="1"/>
          </p:cNvSpPr>
          <p:nvPr>
            <p:ph type="title" hasCustomPrompt="1"/>
          </p:nvPr>
        </p:nvSpPr>
        <p:spPr>
          <a:xfrm>
            <a:off x="1388625" y="772725"/>
            <a:ext cx="6366900" cy="18633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8000"/>
              <a:buNone/>
              <a:defRPr sz="8000">
                <a:solidFill>
                  <a:schemeClr val="lt1"/>
                </a:solidFill>
              </a:defRPr>
            </a:lvl1pPr>
            <a:lvl2pPr lvl="1" algn="ctr">
              <a:lnSpc>
                <a:spcPct val="100000"/>
              </a:lnSpc>
              <a:spcBef>
                <a:spcPts val="0"/>
              </a:spcBef>
              <a:spcAft>
                <a:spcPts val="0"/>
              </a:spcAft>
              <a:buClr>
                <a:schemeClr val="lt1"/>
              </a:buClr>
              <a:buSzPts val="8000"/>
              <a:buNone/>
              <a:defRPr sz="8000">
                <a:solidFill>
                  <a:schemeClr val="lt1"/>
                </a:solidFill>
              </a:defRPr>
            </a:lvl2pPr>
            <a:lvl3pPr lvl="2" algn="ctr">
              <a:lnSpc>
                <a:spcPct val="100000"/>
              </a:lnSpc>
              <a:spcBef>
                <a:spcPts val="0"/>
              </a:spcBef>
              <a:spcAft>
                <a:spcPts val="0"/>
              </a:spcAft>
              <a:buClr>
                <a:schemeClr val="lt1"/>
              </a:buClr>
              <a:buSzPts val="8000"/>
              <a:buNone/>
              <a:defRPr sz="8000">
                <a:solidFill>
                  <a:schemeClr val="lt1"/>
                </a:solidFill>
              </a:defRPr>
            </a:lvl3pPr>
            <a:lvl4pPr lvl="3" algn="ctr">
              <a:lnSpc>
                <a:spcPct val="100000"/>
              </a:lnSpc>
              <a:spcBef>
                <a:spcPts val="0"/>
              </a:spcBef>
              <a:spcAft>
                <a:spcPts val="0"/>
              </a:spcAft>
              <a:buClr>
                <a:schemeClr val="lt1"/>
              </a:buClr>
              <a:buSzPts val="8000"/>
              <a:buNone/>
              <a:defRPr sz="8000">
                <a:solidFill>
                  <a:schemeClr val="lt1"/>
                </a:solidFill>
              </a:defRPr>
            </a:lvl4pPr>
            <a:lvl5pPr lvl="4" algn="ctr">
              <a:lnSpc>
                <a:spcPct val="100000"/>
              </a:lnSpc>
              <a:spcBef>
                <a:spcPts val="0"/>
              </a:spcBef>
              <a:spcAft>
                <a:spcPts val="0"/>
              </a:spcAft>
              <a:buClr>
                <a:schemeClr val="lt1"/>
              </a:buClr>
              <a:buSzPts val="8000"/>
              <a:buNone/>
              <a:defRPr sz="8000">
                <a:solidFill>
                  <a:schemeClr val="lt1"/>
                </a:solidFill>
              </a:defRPr>
            </a:lvl5pPr>
            <a:lvl6pPr lvl="5" algn="ctr">
              <a:lnSpc>
                <a:spcPct val="100000"/>
              </a:lnSpc>
              <a:spcBef>
                <a:spcPts val="0"/>
              </a:spcBef>
              <a:spcAft>
                <a:spcPts val="0"/>
              </a:spcAft>
              <a:buClr>
                <a:schemeClr val="lt1"/>
              </a:buClr>
              <a:buSzPts val="8000"/>
              <a:buNone/>
              <a:defRPr sz="8000">
                <a:solidFill>
                  <a:schemeClr val="lt1"/>
                </a:solidFill>
              </a:defRPr>
            </a:lvl6pPr>
            <a:lvl7pPr lvl="6" algn="ctr">
              <a:lnSpc>
                <a:spcPct val="100000"/>
              </a:lnSpc>
              <a:spcBef>
                <a:spcPts val="0"/>
              </a:spcBef>
              <a:spcAft>
                <a:spcPts val="0"/>
              </a:spcAft>
              <a:buClr>
                <a:schemeClr val="lt1"/>
              </a:buClr>
              <a:buSzPts val="8000"/>
              <a:buNone/>
              <a:defRPr sz="8000">
                <a:solidFill>
                  <a:schemeClr val="lt1"/>
                </a:solidFill>
              </a:defRPr>
            </a:lvl7pPr>
            <a:lvl8pPr lvl="7" algn="ctr">
              <a:lnSpc>
                <a:spcPct val="100000"/>
              </a:lnSpc>
              <a:spcBef>
                <a:spcPts val="0"/>
              </a:spcBef>
              <a:spcAft>
                <a:spcPts val="0"/>
              </a:spcAft>
              <a:buClr>
                <a:schemeClr val="lt1"/>
              </a:buClr>
              <a:buSzPts val="8000"/>
              <a:buNone/>
              <a:defRPr sz="8000">
                <a:solidFill>
                  <a:schemeClr val="lt1"/>
                </a:solidFill>
              </a:defRPr>
            </a:lvl8pPr>
            <a:lvl9pPr lvl="8" algn="ctr">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269" name="Google Shape;269;p42"/>
          <p:cNvSpPr txBox="1">
            <a:spLocks noGrp="1"/>
          </p:cNvSpPr>
          <p:nvPr>
            <p:ph type="body" idx="1"/>
          </p:nvPr>
        </p:nvSpPr>
        <p:spPr>
          <a:xfrm>
            <a:off x="1388625" y="2712300"/>
            <a:ext cx="6366900" cy="1111200"/>
          </a:xfrm>
          <a:prstGeom prst="rect">
            <a:avLst/>
          </a:prstGeom>
          <a:noFill/>
          <a:ln>
            <a:noFill/>
          </a:ln>
        </p:spPr>
        <p:txBody>
          <a:bodyPr spcFirstLastPara="1" wrap="square" lIns="91425" tIns="91425" rIns="91425" bIns="91425" anchor="t" anchorCtr="0">
            <a:normAutofit/>
          </a:bodyPr>
          <a:lstStyle>
            <a:lvl1pPr marL="457200" lvl="0" indent="-311150" algn="ctr">
              <a:lnSpc>
                <a:spcPct val="115000"/>
              </a:lnSpc>
              <a:spcBef>
                <a:spcPts val="0"/>
              </a:spcBef>
              <a:spcAft>
                <a:spcPts val="0"/>
              </a:spcAft>
              <a:buClr>
                <a:schemeClr val="lt1"/>
              </a:buClr>
              <a:buSzPts val="1300"/>
              <a:buChar char="●"/>
              <a:defRPr>
                <a:solidFill>
                  <a:schemeClr val="lt1"/>
                </a:solidFill>
              </a:defRPr>
            </a:lvl1pPr>
            <a:lvl2pPr marL="914400" lvl="1" indent="-298450" algn="ctr">
              <a:lnSpc>
                <a:spcPct val="115000"/>
              </a:lnSpc>
              <a:spcBef>
                <a:spcPts val="0"/>
              </a:spcBef>
              <a:spcAft>
                <a:spcPts val="0"/>
              </a:spcAft>
              <a:buClr>
                <a:schemeClr val="lt1"/>
              </a:buClr>
              <a:buSzPts val="1100"/>
              <a:buChar char="○"/>
              <a:defRPr>
                <a:solidFill>
                  <a:schemeClr val="lt1"/>
                </a:solidFill>
              </a:defRPr>
            </a:lvl2pPr>
            <a:lvl3pPr marL="1371600" lvl="2" indent="-298450" algn="ctr">
              <a:lnSpc>
                <a:spcPct val="115000"/>
              </a:lnSpc>
              <a:spcBef>
                <a:spcPts val="0"/>
              </a:spcBef>
              <a:spcAft>
                <a:spcPts val="0"/>
              </a:spcAft>
              <a:buClr>
                <a:schemeClr val="lt1"/>
              </a:buClr>
              <a:buSzPts val="1100"/>
              <a:buChar char="■"/>
              <a:defRPr>
                <a:solidFill>
                  <a:schemeClr val="lt1"/>
                </a:solidFill>
              </a:defRPr>
            </a:lvl3pPr>
            <a:lvl4pPr marL="1828800" lvl="3" indent="-298450" algn="ctr">
              <a:lnSpc>
                <a:spcPct val="115000"/>
              </a:lnSpc>
              <a:spcBef>
                <a:spcPts val="0"/>
              </a:spcBef>
              <a:spcAft>
                <a:spcPts val="0"/>
              </a:spcAft>
              <a:buClr>
                <a:schemeClr val="lt1"/>
              </a:buClr>
              <a:buSzPts val="1100"/>
              <a:buChar char="●"/>
              <a:defRPr>
                <a:solidFill>
                  <a:schemeClr val="lt1"/>
                </a:solidFill>
              </a:defRPr>
            </a:lvl4pPr>
            <a:lvl5pPr marL="2286000" lvl="4" indent="-298450" algn="ctr">
              <a:lnSpc>
                <a:spcPct val="115000"/>
              </a:lnSpc>
              <a:spcBef>
                <a:spcPts val="0"/>
              </a:spcBef>
              <a:spcAft>
                <a:spcPts val="0"/>
              </a:spcAft>
              <a:buClr>
                <a:schemeClr val="lt1"/>
              </a:buClr>
              <a:buSzPts val="1100"/>
              <a:buChar char="○"/>
              <a:defRPr>
                <a:solidFill>
                  <a:schemeClr val="lt1"/>
                </a:solidFill>
              </a:defRPr>
            </a:lvl5pPr>
            <a:lvl6pPr marL="2743200" lvl="5" indent="-298450" algn="ctr">
              <a:lnSpc>
                <a:spcPct val="115000"/>
              </a:lnSpc>
              <a:spcBef>
                <a:spcPts val="0"/>
              </a:spcBef>
              <a:spcAft>
                <a:spcPts val="0"/>
              </a:spcAft>
              <a:buClr>
                <a:schemeClr val="lt1"/>
              </a:buClr>
              <a:buSzPts val="1100"/>
              <a:buChar char="■"/>
              <a:defRPr>
                <a:solidFill>
                  <a:schemeClr val="lt1"/>
                </a:solidFill>
              </a:defRPr>
            </a:lvl6pPr>
            <a:lvl7pPr marL="3200400" lvl="6" indent="-298450" algn="ctr">
              <a:lnSpc>
                <a:spcPct val="115000"/>
              </a:lnSpc>
              <a:spcBef>
                <a:spcPts val="0"/>
              </a:spcBef>
              <a:spcAft>
                <a:spcPts val="0"/>
              </a:spcAft>
              <a:buClr>
                <a:schemeClr val="lt1"/>
              </a:buClr>
              <a:buSzPts val="1100"/>
              <a:buChar char="●"/>
              <a:defRPr>
                <a:solidFill>
                  <a:schemeClr val="lt1"/>
                </a:solidFill>
              </a:defRPr>
            </a:lvl7pPr>
            <a:lvl8pPr marL="3657600" lvl="7" indent="-298450" algn="ctr">
              <a:lnSpc>
                <a:spcPct val="115000"/>
              </a:lnSpc>
              <a:spcBef>
                <a:spcPts val="0"/>
              </a:spcBef>
              <a:spcAft>
                <a:spcPts val="0"/>
              </a:spcAft>
              <a:buClr>
                <a:schemeClr val="lt1"/>
              </a:buClr>
              <a:buSzPts val="1100"/>
              <a:buChar char="○"/>
              <a:defRPr>
                <a:solidFill>
                  <a:schemeClr val="lt1"/>
                </a:solidFill>
              </a:defRPr>
            </a:lvl8pPr>
            <a:lvl9pPr marL="4114800" lvl="8" indent="-298450" algn="ctr">
              <a:lnSpc>
                <a:spcPct val="115000"/>
              </a:lnSpc>
              <a:spcBef>
                <a:spcPts val="0"/>
              </a:spcBef>
              <a:spcAft>
                <a:spcPts val="0"/>
              </a:spcAft>
              <a:buClr>
                <a:schemeClr val="lt1"/>
              </a:buClr>
              <a:buSzPts val="1100"/>
              <a:buChar char="■"/>
              <a:defRPr>
                <a:solidFill>
                  <a:schemeClr val="lt1"/>
                </a:solidFill>
              </a:defRPr>
            </a:lvl9pPr>
          </a:lstStyle>
          <a:p>
            <a:endParaRPr/>
          </a:p>
        </p:txBody>
      </p:sp>
      <p:sp>
        <p:nvSpPr>
          <p:cNvPr id="270" name="Google Shape;270;p42"/>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43"/>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1pPr>
            <a:lvl2pPr marR="0" lvl="1"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2pPr>
            <a:lvl3pPr marR="0" lvl="2"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3pPr>
            <a:lvl4pPr marR="0" lvl="3"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4pPr>
            <a:lvl5pPr marR="0" lvl="4"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5pPr>
            <a:lvl6pPr marR="0" lvl="5"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6pPr>
            <a:lvl7pPr marR="0" lvl="6"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7pPr>
            <a:lvl8pPr marR="0" lvl="7"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8pPr>
            <a:lvl9pPr marR="0" lvl="8"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9pPr>
          </a:lstStyle>
          <a:p>
            <a:endParaRPr/>
          </a:p>
        </p:txBody>
      </p:sp>
      <p:sp>
        <p:nvSpPr>
          <p:cNvPr id="7" name="Google Shape;7;p3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1pPr>
            <a:lvl2pPr marL="914400" marR="0" lvl="1"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2pPr>
            <a:lvl3pPr marL="1371600" marR="0" lvl="2"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5pPr>
            <a:lvl6pPr marL="2743200" marR="0" lvl="5"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6pPr>
            <a:lvl7pPr marL="3200400" marR="0" lvl="6"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7pPr>
            <a:lvl8pPr marL="3657600" marR="0" lvl="7"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8pPr>
            <a:lvl9pPr marL="4114800" marR="0" lvl="8"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9pPr>
          </a:lstStyle>
          <a:p>
            <a:endParaRPr/>
          </a:p>
        </p:txBody>
      </p:sp>
      <p:sp>
        <p:nvSpPr>
          <p:cNvPr id="8" name="Google Shape;8;p32"/>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drive.google.com/file/d/1fZv4mQZju7mLF758P5tLYsIfkMg-J_4d/view"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128Ts5r9NRE&amp;t=3s"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9.xml"/><Relationship Id="rId1" Type="http://schemas.openxmlformats.org/officeDocument/2006/relationships/slideLayout" Target="../slideLayouts/slideLayout10.xml"/><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2.xml"/><Relationship Id="rId1" Type="http://schemas.openxmlformats.org/officeDocument/2006/relationships/slideLayout" Target="../slideLayouts/slideLayout10.xml"/><Relationship Id="rId4" Type="http://schemas.openxmlformats.org/officeDocument/2006/relationships/image" Target="../media/image31.png"/></Relationships>
</file>

<file path=ppt/slides/_rels/slide5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3.xml"/><Relationship Id="rId1" Type="http://schemas.openxmlformats.org/officeDocument/2006/relationships/slideLayout" Target="../slideLayouts/slideLayout10.xml"/><Relationship Id="rId4" Type="http://schemas.openxmlformats.org/officeDocument/2006/relationships/image" Target="../media/image33.jpg"/></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10.xml"/><Relationship Id="rId4" Type="http://schemas.openxmlformats.org/officeDocument/2006/relationships/image" Target="../media/image34.jpg"/></Relationships>
</file>

<file path=ppt/slides/_rels/slide5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55.xml"/><Relationship Id="rId1" Type="http://schemas.openxmlformats.org/officeDocument/2006/relationships/slideLayout" Target="../slideLayouts/slideLayout10.xml"/><Relationship Id="rId4" Type="http://schemas.openxmlformats.org/officeDocument/2006/relationships/image" Target="../media/image3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g3f682ff2984_0_15"/>
          <p:cNvSpPr txBox="1">
            <a:spLocks noGrp="1"/>
          </p:cNvSpPr>
          <p:nvPr>
            <p:ph type="ctrTitle"/>
          </p:nvPr>
        </p:nvSpPr>
        <p:spPr>
          <a:xfrm>
            <a:off x="311708" y="850125"/>
            <a:ext cx="8520600" cy="2052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sz="3000"/>
              <a:t>Class 2: How We Learn and Create Habits: </a:t>
            </a:r>
            <a:endParaRPr sz="3000"/>
          </a:p>
          <a:p>
            <a:pPr marL="0" lvl="0" indent="0" algn="l" rtl="0">
              <a:lnSpc>
                <a:spcPct val="100000"/>
              </a:lnSpc>
              <a:spcBef>
                <a:spcPts val="0"/>
              </a:spcBef>
              <a:spcAft>
                <a:spcPts val="0"/>
              </a:spcAft>
              <a:buSzPts val="3600"/>
              <a:buNone/>
            </a:pPr>
            <a:r>
              <a:rPr lang="en" sz="3000"/>
              <a:t>Classical, Operant, and Observational Learning</a:t>
            </a:r>
            <a:endParaRPr sz="3000"/>
          </a:p>
        </p:txBody>
      </p:sp>
      <p:sp>
        <p:nvSpPr>
          <p:cNvPr id="392" name="Google Shape;392;g3f682ff2984_0_15"/>
          <p:cNvSpPr txBox="1">
            <a:spLocks noGrp="1"/>
          </p:cNvSpPr>
          <p:nvPr>
            <p:ph type="ctrTitle"/>
          </p:nvPr>
        </p:nvSpPr>
        <p:spPr>
          <a:xfrm>
            <a:off x="368925" y="2808400"/>
            <a:ext cx="8520600" cy="1109100"/>
          </a:xfrm>
          <a:prstGeom prst="rect">
            <a:avLst/>
          </a:prstGeom>
          <a:no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SzPts val="3600"/>
              <a:buNone/>
            </a:pPr>
            <a:r>
              <a:rPr lang="en" sz="2400">
                <a:solidFill>
                  <a:srgbClr val="0000FF"/>
                </a:solidFill>
              </a:rPr>
              <a:t>Clase 2: Cómo aprendemos y formamos hábitos:</a:t>
            </a:r>
            <a:endParaRPr sz="2400">
              <a:solidFill>
                <a:srgbClr val="0000FF"/>
              </a:solidFill>
            </a:endParaRPr>
          </a:p>
          <a:p>
            <a:pPr marL="0" lvl="0" indent="0" algn="l" rtl="0">
              <a:lnSpc>
                <a:spcPct val="100000"/>
              </a:lnSpc>
              <a:spcBef>
                <a:spcPts val="0"/>
              </a:spcBef>
              <a:spcAft>
                <a:spcPts val="0"/>
              </a:spcAft>
              <a:buSzPts val="3600"/>
              <a:buNone/>
            </a:pPr>
            <a:r>
              <a:rPr lang="en" sz="2400">
                <a:solidFill>
                  <a:srgbClr val="0000FF"/>
                </a:solidFill>
              </a:rPr>
              <a:t>aprendizaje clásico, operante y observacional</a:t>
            </a:r>
            <a:endParaRPr sz="2400">
              <a:solidFill>
                <a:srgbClr val="00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2"/>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1800"/>
              </a:spcBef>
              <a:spcAft>
                <a:spcPts val="400"/>
              </a:spcAft>
              <a:buClr>
                <a:schemeClr val="dk1"/>
              </a:buClr>
              <a:buSzPts val="1100"/>
              <a:buFont typeface="Arial"/>
              <a:buNone/>
            </a:pPr>
            <a:r>
              <a:rPr lang="en" sz="2500"/>
              <a:t>Learning Objectives </a:t>
            </a:r>
            <a:r>
              <a:rPr lang="en" sz="2000">
                <a:solidFill>
                  <a:srgbClr val="0000FF"/>
                </a:solidFill>
              </a:rPr>
              <a:t>Objetivos de Aprendizaje</a:t>
            </a:r>
            <a:endParaRPr sz="2000">
              <a:solidFill>
                <a:srgbClr val="0000FF"/>
              </a:solidFill>
            </a:endParaRPr>
          </a:p>
        </p:txBody>
      </p:sp>
      <p:sp>
        <p:nvSpPr>
          <p:cNvPr id="398" name="Google Shape;398;p2"/>
          <p:cNvSpPr txBox="1">
            <a:spLocks noGrp="1"/>
          </p:cNvSpPr>
          <p:nvPr>
            <p:ph type="body" idx="1"/>
          </p:nvPr>
        </p:nvSpPr>
        <p:spPr>
          <a:xfrm>
            <a:off x="311700" y="1468450"/>
            <a:ext cx="8520600" cy="3593400"/>
          </a:xfrm>
          <a:prstGeom prst="rect">
            <a:avLst/>
          </a:prstGeom>
          <a:noFill/>
          <a:ln>
            <a:noFill/>
          </a:ln>
        </p:spPr>
        <p:txBody>
          <a:bodyPr spcFirstLastPara="1" wrap="square" lIns="91425" tIns="91425" rIns="91425" bIns="91425" anchor="t" anchorCtr="0">
            <a:noAutofit/>
          </a:bodyPr>
          <a:lstStyle/>
          <a:p>
            <a:pPr marL="457200" lvl="0" indent="-330200" algn="l" rtl="0">
              <a:lnSpc>
                <a:spcPct val="100000"/>
              </a:lnSpc>
              <a:spcBef>
                <a:spcPts val="1200"/>
              </a:spcBef>
              <a:spcAft>
                <a:spcPts val="0"/>
              </a:spcAft>
              <a:buClr>
                <a:schemeClr val="dk1"/>
              </a:buClr>
              <a:buSzPts val="1600"/>
              <a:buAutoNum type="arabicPeriod"/>
            </a:pPr>
            <a:r>
              <a:rPr lang="en" sz="1600">
                <a:solidFill>
                  <a:schemeClr val="dk1"/>
                </a:solidFill>
              </a:rPr>
              <a:t>Define learning from a psychological perspective. </a:t>
            </a:r>
            <a:r>
              <a:rPr lang="en" sz="1600">
                <a:solidFill>
                  <a:srgbClr val="0000FF"/>
                </a:solidFill>
              </a:rPr>
              <a:t>Definir el aprendizaje desde una perspectiva psicológica.</a:t>
            </a:r>
            <a:br>
              <a:rPr lang="en" sz="1600">
                <a:solidFill>
                  <a:srgbClr val="0000FF"/>
                </a:solidFill>
              </a:rPr>
            </a:br>
            <a:endParaRPr sz="1600">
              <a:solidFill>
                <a:srgbClr val="0000FF"/>
              </a:solidFill>
            </a:endParaRPr>
          </a:p>
          <a:p>
            <a:pPr marL="457200" lvl="0" indent="-330200" algn="l" rtl="0">
              <a:lnSpc>
                <a:spcPct val="100000"/>
              </a:lnSpc>
              <a:spcBef>
                <a:spcPts val="0"/>
              </a:spcBef>
              <a:spcAft>
                <a:spcPts val="0"/>
              </a:spcAft>
              <a:buClr>
                <a:schemeClr val="dk1"/>
              </a:buClr>
              <a:buSzPts val="1600"/>
              <a:buAutoNum type="arabicPeriod"/>
            </a:pPr>
            <a:r>
              <a:rPr lang="en" sz="1600">
                <a:solidFill>
                  <a:schemeClr val="dk1"/>
                </a:solidFill>
              </a:rPr>
              <a:t>Describe the three main types of learning: classical, operant, and observational. </a:t>
            </a:r>
            <a:r>
              <a:rPr lang="en" sz="1600">
                <a:solidFill>
                  <a:srgbClr val="0000FF"/>
                </a:solidFill>
              </a:rPr>
              <a:t>Describir los tres tipos principales de aprendizaje: clásico, operante y por observación.</a:t>
            </a:r>
            <a:br>
              <a:rPr lang="en" sz="1600">
                <a:solidFill>
                  <a:schemeClr val="accent1"/>
                </a:solidFill>
              </a:rPr>
            </a:br>
            <a:endParaRPr sz="1600">
              <a:solidFill>
                <a:schemeClr val="accent1"/>
              </a:solidFill>
            </a:endParaRPr>
          </a:p>
          <a:p>
            <a:pPr marL="457200" lvl="0" indent="-330200" algn="l" rtl="0">
              <a:lnSpc>
                <a:spcPct val="100000"/>
              </a:lnSpc>
              <a:spcBef>
                <a:spcPts val="0"/>
              </a:spcBef>
              <a:spcAft>
                <a:spcPts val="0"/>
              </a:spcAft>
              <a:buClr>
                <a:schemeClr val="dk1"/>
              </a:buClr>
              <a:buSzPts val="1600"/>
              <a:buAutoNum type="arabicPeriod"/>
            </a:pPr>
            <a:r>
              <a:rPr lang="en" sz="1600">
                <a:solidFill>
                  <a:schemeClr val="dk1"/>
                </a:solidFill>
              </a:rPr>
              <a:t>Identify examples of each in everyday life. </a:t>
            </a:r>
            <a:r>
              <a:rPr lang="en" sz="1600">
                <a:solidFill>
                  <a:srgbClr val="0000FF"/>
                </a:solidFill>
              </a:rPr>
              <a:t>Identificar ejemplos de cada uno en la vida cotidiana.</a:t>
            </a:r>
            <a:br>
              <a:rPr lang="en" sz="1600">
                <a:solidFill>
                  <a:srgbClr val="0000FF"/>
                </a:solidFill>
              </a:rPr>
            </a:br>
            <a:endParaRPr sz="1600">
              <a:solidFill>
                <a:srgbClr val="0000FF"/>
              </a:solidFill>
            </a:endParaRPr>
          </a:p>
          <a:p>
            <a:pPr marL="457200" lvl="0" indent="-330200" algn="l" rtl="0">
              <a:lnSpc>
                <a:spcPct val="100000"/>
              </a:lnSpc>
              <a:spcBef>
                <a:spcPts val="0"/>
              </a:spcBef>
              <a:spcAft>
                <a:spcPts val="0"/>
              </a:spcAft>
              <a:buClr>
                <a:schemeClr val="dk1"/>
              </a:buClr>
              <a:buSzPts val="1600"/>
              <a:buAutoNum type="arabicPeriod"/>
            </a:pPr>
            <a:r>
              <a:rPr lang="en" sz="1600">
                <a:solidFill>
                  <a:schemeClr val="dk1"/>
                </a:solidFill>
              </a:rPr>
              <a:t>Recognize how these learning processes influence habits and behavior change. </a:t>
            </a:r>
            <a:r>
              <a:rPr lang="en" sz="1600">
                <a:solidFill>
                  <a:srgbClr val="0000FF"/>
                </a:solidFill>
              </a:rPr>
              <a:t>Reconocer cómo estos procesos de aprendizaje influyen en la formación de hábitos y en el cambio de comportamiento.</a:t>
            </a:r>
            <a:br>
              <a:rPr lang="en" sz="1600">
                <a:solidFill>
                  <a:srgbClr val="0000FF"/>
                </a:solidFill>
              </a:rPr>
            </a:br>
            <a:endParaRPr sz="1600">
              <a:solidFill>
                <a:srgbClr val="0000FF"/>
              </a:solidFill>
            </a:endParaRPr>
          </a:p>
          <a:p>
            <a:pPr marL="0" lvl="0" indent="0" algn="l" rtl="0">
              <a:lnSpc>
                <a:spcPct val="115000"/>
              </a:lnSpc>
              <a:spcBef>
                <a:spcPts val="1200"/>
              </a:spcBef>
              <a:spcAft>
                <a:spcPts val="1200"/>
              </a:spcAft>
              <a:buSzPts val="1300"/>
              <a:buNone/>
            </a:pP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solidFill>
                  <a:srgbClr val="FF0000"/>
                </a:solidFill>
              </a:rPr>
              <a:t>What does learning mean to you? </a:t>
            </a:r>
            <a:endParaRPr>
              <a:solidFill>
                <a:srgbClr val="FF0000"/>
              </a:solidFill>
            </a:endParaRPr>
          </a:p>
          <a:p>
            <a:pPr marL="0" lvl="0" indent="0" algn="l" rtl="0">
              <a:lnSpc>
                <a:spcPct val="100000"/>
              </a:lnSpc>
              <a:spcBef>
                <a:spcPts val="0"/>
              </a:spcBef>
              <a:spcAft>
                <a:spcPts val="0"/>
              </a:spcAft>
              <a:buSzPct val="113131"/>
              <a:buNone/>
            </a:pPr>
            <a:r>
              <a:rPr lang="en" sz="2750">
                <a:solidFill>
                  <a:srgbClr val="0000FF"/>
                </a:solidFill>
              </a:rPr>
              <a:t>¿Qué significa para ti aprender?</a:t>
            </a:r>
            <a:endParaRPr sz="2750">
              <a:solidFill>
                <a:srgbClr val="0000FF"/>
              </a:solidFill>
            </a:endParaRPr>
          </a:p>
          <a:p>
            <a:pPr marL="0" lvl="0" indent="0" algn="l" rtl="0">
              <a:lnSpc>
                <a:spcPct val="100000"/>
              </a:lnSpc>
              <a:spcBef>
                <a:spcPts val="0"/>
              </a:spcBef>
              <a:spcAft>
                <a:spcPts val="0"/>
              </a:spcAft>
              <a:buSzPct val="111111"/>
              <a:buNone/>
            </a:pPr>
            <a:endParaRPr/>
          </a:p>
        </p:txBody>
      </p:sp>
      <p:sp>
        <p:nvSpPr>
          <p:cNvPr id="404" name="Google Shape;404;p3"/>
          <p:cNvSpPr txBox="1">
            <a:spLocks noGrp="1"/>
          </p:cNvSpPr>
          <p:nvPr>
            <p:ph type="body" idx="1"/>
          </p:nvPr>
        </p:nvSpPr>
        <p:spPr>
          <a:xfrm>
            <a:off x="1303800" y="1990050"/>
            <a:ext cx="7030500" cy="2541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700"/>
              <a:t>Think about learning in school, at work, in everyday life.</a:t>
            </a:r>
            <a:r>
              <a:rPr lang="en" sz="1700">
                <a:solidFill>
                  <a:srgbClr val="0000FF"/>
                </a:solidFill>
              </a:rPr>
              <a:t> </a:t>
            </a:r>
            <a:endParaRPr sz="1700">
              <a:solidFill>
                <a:srgbClr val="0000FF"/>
              </a:solidFill>
            </a:endParaRPr>
          </a:p>
          <a:p>
            <a:pPr marL="0" lvl="0" indent="0" algn="l" rtl="0">
              <a:lnSpc>
                <a:spcPct val="115000"/>
              </a:lnSpc>
              <a:spcBef>
                <a:spcPts val="0"/>
              </a:spcBef>
              <a:spcAft>
                <a:spcPts val="0"/>
              </a:spcAft>
              <a:buSzPts val="1300"/>
              <a:buNone/>
            </a:pPr>
            <a:r>
              <a:rPr lang="en" sz="1700">
                <a:solidFill>
                  <a:srgbClr val="0000FF"/>
                </a:solidFill>
              </a:rPr>
              <a:t>Piensa en el aprendizaje en la escuela, en el trabajo y en la vida cotidiana.</a:t>
            </a:r>
            <a:endParaRPr sz="1700">
              <a:solidFill>
                <a:srgbClr val="0000FF"/>
              </a:solidFill>
            </a:endParaRPr>
          </a:p>
          <a:p>
            <a:pPr marL="0" lvl="0" indent="0" algn="l" rtl="0">
              <a:lnSpc>
                <a:spcPct val="115000"/>
              </a:lnSpc>
              <a:spcBef>
                <a:spcPts val="1200"/>
              </a:spcBef>
              <a:spcAft>
                <a:spcPts val="0"/>
              </a:spcAft>
              <a:buSzPts val="1300"/>
              <a:buNone/>
            </a:pPr>
            <a:endParaRPr sz="1700"/>
          </a:p>
          <a:p>
            <a:pPr marL="0" lvl="0" indent="0" algn="l" rtl="0">
              <a:lnSpc>
                <a:spcPct val="115000"/>
              </a:lnSpc>
              <a:spcBef>
                <a:spcPts val="1200"/>
              </a:spcBef>
              <a:spcAft>
                <a:spcPts val="1200"/>
              </a:spcAft>
              <a:buSzPts val="1300"/>
              <a:buNone/>
            </a:pPr>
            <a:r>
              <a:rPr lang="en" sz="1700" i="1">
                <a:solidFill>
                  <a:srgbClr val="6AA84F"/>
                </a:solidFill>
              </a:rPr>
              <a:t>Write responses on board.</a:t>
            </a:r>
            <a:r>
              <a:rPr lang="en" sz="1700" i="1">
                <a:solidFill>
                  <a:srgbClr val="0000FF"/>
                </a:solidFill>
              </a:rPr>
              <a:t> Escriban las respuestas en el pizarrón.</a:t>
            </a:r>
            <a:endParaRPr sz="1700" i="1">
              <a:solidFill>
                <a:srgbClr val="0000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4"/>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a:t>What is Learning? </a:t>
            </a:r>
            <a:endParaRPr/>
          </a:p>
          <a:p>
            <a:pPr marL="0" lvl="0" indent="0" algn="l" rtl="0">
              <a:lnSpc>
                <a:spcPct val="100000"/>
              </a:lnSpc>
              <a:spcBef>
                <a:spcPts val="0"/>
              </a:spcBef>
              <a:spcAft>
                <a:spcPts val="0"/>
              </a:spcAft>
              <a:buSzPts val="2800"/>
              <a:buNone/>
            </a:pPr>
            <a:r>
              <a:rPr lang="en" sz="2200">
                <a:solidFill>
                  <a:srgbClr val="0000FF"/>
                </a:solidFill>
              </a:rPr>
              <a:t>¿Qué es el aprendizaje?</a:t>
            </a:r>
            <a:endParaRPr sz="2200">
              <a:solidFill>
                <a:srgbClr val="0000FF"/>
              </a:solidFill>
            </a:endParaRPr>
          </a:p>
        </p:txBody>
      </p:sp>
      <p:sp>
        <p:nvSpPr>
          <p:cNvPr id="410" name="Google Shape;410;p4"/>
          <p:cNvSpPr txBox="1">
            <a:spLocks noGrp="1"/>
          </p:cNvSpPr>
          <p:nvPr>
            <p:ph type="body" idx="1"/>
          </p:nvPr>
        </p:nvSpPr>
        <p:spPr>
          <a:xfrm>
            <a:off x="1303800" y="1451225"/>
            <a:ext cx="7030500" cy="3475200"/>
          </a:xfrm>
          <a:prstGeom prst="rect">
            <a:avLst/>
          </a:prstGeom>
          <a:noFill/>
          <a:ln>
            <a:noFill/>
          </a:ln>
        </p:spPr>
        <p:txBody>
          <a:bodyPr spcFirstLastPara="1" wrap="square" lIns="91425" tIns="91425" rIns="91425" bIns="91425" anchor="t" anchorCtr="0">
            <a:normAutofit/>
          </a:bodyPr>
          <a:lstStyle/>
          <a:p>
            <a:pPr marL="457200" lvl="0" indent="-311150" algn="l" rtl="0">
              <a:lnSpc>
                <a:spcPct val="100000"/>
              </a:lnSpc>
              <a:spcBef>
                <a:spcPts val="0"/>
              </a:spcBef>
              <a:spcAft>
                <a:spcPts val="0"/>
              </a:spcAft>
              <a:buSzPts val="1300"/>
              <a:buChar char="●"/>
            </a:pPr>
            <a:r>
              <a:rPr lang="en"/>
              <a:t>In general terms: Learning is a lasting change in behavior or thinking that comes from experience. </a:t>
            </a:r>
            <a:r>
              <a:rPr lang="en">
                <a:solidFill>
                  <a:srgbClr val="0000FF"/>
                </a:solidFill>
              </a:rPr>
              <a:t>En términos generales: el aprendizaje es un cambio duradero en la conducta o en la forma de pensar que surge de la experiencia.</a:t>
            </a:r>
            <a:endParaRPr>
              <a:solidFill>
                <a:srgbClr val="0000FF"/>
              </a:solidFill>
            </a:endParaRPr>
          </a:p>
          <a:p>
            <a:pPr marL="914400" lvl="1" indent="-336550" algn="l" rtl="0">
              <a:lnSpc>
                <a:spcPct val="100000"/>
              </a:lnSpc>
              <a:spcBef>
                <a:spcPts val="0"/>
              </a:spcBef>
              <a:spcAft>
                <a:spcPts val="0"/>
              </a:spcAft>
              <a:buSzPts val="1700"/>
              <a:buChar char="○"/>
            </a:pPr>
            <a:r>
              <a:rPr lang="en" sz="1700"/>
              <a:t>“You learned that 12 PM = lunch time.” </a:t>
            </a:r>
            <a:r>
              <a:rPr lang="en" sz="1700">
                <a:solidFill>
                  <a:srgbClr val="0000FF"/>
                </a:solidFill>
              </a:rPr>
              <a:t>«Aprendiste que el mediodía es la hora de comer».</a:t>
            </a:r>
            <a:endParaRPr sz="1700">
              <a:solidFill>
                <a:srgbClr val="0000FF"/>
              </a:solidFill>
            </a:endParaRPr>
          </a:p>
          <a:p>
            <a:pPr marL="914400" lvl="1" indent="-336550" algn="l" rtl="0">
              <a:lnSpc>
                <a:spcPct val="100000"/>
              </a:lnSpc>
              <a:spcBef>
                <a:spcPts val="0"/>
              </a:spcBef>
              <a:spcAft>
                <a:spcPts val="0"/>
              </a:spcAft>
              <a:buSzPts val="1700"/>
              <a:buChar char="○"/>
            </a:pPr>
            <a:r>
              <a:rPr lang="en" sz="1700"/>
              <a:t>“You learned routines here by watching others.” </a:t>
            </a:r>
            <a:r>
              <a:rPr lang="en" sz="1700">
                <a:solidFill>
                  <a:srgbClr val="0000FF"/>
                </a:solidFill>
              </a:rPr>
              <a:t>«Aprendiste las rutinas de este lugar observando a otras personas».</a:t>
            </a:r>
            <a:endParaRPr sz="1700">
              <a:solidFill>
                <a:srgbClr val="0000FF"/>
              </a:solidFill>
            </a:endParaRPr>
          </a:p>
          <a:p>
            <a:pPr marL="914400" lvl="1" indent="-336550" algn="l" rtl="0">
              <a:lnSpc>
                <a:spcPct val="100000"/>
              </a:lnSpc>
              <a:spcBef>
                <a:spcPts val="0"/>
              </a:spcBef>
              <a:spcAft>
                <a:spcPts val="0"/>
              </a:spcAft>
              <a:buSzPts val="1700"/>
              <a:buChar char="○"/>
            </a:pPr>
            <a:r>
              <a:rPr lang="en" sz="1700"/>
              <a:t>“You learned what to do — or not do — from consequences.” </a:t>
            </a:r>
            <a:r>
              <a:rPr lang="en" sz="1700">
                <a:solidFill>
                  <a:srgbClr val="0000FF"/>
                </a:solidFill>
              </a:rPr>
              <a:t>«Aprendiste qué hacer —o qué no hacer— a partir de las consecuencias».</a:t>
            </a:r>
            <a:endParaRPr sz="1700">
              <a:solidFill>
                <a:srgbClr val="0000FF"/>
              </a:solidFill>
            </a:endParaRPr>
          </a:p>
          <a:p>
            <a:pPr marL="457200" lvl="0" indent="-311150" algn="l" rtl="0">
              <a:lnSpc>
                <a:spcPct val="100000"/>
              </a:lnSpc>
              <a:spcBef>
                <a:spcPts val="0"/>
              </a:spcBef>
              <a:spcAft>
                <a:spcPts val="0"/>
              </a:spcAft>
              <a:buSzPts val="1300"/>
              <a:buChar char="●"/>
            </a:pPr>
            <a:r>
              <a:rPr lang="en"/>
              <a:t>From a psychological perspective: Learning is a relatively permanent change in behavior, knowledge, or thinking that results from experience. </a:t>
            </a:r>
            <a:r>
              <a:rPr lang="en">
                <a:solidFill>
                  <a:srgbClr val="0000FF"/>
                </a:solidFill>
              </a:rPr>
              <a:t>Desde una perspectiva psicológica: el aprendizaje es un cambio relativamente permanente en la conducta, el conocimiento o el pensamiento que resulta de la experiencia.</a:t>
            </a:r>
            <a:endParaRPr>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0">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0">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0">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5"/>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Why Learning Matters </a:t>
            </a:r>
            <a:endParaRPr/>
          </a:p>
          <a:p>
            <a:pPr marL="0" lvl="0" indent="0" algn="l" rtl="0">
              <a:lnSpc>
                <a:spcPct val="100000"/>
              </a:lnSpc>
              <a:spcBef>
                <a:spcPts val="0"/>
              </a:spcBef>
              <a:spcAft>
                <a:spcPts val="0"/>
              </a:spcAft>
              <a:buSzPct val="126417"/>
              <a:buNone/>
            </a:pPr>
            <a:r>
              <a:rPr lang="en" sz="2461">
                <a:solidFill>
                  <a:srgbClr val="0000FF"/>
                </a:solidFill>
              </a:rPr>
              <a:t>Por qué es importante el aprendizaje</a:t>
            </a:r>
            <a:endParaRPr sz="2461">
              <a:solidFill>
                <a:srgbClr val="0000FF"/>
              </a:solidFill>
            </a:endParaRPr>
          </a:p>
          <a:p>
            <a:pPr marL="0" lvl="0" indent="0" algn="l" rtl="0">
              <a:lnSpc>
                <a:spcPct val="100000"/>
              </a:lnSpc>
              <a:spcBef>
                <a:spcPts val="0"/>
              </a:spcBef>
              <a:spcAft>
                <a:spcPts val="0"/>
              </a:spcAft>
              <a:buSzPct val="282828"/>
              <a:buNone/>
            </a:pPr>
            <a:endParaRPr sz="1100" b="0">
              <a:solidFill>
                <a:srgbClr val="000000"/>
              </a:solidFill>
              <a:latin typeface="Arial"/>
              <a:ea typeface="Arial"/>
              <a:cs typeface="Arial"/>
              <a:sym typeface="Arial"/>
            </a:endParaRPr>
          </a:p>
          <a:p>
            <a:pPr marL="0" lvl="0" indent="0" algn="l" rtl="0">
              <a:lnSpc>
                <a:spcPct val="100000"/>
              </a:lnSpc>
              <a:spcBef>
                <a:spcPts val="0"/>
              </a:spcBef>
              <a:spcAft>
                <a:spcPts val="0"/>
              </a:spcAft>
              <a:buSzPct val="141414"/>
              <a:buNone/>
            </a:pPr>
            <a:endParaRPr sz="2200">
              <a:solidFill>
                <a:srgbClr val="0000FF"/>
              </a:solidFill>
            </a:endParaRPr>
          </a:p>
        </p:txBody>
      </p:sp>
      <p:sp>
        <p:nvSpPr>
          <p:cNvPr id="416" name="Google Shape;416;p5"/>
          <p:cNvSpPr txBox="1">
            <a:spLocks noGrp="1"/>
          </p:cNvSpPr>
          <p:nvPr>
            <p:ph type="body" idx="1"/>
          </p:nvPr>
        </p:nvSpPr>
        <p:spPr>
          <a:xfrm>
            <a:off x="1303800" y="1451225"/>
            <a:ext cx="7104600" cy="3475200"/>
          </a:xfrm>
          <a:prstGeom prst="rect">
            <a:avLst/>
          </a:prstGeom>
          <a:noFill/>
          <a:ln>
            <a:noFill/>
          </a:ln>
        </p:spPr>
        <p:txBody>
          <a:bodyPr spcFirstLastPara="1" wrap="square" lIns="91425" tIns="91425" rIns="91425" bIns="91425" anchor="t" anchorCtr="0">
            <a:noAutofit/>
          </a:bodyPr>
          <a:lstStyle/>
          <a:p>
            <a:pPr marL="457200" lvl="0" indent="-311150" algn="l" rtl="0">
              <a:lnSpc>
                <a:spcPct val="100000"/>
              </a:lnSpc>
              <a:spcBef>
                <a:spcPts val="0"/>
              </a:spcBef>
              <a:spcAft>
                <a:spcPts val="0"/>
              </a:spcAft>
              <a:buSzPts val="1300"/>
              <a:buChar char="●"/>
            </a:pPr>
            <a:r>
              <a:rPr lang="en"/>
              <a:t>Survival and Adaptation / </a:t>
            </a:r>
            <a:r>
              <a:rPr lang="en">
                <a:solidFill>
                  <a:srgbClr val="0000FF"/>
                </a:solidFill>
                <a:highlight>
                  <a:srgbClr val="FFFFFF"/>
                </a:highlight>
              </a:rPr>
              <a:t>Supervivencia y Adaptación</a:t>
            </a:r>
            <a:endParaRPr>
              <a:solidFill>
                <a:srgbClr val="0000FF"/>
              </a:solidFill>
            </a:endParaRPr>
          </a:p>
          <a:p>
            <a:pPr marL="914400" lvl="1" indent="-311150" algn="l" rtl="0">
              <a:lnSpc>
                <a:spcPct val="100000"/>
              </a:lnSpc>
              <a:spcBef>
                <a:spcPts val="0"/>
              </a:spcBef>
              <a:spcAft>
                <a:spcPts val="0"/>
              </a:spcAft>
              <a:buSzPts val="1300"/>
              <a:buChar char="○"/>
            </a:pPr>
            <a:r>
              <a:rPr lang="en" sz="1300"/>
              <a:t>Allows organisms to to adjust to their environment and avoid danger / </a:t>
            </a:r>
            <a:r>
              <a:rPr lang="en" sz="1300">
                <a:solidFill>
                  <a:srgbClr val="0000FF"/>
                </a:solidFill>
                <a:highlight>
                  <a:srgbClr val="FFFFFF"/>
                </a:highlight>
              </a:rPr>
              <a:t>permite a los organismos adaptarse a su entorno y evitar el peligro</a:t>
            </a:r>
            <a:endParaRPr sz="1300">
              <a:solidFill>
                <a:srgbClr val="0000FF"/>
              </a:solidFill>
            </a:endParaRPr>
          </a:p>
          <a:p>
            <a:pPr marL="1371600" lvl="2" indent="-311150" algn="l" rtl="0">
              <a:lnSpc>
                <a:spcPct val="100000"/>
              </a:lnSpc>
              <a:spcBef>
                <a:spcPts val="0"/>
              </a:spcBef>
              <a:spcAft>
                <a:spcPts val="0"/>
              </a:spcAft>
              <a:buSzPts val="1300"/>
              <a:buChar char="■"/>
            </a:pPr>
            <a:r>
              <a:rPr lang="en" sz="1300"/>
              <a:t>Ex: learning which foods are safe / </a:t>
            </a:r>
            <a:r>
              <a:rPr lang="en" sz="1300">
                <a:solidFill>
                  <a:srgbClr val="0000FF"/>
                </a:solidFill>
                <a:highlight>
                  <a:srgbClr val="FFFFFF"/>
                </a:highlight>
              </a:rPr>
              <a:t>Ej. aprender qué alimentos son seguros</a:t>
            </a:r>
            <a:endParaRPr sz="1300">
              <a:solidFill>
                <a:srgbClr val="0000FF"/>
              </a:solidFill>
              <a:highlight>
                <a:srgbClr val="FFFFFF"/>
              </a:highlight>
            </a:endParaRPr>
          </a:p>
          <a:p>
            <a:pPr marL="1371600" lvl="0" indent="0" algn="l" rtl="0">
              <a:lnSpc>
                <a:spcPct val="100000"/>
              </a:lnSpc>
              <a:spcBef>
                <a:spcPts val="1200"/>
              </a:spcBef>
              <a:spcAft>
                <a:spcPts val="0"/>
              </a:spcAft>
              <a:buSzPts val="1300"/>
              <a:buNone/>
            </a:pPr>
            <a:endParaRPr sz="300">
              <a:solidFill>
                <a:srgbClr val="0000FF"/>
              </a:solidFill>
              <a:highlight>
                <a:srgbClr val="FFFFFF"/>
              </a:highlight>
            </a:endParaRPr>
          </a:p>
          <a:p>
            <a:pPr marL="457200" lvl="0" indent="-311150" algn="l" rtl="0">
              <a:lnSpc>
                <a:spcPct val="100000"/>
              </a:lnSpc>
              <a:spcBef>
                <a:spcPts val="1200"/>
              </a:spcBef>
              <a:spcAft>
                <a:spcPts val="0"/>
              </a:spcAft>
              <a:buSzPts val="1300"/>
              <a:buChar char="●"/>
            </a:pPr>
            <a:r>
              <a:rPr lang="en"/>
              <a:t>Development of Skills / </a:t>
            </a:r>
            <a:r>
              <a:rPr lang="en">
                <a:solidFill>
                  <a:srgbClr val="0000FF"/>
                </a:solidFill>
                <a:highlight>
                  <a:srgbClr val="FFFFFF"/>
                </a:highlight>
              </a:rPr>
              <a:t>Desarrollo de habilidades</a:t>
            </a:r>
            <a:endParaRPr>
              <a:solidFill>
                <a:srgbClr val="0000FF"/>
              </a:solidFill>
            </a:endParaRPr>
          </a:p>
          <a:p>
            <a:pPr marL="914400" lvl="1" indent="-311150" algn="l" rtl="0">
              <a:lnSpc>
                <a:spcPct val="100000"/>
              </a:lnSpc>
              <a:spcBef>
                <a:spcPts val="0"/>
              </a:spcBef>
              <a:spcAft>
                <a:spcPts val="0"/>
              </a:spcAft>
              <a:buSzPts val="1300"/>
              <a:buChar char="○"/>
            </a:pPr>
            <a:r>
              <a:rPr lang="en" sz="1300"/>
              <a:t>Most abilities we learn everyday are learned, not innate / </a:t>
            </a:r>
            <a:r>
              <a:rPr lang="en" sz="1300">
                <a:solidFill>
                  <a:srgbClr val="0000FF"/>
                </a:solidFill>
                <a:highlight>
                  <a:srgbClr val="FFFFFF"/>
                </a:highlight>
              </a:rPr>
              <a:t>La mayoría de las habilidades que usamos todos los días se aprenden, no nacemos con ellas</a:t>
            </a:r>
            <a:endParaRPr sz="1300">
              <a:solidFill>
                <a:srgbClr val="0000FF"/>
              </a:solidFill>
            </a:endParaRPr>
          </a:p>
          <a:p>
            <a:pPr marL="1371600" lvl="2" indent="-311150" algn="l" rtl="0">
              <a:lnSpc>
                <a:spcPct val="100000"/>
              </a:lnSpc>
              <a:spcBef>
                <a:spcPts val="0"/>
              </a:spcBef>
              <a:spcAft>
                <a:spcPts val="0"/>
              </a:spcAft>
              <a:buSzPts val="1300"/>
              <a:buChar char="■"/>
            </a:pPr>
            <a:r>
              <a:rPr lang="en" sz="1300"/>
              <a:t>Ex: language, sports, driving / </a:t>
            </a:r>
            <a:r>
              <a:rPr lang="en" sz="1300">
                <a:solidFill>
                  <a:srgbClr val="0000FF"/>
                </a:solidFill>
                <a:highlight>
                  <a:srgbClr val="FFFFFF"/>
                </a:highlight>
              </a:rPr>
              <a:t>Ej. el lenguaje, los deportes, y manejar</a:t>
            </a:r>
            <a:endParaRPr sz="1300">
              <a:solidFill>
                <a:srgbClr val="0000FF"/>
              </a:solidFill>
            </a:endParaRPr>
          </a:p>
          <a:p>
            <a:pPr marL="1371600" lvl="0" indent="0" algn="l" rtl="0">
              <a:lnSpc>
                <a:spcPct val="100000"/>
              </a:lnSpc>
              <a:spcBef>
                <a:spcPts val="1200"/>
              </a:spcBef>
              <a:spcAft>
                <a:spcPts val="0"/>
              </a:spcAft>
              <a:buSzPts val="1300"/>
              <a:buNone/>
            </a:pPr>
            <a:endParaRPr sz="300"/>
          </a:p>
          <a:p>
            <a:pPr marL="457200" lvl="0" indent="-311150" algn="l" rtl="0">
              <a:lnSpc>
                <a:spcPct val="100000"/>
              </a:lnSpc>
              <a:spcBef>
                <a:spcPts val="1200"/>
              </a:spcBef>
              <a:spcAft>
                <a:spcPts val="0"/>
              </a:spcAft>
              <a:buSzPts val="1300"/>
              <a:buChar char="●"/>
            </a:pPr>
            <a:r>
              <a:rPr lang="en"/>
              <a:t>Formation of Habits / </a:t>
            </a:r>
            <a:r>
              <a:rPr lang="en">
                <a:solidFill>
                  <a:srgbClr val="0000FF"/>
                </a:solidFill>
                <a:highlight>
                  <a:srgbClr val="FFFFFF"/>
                </a:highlight>
              </a:rPr>
              <a:t>Formación de hábitos</a:t>
            </a:r>
            <a:endParaRPr>
              <a:solidFill>
                <a:srgbClr val="0000FF"/>
              </a:solidFill>
              <a:highlight>
                <a:srgbClr val="FFFFFF"/>
              </a:highlight>
            </a:endParaRPr>
          </a:p>
          <a:p>
            <a:pPr marL="914400" lvl="1" indent="-311150" algn="l" rtl="0">
              <a:lnSpc>
                <a:spcPct val="100000"/>
              </a:lnSpc>
              <a:spcBef>
                <a:spcPts val="0"/>
              </a:spcBef>
              <a:spcAft>
                <a:spcPts val="0"/>
              </a:spcAft>
              <a:buSzPts val="1300"/>
              <a:buChar char="○"/>
            </a:pPr>
            <a:r>
              <a:rPr lang="en" sz="1300"/>
              <a:t>Repeated learning creates automatic behaviors / </a:t>
            </a:r>
            <a:r>
              <a:rPr lang="en" sz="1300">
                <a:solidFill>
                  <a:srgbClr val="0000FF"/>
                </a:solidFill>
                <a:highlight>
                  <a:srgbClr val="FFFFFF"/>
                </a:highlight>
              </a:rPr>
              <a:t>El aprendizaje repetido crea comportamientos automáticos</a:t>
            </a:r>
            <a:endParaRPr sz="1300"/>
          </a:p>
          <a:p>
            <a:pPr marL="1371600" lvl="2" indent="-311150" algn="l" rtl="0">
              <a:lnSpc>
                <a:spcPct val="100000"/>
              </a:lnSpc>
              <a:spcBef>
                <a:spcPts val="0"/>
              </a:spcBef>
              <a:spcAft>
                <a:spcPts val="0"/>
              </a:spcAft>
              <a:buSzPts val="1300"/>
              <a:buChar char="■"/>
            </a:pPr>
            <a:r>
              <a:rPr lang="en" sz="1300"/>
              <a:t>Ex: brushing teeth, study routines, exercise habits / </a:t>
            </a:r>
            <a:r>
              <a:rPr lang="en" sz="1300">
                <a:solidFill>
                  <a:srgbClr val="0000FF"/>
                </a:solidFill>
                <a:highlight>
                  <a:srgbClr val="FFFFFF"/>
                </a:highlight>
              </a:rPr>
              <a:t>Ej. cepillarse los dientes, rutinas de estudio, hábitos de ejercicio</a:t>
            </a:r>
            <a:endParaRPr sz="1300"/>
          </a:p>
        </p:txBody>
      </p:sp>
      <p:pic>
        <p:nvPicPr>
          <p:cNvPr id="417" name="Google Shape;417;p5" title="Screenshot 2026-02-27 at 11.32.30 AM.png"/>
          <p:cNvPicPr preferRelativeResize="0"/>
          <p:nvPr/>
        </p:nvPicPr>
        <p:blipFill rotWithShape="1">
          <a:blip r:embed="rId3">
            <a:alphaModFix/>
          </a:blip>
          <a:srcRect/>
          <a:stretch/>
        </p:blipFill>
        <p:spPr>
          <a:xfrm>
            <a:off x="7302200" y="94950"/>
            <a:ext cx="1751649" cy="16118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6">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6">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6">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16">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16">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16">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16">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6"/>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Why Learning Matters </a:t>
            </a:r>
            <a:endParaRPr/>
          </a:p>
          <a:p>
            <a:pPr marL="0" lvl="0" indent="0" algn="l" rtl="0">
              <a:lnSpc>
                <a:spcPct val="100000"/>
              </a:lnSpc>
              <a:spcBef>
                <a:spcPts val="0"/>
              </a:spcBef>
              <a:spcAft>
                <a:spcPts val="0"/>
              </a:spcAft>
              <a:buSzPct val="126417"/>
              <a:buNone/>
            </a:pPr>
            <a:r>
              <a:rPr lang="en" sz="2461">
                <a:solidFill>
                  <a:srgbClr val="0000FF"/>
                </a:solidFill>
              </a:rPr>
              <a:t>Por qué es importante el aprendizaje</a:t>
            </a:r>
            <a:endParaRPr sz="2461">
              <a:solidFill>
                <a:srgbClr val="0000FF"/>
              </a:solidFill>
            </a:endParaRPr>
          </a:p>
          <a:p>
            <a:pPr marL="0" lvl="0" indent="0" algn="l" rtl="0">
              <a:lnSpc>
                <a:spcPct val="100000"/>
              </a:lnSpc>
              <a:spcBef>
                <a:spcPts val="0"/>
              </a:spcBef>
              <a:spcAft>
                <a:spcPts val="0"/>
              </a:spcAft>
              <a:buSzPct val="282828"/>
              <a:buNone/>
            </a:pPr>
            <a:endParaRPr sz="1100" b="0">
              <a:solidFill>
                <a:srgbClr val="000000"/>
              </a:solidFill>
              <a:latin typeface="Arial"/>
              <a:ea typeface="Arial"/>
              <a:cs typeface="Arial"/>
              <a:sym typeface="Arial"/>
            </a:endParaRPr>
          </a:p>
          <a:p>
            <a:pPr marL="0" lvl="0" indent="0" algn="l" rtl="0">
              <a:lnSpc>
                <a:spcPct val="100000"/>
              </a:lnSpc>
              <a:spcBef>
                <a:spcPts val="0"/>
              </a:spcBef>
              <a:spcAft>
                <a:spcPts val="0"/>
              </a:spcAft>
              <a:buSzPct val="141414"/>
              <a:buNone/>
            </a:pPr>
            <a:endParaRPr sz="2200">
              <a:solidFill>
                <a:srgbClr val="0000FF"/>
              </a:solidFill>
            </a:endParaRPr>
          </a:p>
        </p:txBody>
      </p:sp>
      <p:sp>
        <p:nvSpPr>
          <p:cNvPr id="423" name="Google Shape;423;p6"/>
          <p:cNvSpPr txBox="1">
            <a:spLocks noGrp="1"/>
          </p:cNvSpPr>
          <p:nvPr>
            <p:ph type="body" idx="1"/>
          </p:nvPr>
        </p:nvSpPr>
        <p:spPr>
          <a:xfrm>
            <a:off x="1303800" y="1451225"/>
            <a:ext cx="7030500" cy="3475200"/>
          </a:xfrm>
          <a:prstGeom prst="rect">
            <a:avLst/>
          </a:prstGeom>
          <a:noFill/>
          <a:ln>
            <a:noFill/>
          </a:ln>
        </p:spPr>
        <p:txBody>
          <a:bodyPr spcFirstLastPara="1" wrap="square" lIns="91425" tIns="91425" rIns="91425" bIns="91425" anchor="t" anchorCtr="0">
            <a:noAutofit/>
          </a:bodyPr>
          <a:lstStyle/>
          <a:p>
            <a:pPr marL="457200" lvl="0" indent="-311150" algn="l" rtl="0">
              <a:lnSpc>
                <a:spcPct val="100000"/>
              </a:lnSpc>
              <a:spcBef>
                <a:spcPts val="0"/>
              </a:spcBef>
              <a:spcAft>
                <a:spcPts val="0"/>
              </a:spcAft>
              <a:buSzPts val="1300"/>
              <a:buChar char="●"/>
            </a:pPr>
            <a:r>
              <a:rPr lang="en"/>
              <a:t>Social and Cultural Learning/ </a:t>
            </a:r>
            <a:r>
              <a:rPr lang="en">
                <a:solidFill>
                  <a:srgbClr val="0000FF"/>
                </a:solidFill>
                <a:highlight>
                  <a:srgbClr val="FFFFFF"/>
                </a:highlight>
              </a:rPr>
              <a:t>Aprendizaje social y cultural</a:t>
            </a:r>
            <a:endParaRPr>
              <a:solidFill>
                <a:srgbClr val="0000FF"/>
              </a:solidFill>
            </a:endParaRPr>
          </a:p>
          <a:p>
            <a:pPr marL="914400" lvl="1" indent="-311150" algn="l" rtl="0">
              <a:lnSpc>
                <a:spcPct val="100000"/>
              </a:lnSpc>
              <a:spcBef>
                <a:spcPts val="0"/>
              </a:spcBef>
              <a:spcAft>
                <a:spcPts val="0"/>
              </a:spcAft>
              <a:buSzPts val="1300"/>
              <a:buChar char="○"/>
            </a:pPr>
            <a:r>
              <a:rPr lang="en" sz="1300"/>
              <a:t>Humans learn through other people / </a:t>
            </a:r>
            <a:r>
              <a:rPr lang="en" sz="1300">
                <a:solidFill>
                  <a:srgbClr val="0000FF"/>
                </a:solidFill>
                <a:highlight>
                  <a:srgbClr val="FFFFFF"/>
                </a:highlight>
              </a:rPr>
              <a:t>Los humanos aprendemos a través de otras personas</a:t>
            </a:r>
            <a:endParaRPr sz="1300">
              <a:solidFill>
                <a:srgbClr val="0000FF"/>
              </a:solidFill>
            </a:endParaRPr>
          </a:p>
          <a:p>
            <a:pPr marL="1371600" lvl="2" indent="-311150" algn="l" rtl="0">
              <a:lnSpc>
                <a:spcPct val="100000"/>
              </a:lnSpc>
              <a:spcBef>
                <a:spcPts val="0"/>
              </a:spcBef>
              <a:spcAft>
                <a:spcPts val="0"/>
              </a:spcAft>
              <a:buSzPts val="1300"/>
              <a:buChar char="■"/>
            </a:pPr>
            <a:r>
              <a:rPr lang="en" sz="1300">
                <a:solidFill>
                  <a:srgbClr val="434343"/>
                </a:solidFill>
              </a:rPr>
              <a:t>Ex: social norms, communication, </a:t>
            </a:r>
            <a:r>
              <a:rPr lang="en" sz="1300"/>
              <a:t>cultural traditions / </a:t>
            </a:r>
            <a:r>
              <a:rPr lang="en" sz="1300">
                <a:solidFill>
                  <a:srgbClr val="0000FF"/>
                </a:solidFill>
                <a:highlight>
                  <a:srgbClr val="FFFFFF"/>
                </a:highlight>
              </a:rPr>
              <a:t>Ej. normas sociales, comunicación, tradiciones culturales</a:t>
            </a:r>
            <a:endParaRPr sz="1300">
              <a:solidFill>
                <a:srgbClr val="0000FF"/>
              </a:solidFill>
              <a:highlight>
                <a:srgbClr val="FFFFFF"/>
              </a:highlight>
            </a:endParaRPr>
          </a:p>
          <a:p>
            <a:pPr marL="1371600" lvl="0" indent="0" algn="l" rtl="0">
              <a:lnSpc>
                <a:spcPct val="100000"/>
              </a:lnSpc>
              <a:spcBef>
                <a:spcPts val="1200"/>
              </a:spcBef>
              <a:spcAft>
                <a:spcPts val="0"/>
              </a:spcAft>
              <a:buSzPts val="1300"/>
              <a:buNone/>
            </a:pPr>
            <a:endParaRPr sz="300">
              <a:solidFill>
                <a:srgbClr val="0000FF"/>
              </a:solidFill>
              <a:highlight>
                <a:srgbClr val="FFFFFF"/>
              </a:highlight>
            </a:endParaRPr>
          </a:p>
          <a:p>
            <a:pPr marL="457200" lvl="0" indent="-311150" algn="l" rtl="0">
              <a:lnSpc>
                <a:spcPct val="100000"/>
              </a:lnSpc>
              <a:spcBef>
                <a:spcPts val="1200"/>
              </a:spcBef>
              <a:spcAft>
                <a:spcPts val="0"/>
              </a:spcAft>
              <a:buSzPts val="1300"/>
              <a:buChar char="●"/>
            </a:pPr>
            <a:r>
              <a:rPr lang="en"/>
              <a:t>Personal Growth and Decision Making / </a:t>
            </a:r>
            <a:r>
              <a:rPr lang="en">
                <a:solidFill>
                  <a:srgbClr val="0000FF"/>
                </a:solidFill>
                <a:highlight>
                  <a:srgbClr val="FFFFFF"/>
                </a:highlight>
              </a:rPr>
              <a:t>Crecimiento personal y toma de decisiones</a:t>
            </a:r>
            <a:endParaRPr>
              <a:solidFill>
                <a:srgbClr val="0000FF"/>
              </a:solidFill>
            </a:endParaRPr>
          </a:p>
          <a:p>
            <a:pPr marL="914400" lvl="1" indent="-311150" algn="l" rtl="0">
              <a:lnSpc>
                <a:spcPct val="100000"/>
              </a:lnSpc>
              <a:spcBef>
                <a:spcPts val="0"/>
              </a:spcBef>
              <a:spcAft>
                <a:spcPts val="0"/>
              </a:spcAft>
              <a:buSzPts val="1300"/>
              <a:buChar char="○"/>
            </a:pPr>
            <a:r>
              <a:rPr lang="en" sz="1300"/>
              <a:t>Solving problems, thinking critically, making better decisions / </a:t>
            </a:r>
            <a:r>
              <a:rPr lang="en" sz="1300">
                <a:solidFill>
                  <a:srgbClr val="0000FF"/>
                </a:solidFill>
                <a:highlight>
                  <a:srgbClr val="FFFFFF"/>
                </a:highlight>
              </a:rPr>
              <a:t>Resolver problemas, pensar críticamente, tomar mejores decisiones</a:t>
            </a:r>
            <a:endParaRPr sz="1300">
              <a:solidFill>
                <a:srgbClr val="0000FF"/>
              </a:solidFill>
            </a:endParaRPr>
          </a:p>
          <a:p>
            <a:pPr marL="914400" lvl="0" indent="0" algn="l" rtl="0">
              <a:lnSpc>
                <a:spcPct val="100000"/>
              </a:lnSpc>
              <a:spcBef>
                <a:spcPts val="1200"/>
              </a:spcBef>
              <a:spcAft>
                <a:spcPts val="0"/>
              </a:spcAft>
              <a:buSzPts val="1300"/>
              <a:buNone/>
            </a:pPr>
            <a:endParaRPr sz="300">
              <a:solidFill>
                <a:srgbClr val="0000FF"/>
              </a:solidFill>
            </a:endParaRPr>
          </a:p>
          <a:p>
            <a:pPr marL="457200" lvl="0" indent="-311150" algn="l" rtl="0">
              <a:lnSpc>
                <a:spcPct val="100000"/>
              </a:lnSpc>
              <a:spcBef>
                <a:spcPts val="1200"/>
              </a:spcBef>
              <a:spcAft>
                <a:spcPts val="0"/>
              </a:spcAft>
              <a:buSzPts val="1300"/>
              <a:buChar char="●"/>
            </a:pPr>
            <a:r>
              <a:rPr lang="en"/>
              <a:t>Brain Development and Plasticity /</a:t>
            </a:r>
            <a:r>
              <a:rPr lang="en">
                <a:solidFill>
                  <a:srgbClr val="0000FF"/>
                </a:solidFill>
              </a:rPr>
              <a:t> </a:t>
            </a:r>
            <a:r>
              <a:rPr lang="en">
                <a:solidFill>
                  <a:srgbClr val="0000FF"/>
                </a:solidFill>
                <a:highlight>
                  <a:srgbClr val="FFFFFF"/>
                </a:highlight>
              </a:rPr>
              <a:t>Desarrollo y plasticidad cerebral </a:t>
            </a:r>
            <a:endParaRPr>
              <a:solidFill>
                <a:srgbClr val="0000FF"/>
              </a:solidFill>
              <a:highlight>
                <a:srgbClr val="FFFFFF"/>
              </a:highlight>
            </a:endParaRPr>
          </a:p>
          <a:p>
            <a:pPr marL="914400" lvl="1" indent="-311150" algn="l" rtl="0">
              <a:lnSpc>
                <a:spcPct val="100000"/>
              </a:lnSpc>
              <a:spcBef>
                <a:spcPts val="0"/>
              </a:spcBef>
              <a:spcAft>
                <a:spcPts val="0"/>
              </a:spcAft>
              <a:buSzPts val="1300"/>
              <a:buChar char="○"/>
            </a:pPr>
            <a:r>
              <a:rPr lang="en" sz="1300"/>
              <a:t>Learning physically changes the brain/ </a:t>
            </a:r>
            <a:r>
              <a:rPr lang="en" sz="1300">
                <a:solidFill>
                  <a:srgbClr val="0000FF"/>
                </a:solidFill>
                <a:highlight>
                  <a:srgbClr val="FFFFFF"/>
                </a:highlight>
              </a:rPr>
              <a:t>Aprendizaje cambia físicamente el cerebro </a:t>
            </a:r>
            <a:endParaRPr sz="1300">
              <a:solidFill>
                <a:srgbClr val="0000FF"/>
              </a:solidFill>
            </a:endParaRPr>
          </a:p>
          <a:p>
            <a:pPr marL="1371600" lvl="2" indent="-311150" algn="l" rtl="0">
              <a:lnSpc>
                <a:spcPct val="100000"/>
              </a:lnSpc>
              <a:spcBef>
                <a:spcPts val="0"/>
              </a:spcBef>
              <a:spcAft>
                <a:spcPts val="0"/>
              </a:spcAft>
              <a:buSzPts val="1300"/>
              <a:buChar char="■"/>
            </a:pPr>
            <a:r>
              <a:rPr lang="en" sz="1300"/>
              <a:t>Brain becomes more efficient over time/ </a:t>
            </a:r>
            <a:r>
              <a:rPr lang="en" sz="1300">
                <a:solidFill>
                  <a:srgbClr val="0000FF"/>
                </a:solidFill>
                <a:highlight>
                  <a:srgbClr val="FFFFFF"/>
                </a:highlight>
              </a:rPr>
              <a:t>El cerebro se vuelve más eficiente con el tiempo</a:t>
            </a:r>
            <a:endParaRPr sz="1300">
              <a:solidFill>
                <a:srgbClr val="0000FF"/>
              </a:solidFill>
            </a:endParaRPr>
          </a:p>
        </p:txBody>
      </p:sp>
      <p:pic>
        <p:nvPicPr>
          <p:cNvPr id="424" name="Google Shape;424;p6" title="Screenshot 2026-02-27 at 11.31.53 AM.png"/>
          <p:cNvPicPr preferRelativeResize="0"/>
          <p:nvPr/>
        </p:nvPicPr>
        <p:blipFill rotWithShape="1">
          <a:blip r:embed="rId3">
            <a:alphaModFix/>
          </a:blip>
          <a:srcRect/>
          <a:stretch/>
        </p:blipFill>
        <p:spPr>
          <a:xfrm>
            <a:off x="7329875" y="95250"/>
            <a:ext cx="1582325" cy="15910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2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2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2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23">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23">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23">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7"/>
          <p:cNvSpPr txBox="1">
            <a:spLocks noGrp="1"/>
          </p:cNvSpPr>
          <p:nvPr>
            <p:ph type="title"/>
          </p:nvPr>
        </p:nvSpPr>
        <p:spPr>
          <a:xfrm>
            <a:off x="1303800" y="598575"/>
            <a:ext cx="71154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1414"/>
              <a:buNone/>
            </a:pPr>
            <a:r>
              <a:rPr lang="en">
                <a:solidFill>
                  <a:srgbClr val="FF0000"/>
                </a:solidFill>
              </a:rPr>
              <a:t>“Is all learning helpful? What are examples of habits we’ve learned automatically?” </a:t>
            </a:r>
            <a:r>
              <a:rPr lang="en" sz="2200">
                <a:solidFill>
                  <a:srgbClr val="0000FF"/>
                </a:solidFill>
              </a:rPr>
              <a:t>«¿Todo aprendizaje es útil? ¿Cuáles son algunos ejemplos de hábitos que hemos aprendido automáticamente?»</a:t>
            </a:r>
            <a:endParaRPr sz="2200">
              <a:solidFill>
                <a:srgbClr val="0000FF"/>
              </a:solidFill>
            </a:endParaRPr>
          </a:p>
        </p:txBody>
      </p:sp>
      <p:sp>
        <p:nvSpPr>
          <p:cNvPr id="430" name="Google Shape;430;p7"/>
          <p:cNvSpPr txBox="1">
            <a:spLocks noGrp="1"/>
          </p:cNvSpPr>
          <p:nvPr>
            <p:ph type="body" idx="1"/>
          </p:nvPr>
        </p:nvSpPr>
        <p:spPr>
          <a:xfrm>
            <a:off x="311700" y="2181801"/>
            <a:ext cx="8520600" cy="29202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ts val="1100"/>
              <a:buFont typeface="Arial"/>
              <a:buNone/>
            </a:pPr>
            <a:r>
              <a:rPr lang="en"/>
              <a:t>Reflexes </a:t>
            </a:r>
            <a:r>
              <a:rPr lang="en">
                <a:solidFill>
                  <a:srgbClr val="0000FF"/>
                </a:solidFill>
              </a:rPr>
              <a:t>Reflejos</a:t>
            </a:r>
            <a:endParaRPr>
              <a:solidFill>
                <a:srgbClr val="0000FF"/>
              </a:solidFill>
            </a:endParaRPr>
          </a:p>
          <a:p>
            <a:pPr marL="0" lvl="0" indent="0" algn="l" rtl="0">
              <a:lnSpc>
                <a:spcPct val="115000"/>
              </a:lnSpc>
              <a:spcBef>
                <a:spcPts val="1200"/>
              </a:spcBef>
              <a:spcAft>
                <a:spcPts val="0"/>
              </a:spcAft>
              <a:buClr>
                <a:schemeClr val="dk1"/>
              </a:buClr>
              <a:buSzPts val="1100"/>
              <a:buFont typeface="Arial"/>
              <a:buNone/>
            </a:pPr>
            <a:endParaRPr/>
          </a:p>
          <a:p>
            <a:pPr marL="0" lvl="0" indent="0" algn="l" rtl="0">
              <a:lnSpc>
                <a:spcPct val="115000"/>
              </a:lnSpc>
              <a:spcBef>
                <a:spcPts val="1200"/>
              </a:spcBef>
              <a:spcAft>
                <a:spcPts val="0"/>
              </a:spcAft>
              <a:buClr>
                <a:schemeClr val="dk1"/>
              </a:buClr>
              <a:buSzPts val="1100"/>
              <a:buFont typeface="Arial"/>
              <a:buNone/>
            </a:pPr>
            <a:r>
              <a:rPr lang="en"/>
              <a:t>Instincts </a:t>
            </a:r>
            <a:r>
              <a:rPr lang="en">
                <a:solidFill>
                  <a:srgbClr val="0000FF"/>
                </a:solidFill>
              </a:rPr>
              <a:t>Instintos</a:t>
            </a:r>
            <a:endParaRPr>
              <a:solidFill>
                <a:srgbClr val="0000FF"/>
              </a:solidFill>
            </a:endParaRPr>
          </a:p>
          <a:p>
            <a:pPr marL="0" lvl="0" indent="0" algn="l" rtl="0">
              <a:lnSpc>
                <a:spcPct val="115000"/>
              </a:lnSpc>
              <a:spcBef>
                <a:spcPts val="1200"/>
              </a:spcBef>
              <a:spcAft>
                <a:spcPts val="0"/>
              </a:spcAft>
              <a:buClr>
                <a:schemeClr val="dk1"/>
              </a:buClr>
              <a:buSzPts val="1100"/>
              <a:buFont typeface="Arial"/>
              <a:buNone/>
            </a:pPr>
            <a:endParaRPr/>
          </a:p>
          <a:p>
            <a:pPr marL="0" lvl="0" indent="0" algn="l" rtl="0">
              <a:lnSpc>
                <a:spcPct val="115000"/>
              </a:lnSpc>
              <a:spcBef>
                <a:spcPts val="1200"/>
              </a:spcBef>
              <a:spcAft>
                <a:spcPts val="1200"/>
              </a:spcAft>
              <a:buClr>
                <a:schemeClr val="dk1"/>
              </a:buClr>
              <a:buSzPts val="1100"/>
              <a:buFont typeface="Arial"/>
              <a:buNone/>
            </a:pPr>
            <a:r>
              <a:rPr lang="en"/>
              <a:t>Learned Behaviors </a:t>
            </a:r>
            <a:r>
              <a:rPr lang="en">
                <a:solidFill>
                  <a:srgbClr val="0000FF"/>
                </a:solidFill>
              </a:rPr>
              <a:t>Conductas aprendidas</a:t>
            </a:r>
            <a:endParaRPr>
              <a:solidFill>
                <a:srgbClr val="0000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Google Shape;435;p8"/>
          <p:cNvPicPr preferRelativeResize="0"/>
          <p:nvPr/>
        </p:nvPicPr>
        <p:blipFill rotWithShape="1">
          <a:blip r:embed="rId3">
            <a:alphaModFix/>
          </a:blip>
          <a:srcRect/>
          <a:stretch/>
        </p:blipFill>
        <p:spPr>
          <a:xfrm>
            <a:off x="3694838" y="1511563"/>
            <a:ext cx="1572474" cy="1572474"/>
          </a:xfrm>
          <a:prstGeom prst="rect">
            <a:avLst/>
          </a:prstGeom>
          <a:noFill/>
          <a:ln>
            <a:noFill/>
          </a:ln>
        </p:spPr>
      </p:pic>
      <p:sp>
        <p:nvSpPr>
          <p:cNvPr id="436" name="Google Shape;436;p8"/>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a:t>Classical Conditioning </a:t>
            </a:r>
            <a:r>
              <a:rPr lang="en" sz="2200">
                <a:solidFill>
                  <a:srgbClr val="0000FF"/>
                </a:solidFill>
              </a:rPr>
              <a:t>Condicionamiento clásico</a:t>
            </a:r>
            <a:endParaRPr sz="2200">
              <a:solidFill>
                <a:srgbClr val="0000FF"/>
              </a:solidFill>
            </a:endParaRPr>
          </a:p>
        </p:txBody>
      </p:sp>
      <p:sp>
        <p:nvSpPr>
          <p:cNvPr id="437" name="Google Shape;437;p8"/>
          <p:cNvSpPr txBox="1">
            <a:spLocks noGrp="1"/>
          </p:cNvSpPr>
          <p:nvPr>
            <p:ph type="body" idx="1"/>
          </p:nvPr>
        </p:nvSpPr>
        <p:spPr>
          <a:xfrm>
            <a:off x="311700" y="1638801"/>
            <a:ext cx="8520600" cy="2814000"/>
          </a:xfrm>
          <a:prstGeom prst="rect">
            <a:avLst/>
          </a:prstGeom>
          <a:noFill/>
          <a:ln>
            <a:noFill/>
          </a:ln>
        </p:spPr>
        <p:txBody>
          <a:bodyPr spcFirstLastPara="1" wrap="square" lIns="91425" tIns="91425" rIns="91425" bIns="91425" anchor="t" anchorCtr="0">
            <a:normAutofit/>
          </a:bodyPr>
          <a:lstStyle/>
          <a:p>
            <a:pPr marL="457200" lvl="0" indent="-311150" algn="l" rtl="0">
              <a:lnSpc>
                <a:spcPct val="115000"/>
              </a:lnSpc>
              <a:spcBef>
                <a:spcPts val="0"/>
              </a:spcBef>
              <a:spcAft>
                <a:spcPts val="0"/>
              </a:spcAft>
              <a:buClr>
                <a:srgbClr val="424242"/>
              </a:buClr>
              <a:buSzPts val="1300"/>
              <a:buChar char="●"/>
            </a:pPr>
            <a:r>
              <a:rPr lang="en">
                <a:solidFill>
                  <a:srgbClr val="424242"/>
                </a:solidFill>
                <a:highlight>
                  <a:srgbClr val="FFFFFF"/>
                </a:highlight>
              </a:rPr>
              <a:t>We learn by association — linking one thing to another. </a:t>
            </a:r>
            <a:r>
              <a:rPr lang="en">
                <a:solidFill>
                  <a:srgbClr val="0000FF"/>
                </a:solidFill>
                <a:highlight>
                  <a:srgbClr val="FFFFFF"/>
                </a:highlight>
              </a:rPr>
              <a:t>Aprendemos por asociación: relacionando una cosa con otra.</a:t>
            </a:r>
            <a:endParaRPr>
              <a:solidFill>
                <a:srgbClr val="0000FF"/>
              </a:solidFill>
            </a:endParaRPr>
          </a:p>
        </p:txBody>
      </p:sp>
      <p:pic>
        <p:nvPicPr>
          <p:cNvPr id="438" name="Google Shape;438;p8"/>
          <p:cNvPicPr preferRelativeResize="0"/>
          <p:nvPr/>
        </p:nvPicPr>
        <p:blipFill rotWithShape="1">
          <a:blip r:embed="rId4">
            <a:alphaModFix/>
          </a:blip>
          <a:srcRect/>
          <a:stretch/>
        </p:blipFill>
        <p:spPr>
          <a:xfrm>
            <a:off x="647350" y="2471950"/>
            <a:ext cx="2087275" cy="1223024"/>
          </a:xfrm>
          <a:prstGeom prst="rect">
            <a:avLst/>
          </a:prstGeom>
          <a:noFill/>
          <a:ln>
            <a:noFill/>
          </a:ln>
        </p:spPr>
      </p:pic>
      <p:sp>
        <p:nvSpPr>
          <p:cNvPr id="439" name="Google Shape;439;p8"/>
          <p:cNvSpPr txBox="1"/>
          <p:nvPr/>
        </p:nvSpPr>
        <p:spPr>
          <a:xfrm>
            <a:off x="101050" y="3850225"/>
            <a:ext cx="2961300" cy="1292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424242"/>
                </a:solidFill>
                <a:highlight>
                  <a:srgbClr val="FFFFFF"/>
                </a:highlight>
                <a:latin typeface="Arial"/>
                <a:ea typeface="Arial"/>
                <a:cs typeface="Arial"/>
                <a:sym typeface="Arial"/>
              </a:rPr>
              <a:t>A person associates flash of lightning with loud boom of thunder</a:t>
            </a:r>
            <a:endParaRPr sz="1400" b="0" i="0" u="none" strike="noStrike" cap="none">
              <a:solidFill>
                <a:srgbClr val="424242"/>
              </a:solidFill>
              <a:highlight>
                <a:srgbClr val="FFFFFF"/>
              </a:highlight>
              <a:latin typeface="Arial"/>
              <a:ea typeface="Arial"/>
              <a:cs typeface="Arial"/>
              <a:sym typeface="Arial"/>
            </a:endParaRPr>
          </a:p>
          <a:p>
            <a:pPr marL="0" marR="0" lvl="0" indent="0" algn="ctr" rtl="0">
              <a:lnSpc>
                <a:spcPct val="100000"/>
              </a:lnSpc>
              <a:spcBef>
                <a:spcPts val="1200"/>
              </a:spcBef>
              <a:spcAft>
                <a:spcPts val="1200"/>
              </a:spcAft>
              <a:buClr>
                <a:srgbClr val="000000"/>
              </a:buClr>
              <a:buSzPts val="1200"/>
              <a:buFont typeface="Arial"/>
              <a:buNone/>
            </a:pPr>
            <a:r>
              <a:rPr lang="en" sz="1200" b="0" i="0" u="none" strike="noStrike" cap="none">
                <a:solidFill>
                  <a:srgbClr val="0000FF"/>
                </a:solidFill>
                <a:highlight>
                  <a:srgbClr val="FFFFFF"/>
                </a:highlight>
                <a:latin typeface="Arial"/>
                <a:ea typeface="Arial"/>
                <a:cs typeface="Arial"/>
                <a:sym typeface="Arial"/>
              </a:rPr>
              <a:t>Una persona asocia el destello de un </a:t>
            </a:r>
            <a:r>
              <a:rPr lang="en" sz="1200">
                <a:solidFill>
                  <a:srgbClr val="0000FF"/>
                </a:solidFill>
                <a:highlight>
                  <a:srgbClr val="FFFFFF"/>
                </a:highlight>
              </a:rPr>
              <a:t>rayo</a:t>
            </a:r>
            <a:r>
              <a:rPr lang="en" sz="1200" b="0" i="0" u="none" strike="noStrike" cap="none">
                <a:solidFill>
                  <a:srgbClr val="0000FF"/>
                </a:solidFill>
                <a:highlight>
                  <a:srgbClr val="FFFFFF"/>
                </a:highlight>
                <a:latin typeface="Arial"/>
                <a:ea typeface="Arial"/>
                <a:cs typeface="Arial"/>
                <a:sym typeface="Arial"/>
              </a:rPr>
              <a:t> con el fuerte </a:t>
            </a:r>
            <a:r>
              <a:rPr lang="en" sz="1200">
                <a:solidFill>
                  <a:srgbClr val="0000FF"/>
                </a:solidFill>
                <a:highlight>
                  <a:srgbClr val="FFFFFF"/>
                </a:highlight>
              </a:rPr>
              <a:t>sonido</a:t>
            </a:r>
            <a:r>
              <a:rPr lang="en" sz="1200" b="0" i="0" u="none" strike="noStrike" cap="none">
                <a:solidFill>
                  <a:srgbClr val="0000FF"/>
                </a:solidFill>
                <a:highlight>
                  <a:srgbClr val="FFFFFF"/>
                </a:highlight>
                <a:latin typeface="Arial"/>
                <a:ea typeface="Arial"/>
                <a:cs typeface="Arial"/>
                <a:sym typeface="Arial"/>
              </a:rPr>
              <a:t> del trueno.</a:t>
            </a:r>
            <a:endParaRPr sz="1200" b="0" i="0" u="none" strike="noStrike" cap="none">
              <a:solidFill>
                <a:srgbClr val="0000FF"/>
              </a:solidFill>
              <a:highlight>
                <a:srgbClr val="FFFFFF"/>
              </a:highlight>
              <a:latin typeface="Arial"/>
              <a:ea typeface="Arial"/>
              <a:cs typeface="Arial"/>
              <a:sym typeface="Arial"/>
            </a:endParaRPr>
          </a:p>
        </p:txBody>
      </p:sp>
      <p:pic>
        <p:nvPicPr>
          <p:cNvPr id="440" name="Google Shape;440;p8"/>
          <p:cNvPicPr preferRelativeResize="0"/>
          <p:nvPr/>
        </p:nvPicPr>
        <p:blipFill rotWithShape="1">
          <a:blip r:embed="rId5">
            <a:alphaModFix/>
          </a:blip>
          <a:srcRect/>
          <a:stretch/>
        </p:blipFill>
        <p:spPr>
          <a:xfrm>
            <a:off x="3737113" y="2831812"/>
            <a:ext cx="1669774" cy="1011250"/>
          </a:xfrm>
          <a:prstGeom prst="rect">
            <a:avLst/>
          </a:prstGeom>
          <a:noFill/>
          <a:ln>
            <a:noFill/>
          </a:ln>
        </p:spPr>
      </p:pic>
      <p:sp>
        <p:nvSpPr>
          <p:cNvPr id="441" name="Google Shape;441;p8"/>
          <p:cNvSpPr txBox="1"/>
          <p:nvPr/>
        </p:nvSpPr>
        <p:spPr>
          <a:xfrm>
            <a:off x="3010625" y="3843075"/>
            <a:ext cx="2961300" cy="122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424242"/>
                </a:solidFill>
                <a:highlight>
                  <a:srgbClr val="FFFFFF"/>
                </a:highlight>
                <a:latin typeface="Arial"/>
                <a:ea typeface="Arial"/>
                <a:cs typeface="Arial"/>
                <a:sym typeface="Arial"/>
              </a:rPr>
              <a:t>Dog sees leash and knows they’re going on a walk</a:t>
            </a:r>
            <a:endParaRPr sz="1400" b="0" i="0" u="none" strike="noStrike" cap="none">
              <a:solidFill>
                <a:srgbClr val="424242"/>
              </a:solidFill>
              <a:highlight>
                <a:srgbClr val="FFFFFF"/>
              </a:highlight>
              <a:latin typeface="Arial"/>
              <a:ea typeface="Arial"/>
              <a:cs typeface="Arial"/>
              <a:sym typeface="Arial"/>
            </a:endParaRPr>
          </a:p>
          <a:p>
            <a:pPr marL="0" marR="0" lvl="0" indent="0" algn="ctr" rtl="0">
              <a:lnSpc>
                <a:spcPct val="100000"/>
              </a:lnSpc>
              <a:spcBef>
                <a:spcPts val="1200"/>
              </a:spcBef>
              <a:spcAft>
                <a:spcPts val="0"/>
              </a:spcAft>
              <a:buClr>
                <a:schemeClr val="dk1"/>
              </a:buClr>
              <a:buSzPts val="1100"/>
              <a:buFont typeface="Arial"/>
              <a:buNone/>
            </a:pPr>
            <a:r>
              <a:rPr lang="en" sz="1200" b="0" i="0" u="none" strike="noStrike" cap="none">
                <a:solidFill>
                  <a:srgbClr val="0000FF"/>
                </a:solidFill>
                <a:highlight>
                  <a:srgbClr val="FFFFFF"/>
                </a:highlight>
                <a:latin typeface="Arial"/>
                <a:ea typeface="Arial"/>
                <a:cs typeface="Arial"/>
                <a:sym typeface="Arial"/>
              </a:rPr>
              <a:t>El perro ve la correa y sabe que va a salir a pasear.</a:t>
            </a:r>
            <a:endParaRPr sz="1200" b="0" i="0" u="none" strike="noStrike" cap="none">
              <a:solidFill>
                <a:srgbClr val="0000FF"/>
              </a:solidFill>
              <a:highlight>
                <a:srgbClr val="FFFFFF"/>
              </a:highlight>
              <a:latin typeface="Arial"/>
              <a:ea typeface="Arial"/>
              <a:cs typeface="Arial"/>
              <a:sym typeface="Arial"/>
            </a:endParaRPr>
          </a:p>
          <a:p>
            <a:pPr marL="0" marR="0" lvl="0" indent="0" algn="ctr" rtl="0">
              <a:lnSpc>
                <a:spcPct val="115000"/>
              </a:lnSpc>
              <a:spcBef>
                <a:spcPts val="1200"/>
              </a:spcBef>
              <a:spcAft>
                <a:spcPts val="1200"/>
              </a:spcAft>
              <a:buClr>
                <a:srgbClr val="000000"/>
              </a:buClr>
              <a:buSzPts val="1600"/>
              <a:buFont typeface="Arial"/>
              <a:buNone/>
            </a:pPr>
            <a:endParaRPr sz="1600" b="0" i="0" u="none" strike="noStrike" cap="none">
              <a:solidFill>
                <a:srgbClr val="424242"/>
              </a:solidFill>
              <a:highlight>
                <a:srgbClr val="FFFFFF"/>
              </a:highlight>
              <a:latin typeface="Arial"/>
              <a:ea typeface="Arial"/>
              <a:cs typeface="Arial"/>
              <a:sym typeface="Arial"/>
            </a:endParaRPr>
          </a:p>
        </p:txBody>
      </p:sp>
      <p:pic>
        <p:nvPicPr>
          <p:cNvPr id="442" name="Google Shape;442;p8"/>
          <p:cNvPicPr preferRelativeResize="0"/>
          <p:nvPr/>
        </p:nvPicPr>
        <p:blipFill rotWithShape="1">
          <a:blip r:embed="rId6">
            <a:alphaModFix/>
          </a:blip>
          <a:srcRect/>
          <a:stretch/>
        </p:blipFill>
        <p:spPr>
          <a:xfrm>
            <a:off x="7468850" y="2592138"/>
            <a:ext cx="1363450" cy="907323"/>
          </a:xfrm>
          <a:prstGeom prst="rect">
            <a:avLst/>
          </a:prstGeom>
          <a:noFill/>
          <a:ln>
            <a:noFill/>
          </a:ln>
        </p:spPr>
      </p:pic>
      <p:pic>
        <p:nvPicPr>
          <p:cNvPr id="443" name="Google Shape;443;p8"/>
          <p:cNvPicPr preferRelativeResize="0"/>
          <p:nvPr/>
        </p:nvPicPr>
        <p:blipFill rotWithShape="1">
          <a:blip r:embed="rId7">
            <a:alphaModFix/>
          </a:blip>
          <a:srcRect/>
          <a:stretch/>
        </p:blipFill>
        <p:spPr>
          <a:xfrm>
            <a:off x="5971896" y="2619726"/>
            <a:ext cx="1363444" cy="852144"/>
          </a:xfrm>
          <a:prstGeom prst="rect">
            <a:avLst/>
          </a:prstGeom>
          <a:noFill/>
          <a:ln>
            <a:noFill/>
          </a:ln>
        </p:spPr>
      </p:pic>
      <p:sp>
        <p:nvSpPr>
          <p:cNvPr id="444" name="Google Shape;444;p8"/>
          <p:cNvSpPr txBox="1"/>
          <p:nvPr/>
        </p:nvSpPr>
        <p:spPr>
          <a:xfrm>
            <a:off x="5917375" y="3843075"/>
            <a:ext cx="3161700" cy="163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424242"/>
                </a:solidFill>
                <a:highlight>
                  <a:srgbClr val="FFFFFF"/>
                </a:highlight>
                <a:latin typeface="Arial"/>
                <a:ea typeface="Arial"/>
                <a:cs typeface="Arial"/>
                <a:sym typeface="Arial"/>
              </a:rPr>
              <a:t>A person who was in a car accident might develop fear of driving</a:t>
            </a:r>
            <a:endParaRPr sz="1400" b="0" i="0" u="none" strike="noStrike" cap="none">
              <a:solidFill>
                <a:srgbClr val="424242"/>
              </a:solidFill>
              <a:highlight>
                <a:srgbClr val="FFFFFF"/>
              </a:highlight>
              <a:latin typeface="Arial"/>
              <a:ea typeface="Arial"/>
              <a:cs typeface="Arial"/>
              <a:sym typeface="Arial"/>
            </a:endParaRPr>
          </a:p>
          <a:p>
            <a:pPr marL="0" marR="0" lvl="0" indent="0" algn="ctr" rtl="0">
              <a:lnSpc>
                <a:spcPct val="100000"/>
              </a:lnSpc>
              <a:spcBef>
                <a:spcPts val="1200"/>
              </a:spcBef>
              <a:spcAft>
                <a:spcPts val="1200"/>
              </a:spcAft>
              <a:buClr>
                <a:srgbClr val="000000"/>
              </a:buClr>
              <a:buSzPts val="1200"/>
              <a:buFont typeface="Arial"/>
              <a:buNone/>
            </a:pPr>
            <a:r>
              <a:rPr lang="en" sz="1200" b="0" i="0" u="none" strike="noStrike" cap="none">
                <a:solidFill>
                  <a:srgbClr val="0000FF"/>
                </a:solidFill>
                <a:highlight>
                  <a:srgbClr val="FFFFFF"/>
                </a:highlight>
                <a:latin typeface="Arial"/>
                <a:ea typeface="Arial"/>
                <a:cs typeface="Arial"/>
                <a:sym typeface="Arial"/>
              </a:rPr>
              <a:t>Una persona que estuvo en un accidente de </a:t>
            </a:r>
            <a:r>
              <a:rPr lang="en" sz="1200">
                <a:solidFill>
                  <a:srgbClr val="0000FF"/>
                </a:solidFill>
                <a:highlight>
                  <a:srgbClr val="FFFFFF"/>
                </a:highlight>
              </a:rPr>
              <a:t>carro</a:t>
            </a:r>
            <a:r>
              <a:rPr lang="en" sz="1200" b="0" i="0" u="none" strike="noStrike" cap="none">
                <a:solidFill>
                  <a:srgbClr val="0000FF"/>
                </a:solidFill>
                <a:highlight>
                  <a:srgbClr val="FFFFFF"/>
                </a:highlight>
                <a:latin typeface="Arial"/>
                <a:ea typeface="Arial"/>
                <a:cs typeface="Arial"/>
                <a:sym typeface="Arial"/>
              </a:rPr>
              <a:t> podría desarrollar miedo a </a:t>
            </a:r>
            <a:r>
              <a:rPr lang="en" sz="1200">
                <a:solidFill>
                  <a:srgbClr val="0000FF"/>
                </a:solidFill>
                <a:highlight>
                  <a:srgbClr val="FFFFFF"/>
                </a:highlight>
              </a:rPr>
              <a:t>manejar</a:t>
            </a:r>
            <a:r>
              <a:rPr lang="en" sz="1200" b="0" i="0" u="none" strike="noStrike" cap="none">
                <a:solidFill>
                  <a:srgbClr val="0000FF"/>
                </a:solidFill>
                <a:highlight>
                  <a:srgbClr val="FFFFFF"/>
                </a:highlight>
                <a:latin typeface="Arial"/>
                <a:ea typeface="Arial"/>
                <a:cs typeface="Arial"/>
                <a:sym typeface="Arial"/>
              </a:rPr>
              <a:t>.</a:t>
            </a:r>
            <a:endParaRPr sz="1200" b="0" i="0" u="none" strike="noStrike" cap="none">
              <a:solidFill>
                <a:srgbClr val="0000FF"/>
              </a:solidFill>
              <a:highlight>
                <a:srgbClr val="FFFFFF"/>
              </a:highlight>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448"/>
        <p:cNvGrpSpPr/>
        <p:nvPr/>
      </p:nvGrpSpPr>
      <p:grpSpPr>
        <a:xfrm>
          <a:off x="0" y="0"/>
          <a:ext cx="0" cy="0"/>
          <a:chOff x="0" y="0"/>
          <a:chExt cx="0" cy="0"/>
        </a:xfrm>
      </p:grpSpPr>
      <p:sp>
        <p:nvSpPr>
          <p:cNvPr id="449" name="Google Shape;449;p9"/>
          <p:cNvSpPr txBox="1">
            <a:spLocks noGrp="1"/>
          </p:cNvSpPr>
          <p:nvPr>
            <p:ph type="title"/>
          </p:nvPr>
        </p:nvSpPr>
        <p:spPr>
          <a:xfrm>
            <a:off x="1303800" y="598575"/>
            <a:ext cx="6185100" cy="9993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111"/>
              <a:buNone/>
            </a:pPr>
            <a:r>
              <a:rPr lang="en"/>
              <a:t>Pavlov’s Classical Conditioning.</a:t>
            </a:r>
            <a:r>
              <a:rPr lang="en">
                <a:solidFill>
                  <a:srgbClr val="0000FF"/>
                </a:solidFill>
              </a:rPr>
              <a:t> </a:t>
            </a:r>
            <a:endParaRPr>
              <a:solidFill>
                <a:srgbClr val="0000FF"/>
              </a:solidFill>
            </a:endParaRPr>
          </a:p>
          <a:p>
            <a:pPr marL="0" lvl="0" indent="0" algn="l" rtl="0">
              <a:lnSpc>
                <a:spcPct val="100000"/>
              </a:lnSpc>
              <a:spcBef>
                <a:spcPts val="0"/>
              </a:spcBef>
              <a:spcAft>
                <a:spcPts val="1000"/>
              </a:spcAft>
              <a:buSzPts val="3111"/>
              <a:buNone/>
            </a:pPr>
            <a:r>
              <a:rPr lang="en" sz="2200">
                <a:solidFill>
                  <a:srgbClr val="0000FF"/>
                </a:solidFill>
              </a:rPr>
              <a:t>El condicionamiento clásico de Pavlov</a:t>
            </a:r>
            <a:endParaRPr/>
          </a:p>
        </p:txBody>
      </p:sp>
      <p:sp>
        <p:nvSpPr>
          <p:cNvPr id="450" name="Google Shape;450;p9"/>
          <p:cNvSpPr txBox="1"/>
          <p:nvPr/>
        </p:nvSpPr>
        <p:spPr>
          <a:xfrm>
            <a:off x="238125" y="1597875"/>
            <a:ext cx="3414600" cy="354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0B0B0B"/>
                </a:solidFill>
                <a:latin typeface="Nunito"/>
                <a:ea typeface="Nunito"/>
                <a:cs typeface="Nunito"/>
                <a:sym typeface="Nunito"/>
              </a:rPr>
              <a:t>Ivan Pavlov was a russian scientist who studied animal learning through association. </a:t>
            </a:r>
            <a:endParaRPr sz="1200">
              <a:solidFill>
                <a:srgbClr val="0B0B0B"/>
              </a:solidFill>
              <a:latin typeface="Nunito"/>
              <a:ea typeface="Nunito"/>
              <a:cs typeface="Nunito"/>
              <a:sym typeface="Nunito"/>
            </a:endParaRPr>
          </a:p>
          <a:p>
            <a:pPr marL="0" lvl="0" indent="0" algn="l" rtl="0">
              <a:spcBef>
                <a:spcPts val="0"/>
              </a:spcBef>
              <a:spcAft>
                <a:spcPts val="0"/>
              </a:spcAft>
              <a:buNone/>
            </a:pPr>
            <a:endParaRPr sz="1200">
              <a:solidFill>
                <a:srgbClr val="0B0B0B"/>
              </a:solidFill>
              <a:latin typeface="Nunito"/>
              <a:ea typeface="Nunito"/>
              <a:cs typeface="Nunito"/>
              <a:sym typeface="Nunito"/>
            </a:endParaRPr>
          </a:p>
          <a:p>
            <a:pPr marL="0" lvl="0" indent="0" algn="l" rtl="0">
              <a:spcBef>
                <a:spcPts val="0"/>
              </a:spcBef>
              <a:spcAft>
                <a:spcPts val="0"/>
              </a:spcAft>
              <a:buNone/>
            </a:pPr>
            <a:r>
              <a:rPr lang="en" sz="1200">
                <a:solidFill>
                  <a:srgbClr val="0B0B0B"/>
                </a:solidFill>
                <a:latin typeface="Nunito"/>
                <a:ea typeface="Nunito"/>
                <a:cs typeface="Nunito"/>
                <a:sym typeface="Nunito"/>
              </a:rPr>
              <a:t>Pavlov’s classical conditioning experiment involved conditioning dogs to salivate when they heard a bell. </a:t>
            </a:r>
            <a:endParaRPr sz="1200">
              <a:solidFill>
                <a:srgbClr val="0B0B0B"/>
              </a:solidFill>
              <a:latin typeface="Nunito"/>
              <a:ea typeface="Nunito"/>
              <a:cs typeface="Nunito"/>
              <a:sym typeface="Nunito"/>
            </a:endParaRPr>
          </a:p>
          <a:p>
            <a:pPr marL="0" lvl="0" indent="0" algn="l" rtl="0">
              <a:spcBef>
                <a:spcPts val="0"/>
              </a:spcBef>
              <a:spcAft>
                <a:spcPts val="0"/>
              </a:spcAft>
              <a:buNone/>
            </a:pPr>
            <a:endParaRPr sz="1200">
              <a:solidFill>
                <a:srgbClr val="0B0B0B"/>
              </a:solidFill>
              <a:latin typeface="Nunito"/>
              <a:ea typeface="Nunito"/>
              <a:cs typeface="Nunito"/>
              <a:sym typeface="Nunito"/>
            </a:endParaRPr>
          </a:p>
          <a:p>
            <a:pPr marL="0" lvl="0" indent="0" algn="l" rtl="0">
              <a:spcBef>
                <a:spcPts val="0"/>
              </a:spcBef>
              <a:spcAft>
                <a:spcPts val="0"/>
              </a:spcAft>
              <a:buNone/>
            </a:pPr>
            <a:r>
              <a:rPr lang="en" sz="1200">
                <a:solidFill>
                  <a:srgbClr val="0B0B0B"/>
                </a:solidFill>
                <a:latin typeface="Nunito"/>
                <a:ea typeface="Nunito"/>
                <a:cs typeface="Nunito"/>
                <a:sym typeface="Nunito"/>
              </a:rPr>
              <a:t>Before conditioning: Pavlov gave dogs food, which naturally caused them to salivate. </a:t>
            </a:r>
            <a:endParaRPr sz="1200">
              <a:solidFill>
                <a:srgbClr val="0B0B0B"/>
              </a:solidFill>
              <a:latin typeface="Nunito"/>
              <a:ea typeface="Nunito"/>
              <a:cs typeface="Nunito"/>
              <a:sym typeface="Nunito"/>
            </a:endParaRPr>
          </a:p>
          <a:p>
            <a:pPr marL="0" lvl="0" indent="0" algn="l" rtl="0">
              <a:spcBef>
                <a:spcPts val="0"/>
              </a:spcBef>
              <a:spcAft>
                <a:spcPts val="0"/>
              </a:spcAft>
              <a:buNone/>
            </a:pPr>
            <a:endParaRPr sz="1200">
              <a:solidFill>
                <a:srgbClr val="0B0B0B"/>
              </a:solidFill>
              <a:latin typeface="Nunito"/>
              <a:ea typeface="Nunito"/>
              <a:cs typeface="Nunito"/>
              <a:sym typeface="Nunito"/>
            </a:endParaRPr>
          </a:p>
          <a:p>
            <a:pPr marL="0" lvl="0" indent="0" algn="l" rtl="0">
              <a:spcBef>
                <a:spcPts val="0"/>
              </a:spcBef>
              <a:spcAft>
                <a:spcPts val="0"/>
              </a:spcAft>
              <a:buNone/>
            </a:pPr>
            <a:r>
              <a:rPr lang="en" sz="1200">
                <a:solidFill>
                  <a:srgbClr val="0B0B0B"/>
                </a:solidFill>
                <a:latin typeface="Nunito"/>
                <a:ea typeface="Nunito"/>
                <a:cs typeface="Nunito"/>
                <a:sym typeface="Nunito"/>
              </a:rPr>
              <a:t>During conditioning: Pavlov rang a bell and then gave the dogs food. He repeated this many times. </a:t>
            </a:r>
            <a:endParaRPr sz="1200">
              <a:solidFill>
                <a:srgbClr val="0B0B0B"/>
              </a:solidFill>
              <a:latin typeface="Nunito"/>
              <a:ea typeface="Nunito"/>
              <a:cs typeface="Nunito"/>
              <a:sym typeface="Nunito"/>
            </a:endParaRPr>
          </a:p>
          <a:p>
            <a:pPr marL="0" lvl="0" indent="0" algn="l" rtl="0">
              <a:spcBef>
                <a:spcPts val="0"/>
              </a:spcBef>
              <a:spcAft>
                <a:spcPts val="0"/>
              </a:spcAft>
              <a:buNone/>
            </a:pPr>
            <a:endParaRPr sz="1200">
              <a:solidFill>
                <a:srgbClr val="0B0B0B"/>
              </a:solidFill>
              <a:latin typeface="Nunito"/>
              <a:ea typeface="Nunito"/>
              <a:cs typeface="Nunito"/>
              <a:sym typeface="Nunito"/>
            </a:endParaRPr>
          </a:p>
          <a:p>
            <a:pPr marL="0" lvl="0" indent="0" algn="l" rtl="0">
              <a:spcBef>
                <a:spcPts val="0"/>
              </a:spcBef>
              <a:spcAft>
                <a:spcPts val="0"/>
              </a:spcAft>
              <a:buNone/>
            </a:pPr>
            <a:r>
              <a:rPr lang="en" sz="1200">
                <a:solidFill>
                  <a:srgbClr val="0B0B0B"/>
                </a:solidFill>
                <a:latin typeface="Nunito"/>
                <a:ea typeface="Nunito"/>
                <a:cs typeface="Nunito"/>
                <a:sym typeface="Nunito"/>
              </a:rPr>
              <a:t>After conditioning: Eventually, the dogs began to salivate when they heard the bell, even when there was no food.</a:t>
            </a:r>
            <a:endParaRPr sz="1200">
              <a:solidFill>
                <a:srgbClr val="0B0B0B"/>
              </a:solidFill>
              <a:latin typeface="Nunito"/>
              <a:ea typeface="Nunito"/>
              <a:cs typeface="Nunito"/>
              <a:sym typeface="Nunito"/>
            </a:endParaRPr>
          </a:p>
        </p:txBody>
      </p:sp>
      <p:sp>
        <p:nvSpPr>
          <p:cNvPr id="451" name="Google Shape;451;p9"/>
          <p:cNvSpPr txBox="1"/>
          <p:nvPr/>
        </p:nvSpPr>
        <p:spPr>
          <a:xfrm>
            <a:off x="3652800" y="1597875"/>
            <a:ext cx="3652800" cy="354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a:solidFill>
                  <a:srgbClr val="0000FF"/>
                </a:solidFill>
                <a:latin typeface="Nunito"/>
                <a:ea typeface="Nunito"/>
                <a:cs typeface="Nunito"/>
                <a:sym typeface="Nunito"/>
              </a:rPr>
              <a:t>Iván Pavlov fue un científico ruso que estudió el aprendizaje de los animales mediante la asociación.</a:t>
            </a:r>
            <a:endParaRPr sz="1100">
              <a:solidFill>
                <a:srgbClr val="0000FF"/>
              </a:solidFill>
              <a:latin typeface="Nunito"/>
              <a:ea typeface="Nunito"/>
              <a:cs typeface="Nunito"/>
              <a:sym typeface="Nunito"/>
            </a:endParaRPr>
          </a:p>
          <a:p>
            <a:pPr marL="0" lvl="0" indent="0" algn="l" rtl="0">
              <a:lnSpc>
                <a:spcPct val="115000"/>
              </a:lnSpc>
              <a:spcBef>
                <a:spcPts val="1200"/>
              </a:spcBef>
              <a:spcAft>
                <a:spcPts val="0"/>
              </a:spcAft>
              <a:buNone/>
            </a:pPr>
            <a:r>
              <a:rPr lang="en" sz="1100">
                <a:solidFill>
                  <a:srgbClr val="0000FF"/>
                </a:solidFill>
                <a:latin typeface="Nunito"/>
                <a:ea typeface="Nunito"/>
                <a:cs typeface="Nunito"/>
                <a:sym typeface="Nunito"/>
              </a:rPr>
              <a:t>El experimento de condicionamiento clásico de Pavlov consistió en enseñar a los perros a babear cuando escuchaban una campana.</a:t>
            </a:r>
            <a:endParaRPr sz="1100">
              <a:solidFill>
                <a:srgbClr val="0000FF"/>
              </a:solidFill>
              <a:latin typeface="Nunito"/>
              <a:ea typeface="Nunito"/>
              <a:cs typeface="Nunito"/>
              <a:sym typeface="Nunito"/>
            </a:endParaRPr>
          </a:p>
          <a:p>
            <a:pPr marL="0" lvl="0" indent="0" algn="l" rtl="0">
              <a:lnSpc>
                <a:spcPct val="115000"/>
              </a:lnSpc>
              <a:spcBef>
                <a:spcPts val="1200"/>
              </a:spcBef>
              <a:spcAft>
                <a:spcPts val="0"/>
              </a:spcAft>
              <a:buNone/>
            </a:pPr>
            <a:r>
              <a:rPr lang="en" sz="1100">
                <a:solidFill>
                  <a:srgbClr val="0000FF"/>
                </a:solidFill>
                <a:latin typeface="Nunito"/>
                <a:ea typeface="Nunito"/>
                <a:cs typeface="Nunito"/>
                <a:sym typeface="Nunito"/>
              </a:rPr>
              <a:t>Antes del condicionamiento: Pavlov les daba comida a los perros, lo que naturalmente hacía que babearan.</a:t>
            </a:r>
            <a:endParaRPr sz="1100">
              <a:solidFill>
                <a:srgbClr val="0000FF"/>
              </a:solidFill>
              <a:latin typeface="Nunito"/>
              <a:ea typeface="Nunito"/>
              <a:cs typeface="Nunito"/>
              <a:sym typeface="Nunito"/>
            </a:endParaRPr>
          </a:p>
          <a:p>
            <a:pPr marL="0" lvl="0" indent="0" algn="l" rtl="0">
              <a:lnSpc>
                <a:spcPct val="115000"/>
              </a:lnSpc>
              <a:spcBef>
                <a:spcPts val="1200"/>
              </a:spcBef>
              <a:spcAft>
                <a:spcPts val="0"/>
              </a:spcAft>
              <a:buNone/>
            </a:pPr>
            <a:r>
              <a:rPr lang="en" sz="1100">
                <a:solidFill>
                  <a:srgbClr val="0000FF"/>
                </a:solidFill>
                <a:latin typeface="Nunito"/>
                <a:ea typeface="Nunito"/>
                <a:cs typeface="Nunito"/>
                <a:sym typeface="Nunito"/>
              </a:rPr>
              <a:t>Durante el condicionamiento: Pavlov hacía sonar una campana y luego les daba comida a los perros. Repitió esto muchas veces.</a:t>
            </a:r>
            <a:endParaRPr sz="1100">
              <a:solidFill>
                <a:srgbClr val="0000FF"/>
              </a:solidFill>
              <a:latin typeface="Nunito"/>
              <a:ea typeface="Nunito"/>
              <a:cs typeface="Nunito"/>
              <a:sym typeface="Nunito"/>
            </a:endParaRPr>
          </a:p>
          <a:p>
            <a:pPr marL="0" lvl="0" indent="0" algn="l" rtl="0">
              <a:lnSpc>
                <a:spcPct val="115000"/>
              </a:lnSpc>
              <a:spcBef>
                <a:spcPts val="1200"/>
              </a:spcBef>
              <a:spcAft>
                <a:spcPts val="1200"/>
              </a:spcAft>
              <a:buNone/>
            </a:pPr>
            <a:r>
              <a:rPr lang="en" sz="1100">
                <a:solidFill>
                  <a:srgbClr val="0000FF"/>
                </a:solidFill>
                <a:latin typeface="Nunito"/>
                <a:ea typeface="Nunito"/>
                <a:cs typeface="Nunito"/>
                <a:sym typeface="Nunito"/>
              </a:rPr>
              <a:t>Después del condicionamiento: Con el tiempo, los perros comenzaron a babear cuando escuchaban la campana, incluso cuando no había comida.</a:t>
            </a:r>
            <a:endParaRPr sz="1100">
              <a:solidFill>
                <a:srgbClr val="0000FF"/>
              </a:solidFill>
              <a:latin typeface="Nunito"/>
              <a:ea typeface="Nunito"/>
              <a:cs typeface="Nunito"/>
              <a:sym typeface="Nunito"/>
            </a:endParaRPr>
          </a:p>
        </p:txBody>
      </p:sp>
      <p:pic>
        <p:nvPicPr>
          <p:cNvPr id="452" name="Google Shape;452;p9" title="JlRr0mEN7DM7k_vKk3N92FNhJ25cqSuy_vrEtAfPcCNIPMaQJvp4Q_DPTuGzzgB3QgPSh350J1ac1hff-zjxvsj8Z6hyBHVz_4EUxBLQiyzFn2T3hRJgqkxs1x1q9e4lY_htt5l6NUZe3vyDkfILwyZUSCQXaREln4-jbmNCjMgpcijYn8T33yko9xEifhiS.jpg"/>
          <p:cNvPicPr preferRelativeResize="0"/>
          <p:nvPr/>
        </p:nvPicPr>
        <p:blipFill rotWithShape="1">
          <a:blip r:embed="rId3">
            <a:alphaModFix/>
          </a:blip>
          <a:srcRect t="13681" r="49822" b="51787"/>
          <a:stretch/>
        </p:blipFill>
        <p:spPr>
          <a:xfrm>
            <a:off x="7365352" y="75"/>
            <a:ext cx="1778647" cy="1224033"/>
          </a:xfrm>
          <a:prstGeom prst="rect">
            <a:avLst/>
          </a:prstGeom>
          <a:noFill/>
          <a:ln>
            <a:noFill/>
          </a:ln>
        </p:spPr>
      </p:pic>
      <p:pic>
        <p:nvPicPr>
          <p:cNvPr id="453" name="Google Shape;453;p9" title="JlRr0mEN7DM7k_vKk3N92FNhJ25cqSuy_vrEtAfPcCNIPMaQJvp4Q_DPTuGzzgB3QgPSh350J1ac1hff-zjxvsj8Z6hyBHVz_4EUxBLQiyzFn2T3hRJgqkxs1x1q9e4lY_htt5l6NUZe3vyDkfILwyZUSCQXaREln4-jbmNCjMgpcijYn8T33yko9xEifhiS.jpg"/>
          <p:cNvPicPr preferRelativeResize="0"/>
          <p:nvPr/>
        </p:nvPicPr>
        <p:blipFill rotWithShape="1">
          <a:blip r:embed="rId3">
            <a:alphaModFix/>
          </a:blip>
          <a:srcRect l="51789" t="13892" b="51576"/>
          <a:stretch/>
        </p:blipFill>
        <p:spPr>
          <a:xfrm>
            <a:off x="7365352" y="1224109"/>
            <a:ext cx="1778647" cy="1224033"/>
          </a:xfrm>
          <a:prstGeom prst="rect">
            <a:avLst/>
          </a:prstGeom>
          <a:noFill/>
          <a:ln>
            <a:noFill/>
          </a:ln>
        </p:spPr>
      </p:pic>
      <p:pic>
        <p:nvPicPr>
          <p:cNvPr id="454" name="Google Shape;454;p9" title="JlRr0mEN7DM7k_vKk3N92FNhJ25cqSuy_vrEtAfPcCNIPMaQJvp4Q_DPTuGzzgB3QgPSh350J1ac1hff-zjxvsj8Z6hyBHVz_4EUxBLQiyzFn2T3hRJgqkxs1x1q9e4lY_htt5l6NUZe3vyDkfILwyZUSCQXaREln4-jbmNCjMgpcijYn8T33yko9xEifhiS.jpg"/>
          <p:cNvPicPr preferRelativeResize="0"/>
          <p:nvPr/>
        </p:nvPicPr>
        <p:blipFill rotWithShape="1">
          <a:blip r:embed="rId3">
            <a:alphaModFix/>
          </a:blip>
          <a:srcRect t="53298" r="47930" b="9400"/>
          <a:stretch/>
        </p:blipFill>
        <p:spPr>
          <a:xfrm>
            <a:off x="7365352" y="2448142"/>
            <a:ext cx="1778647" cy="1322255"/>
          </a:xfrm>
          <a:prstGeom prst="rect">
            <a:avLst/>
          </a:prstGeom>
          <a:noFill/>
          <a:ln>
            <a:noFill/>
          </a:ln>
        </p:spPr>
      </p:pic>
      <p:pic>
        <p:nvPicPr>
          <p:cNvPr id="455" name="Google Shape;455;p9" title="JlRr0mEN7DM7k_vKk3N92FNhJ25cqSuy_vrEtAfPcCNIPMaQJvp4Q_DPTuGzzgB3QgPSh350J1ac1hff-zjxvsj8Z6hyBHVz_4EUxBLQiyzFn2T3hRJgqkxs1x1q9e4lY_htt5l6NUZe3vyDkfILwyZUSCQXaREln4-jbmNCjMgpcijYn8T33yko9xEifhiS.jpg"/>
          <p:cNvPicPr preferRelativeResize="0"/>
          <p:nvPr/>
        </p:nvPicPr>
        <p:blipFill rotWithShape="1">
          <a:blip r:embed="rId3">
            <a:alphaModFix/>
          </a:blip>
          <a:srcRect l="51789" t="51788" b="9472"/>
          <a:stretch/>
        </p:blipFill>
        <p:spPr>
          <a:xfrm>
            <a:off x="7365352" y="3770397"/>
            <a:ext cx="1778647" cy="137317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459"/>
        <p:cNvGrpSpPr/>
        <p:nvPr/>
      </p:nvGrpSpPr>
      <p:grpSpPr>
        <a:xfrm>
          <a:off x="0" y="0"/>
          <a:ext cx="0" cy="0"/>
          <a:chOff x="0" y="0"/>
          <a:chExt cx="0" cy="0"/>
        </a:xfrm>
      </p:grpSpPr>
      <p:sp>
        <p:nvSpPr>
          <p:cNvPr id="460" name="Google Shape;460;g3f6bd4abedf_1_0"/>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Pavlov’s Classical Conditioning.</a:t>
            </a:r>
            <a:r>
              <a:rPr lang="en">
                <a:solidFill>
                  <a:srgbClr val="0000FF"/>
                </a:solidFill>
              </a:rPr>
              <a:t> </a:t>
            </a:r>
            <a:endParaRPr>
              <a:solidFill>
                <a:srgbClr val="0000FF"/>
              </a:solidFill>
            </a:endParaRPr>
          </a:p>
          <a:p>
            <a:pPr marL="0" lvl="0" indent="0" algn="l" rtl="0">
              <a:lnSpc>
                <a:spcPct val="100000"/>
              </a:lnSpc>
              <a:spcBef>
                <a:spcPts val="0"/>
              </a:spcBef>
              <a:spcAft>
                <a:spcPts val="0"/>
              </a:spcAft>
              <a:buSzPct val="141414"/>
              <a:buNone/>
            </a:pPr>
            <a:r>
              <a:rPr lang="en" sz="2200">
                <a:solidFill>
                  <a:srgbClr val="0000FF"/>
                </a:solidFill>
              </a:rPr>
              <a:t>El condicionamiento clásico de Pavlov</a:t>
            </a:r>
            <a:endParaRPr sz="2200">
              <a:solidFill>
                <a:srgbClr val="0000FF"/>
              </a:solidFill>
            </a:endParaRPr>
          </a:p>
          <a:p>
            <a:pPr marL="0" lvl="0" indent="0" algn="l" rtl="0">
              <a:lnSpc>
                <a:spcPct val="100000"/>
              </a:lnSpc>
              <a:spcBef>
                <a:spcPts val="1000"/>
              </a:spcBef>
              <a:spcAft>
                <a:spcPts val="0"/>
              </a:spcAft>
              <a:buSzPct val="177215"/>
              <a:buNone/>
            </a:pPr>
            <a:r>
              <a:rPr lang="en" sz="1756"/>
              <a:t>More info about experiment   </a:t>
            </a:r>
            <a:r>
              <a:rPr lang="en" sz="1756">
                <a:solidFill>
                  <a:srgbClr val="0000FF"/>
                </a:solidFill>
              </a:rPr>
              <a:t>Más información sobre el experimento</a:t>
            </a:r>
            <a:endParaRPr sz="1756">
              <a:solidFill>
                <a:srgbClr val="0000FF"/>
              </a:solidFill>
            </a:endParaRPr>
          </a:p>
          <a:p>
            <a:pPr marL="0" lvl="0" indent="0" algn="l" rtl="0">
              <a:lnSpc>
                <a:spcPct val="100000"/>
              </a:lnSpc>
              <a:spcBef>
                <a:spcPts val="0"/>
              </a:spcBef>
              <a:spcAft>
                <a:spcPts val="0"/>
              </a:spcAft>
              <a:buSzPct val="111111"/>
              <a:buNone/>
            </a:pPr>
            <a:endParaRPr/>
          </a:p>
        </p:txBody>
      </p:sp>
      <p:pic>
        <p:nvPicPr>
          <p:cNvPr id="461" name="Google Shape;461;g3f6bd4abedf_1_0" title="Screen Recording 2026-02-26 at 10.18.22 AM.mov">
            <a:hlinkClick r:id="rId3"/>
          </p:cNvPr>
          <p:cNvPicPr preferRelativeResize="0"/>
          <p:nvPr/>
        </p:nvPicPr>
        <p:blipFill rotWithShape="1">
          <a:blip r:embed="rId4">
            <a:alphaModFix/>
          </a:blip>
          <a:srcRect/>
          <a:stretch/>
        </p:blipFill>
        <p:spPr>
          <a:xfrm>
            <a:off x="2286000" y="1826475"/>
            <a:ext cx="4572000" cy="3140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1"/>
                                        </p:tgtEl>
                                        <p:attrNameLst>
                                          <p:attrName>style.visibility</p:attrName>
                                        </p:attrNameLst>
                                      </p:cBhvr>
                                      <p:to>
                                        <p:strVal val="visible"/>
                                      </p:to>
                                    </p:set>
                                    <p:animEffect transition="in" filter="fade">
                                      <p:cBhvr>
                                        <p:cTn id="7" dur="1000"/>
                                        <p:tgtEl>
                                          <p:spTgt spid="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11"/>
          <p:cNvSpPr txBox="1">
            <a:spLocks noGrp="1"/>
          </p:cNvSpPr>
          <p:nvPr>
            <p:ph type="title"/>
          </p:nvPr>
        </p:nvSpPr>
        <p:spPr>
          <a:xfrm>
            <a:off x="1159100" y="434000"/>
            <a:ext cx="7546500" cy="548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Pavlov’s Classical Conditioning </a:t>
            </a:r>
            <a:r>
              <a:rPr lang="en" sz="2200">
                <a:solidFill>
                  <a:srgbClr val="0000FF"/>
                </a:solidFill>
              </a:rPr>
              <a:t>El condicionamiento clásico de Pavlov</a:t>
            </a:r>
            <a:endParaRPr>
              <a:solidFill>
                <a:srgbClr val="0000FF"/>
              </a:solidFill>
            </a:endParaRPr>
          </a:p>
        </p:txBody>
      </p:sp>
      <p:sp>
        <p:nvSpPr>
          <p:cNvPr id="467" name="Google Shape;467;p11"/>
          <p:cNvSpPr txBox="1">
            <a:spLocks noGrp="1"/>
          </p:cNvSpPr>
          <p:nvPr>
            <p:ph type="body" idx="1"/>
          </p:nvPr>
        </p:nvSpPr>
        <p:spPr>
          <a:xfrm>
            <a:off x="156900" y="1348275"/>
            <a:ext cx="4415100" cy="42252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rgbClr val="424242"/>
              </a:buClr>
              <a:buSzPts val="1100"/>
              <a:buChar char="●"/>
            </a:pPr>
            <a:r>
              <a:rPr lang="en" sz="1100" u="sng">
                <a:solidFill>
                  <a:srgbClr val="424242"/>
                </a:solidFill>
                <a:highlight>
                  <a:schemeClr val="lt1"/>
                </a:highlight>
              </a:rPr>
              <a:t>Unconditioned stimulus</a:t>
            </a:r>
            <a:r>
              <a:rPr lang="en" sz="1100">
                <a:solidFill>
                  <a:srgbClr val="424242"/>
                </a:solidFill>
                <a:highlight>
                  <a:schemeClr val="lt1"/>
                </a:highlight>
              </a:rPr>
              <a:t>: a stimulus that elicits a reflexive response in an organism. </a:t>
            </a:r>
            <a:r>
              <a:rPr lang="en" sz="1100" i="1">
                <a:solidFill>
                  <a:schemeClr val="dk1"/>
                </a:solidFill>
                <a:highlight>
                  <a:schemeClr val="lt1"/>
                </a:highlight>
              </a:rPr>
              <a:t>(Dog food)</a:t>
            </a:r>
            <a:r>
              <a:rPr lang="en" sz="1100" i="1">
                <a:solidFill>
                  <a:srgbClr val="0000FF"/>
                </a:solidFill>
                <a:highlight>
                  <a:schemeClr val="lt1"/>
                </a:highlight>
              </a:rPr>
              <a:t> </a:t>
            </a:r>
            <a:r>
              <a:rPr lang="en" sz="1100" u="sng">
                <a:solidFill>
                  <a:srgbClr val="0000FF"/>
                </a:solidFill>
              </a:rPr>
              <a:t>Estímulo incondicionado:</a:t>
            </a:r>
            <a:r>
              <a:rPr lang="en" sz="1100">
                <a:solidFill>
                  <a:srgbClr val="0000FF"/>
                </a:solidFill>
              </a:rPr>
              <a:t> un estímulo que provoca una respuesta refleja en un organismo. </a:t>
            </a:r>
            <a:r>
              <a:rPr lang="en" sz="1100" i="1">
                <a:solidFill>
                  <a:srgbClr val="0000FF"/>
                </a:solidFill>
              </a:rPr>
              <a:t>(Comida para perros)</a:t>
            </a:r>
            <a:endParaRPr sz="1100" i="1">
              <a:solidFill>
                <a:srgbClr val="0000FF"/>
              </a:solidFill>
              <a:highlight>
                <a:schemeClr val="lt1"/>
              </a:highlight>
            </a:endParaRPr>
          </a:p>
        </p:txBody>
      </p:sp>
      <p:pic>
        <p:nvPicPr>
          <p:cNvPr id="468" name="Google Shape;468;p11"/>
          <p:cNvPicPr preferRelativeResize="0"/>
          <p:nvPr/>
        </p:nvPicPr>
        <p:blipFill rotWithShape="1">
          <a:blip r:embed="rId3">
            <a:alphaModFix/>
          </a:blip>
          <a:srcRect/>
          <a:stretch/>
        </p:blipFill>
        <p:spPr>
          <a:xfrm>
            <a:off x="4513276" y="1162800"/>
            <a:ext cx="4415099" cy="3537275"/>
          </a:xfrm>
          <a:prstGeom prst="rect">
            <a:avLst/>
          </a:prstGeom>
          <a:noFill/>
          <a:ln>
            <a:noFill/>
          </a:ln>
        </p:spPr>
      </p:pic>
      <p:sp>
        <p:nvSpPr>
          <p:cNvPr id="469" name="Google Shape;469;p11"/>
          <p:cNvSpPr txBox="1"/>
          <p:nvPr/>
        </p:nvSpPr>
        <p:spPr>
          <a:xfrm>
            <a:off x="5685850" y="982100"/>
            <a:ext cx="2427000" cy="10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FF"/>
                </a:solidFill>
                <a:latin typeface="Arial"/>
                <a:ea typeface="Arial"/>
                <a:cs typeface="Arial"/>
                <a:sym typeface="Arial"/>
              </a:rPr>
              <a:t>Antes del acondicionamiento</a:t>
            </a:r>
            <a:endParaRPr sz="1200" b="0" i="0" u="none" strike="noStrike" cap="none">
              <a:solidFill>
                <a:srgbClr val="0000FF"/>
              </a:solidFill>
              <a:latin typeface="Arial"/>
              <a:ea typeface="Arial"/>
              <a:cs typeface="Arial"/>
              <a:sym typeface="Arial"/>
            </a:endParaRPr>
          </a:p>
        </p:txBody>
      </p:sp>
      <p:sp>
        <p:nvSpPr>
          <p:cNvPr id="470" name="Google Shape;470;p11"/>
          <p:cNvSpPr txBox="1"/>
          <p:nvPr/>
        </p:nvSpPr>
        <p:spPr>
          <a:xfrm>
            <a:off x="4572000" y="2836488"/>
            <a:ext cx="2350200" cy="18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FF"/>
                </a:solidFill>
                <a:latin typeface="Arial"/>
                <a:ea typeface="Arial"/>
                <a:cs typeface="Arial"/>
                <a:sym typeface="Arial"/>
              </a:rPr>
              <a:t>Durante el acondicionamiento</a:t>
            </a:r>
            <a:endParaRPr sz="1200" b="0" i="0" u="none" strike="noStrike" cap="none">
              <a:solidFill>
                <a:srgbClr val="0000FF"/>
              </a:solidFill>
              <a:latin typeface="Arial"/>
              <a:ea typeface="Arial"/>
              <a:cs typeface="Arial"/>
              <a:sym typeface="Arial"/>
            </a:endParaRPr>
          </a:p>
        </p:txBody>
      </p:sp>
      <p:sp>
        <p:nvSpPr>
          <p:cNvPr id="471" name="Google Shape;471;p11"/>
          <p:cNvSpPr txBox="1"/>
          <p:nvPr/>
        </p:nvSpPr>
        <p:spPr>
          <a:xfrm>
            <a:off x="6922200" y="2838750"/>
            <a:ext cx="2350200" cy="18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FF"/>
                </a:solidFill>
                <a:latin typeface="Arial"/>
                <a:ea typeface="Arial"/>
                <a:cs typeface="Arial"/>
                <a:sym typeface="Arial"/>
              </a:rPr>
              <a:t>Después del acondicionamiento</a:t>
            </a:r>
            <a:endParaRPr sz="1200" b="0" i="0" u="none" strike="noStrike" cap="none">
              <a:solidFill>
                <a:srgbClr val="0000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g3f6bd4abedf_1_39"/>
          <p:cNvSpPr txBox="1">
            <a:spLocks noGrp="1"/>
          </p:cNvSpPr>
          <p:nvPr>
            <p:ph type="title"/>
          </p:nvPr>
        </p:nvSpPr>
        <p:spPr>
          <a:xfrm>
            <a:off x="1159100" y="434000"/>
            <a:ext cx="7546500" cy="548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Pavlov’s Classical Conditioning </a:t>
            </a:r>
            <a:r>
              <a:rPr lang="en" sz="2200">
                <a:solidFill>
                  <a:srgbClr val="0000FF"/>
                </a:solidFill>
              </a:rPr>
              <a:t>El condicionamiento clásico de Pavlov</a:t>
            </a:r>
            <a:endParaRPr>
              <a:solidFill>
                <a:srgbClr val="0000FF"/>
              </a:solidFill>
            </a:endParaRPr>
          </a:p>
        </p:txBody>
      </p:sp>
      <p:sp>
        <p:nvSpPr>
          <p:cNvPr id="477" name="Google Shape;477;g3f6bd4abedf_1_39"/>
          <p:cNvSpPr txBox="1">
            <a:spLocks noGrp="1"/>
          </p:cNvSpPr>
          <p:nvPr>
            <p:ph type="body" idx="1"/>
          </p:nvPr>
        </p:nvSpPr>
        <p:spPr>
          <a:xfrm>
            <a:off x="156900" y="1348275"/>
            <a:ext cx="4415100" cy="42252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rgbClr val="424242"/>
              </a:buClr>
              <a:buSzPts val="1100"/>
              <a:buChar char="●"/>
            </a:pPr>
            <a:r>
              <a:rPr lang="en" sz="1100" u="sng">
                <a:solidFill>
                  <a:srgbClr val="424242"/>
                </a:solidFill>
                <a:highlight>
                  <a:schemeClr val="lt1"/>
                </a:highlight>
              </a:rPr>
              <a:t>Unconditioned stimulus</a:t>
            </a:r>
            <a:r>
              <a:rPr lang="en" sz="1100">
                <a:solidFill>
                  <a:srgbClr val="424242"/>
                </a:solidFill>
                <a:highlight>
                  <a:schemeClr val="lt1"/>
                </a:highlight>
              </a:rPr>
              <a:t>: a stimulus that elicits a reflexive response in an organism. </a:t>
            </a:r>
            <a:r>
              <a:rPr lang="en" sz="1100" i="1">
                <a:solidFill>
                  <a:schemeClr val="dk1"/>
                </a:solidFill>
                <a:highlight>
                  <a:schemeClr val="lt1"/>
                </a:highlight>
              </a:rPr>
              <a:t>(Dog food)</a:t>
            </a:r>
            <a:r>
              <a:rPr lang="en" sz="1100" i="1">
                <a:solidFill>
                  <a:srgbClr val="0000FF"/>
                </a:solidFill>
                <a:highlight>
                  <a:schemeClr val="lt1"/>
                </a:highlight>
              </a:rPr>
              <a:t> </a:t>
            </a:r>
            <a:r>
              <a:rPr lang="en" sz="1100" u="sng">
                <a:solidFill>
                  <a:srgbClr val="0000FF"/>
                </a:solidFill>
              </a:rPr>
              <a:t>Estímulo incondicionado:</a:t>
            </a:r>
            <a:r>
              <a:rPr lang="en" sz="1100">
                <a:solidFill>
                  <a:srgbClr val="0000FF"/>
                </a:solidFill>
              </a:rPr>
              <a:t> un estímulo que provoca una respuesta refleja en un organismo. </a:t>
            </a:r>
            <a:r>
              <a:rPr lang="en" sz="1100" i="1">
                <a:solidFill>
                  <a:srgbClr val="0000FF"/>
                </a:solidFill>
              </a:rPr>
              <a:t>(Comida para perros)</a:t>
            </a:r>
            <a:endParaRPr sz="1100" i="1">
              <a:solidFill>
                <a:srgbClr val="0000FF"/>
              </a:solidFill>
            </a:endParaRPr>
          </a:p>
          <a:p>
            <a:pPr marL="457200" lvl="0" indent="-298450" algn="l" rtl="0">
              <a:lnSpc>
                <a:spcPct val="115000"/>
              </a:lnSpc>
              <a:spcBef>
                <a:spcPts val="0"/>
              </a:spcBef>
              <a:spcAft>
                <a:spcPts val="0"/>
              </a:spcAft>
              <a:buClr>
                <a:srgbClr val="424242"/>
              </a:buClr>
              <a:buSzPts val="1100"/>
              <a:buChar char="●"/>
            </a:pPr>
            <a:r>
              <a:rPr lang="en" sz="1100" u="sng">
                <a:solidFill>
                  <a:srgbClr val="424242"/>
                </a:solidFill>
                <a:highlight>
                  <a:schemeClr val="lt1"/>
                </a:highlight>
              </a:rPr>
              <a:t>Unconditioned response</a:t>
            </a:r>
            <a:r>
              <a:rPr lang="en" sz="1100">
                <a:solidFill>
                  <a:srgbClr val="424242"/>
                </a:solidFill>
                <a:highlight>
                  <a:schemeClr val="lt1"/>
                </a:highlight>
              </a:rPr>
              <a:t>: a natural (unlearned) reaction to a given stimulus. </a:t>
            </a:r>
            <a:r>
              <a:rPr lang="en" sz="1100" i="1">
                <a:solidFill>
                  <a:schemeClr val="dk1"/>
                </a:solidFill>
                <a:highlight>
                  <a:schemeClr val="lt1"/>
                </a:highlight>
              </a:rPr>
              <a:t>(Dog salivates) </a:t>
            </a:r>
            <a:r>
              <a:rPr lang="en" sz="1100" u="sng">
                <a:solidFill>
                  <a:srgbClr val="0000FF"/>
                </a:solidFill>
              </a:rPr>
              <a:t>Respuesta incondicionada:</a:t>
            </a:r>
            <a:r>
              <a:rPr lang="en" sz="1100">
                <a:solidFill>
                  <a:srgbClr val="0000FF"/>
                </a:solidFill>
              </a:rPr>
              <a:t> una reacción natural (no aprendida) ante un estímulo dado. </a:t>
            </a:r>
            <a:r>
              <a:rPr lang="en" sz="1100" i="1">
                <a:solidFill>
                  <a:srgbClr val="0000FF"/>
                </a:solidFill>
              </a:rPr>
              <a:t>(El perro babea)</a:t>
            </a:r>
            <a:endParaRPr sz="1100" i="1">
              <a:solidFill>
                <a:srgbClr val="0000FF"/>
              </a:solidFill>
              <a:highlight>
                <a:schemeClr val="lt1"/>
              </a:highlight>
            </a:endParaRPr>
          </a:p>
        </p:txBody>
      </p:sp>
      <p:pic>
        <p:nvPicPr>
          <p:cNvPr id="478" name="Google Shape;478;g3f6bd4abedf_1_39"/>
          <p:cNvPicPr preferRelativeResize="0"/>
          <p:nvPr/>
        </p:nvPicPr>
        <p:blipFill rotWithShape="1">
          <a:blip r:embed="rId3">
            <a:alphaModFix/>
          </a:blip>
          <a:srcRect/>
          <a:stretch/>
        </p:blipFill>
        <p:spPr>
          <a:xfrm>
            <a:off x="4513276" y="1162800"/>
            <a:ext cx="4415099" cy="3537275"/>
          </a:xfrm>
          <a:prstGeom prst="rect">
            <a:avLst/>
          </a:prstGeom>
          <a:noFill/>
          <a:ln>
            <a:noFill/>
          </a:ln>
        </p:spPr>
      </p:pic>
      <p:sp>
        <p:nvSpPr>
          <p:cNvPr id="479" name="Google Shape;479;g3f6bd4abedf_1_39"/>
          <p:cNvSpPr txBox="1"/>
          <p:nvPr/>
        </p:nvSpPr>
        <p:spPr>
          <a:xfrm>
            <a:off x="5685850" y="982100"/>
            <a:ext cx="2427000" cy="10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FF"/>
                </a:solidFill>
                <a:latin typeface="Arial"/>
                <a:ea typeface="Arial"/>
                <a:cs typeface="Arial"/>
                <a:sym typeface="Arial"/>
              </a:rPr>
              <a:t>Antes del acondicionamiento</a:t>
            </a:r>
            <a:endParaRPr sz="1200" b="0" i="0" u="none" strike="noStrike" cap="none">
              <a:solidFill>
                <a:srgbClr val="0000FF"/>
              </a:solidFill>
              <a:latin typeface="Arial"/>
              <a:ea typeface="Arial"/>
              <a:cs typeface="Arial"/>
              <a:sym typeface="Arial"/>
            </a:endParaRPr>
          </a:p>
        </p:txBody>
      </p:sp>
      <p:sp>
        <p:nvSpPr>
          <p:cNvPr id="480" name="Google Shape;480;g3f6bd4abedf_1_39"/>
          <p:cNvSpPr txBox="1"/>
          <p:nvPr/>
        </p:nvSpPr>
        <p:spPr>
          <a:xfrm>
            <a:off x="4572000" y="2836488"/>
            <a:ext cx="2350200" cy="18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FF"/>
                </a:solidFill>
                <a:latin typeface="Arial"/>
                <a:ea typeface="Arial"/>
                <a:cs typeface="Arial"/>
                <a:sym typeface="Arial"/>
              </a:rPr>
              <a:t>Durante el acondicionamiento</a:t>
            </a:r>
            <a:endParaRPr sz="1200" b="0" i="0" u="none" strike="noStrike" cap="none">
              <a:solidFill>
                <a:srgbClr val="0000FF"/>
              </a:solidFill>
              <a:latin typeface="Arial"/>
              <a:ea typeface="Arial"/>
              <a:cs typeface="Arial"/>
              <a:sym typeface="Arial"/>
            </a:endParaRPr>
          </a:p>
        </p:txBody>
      </p:sp>
      <p:sp>
        <p:nvSpPr>
          <p:cNvPr id="481" name="Google Shape;481;g3f6bd4abedf_1_39"/>
          <p:cNvSpPr txBox="1"/>
          <p:nvPr/>
        </p:nvSpPr>
        <p:spPr>
          <a:xfrm>
            <a:off x="6922200" y="2838750"/>
            <a:ext cx="2350200" cy="18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FF"/>
                </a:solidFill>
                <a:latin typeface="Arial"/>
                <a:ea typeface="Arial"/>
                <a:cs typeface="Arial"/>
                <a:sym typeface="Arial"/>
              </a:rPr>
              <a:t>Después del acondicionamiento</a:t>
            </a:r>
            <a:endParaRPr sz="1200" b="0" i="0" u="none" strike="noStrike" cap="none">
              <a:solidFill>
                <a:srgbClr val="0000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g3f6bd4abedf_1_48"/>
          <p:cNvSpPr txBox="1">
            <a:spLocks noGrp="1"/>
          </p:cNvSpPr>
          <p:nvPr>
            <p:ph type="title"/>
          </p:nvPr>
        </p:nvSpPr>
        <p:spPr>
          <a:xfrm>
            <a:off x="1159100" y="434000"/>
            <a:ext cx="7546500" cy="548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Pavlov’s Classical Conditioning </a:t>
            </a:r>
            <a:r>
              <a:rPr lang="en" sz="2200">
                <a:solidFill>
                  <a:srgbClr val="0000FF"/>
                </a:solidFill>
              </a:rPr>
              <a:t>El condicionamiento clásico de Pavlov</a:t>
            </a:r>
            <a:endParaRPr>
              <a:solidFill>
                <a:srgbClr val="0000FF"/>
              </a:solidFill>
            </a:endParaRPr>
          </a:p>
        </p:txBody>
      </p:sp>
      <p:sp>
        <p:nvSpPr>
          <p:cNvPr id="487" name="Google Shape;487;g3f6bd4abedf_1_48"/>
          <p:cNvSpPr txBox="1">
            <a:spLocks noGrp="1"/>
          </p:cNvSpPr>
          <p:nvPr>
            <p:ph type="body" idx="1"/>
          </p:nvPr>
        </p:nvSpPr>
        <p:spPr>
          <a:xfrm>
            <a:off x="156900" y="1348275"/>
            <a:ext cx="4415100" cy="42252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rgbClr val="424242"/>
              </a:buClr>
              <a:buSzPts val="1100"/>
              <a:buChar char="●"/>
            </a:pPr>
            <a:r>
              <a:rPr lang="en" sz="1100" u="sng">
                <a:solidFill>
                  <a:srgbClr val="424242"/>
                </a:solidFill>
                <a:highlight>
                  <a:schemeClr val="lt1"/>
                </a:highlight>
              </a:rPr>
              <a:t>Unconditioned stimulus</a:t>
            </a:r>
            <a:r>
              <a:rPr lang="en" sz="1100">
                <a:solidFill>
                  <a:srgbClr val="424242"/>
                </a:solidFill>
                <a:highlight>
                  <a:schemeClr val="lt1"/>
                </a:highlight>
              </a:rPr>
              <a:t>: a stimulus that elicits a reflexive response in an organism. </a:t>
            </a:r>
            <a:r>
              <a:rPr lang="en" sz="1100" i="1">
                <a:solidFill>
                  <a:schemeClr val="dk1"/>
                </a:solidFill>
                <a:highlight>
                  <a:schemeClr val="lt1"/>
                </a:highlight>
              </a:rPr>
              <a:t>(Dog food)</a:t>
            </a:r>
            <a:r>
              <a:rPr lang="en" sz="1100" i="1">
                <a:solidFill>
                  <a:srgbClr val="0000FF"/>
                </a:solidFill>
                <a:highlight>
                  <a:schemeClr val="lt1"/>
                </a:highlight>
              </a:rPr>
              <a:t> </a:t>
            </a:r>
            <a:r>
              <a:rPr lang="en" sz="1100" u="sng">
                <a:solidFill>
                  <a:srgbClr val="0000FF"/>
                </a:solidFill>
              </a:rPr>
              <a:t>Estímulo incondicionado:</a:t>
            </a:r>
            <a:r>
              <a:rPr lang="en" sz="1100">
                <a:solidFill>
                  <a:srgbClr val="0000FF"/>
                </a:solidFill>
              </a:rPr>
              <a:t> un estímulo que provoca una respuesta refleja en un organismo. </a:t>
            </a:r>
            <a:r>
              <a:rPr lang="en" sz="1100" i="1">
                <a:solidFill>
                  <a:srgbClr val="0000FF"/>
                </a:solidFill>
              </a:rPr>
              <a:t>(Comida para perros)</a:t>
            </a:r>
            <a:endParaRPr sz="1100" i="1">
              <a:solidFill>
                <a:srgbClr val="0000FF"/>
              </a:solidFill>
            </a:endParaRPr>
          </a:p>
          <a:p>
            <a:pPr marL="457200" lvl="0" indent="-298450" algn="l" rtl="0">
              <a:lnSpc>
                <a:spcPct val="115000"/>
              </a:lnSpc>
              <a:spcBef>
                <a:spcPts val="0"/>
              </a:spcBef>
              <a:spcAft>
                <a:spcPts val="0"/>
              </a:spcAft>
              <a:buClr>
                <a:srgbClr val="424242"/>
              </a:buClr>
              <a:buSzPts val="1100"/>
              <a:buChar char="●"/>
            </a:pPr>
            <a:r>
              <a:rPr lang="en" sz="1100" u="sng">
                <a:solidFill>
                  <a:srgbClr val="424242"/>
                </a:solidFill>
                <a:highlight>
                  <a:schemeClr val="lt1"/>
                </a:highlight>
              </a:rPr>
              <a:t>Unconditioned response</a:t>
            </a:r>
            <a:r>
              <a:rPr lang="en" sz="1100">
                <a:solidFill>
                  <a:srgbClr val="424242"/>
                </a:solidFill>
                <a:highlight>
                  <a:schemeClr val="lt1"/>
                </a:highlight>
              </a:rPr>
              <a:t>: a natural (unlearned) reaction to a given stimulus. </a:t>
            </a:r>
            <a:r>
              <a:rPr lang="en" sz="1100" i="1">
                <a:solidFill>
                  <a:schemeClr val="dk1"/>
                </a:solidFill>
                <a:highlight>
                  <a:schemeClr val="lt1"/>
                </a:highlight>
              </a:rPr>
              <a:t>(Dog salivates) </a:t>
            </a:r>
            <a:r>
              <a:rPr lang="en" sz="1100" u="sng">
                <a:solidFill>
                  <a:srgbClr val="0000FF"/>
                </a:solidFill>
              </a:rPr>
              <a:t>Respuesta incondicionada:</a:t>
            </a:r>
            <a:r>
              <a:rPr lang="en" sz="1100">
                <a:solidFill>
                  <a:srgbClr val="0000FF"/>
                </a:solidFill>
              </a:rPr>
              <a:t> una reacción natural (no aprendida) ante un estímulo dado. </a:t>
            </a:r>
            <a:r>
              <a:rPr lang="en" sz="1100" i="1">
                <a:solidFill>
                  <a:srgbClr val="0000FF"/>
                </a:solidFill>
              </a:rPr>
              <a:t>(El perro babea)</a:t>
            </a:r>
            <a:endParaRPr sz="1100" i="1">
              <a:solidFill>
                <a:srgbClr val="0000FF"/>
              </a:solidFill>
              <a:highlight>
                <a:schemeClr val="lt1"/>
              </a:highlight>
            </a:endParaRPr>
          </a:p>
          <a:p>
            <a:pPr marL="457200" lvl="0" indent="-298450" algn="l" rtl="0">
              <a:lnSpc>
                <a:spcPct val="115000"/>
              </a:lnSpc>
              <a:spcBef>
                <a:spcPts val="0"/>
              </a:spcBef>
              <a:spcAft>
                <a:spcPts val="0"/>
              </a:spcAft>
              <a:buClr>
                <a:srgbClr val="424242"/>
              </a:buClr>
              <a:buSzPts val="1100"/>
              <a:buChar char="●"/>
            </a:pPr>
            <a:r>
              <a:rPr lang="en" sz="1100" u="sng">
                <a:solidFill>
                  <a:srgbClr val="424242"/>
                </a:solidFill>
                <a:highlight>
                  <a:schemeClr val="lt1"/>
                </a:highlight>
              </a:rPr>
              <a:t>Conditioned stimulus</a:t>
            </a:r>
            <a:r>
              <a:rPr lang="en" sz="1100">
                <a:solidFill>
                  <a:srgbClr val="424242"/>
                </a:solidFill>
                <a:highlight>
                  <a:schemeClr val="lt1"/>
                </a:highlight>
              </a:rPr>
              <a:t>: a (neutral) stimulus that elicits a response after repeatedly being paired with an unconditioned stimulus.</a:t>
            </a:r>
            <a:r>
              <a:rPr lang="en" sz="1100">
                <a:solidFill>
                  <a:schemeClr val="dk1"/>
                </a:solidFill>
                <a:highlight>
                  <a:schemeClr val="lt1"/>
                </a:highlight>
              </a:rPr>
              <a:t> </a:t>
            </a:r>
            <a:r>
              <a:rPr lang="en" sz="1100" i="1">
                <a:solidFill>
                  <a:schemeClr val="dk1"/>
                </a:solidFill>
                <a:highlight>
                  <a:schemeClr val="lt1"/>
                </a:highlight>
              </a:rPr>
              <a:t>(Bell)</a:t>
            </a:r>
            <a:r>
              <a:rPr lang="en" sz="1100" i="1">
                <a:solidFill>
                  <a:srgbClr val="0000FF"/>
                </a:solidFill>
                <a:highlight>
                  <a:schemeClr val="lt1"/>
                </a:highlight>
              </a:rPr>
              <a:t> </a:t>
            </a:r>
            <a:r>
              <a:rPr lang="en" sz="1100" u="sng">
                <a:solidFill>
                  <a:srgbClr val="0000FF"/>
                </a:solidFill>
              </a:rPr>
              <a:t>Estímulo condicionado</a:t>
            </a:r>
            <a:r>
              <a:rPr lang="en" sz="1100" b="1">
                <a:solidFill>
                  <a:srgbClr val="0000FF"/>
                </a:solidFill>
              </a:rPr>
              <a:t>:</a:t>
            </a:r>
            <a:r>
              <a:rPr lang="en" sz="1100">
                <a:solidFill>
                  <a:srgbClr val="0000FF"/>
                </a:solidFill>
              </a:rPr>
              <a:t> un estímulo (neutro) que provoca una respuesta después de asociarse repetidamente con un estímulo incondicionado. </a:t>
            </a:r>
            <a:r>
              <a:rPr lang="en" sz="1100" i="1">
                <a:solidFill>
                  <a:srgbClr val="0000FF"/>
                </a:solidFill>
              </a:rPr>
              <a:t>(La campana)</a:t>
            </a:r>
            <a:endParaRPr sz="1100" i="1">
              <a:solidFill>
                <a:srgbClr val="0000FF"/>
              </a:solidFill>
              <a:highlight>
                <a:schemeClr val="lt1"/>
              </a:highlight>
            </a:endParaRPr>
          </a:p>
        </p:txBody>
      </p:sp>
      <p:pic>
        <p:nvPicPr>
          <p:cNvPr id="488" name="Google Shape;488;g3f6bd4abedf_1_48"/>
          <p:cNvPicPr preferRelativeResize="0"/>
          <p:nvPr/>
        </p:nvPicPr>
        <p:blipFill rotWithShape="1">
          <a:blip r:embed="rId3">
            <a:alphaModFix/>
          </a:blip>
          <a:srcRect/>
          <a:stretch/>
        </p:blipFill>
        <p:spPr>
          <a:xfrm>
            <a:off x="4513276" y="1162800"/>
            <a:ext cx="4415099" cy="3537275"/>
          </a:xfrm>
          <a:prstGeom prst="rect">
            <a:avLst/>
          </a:prstGeom>
          <a:noFill/>
          <a:ln>
            <a:noFill/>
          </a:ln>
        </p:spPr>
      </p:pic>
      <p:sp>
        <p:nvSpPr>
          <p:cNvPr id="489" name="Google Shape;489;g3f6bd4abedf_1_48"/>
          <p:cNvSpPr txBox="1"/>
          <p:nvPr/>
        </p:nvSpPr>
        <p:spPr>
          <a:xfrm>
            <a:off x="5685850" y="982100"/>
            <a:ext cx="2427000" cy="10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FF"/>
                </a:solidFill>
                <a:latin typeface="Arial"/>
                <a:ea typeface="Arial"/>
                <a:cs typeface="Arial"/>
                <a:sym typeface="Arial"/>
              </a:rPr>
              <a:t>Antes del acondicionamiento</a:t>
            </a:r>
            <a:endParaRPr sz="1200" b="0" i="0" u="none" strike="noStrike" cap="none">
              <a:solidFill>
                <a:srgbClr val="0000FF"/>
              </a:solidFill>
              <a:latin typeface="Arial"/>
              <a:ea typeface="Arial"/>
              <a:cs typeface="Arial"/>
              <a:sym typeface="Arial"/>
            </a:endParaRPr>
          </a:p>
        </p:txBody>
      </p:sp>
      <p:sp>
        <p:nvSpPr>
          <p:cNvPr id="490" name="Google Shape;490;g3f6bd4abedf_1_48"/>
          <p:cNvSpPr txBox="1"/>
          <p:nvPr/>
        </p:nvSpPr>
        <p:spPr>
          <a:xfrm>
            <a:off x="4572000" y="2836488"/>
            <a:ext cx="2350200" cy="18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FF"/>
                </a:solidFill>
                <a:latin typeface="Arial"/>
                <a:ea typeface="Arial"/>
                <a:cs typeface="Arial"/>
                <a:sym typeface="Arial"/>
              </a:rPr>
              <a:t>Durante el acondicionamiento</a:t>
            </a:r>
            <a:endParaRPr sz="1200" b="0" i="0" u="none" strike="noStrike" cap="none">
              <a:solidFill>
                <a:srgbClr val="0000FF"/>
              </a:solidFill>
              <a:latin typeface="Arial"/>
              <a:ea typeface="Arial"/>
              <a:cs typeface="Arial"/>
              <a:sym typeface="Arial"/>
            </a:endParaRPr>
          </a:p>
        </p:txBody>
      </p:sp>
      <p:sp>
        <p:nvSpPr>
          <p:cNvPr id="491" name="Google Shape;491;g3f6bd4abedf_1_48"/>
          <p:cNvSpPr txBox="1"/>
          <p:nvPr/>
        </p:nvSpPr>
        <p:spPr>
          <a:xfrm>
            <a:off x="6922200" y="2838750"/>
            <a:ext cx="2350200" cy="18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FF"/>
                </a:solidFill>
                <a:latin typeface="Arial"/>
                <a:ea typeface="Arial"/>
                <a:cs typeface="Arial"/>
                <a:sym typeface="Arial"/>
              </a:rPr>
              <a:t>Después del acondicionamiento</a:t>
            </a:r>
            <a:endParaRPr sz="1200" b="0" i="0" u="none" strike="noStrike" cap="none">
              <a:solidFill>
                <a:srgbClr val="0000FF"/>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g3f6bd4abedf_1_57"/>
          <p:cNvSpPr txBox="1">
            <a:spLocks noGrp="1"/>
          </p:cNvSpPr>
          <p:nvPr>
            <p:ph type="title"/>
          </p:nvPr>
        </p:nvSpPr>
        <p:spPr>
          <a:xfrm>
            <a:off x="1159100" y="434000"/>
            <a:ext cx="7546500" cy="548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Pavlov’s Classical Conditioning </a:t>
            </a:r>
            <a:r>
              <a:rPr lang="en" sz="2200">
                <a:solidFill>
                  <a:srgbClr val="0000FF"/>
                </a:solidFill>
              </a:rPr>
              <a:t>El condicionamiento clásico de Pavlov</a:t>
            </a:r>
            <a:endParaRPr>
              <a:solidFill>
                <a:srgbClr val="0000FF"/>
              </a:solidFill>
            </a:endParaRPr>
          </a:p>
        </p:txBody>
      </p:sp>
      <p:sp>
        <p:nvSpPr>
          <p:cNvPr id="497" name="Google Shape;497;g3f6bd4abedf_1_57"/>
          <p:cNvSpPr txBox="1">
            <a:spLocks noGrp="1"/>
          </p:cNvSpPr>
          <p:nvPr>
            <p:ph type="body" idx="1"/>
          </p:nvPr>
        </p:nvSpPr>
        <p:spPr>
          <a:xfrm>
            <a:off x="156900" y="1348275"/>
            <a:ext cx="4415100" cy="42252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rgbClr val="424242"/>
              </a:buClr>
              <a:buSzPts val="1100"/>
              <a:buChar char="●"/>
            </a:pPr>
            <a:r>
              <a:rPr lang="en" sz="1100" u="sng">
                <a:solidFill>
                  <a:srgbClr val="424242"/>
                </a:solidFill>
                <a:highlight>
                  <a:schemeClr val="lt1"/>
                </a:highlight>
              </a:rPr>
              <a:t>Unconditioned stimulus</a:t>
            </a:r>
            <a:r>
              <a:rPr lang="en" sz="1100">
                <a:solidFill>
                  <a:srgbClr val="424242"/>
                </a:solidFill>
                <a:highlight>
                  <a:schemeClr val="lt1"/>
                </a:highlight>
              </a:rPr>
              <a:t>: a stimulus that elicits a reflexive response in an organism. </a:t>
            </a:r>
            <a:r>
              <a:rPr lang="en" sz="1100" i="1">
                <a:solidFill>
                  <a:schemeClr val="dk1"/>
                </a:solidFill>
                <a:highlight>
                  <a:schemeClr val="lt1"/>
                </a:highlight>
              </a:rPr>
              <a:t>(Dog food)</a:t>
            </a:r>
            <a:r>
              <a:rPr lang="en" sz="1100" i="1">
                <a:solidFill>
                  <a:srgbClr val="0000FF"/>
                </a:solidFill>
                <a:highlight>
                  <a:schemeClr val="lt1"/>
                </a:highlight>
              </a:rPr>
              <a:t> </a:t>
            </a:r>
            <a:r>
              <a:rPr lang="en" sz="1100" u="sng">
                <a:solidFill>
                  <a:srgbClr val="0000FF"/>
                </a:solidFill>
              </a:rPr>
              <a:t>Estímulo incondicionado:</a:t>
            </a:r>
            <a:r>
              <a:rPr lang="en" sz="1100">
                <a:solidFill>
                  <a:srgbClr val="0000FF"/>
                </a:solidFill>
              </a:rPr>
              <a:t> un estímulo que provoca una respuesta refleja en un organismo. </a:t>
            </a:r>
            <a:r>
              <a:rPr lang="en" sz="1100" i="1">
                <a:solidFill>
                  <a:srgbClr val="0000FF"/>
                </a:solidFill>
              </a:rPr>
              <a:t>(Comida para perros)</a:t>
            </a:r>
            <a:endParaRPr sz="1100" i="1">
              <a:solidFill>
                <a:srgbClr val="0000FF"/>
              </a:solidFill>
            </a:endParaRPr>
          </a:p>
          <a:p>
            <a:pPr marL="457200" lvl="0" indent="-298450" algn="l" rtl="0">
              <a:lnSpc>
                <a:spcPct val="115000"/>
              </a:lnSpc>
              <a:spcBef>
                <a:spcPts val="0"/>
              </a:spcBef>
              <a:spcAft>
                <a:spcPts val="0"/>
              </a:spcAft>
              <a:buClr>
                <a:srgbClr val="424242"/>
              </a:buClr>
              <a:buSzPts val="1100"/>
              <a:buChar char="●"/>
            </a:pPr>
            <a:r>
              <a:rPr lang="en" sz="1100" u="sng">
                <a:solidFill>
                  <a:srgbClr val="424242"/>
                </a:solidFill>
                <a:highlight>
                  <a:schemeClr val="lt1"/>
                </a:highlight>
              </a:rPr>
              <a:t>Unconditioned response</a:t>
            </a:r>
            <a:r>
              <a:rPr lang="en" sz="1100">
                <a:solidFill>
                  <a:srgbClr val="424242"/>
                </a:solidFill>
                <a:highlight>
                  <a:schemeClr val="lt1"/>
                </a:highlight>
              </a:rPr>
              <a:t>: a natural (unlearned) reaction to a given stimulus. </a:t>
            </a:r>
            <a:r>
              <a:rPr lang="en" sz="1100" i="1">
                <a:solidFill>
                  <a:schemeClr val="dk1"/>
                </a:solidFill>
                <a:highlight>
                  <a:schemeClr val="lt1"/>
                </a:highlight>
              </a:rPr>
              <a:t>(Dog salivates) </a:t>
            </a:r>
            <a:r>
              <a:rPr lang="en" sz="1100" u="sng">
                <a:solidFill>
                  <a:srgbClr val="0000FF"/>
                </a:solidFill>
              </a:rPr>
              <a:t>Respuesta incondicionada:</a:t>
            </a:r>
            <a:r>
              <a:rPr lang="en" sz="1100">
                <a:solidFill>
                  <a:srgbClr val="0000FF"/>
                </a:solidFill>
              </a:rPr>
              <a:t> una reacción natural (no aprendida) ante un estímulo dado. </a:t>
            </a:r>
            <a:r>
              <a:rPr lang="en" sz="1100" i="1">
                <a:solidFill>
                  <a:srgbClr val="0000FF"/>
                </a:solidFill>
              </a:rPr>
              <a:t>(El perro babea)</a:t>
            </a:r>
            <a:endParaRPr sz="1100" i="1">
              <a:solidFill>
                <a:srgbClr val="0000FF"/>
              </a:solidFill>
              <a:highlight>
                <a:schemeClr val="lt1"/>
              </a:highlight>
            </a:endParaRPr>
          </a:p>
          <a:p>
            <a:pPr marL="457200" lvl="0" indent="-298450" algn="l" rtl="0">
              <a:lnSpc>
                <a:spcPct val="115000"/>
              </a:lnSpc>
              <a:spcBef>
                <a:spcPts val="0"/>
              </a:spcBef>
              <a:spcAft>
                <a:spcPts val="0"/>
              </a:spcAft>
              <a:buClr>
                <a:srgbClr val="424242"/>
              </a:buClr>
              <a:buSzPts val="1100"/>
              <a:buChar char="●"/>
            </a:pPr>
            <a:r>
              <a:rPr lang="en" sz="1100" u="sng">
                <a:solidFill>
                  <a:srgbClr val="424242"/>
                </a:solidFill>
                <a:highlight>
                  <a:schemeClr val="lt1"/>
                </a:highlight>
              </a:rPr>
              <a:t>Conditioned stimulus</a:t>
            </a:r>
            <a:r>
              <a:rPr lang="en" sz="1100">
                <a:solidFill>
                  <a:srgbClr val="424242"/>
                </a:solidFill>
                <a:highlight>
                  <a:schemeClr val="lt1"/>
                </a:highlight>
              </a:rPr>
              <a:t>: a (neutral) stimulus that elicits a response after repeatedly being paired with an unconditioned stimulus.</a:t>
            </a:r>
            <a:r>
              <a:rPr lang="en" sz="1100">
                <a:solidFill>
                  <a:schemeClr val="dk1"/>
                </a:solidFill>
                <a:highlight>
                  <a:schemeClr val="lt1"/>
                </a:highlight>
              </a:rPr>
              <a:t> </a:t>
            </a:r>
            <a:r>
              <a:rPr lang="en" sz="1100" i="1">
                <a:solidFill>
                  <a:schemeClr val="dk1"/>
                </a:solidFill>
                <a:highlight>
                  <a:schemeClr val="lt1"/>
                </a:highlight>
              </a:rPr>
              <a:t>(Bell)</a:t>
            </a:r>
            <a:r>
              <a:rPr lang="en" sz="1100" i="1">
                <a:solidFill>
                  <a:srgbClr val="0000FF"/>
                </a:solidFill>
                <a:highlight>
                  <a:schemeClr val="lt1"/>
                </a:highlight>
              </a:rPr>
              <a:t> </a:t>
            </a:r>
            <a:r>
              <a:rPr lang="en" sz="1100" u="sng">
                <a:solidFill>
                  <a:srgbClr val="0000FF"/>
                </a:solidFill>
              </a:rPr>
              <a:t>Estímulo condicionado</a:t>
            </a:r>
            <a:r>
              <a:rPr lang="en" sz="1100" b="1">
                <a:solidFill>
                  <a:srgbClr val="0000FF"/>
                </a:solidFill>
              </a:rPr>
              <a:t>:</a:t>
            </a:r>
            <a:r>
              <a:rPr lang="en" sz="1100">
                <a:solidFill>
                  <a:srgbClr val="0000FF"/>
                </a:solidFill>
              </a:rPr>
              <a:t> un estímulo (neutro) que provoca una respuesta después de asociarse repetidamente con un estímulo incondicionado. </a:t>
            </a:r>
            <a:r>
              <a:rPr lang="en" sz="1100" i="1">
                <a:solidFill>
                  <a:srgbClr val="0000FF"/>
                </a:solidFill>
              </a:rPr>
              <a:t>(La campana)</a:t>
            </a:r>
            <a:endParaRPr sz="1100" i="1">
              <a:solidFill>
                <a:srgbClr val="0000FF"/>
              </a:solidFill>
              <a:highlight>
                <a:schemeClr val="lt1"/>
              </a:highlight>
            </a:endParaRPr>
          </a:p>
          <a:p>
            <a:pPr marL="457200" lvl="0" indent="-298450" algn="l" rtl="0">
              <a:lnSpc>
                <a:spcPct val="115000"/>
              </a:lnSpc>
              <a:spcBef>
                <a:spcPts val="0"/>
              </a:spcBef>
              <a:spcAft>
                <a:spcPts val="0"/>
              </a:spcAft>
              <a:buClr>
                <a:srgbClr val="424242"/>
              </a:buClr>
              <a:buSzPts val="1100"/>
              <a:buChar char="●"/>
            </a:pPr>
            <a:r>
              <a:rPr lang="en" sz="1100" u="sng">
                <a:solidFill>
                  <a:srgbClr val="424242"/>
                </a:solidFill>
                <a:highlight>
                  <a:schemeClr val="lt1"/>
                </a:highlight>
              </a:rPr>
              <a:t>Conditioned Response</a:t>
            </a:r>
            <a:r>
              <a:rPr lang="en" sz="1100">
                <a:solidFill>
                  <a:srgbClr val="424242"/>
                </a:solidFill>
                <a:highlight>
                  <a:schemeClr val="lt1"/>
                </a:highlight>
              </a:rPr>
              <a:t>: the behavior caused by the conditioned stimulus </a:t>
            </a:r>
            <a:r>
              <a:rPr lang="en" sz="1100" i="1">
                <a:solidFill>
                  <a:schemeClr val="dk1"/>
                </a:solidFill>
                <a:highlight>
                  <a:schemeClr val="lt1"/>
                </a:highlight>
              </a:rPr>
              <a:t>(salivation when hearing bell)</a:t>
            </a:r>
            <a:r>
              <a:rPr lang="en" sz="1100" i="1">
                <a:solidFill>
                  <a:srgbClr val="0000FF"/>
                </a:solidFill>
                <a:highlight>
                  <a:schemeClr val="lt1"/>
                </a:highlight>
              </a:rPr>
              <a:t> </a:t>
            </a:r>
            <a:r>
              <a:rPr lang="en" sz="1100" u="sng">
                <a:solidFill>
                  <a:srgbClr val="0000FF"/>
                </a:solidFill>
              </a:rPr>
              <a:t>Respuesta condicionada:</a:t>
            </a:r>
            <a:r>
              <a:rPr lang="en" sz="1100">
                <a:solidFill>
                  <a:srgbClr val="0000FF"/>
                </a:solidFill>
              </a:rPr>
              <a:t> el comportamiento provocado por el estímulo condicionado. </a:t>
            </a:r>
            <a:r>
              <a:rPr lang="en" sz="1100" i="1">
                <a:solidFill>
                  <a:srgbClr val="0000FF"/>
                </a:solidFill>
              </a:rPr>
              <a:t>(Salivación al escuchar la campana)</a:t>
            </a:r>
            <a:endParaRPr sz="1100" i="1">
              <a:solidFill>
                <a:srgbClr val="0000FF"/>
              </a:solidFill>
              <a:highlight>
                <a:schemeClr val="lt1"/>
              </a:highlight>
            </a:endParaRPr>
          </a:p>
        </p:txBody>
      </p:sp>
      <p:pic>
        <p:nvPicPr>
          <p:cNvPr id="498" name="Google Shape;498;g3f6bd4abedf_1_57"/>
          <p:cNvPicPr preferRelativeResize="0"/>
          <p:nvPr/>
        </p:nvPicPr>
        <p:blipFill rotWithShape="1">
          <a:blip r:embed="rId3">
            <a:alphaModFix/>
          </a:blip>
          <a:srcRect/>
          <a:stretch/>
        </p:blipFill>
        <p:spPr>
          <a:xfrm>
            <a:off x="4513276" y="1162800"/>
            <a:ext cx="4415099" cy="3537275"/>
          </a:xfrm>
          <a:prstGeom prst="rect">
            <a:avLst/>
          </a:prstGeom>
          <a:noFill/>
          <a:ln>
            <a:noFill/>
          </a:ln>
        </p:spPr>
      </p:pic>
      <p:sp>
        <p:nvSpPr>
          <p:cNvPr id="499" name="Google Shape;499;g3f6bd4abedf_1_57"/>
          <p:cNvSpPr txBox="1"/>
          <p:nvPr/>
        </p:nvSpPr>
        <p:spPr>
          <a:xfrm>
            <a:off x="5685850" y="982100"/>
            <a:ext cx="2427000" cy="10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FF"/>
                </a:solidFill>
                <a:latin typeface="Arial"/>
                <a:ea typeface="Arial"/>
                <a:cs typeface="Arial"/>
                <a:sym typeface="Arial"/>
              </a:rPr>
              <a:t>Antes del acondicionamiento</a:t>
            </a:r>
            <a:endParaRPr sz="1200" b="0" i="0" u="none" strike="noStrike" cap="none">
              <a:solidFill>
                <a:srgbClr val="0000FF"/>
              </a:solidFill>
              <a:latin typeface="Arial"/>
              <a:ea typeface="Arial"/>
              <a:cs typeface="Arial"/>
              <a:sym typeface="Arial"/>
            </a:endParaRPr>
          </a:p>
        </p:txBody>
      </p:sp>
      <p:sp>
        <p:nvSpPr>
          <p:cNvPr id="500" name="Google Shape;500;g3f6bd4abedf_1_57"/>
          <p:cNvSpPr txBox="1"/>
          <p:nvPr/>
        </p:nvSpPr>
        <p:spPr>
          <a:xfrm>
            <a:off x="4572000" y="2836488"/>
            <a:ext cx="2350200" cy="18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FF"/>
                </a:solidFill>
                <a:latin typeface="Arial"/>
                <a:ea typeface="Arial"/>
                <a:cs typeface="Arial"/>
                <a:sym typeface="Arial"/>
              </a:rPr>
              <a:t>Durante el acondicionamiento</a:t>
            </a:r>
            <a:endParaRPr sz="1200" b="0" i="0" u="none" strike="noStrike" cap="none">
              <a:solidFill>
                <a:srgbClr val="0000FF"/>
              </a:solidFill>
              <a:latin typeface="Arial"/>
              <a:ea typeface="Arial"/>
              <a:cs typeface="Arial"/>
              <a:sym typeface="Arial"/>
            </a:endParaRPr>
          </a:p>
        </p:txBody>
      </p:sp>
      <p:sp>
        <p:nvSpPr>
          <p:cNvPr id="501" name="Google Shape;501;g3f6bd4abedf_1_57"/>
          <p:cNvSpPr txBox="1"/>
          <p:nvPr/>
        </p:nvSpPr>
        <p:spPr>
          <a:xfrm>
            <a:off x="6922200" y="2838750"/>
            <a:ext cx="2350200" cy="18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FF"/>
                </a:solidFill>
                <a:latin typeface="Arial"/>
                <a:ea typeface="Arial"/>
                <a:cs typeface="Arial"/>
                <a:sym typeface="Arial"/>
              </a:rPr>
              <a:t>Después del acondicionamiento</a:t>
            </a:r>
            <a:endParaRPr sz="1200" b="0" i="0" u="none" strike="noStrike" cap="none">
              <a:solidFill>
                <a:srgbClr val="0000FF"/>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10"/>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1414"/>
              <a:buNone/>
            </a:pPr>
            <a:r>
              <a:rPr lang="en"/>
              <a:t>Classical Conditioning </a:t>
            </a:r>
            <a:r>
              <a:rPr lang="en" sz="2200">
                <a:solidFill>
                  <a:srgbClr val="0000FF"/>
                </a:solidFill>
              </a:rPr>
              <a:t>El condicionamento clásico</a:t>
            </a:r>
            <a:endParaRPr sz="2200">
              <a:solidFill>
                <a:srgbClr val="0000FF"/>
              </a:solidFill>
            </a:endParaRPr>
          </a:p>
          <a:p>
            <a:pPr marL="0" lvl="0" indent="0" algn="l" rtl="0">
              <a:lnSpc>
                <a:spcPct val="100000"/>
              </a:lnSpc>
              <a:spcBef>
                <a:spcPts val="0"/>
              </a:spcBef>
              <a:spcAft>
                <a:spcPts val="0"/>
              </a:spcAft>
              <a:buSzPct val="111111"/>
              <a:buNone/>
            </a:pPr>
            <a:endParaRPr/>
          </a:p>
        </p:txBody>
      </p:sp>
      <p:sp>
        <p:nvSpPr>
          <p:cNvPr id="507" name="Google Shape;507;p10"/>
          <p:cNvSpPr txBox="1">
            <a:spLocks noGrp="1"/>
          </p:cNvSpPr>
          <p:nvPr>
            <p:ph type="body" idx="1"/>
          </p:nvPr>
        </p:nvSpPr>
        <p:spPr>
          <a:xfrm>
            <a:off x="311700" y="1376649"/>
            <a:ext cx="8520600" cy="3985800"/>
          </a:xfrm>
          <a:prstGeom prst="rect">
            <a:avLst/>
          </a:prstGeom>
          <a:noFill/>
          <a:ln>
            <a:noFill/>
          </a:ln>
        </p:spPr>
        <p:txBody>
          <a:bodyPr spcFirstLastPara="1" wrap="square" lIns="91425" tIns="91425" rIns="91425" bIns="91425" anchor="t" anchorCtr="0">
            <a:normAutofit/>
          </a:bodyPr>
          <a:lstStyle/>
          <a:p>
            <a:pPr marL="457200" lvl="0" indent="-311150" algn="l" rtl="0">
              <a:lnSpc>
                <a:spcPct val="100000"/>
              </a:lnSpc>
              <a:spcBef>
                <a:spcPts val="0"/>
              </a:spcBef>
              <a:spcAft>
                <a:spcPts val="0"/>
              </a:spcAft>
              <a:buClr>
                <a:srgbClr val="424242"/>
              </a:buClr>
              <a:buSzPts val="1300"/>
              <a:buChar char="●"/>
            </a:pPr>
            <a:r>
              <a:rPr lang="en">
                <a:solidFill>
                  <a:srgbClr val="424242"/>
                </a:solidFill>
                <a:highlight>
                  <a:srgbClr val="FFFFFF"/>
                </a:highlight>
              </a:rPr>
              <a:t>Organisms learn to associate events—or stimuli—that repeatedly happen together. i.e</a:t>
            </a:r>
            <a:r>
              <a:rPr lang="en" sz="1200">
                <a:solidFill>
                  <a:srgbClr val="424242"/>
                </a:solidFill>
                <a:highlight>
                  <a:srgbClr val="FFFFFF"/>
                </a:highlight>
              </a:rPr>
              <a:t> </a:t>
            </a:r>
            <a:r>
              <a:rPr lang="en" sz="1200">
                <a:solidFill>
                  <a:srgbClr val="0000FF"/>
                </a:solidFill>
              </a:rPr>
              <a:t>Los organismos aprenden a asociar eventos —o estímulos— que ocurren juntos de manera repetida. Por ejemplo:</a:t>
            </a:r>
            <a:endParaRPr sz="1200">
              <a:solidFill>
                <a:srgbClr val="0000FF"/>
              </a:solidFill>
              <a:highlight>
                <a:srgbClr val="FFFFFF"/>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g3f6bd4abedf_1_14"/>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1414"/>
              <a:buNone/>
            </a:pPr>
            <a:r>
              <a:rPr lang="en"/>
              <a:t>Classical Conditioning </a:t>
            </a:r>
            <a:r>
              <a:rPr lang="en" sz="2200">
                <a:solidFill>
                  <a:srgbClr val="0000FF"/>
                </a:solidFill>
              </a:rPr>
              <a:t>El condicionamento clásico</a:t>
            </a:r>
            <a:endParaRPr sz="2200">
              <a:solidFill>
                <a:srgbClr val="0000FF"/>
              </a:solidFill>
            </a:endParaRPr>
          </a:p>
          <a:p>
            <a:pPr marL="0" lvl="0" indent="0" algn="l" rtl="0">
              <a:lnSpc>
                <a:spcPct val="100000"/>
              </a:lnSpc>
              <a:spcBef>
                <a:spcPts val="0"/>
              </a:spcBef>
              <a:spcAft>
                <a:spcPts val="0"/>
              </a:spcAft>
              <a:buSzPct val="111111"/>
              <a:buNone/>
            </a:pPr>
            <a:endParaRPr/>
          </a:p>
        </p:txBody>
      </p:sp>
      <p:sp>
        <p:nvSpPr>
          <p:cNvPr id="513" name="Google Shape;513;g3f6bd4abedf_1_14"/>
          <p:cNvSpPr txBox="1">
            <a:spLocks noGrp="1"/>
          </p:cNvSpPr>
          <p:nvPr>
            <p:ph type="body" idx="1"/>
          </p:nvPr>
        </p:nvSpPr>
        <p:spPr>
          <a:xfrm>
            <a:off x="311700" y="1376649"/>
            <a:ext cx="8520600" cy="3985800"/>
          </a:xfrm>
          <a:prstGeom prst="rect">
            <a:avLst/>
          </a:prstGeom>
          <a:noFill/>
          <a:ln>
            <a:noFill/>
          </a:ln>
        </p:spPr>
        <p:txBody>
          <a:bodyPr spcFirstLastPara="1" wrap="square" lIns="91425" tIns="91425" rIns="91425" bIns="91425" anchor="t" anchorCtr="0">
            <a:normAutofit/>
          </a:bodyPr>
          <a:lstStyle/>
          <a:p>
            <a:pPr marL="457200" lvl="0" indent="-311150" algn="l" rtl="0">
              <a:lnSpc>
                <a:spcPct val="100000"/>
              </a:lnSpc>
              <a:spcBef>
                <a:spcPts val="0"/>
              </a:spcBef>
              <a:spcAft>
                <a:spcPts val="0"/>
              </a:spcAft>
              <a:buClr>
                <a:srgbClr val="424242"/>
              </a:buClr>
              <a:buSzPts val="1300"/>
              <a:buChar char="●"/>
            </a:pPr>
            <a:r>
              <a:rPr lang="en">
                <a:solidFill>
                  <a:srgbClr val="424242"/>
                </a:solidFill>
                <a:highlight>
                  <a:srgbClr val="FFFFFF"/>
                </a:highlight>
              </a:rPr>
              <a:t>Organisms learn to associate events—or stimuli—that repeatedly happen together. i.e</a:t>
            </a:r>
            <a:r>
              <a:rPr lang="en" sz="1200">
                <a:solidFill>
                  <a:srgbClr val="424242"/>
                </a:solidFill>
                <a:highlight>
                  <a:srgbClr val="FFFFFF"/>
                </a:highlight>
              </a:rPr>
              <a:t> </a:t>
            </a:r>
            <a:r>
              <a:rPr lang="en" sz="1200">
                <a:solidFill>
                  <a:srgbClr val="0000FF"/>
                </a:solidFill>
              </a:rPr>
              <a:t>Los organismos aprenden a asociar eventos —o estímulos— que ocurren juntos de manera repetida. Por ejemplo:</a:t>
            </a:r>
            <a:br>
              <a:rPr lang="en" sz="1100">
                <a:solidFill>
                  <a:srgbClr val="0000FF"/>
                </a:solidFill>
              </a:rPr>
            </a:br>
            <a:r>
              <a:rPr lang="en" sz="1100">
                <a:solidFill>
                  <a:schemeClr val="dk1"/>
                </a:solidFill>
              </a:rPr>
              <a:t> </a:t>
            </a:r>
            <a:endParaRPr>
              <a:solidFill>
                <a:srgbClr val="424242"/>
              </a:solidFill>
              <a:highlight>
                <a:srgbClr val="FFFFFF"/>
              </a:highlight>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Unconditioned stimulus</a:t>
            </a:r>
            <a:r>
              <a:rPr lang="en">
                <a:solidFill>
                  <a:srgbClr val="424242"/>
                </a:solidFill>
                <a:highlight>
                  <a:srgbClr val="FFFFFF"/>
                </a:highlight>
              </a:rPr>
              <a:t>: a stimulus that elicits a reflexive response in an organism. </a:t>
            </a:r>
            <a:r>
              <a:rPr lang="en" sz="1200" b="1">
                <a:solidFill>
                  <a:srgbClr val="0000FF"/>
                </a:solidFill>
              </a:rPr>
              <a:t>Estímulo incondicionado:</a:t>
            </a:r>
            <a:r>
              <a:rPr lang="en" sz="1200">
                <a:solidFill>
                  <a:srgbClr val="0000FF"/>
                </a:solidFill>
              </a:rPr>
              <a:t> un estímulo que provoca una respuesta automática en un organismo.</a:t>
            </a:r>
            <a:endParaRPr sz="1200">
              <a:solidFill>
                <a:srgbClr val="0000FF"/>
              </a:solidFill>
              <a:highlight>
                <a:srgbClr val="FFFFFF"/>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g3f6bd4abedf_1_19"/>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1414"/>
              <a:buNone/>
            </a:pPr>
            <a:r>
              <a:rPr lang="en"/>
              <a:t>Classical Conditioning </a:t>
            </a:r>
            <a:r>
              <a:rPr lang="en" sz="2200">
                <a:solidFill>
                  <a:srgbClr val="0000FF"/>
                </a:solidFill>
              </a:rPr>
              <a:t>El condicionamento clásico</a:t>
            </a:r>
            <a:endParaRPr sz="2200">
              <a:solidFill>
                <a:srgbClr val="0000FF"/>
              </a:solidFill>
            </a:endParaRPr>
          </a:p>
          <a:p>
            <a:pPr marL="0" lvl="0" indent="0" algn="l" rtl="0">
              <a:lnSpc>
                <a:spcPct val="100000"/>
              </a:lnSpc>
              <a:spcBef>
                <a:spcPts val="0"/>
              </a:spcBef>
              <a:spcAft>
                <a:spcPts val="0"/>
              </a:spcAft>
              <a:buSzPct val="111111"/>
              <a:buNone/>
            </a:pPr>
            <a:endParaRPr/>
          </a:p>
        </p:txBody>
      </p:sp>
      <p:sp>
        <p:nvSpPr>
          <p:cNvPr id="519" name="Google Shape;519;g3f6bd4abedf_1_19"/>
          <p:cNvSpPr txBox="1">
            <a:spLocks noGrp="1"/>
          </p:cNvSpPr>
          <p:nvPr>
            <p:ph type="body" idx="1"/>
          </p:nvPr>
        </p:nvSpPr>
        <p:spPr>
          <a:xfrm>
            <a:off x="311700" y="1376649"/>
            <a:ext cx="8520600" cy="3985800"/>
          </a:xfrm>
          <a:prstGeom prst="rect">
            <a:avLst/>
          </a:prstGeom>
          <a:noFill/>
          <a:ln>
            <a:noFill/>
          </a:ln>
        </p:spPr>
        <p:txBody>
          <a:bodyPr spcFirstLastPara="1" wrap="square" lIns="91425" tIns="91425" rIns="91425" bIns="91425" anchor="t" anchorCtr="0">
            <a:normAutofit/>
          </a:bodyPr>
          <a:lstStyle/>
          <a:p>
            <a:pPr marL="457200" lvl="0" indent="-311150" algn="l" rtl="0">
              <a:lnSpc>
                <a:spcPct val="100000"/>
              </a:lnSpc>
              <a:spcBef>
                <a:spcPts val="0"/>
              </a:spcBef>
              <a:spcAft>
                <a:spcPts val="0"/>
              </a:spcAft>
              <a:buClr>
                <a:srgbClr val="424242"/>
              </a:buClr>
              <a:buSzPts val="1300"/>
              <a:buChar char="●"/>
            </a:pPr>
            <a:r>
              <a:rPr lang="en">
                <a:solidFill>
                  <a:srgbClr val="424242"/>
                </a:solidFill>
                <a:highlight>
                  <a:srgbClr val="FFFFFF"/>
                </a:highlight>
              </a:rPr>
              <a:t>Organisms learn to associate events—or stimuli—that repeatedly happen together. i.e</a:t>
            </a:r>
            <a:r>
              <a:rPr lang="en" sz="1200">
                <a:solidFill>
                  <a:srgbClr val="424242"/>
                </a:solidFill>
                <a:highlight>
                  <a:srgbClr val="FFFFFF"/>
                </a:highlight>
              </a:rPr>
              <a:t> </a:t>
            </a:r>
            <a:r>
              <a:rPr lang="en" sz="1200">
                <a:solidFill>
                  <a:srgbClr val="0000FF"/>
                </a:solidFill>
              </a:rPr>
              <a:t>Los organismos aprenden a asociar eventos —o estímulos— que ocurren juntos de manera repetida. Por ejemplo:</a:t>
            </a:r>
            <a:endParaRPr sz="1200">
              <a:solidFill>
                <a:srgbClr val="0000FF"/>
              </a:solidFill>
            </a:endParaRPr>
          </a:p>
          <a:p>
            <a:pPr marL="0" lvl="0" indent="0" algn="l" rtl="0">
              <a:lnSpc>
                <a:spcPct val="100000"/>
              </a:lnSpc>
              <a:spcBef>
                <a:spcPts val="0"/>
              </a:spcBef>
              <a:spcAft>
                <a:spcPts val="0"/>
              </a:spcAft>
              <a:buNone/>
            </a:pPr>
            <a:endParaRPr sz="1200">
              <a:solidFill>
                <a:srgbClr val="0000FF"/>
              </a:solidFill>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Unconditioned stimulus</a:t>
            </a:r>
            <a:r>
              <a:rPr lang="en">
                <a:solidFill>
                  <a:srgbClr val="424242"/>
                </a:solidFill>
                <a:highlight>
                  <a:srgbClr val="FFFFFF"/>
                </a:highlight>
              </a:rPr>
              <a:t>: a stimulus that elicits a reflexive response in an organism. </a:t>
            </a:r>
            <a:r>
              <a:rPr lang="en" sz="1200" b="1">
                <a:solidFill>
                  <a:srgbClr val="0000FF"/>
                </a:solidFill>
              </a:rPr>
              <a:t>Estímulo incondicionado:</a:t>
            </a:r>
            <a:r>
              <a:rPr lang="en" sz="1200">
                <a:solidFill>
                  <a:srgbClr val="0000FF"/>
                </a:solidFill>
              </a:rPr>
              <a:t> un estímulo que provoca una respuesta automática en un organismo.</a:t>
            </a:r>
            <a:br>
              <a:rPr lang="en" sz="1200">
                <a:solidFill>
                  <a:srgbClr val="0000FF"/>
                </a:solidFill>
              </a:rPr>
            </a:br>
            <a:endParaRPr sz="1200">
              <a:solidFill>
                <a:srgbClr val="0000FF"/>
              </a:solidFill>
              <a:highlight>
                <a:srgbClr val="FFFFFF"/>
              </a:highlight>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Unconditioned response</a:t>
            </a:r>
            <a:r>
              <a:rPr lang="en">
                <a:solidFill>
                  <a:srgbClr val="424242"/>
                </a:solidFill>
                <a:highlight>
                  <a:srgbClr val="FFFFFF"/>
                </a:highlight>
              </a:rPr>
              <a:t>: a natural (unlearned) reaction to a given stimulus.</a:t>
            </a:r>
            <a:r>
              <a:rPr lang="en">
                <a:solidFill>
                  <a:srgbClr val="0000FF"/>
                </a:solidFill>
                <a:highlight>
                  <a:srgbClr val="FFFFFF"/>
                </a:highlight>
              </a:rPr>
              <a:t> </a:t>
            </a:r>
            <a:r>
              <a:rPr lang="en" sz="1200" b="1">
                <a:solidFill>
                  <a:srgbClr val="0000FF"/>
                </a:solidFill>
              </a:rPr>
              <a:t>Respuesta incondicionada:</a:t>
            </a:r>
            <a:r>
              <a:rPr lang="en" sz="1200">
                <a:solidFill>
                  <a:srgbClr val="0000FF"/>
                </a:solidFill>
              </a:rPr>
              <a:t> una reacción natural (no aprendida) ante un estímulo específico.</a:t>
            </a:r>
            <a:endParaRPr sz="1200">
              <a:solidFill>
                <a:srgbClr val="0000FF"/>
              </a:solidFill>
              <a:highlight>
                <a:srgbClr val="FFFFFF"/>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g3f6bd4abedf_1_24"/>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1414"/>
              <a:buNone/>
            </a:pPr>
            <a:r>
              <a:rPr lang="en"/>
              <a:t>Classical Conditioning </a:t>
            </a:r>
            <a:r>
              <a:rPr lang="en" sz="2200">
                <a:solidFill>
                  <a:srgbClr val="0000FF"/>
                </a:solidFill>
              </a:rPr>
              <a:t>El condicionamento clásico</a:t>
            </a:r>
            <a:endParaRPr sz="2200">
              <a:solidFill>
                <a:srgbClr val="0000FF"/>
              </a:solidFill>
            </a:endParaRPr>
          </a:p>
          <a:p>
            <a:pPr marL="0" lvl="0" indent="0" algn="l" rtl="0">
              <a:lnSpc>
                <a:spcPct val="100000"/>
              </a:lnSpc>
              <a:spcBef>
                <a:spcPts val="0"/>
              </a:spcBef>
              <a:spcAft>
                <a:spcPts val="0"/>
              </a:spcAft>
              <a:buSzPct val="111111"/>
              <a:buNone/>
            </a:pPr>
            <a:endParaRPr/>
          </a:p>
        </p:txBody>
      </p:sp>
      <p:sp>
        <p:nvSpPr>
          <p:cNvPr id="525" name="Google Shape;525;g3f6bd4abedf_1_24"/>
          <p:cNvSpPr txBox="1">
            <a:spLocks noGrp="1"/>
          </p:cNvSpPr>
          <p:nvPr>
            <p:ph type="body" idx="1"/>
          </p:nvPr>
        </p:nvSpPr>
        <p:spPr>
          <a:xfrm>
            <a:off x="311700" y="1376649"/>
            <a:ext cx="8520600" cy="3985800"/>
          </a:xfrm>
          <a:prstGeom prst="rect">
            <a:avLst/>
          </a:prstGeom>
          <a:noFill/>
          <a:ln>
            <a:noFill/>
          </a:ln>
        </p:spPr>
        <p:txBody>
          <a:bodyPr spcFirstLastPara="1" wrap="square" lIns="91425" tIns="91425" rIns="91425" bIns="91425" anchor="t" anchorCtr="0">
            <a:normAutofit/>
          </a:bodyPr>
          <a:lstStyle/>
          <a:p>
            <a:pPr marL="457200" lvl="0" indent="-311150" algn="l" rtl="0">
              <a:lnSpc>
                <a:spcPct val="100000"/>
              </a:lnSpc>
              <a:spcBef>
                <a:spcPts val="0"/>
              </a:spcBef>
              <a:spcAft>
                <a:spcPts val="0"/>
              </a:spcAft>
              <a:buClr>
                <a:srgbClr val="424242"/>
              </a:buClr>
              <a:buSzPts val="1300"/>
              <a:buChar char="●"/>
            </a:pPr>
            <a:r>
              <a:rPr lang="en">
                <a:solidFill>
                  <a:srgbClr val="424242"/>
                </a:solidFill>
                <a:highlight>
                  <a:srgbClr val="FFFFFF"/>
                </a:highlight>
              </a:rPr>
              <a:t>Organisms learn to associate events—or stimuli—that repeatedly happen together. i.e</a:t>
            </a:r>
            <a:r>
              <a:rPr lang="en" sz="1200">
                <a:solidFill>
                  <a:srgbClr val="424242"/>
                </a:solidFill>
                <a:highlight>
                  <a:srgbClr val="FFFFFF"/>
                </a:highlight>
              </a:rPr>
              <a:t> </a:t>
            </a:r>
            <a:r>
              <a:rPr lang="en" sz="1200">
                <a:solidFill>
                  <a:srgbClr val="0000FF"/>
                </a:solidFill>
              </a:rPr>
              <a:t>Los organismos aprenden a asociar eventos —o estímulos— que ocurren juntos de manera repetida. Por ejemplo:</a:t>
            </a:r>
            <a:endParaRPr sz="1200">
              <a:solidFill>
                <a:srgbClr val="0000FF"/>
              </a:solidFill>
            </a:endParaRPr>
          </a:p>
          <a:p>
            <a:pPr marL="0" lvl="0" indent="0" algn="l" rtl="0">
              <a:lnSpc>
                <a:spcPct val="100000"/>
              </a:lnSpc>
              <a:spcBef>
                <a:spcPts val="0"/>
              </a:spcBef>
              <a:spcAft>
                <a:spcPts val="0"/>
              </a:spcAft>
              <a:buNone/>
            </a:pPr>
            <a:endParaRPr sz="1200">
              <a:solidFill>
                <a:srgbClr val="0000FF"/>
              </a:solidFill>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Unconditioned stimulus</a:t>
            </a:r>
            <a:r>
              <a:rPr lang="en">
                <a:solidFill>
                  <a:srgbClr val="424242"/>
                </a:solidFill>
                <a:highlight>
                  <a:srgbClr val="FFFFFF"/>
                </a:highlight>
              </a:rPr>
              <a:t>: a stimulus that elicits a reflexive response in an organism. </a:t>
            </a:r>
            <a:r>
              <a:rPr lang="en" sz="1200" b="1">
                <a:solidFill>
                  <a:srgbClr val="0000FF"/>
                </a:solidFill>
              </a:rPr>
              <a:t>Estímulo incondicionado:</a:t>
            </a:r>
            <a:r>
              <a:rPr lang="en" sz="1200">
                <a:solidFill>
                  <a:srgbClr val="0000FF"/>
                </a:solidFill>
              </a:rPr>
              <a:t> un estímulo que provoca una respuesta automática en un organismo.</a:t>
            </a:r>
            <a:br>
              <a:rPr lang="en" sz="1200">
                <a:solidFill>
                  <a:srgbClr val="0000FF"/>
                </a:solidFill>
              </a:rPr>
            </a:br>
            <a:endParaRPr sz="1200">
              <a:solidFill>
                <a:srgbClr val="0000FF"/>
              </a:solidFill>
              <a:highlight>
                <a:srgbClr val="FFFFFF"/>
              </a:highlight>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Unconditioned response</a:t>
            </a:r>
            <a:r>
              <a:rPr lang="en">
                <a:solidFill>
                  <a:srgbClr val="424242"/>
                </a:solidFill>
                <a:highlight>
                  <a:srgbClr val="FFFFFF"/>
                </a:highlight>
              </a:rPr>
              <a:t>: a natural (unlearned) reaction to a given stimulus.</a:t>
            </a:r>
            <a:r>
              <a:rPr lang="en">
                <a:solidFill>
                  <a:srgbClr val="0000FF"/>
                </a:solidFill>
                <a:highlight>
                  <a:srgbClr val="FFFFFF"/>
                </a:highlight>
              </a:rPr>
              <a:t> </a:t>
            </a:r>
            <a:r>
              <a:rPr lang="en" sz="1200" b="1">
                <a:solidFill>
                  <a:srgbClr val="0000FF"/>
                </a:solidFill>
              </a:rPr>
              <a:t>Respuesta incondicionada:</a:t>
            </a:r>
            <a:r>
              <a:rPr lang="en" sz="1200">
                <a:solidFill>
                  <a:srgbClr val="0000FF"/>
                </a:solidFill>
              </a:rPr>
              <a:t> una reacción natural (no aprendida) ante un estímulo específico.</a:t>
            </a:r>
            <a:br>
              <a:rPr lang="en" sz="1200">
                <a:solidFill>
                  <a:srgbClr val="0000FF"/>
                </a:solidFill>
              </a:rPr>
            </a:br>
            <a:endParaRPr sz="1200">
              <a:solidFill>
                <a:srgbClr val="0000FF"/>
              </a:solidFill>
              <a:highlight>
                <a:srgbClr val="FFFFFF"/>
              </a:highlight>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Neutral stimulus</a:t>
            </a:r>
            <a:r>
              <a:rPr lang="en">
                <a:solidFill>
                  <a:srgbClr val="424242"/>
                </a:solidFill>
                <a:highlight>
                  <a:srgbClr val="FFFFFF"/>
                </a:highlight>
              </a:rPr>
              <a:t>: a stimulus that does not naturally elicit a response.</a:t>
            </a:r>
            <a:r>
              <a:rPr lang="en">
                <a:solidFill>
                  <a:srgbClr val="0000FF"/>
                </a:solidFill>
                <a:highlight>
                  <a:srgbClr val="FFFFFF"/>
                </a:highlight>
              </a:rPr>
              <a:t> </a:t>
            </a:r>
            <a:r>
              <a:rPr lang="en" sz="1200" b="1">
                <a:solidFill>
                  <a:srgbClr val="0000FF"/>
                </a:solidFill>
              </a:rPr>
              <a:t>Estímulo neutro:</a:t>
            </a:r>
            <a:r>
              <a:rPr lang="en" sz="1200">
                <a:solidFill>
                  <a:srgbClr val="0000FF"/>
                </a:solidFill>
              </a:rPr>
              <a:t> un estímulo que no provoca una respuesta.</a:t>
            </a:r>
            <a:endParaRPr sz="1200">
              <a:solidFill>
                <a:srgbClr val="0000FF"/>
              </a:solidFill>
              <a:highlight>
                <a:srgbClr val="FFFFFF"/>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g3f6bd4abedf_1_34"/>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1414"/>
              <a:buNone/>
            </a:pPr>
            <a:r>
              <a:rPr lang="en"/>
              <a:t>Classical Conditioning </a:t>
            </a:r>
            <a:r>
              <a:rPr lang="en" sz="2200">
                <a:solidFill>
                  <a:srgbClr val="0000FF"/>
                </a:solidFill>
              </a:rPr>
              <a:t>El condicionamento clásico</a:t>
            </a:r>
            <a:endParaRPr sz="2200">
              <a:solidFill>
                <a:srgbClr val="0000FF"/>
              </a:solidFill>
            </a:endParaRPr>
          </a:p>
          <a:p>
            <a:pPr marL="0" lvl="0" indent="0" algn="l" rtl="0">
              <a:lnSpc>
                <a:spcPct val="100000"/>
              </a:lnSpc>
              <a:spcBef>
                <a:spcPts val="0"/>
              </a:spcBef>
              <a:spcAft>
                <a:spcPts val="0"/>
              </a:spcAft>
              <a:buSzPct val="111111"/>
              <a:buNone/>
            </a:pPr>
            <a:endParaRPr/>
          </a:p>
        </p:txBody>
      </p:sp>
      <p:sp>
        <p:nvSpPr>
          <p:cNvPr id="531" name="Google Shape;531;g3f6bd4abedf_1_34"/>
          <p:cNvSpPr txBox="1">
            <a:spLocks noGrp="1"/>
          </p:cNvSpPr>
          <p:nvPr>
            <p:ph type="body" idx="1"/>
          </p:nvPr>
        </p:nvSpPr>
        <p:spPr>
          <a:xfrm>
            <a:off x="311700" y="1376649"/>
            <a:ext cx="8520600" cy="3985800"/>
          </a:xfrm>
          <a:prstGeom prst="rect">
            <a:avLst/>
          </a:prstGeom>
          <a:noFill/>
          <a:ln>
            <a:noFill/>
          </a:ln>
        </p:spPr>
        <p:txBody>
          <a:bodyPr spcFirstLastPara="1" wrap="square" lIns="91425" tIns="91425" rIns="91425" bIns="91425" anchor="t" anchorCtr="0">
            <a:normAutofit/>
          </a:bodyPr>
          <a:lstStyle/>
          <a:p>
            <a:pPr marL="457200" lvl="0" indent="-311150" algn="l" rtl="0">
              <a:lnSpc>
                <a:spcPct val="100000"/>
              </a:lnSpc>
              <a:spcBef>
                <a:spcPts val="0"/>
              </a:spcBef>
              <a:spcAft>
                <a:spcPts val="0"/>
              </a:spcAft>
              <a:buClr>
                <a:srgbClr val="424242"/>
              </a:buClr>
              <a:buSzPts val="1300"/>
              <a:buChar char="●"/>
            </a:pPr>
            <a:r>
              <a:rPr lang="en">
                <a:solidFill>
                  <a:srgbClr val="424242"/>
                </a:solidFill>
                <a:highlight>
                  <a:srgbClr val="FFFFFF"/>
                </a:highlight>
              </a:rPr>
              <a:t>Organisms learn to associate events—or stimuli—that repeatedly happen together. i.e</a:t>
            </a:r>
            <a:r>
              <a:rPr lang="en" sz="1200">
                <a:solidFill>
                  <a:srgbClr val="424242"/>
                </a:solidFill>
                <a:highlight>
                  <a:srgbClr val="FFFFFF"/>
                </a:highlight>
              </a:rPr>
              <a:t> </a:t>
            </a:r>
            <a:r>
              <a:rPr lang="en" sz="1200">
                <a:solidFill>
                  <a:srgbClr val="0000FF"/>
                </a:solidFill>
              </a:rPr>
              <a:t>Los organismos aprenden a asociar eventos —o estímulos— que ocurren juntos de manera repetida. Por ejemplo:</a:t>
            </a:r>
            <a:endParaRPr sz="1200">
              <a:solidFill>
                <a:srgbClr val="0000FF"/>
              </a:solidFill>
            </a:endParaRPr>
          </a:p>
          <a:p>
            <a:pPr marL="0" lvl="0" indent="0" algn="l" rtl="0">
              <a:lnSpc>
                <a:spcPct val="100000"/>
              </a:lnSpc>
              <a:spcBef>
                <a:spcPts val="0"/>
              </a:spcBef>
              <a:spcAft>
                <a:spcPts val="0"/>
              </a:spcAft>
              <a:buNone/>
            </a:pPr>
            <a:endParaRPr sz="1200">
              <a:solidFill>
                <a:srgbClr val="0000FF"/>
              </a:solidFill>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Unconditioned stimulus</a:t>
            </a:r>
            <a:r>
              <a:rPr lang="en">
                <a:solidFill>
                  <a:srgbClr val="424242"/>
                </a:solidFill>
                <a:highlight>
                  <a:srgbClr val="FFFFFF"/>
                </a:highlight>
              </a:rPr>
              <a:t>: a stimulus that elicits a reflexive response in an organism. </a:t>
            </a:r>
            <a:r>
              <a:rPr lang="en" sz="1200" b="1">
                <a:solidFill>
                  <a:srgbClr val="0000FF"/>
                </a:solidFill>
              </a:rPr>
              <a:t>Estímulo incondicionado:</a:t>
            </a:r>
            <a:r>
              <a:rPr lang="en" sz="1200">
                <a:solidFill>
                  <a:srgbClr val="0000FF"/>
                </a:solidFill>
              </a:rPr>
              <a:t> un estímulo que provoca una respuesta automática en un organismo.</a:t>
            </a:r>
            <a:br>
              <a:rPr lang="en" sz="1200">
                <a:solidFill>
                  <a:srgbClr val="0000FF"/>
                </a:solidFill>
              </a:rPr>
            </a:br>
            <a:endParaRPr sz="1200">
              <a:solidFill>
                <a:srgbClr val="0000FF"/>
              </a:solidFill>
              <a:highlight>
                <a:srgbClr val="FFFFFF"/>
              </a:highlight>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Unconditioned response</a:t>
            </a:r>
            <a:r>
              <a:rPr lang="en">
                <a:solidFill>
                  <a:srgbClr val="424242"/>
                </a:solidFill>
                <a:highlight>
                  <a:srgbClr val="FFFFFF"/>
                </a:highlight>
              </a:rPr>
              <a:t>: a natural (unlearned) reaction to a given stimulus.</a:t>
            </a:r>
            <a:r>
              <a:rPr lang="en">
                <a:solidFill>
                  <a:srgbClr val="0000FF"/>
                </a:solidFill>
                <a:highlight>
                  <a:srgbClr val="FFFFFF"/>
                </a:highlight>
              </a:rPr>
              <a:t> </a:t>
            </a:r>
            <a:r>
              <a:rPr lang="en" sz="1200" b="1">
                <a:solidFill>
                  <a:srgbClr val="0000FF"/>
                </a:solidFill>
              </a:rPr>
              <a:t>Respuesta incondicionada:</a:t>
            </a:r>
            <a:r>
              <a:rPr lang="en" sz="1200">
                <a:solidFill>
                  <a:srgbClr val="0000FF"/>
                </a:solidFill>
              </a:rPr>
              <a:t> una reacción natural (no aprendida) ante un estímulo específico.</a:t>
            </a:r>
            <a:br>
              <a:rPr lang="en" sz="1200">
                <a:solidFill>
                  <a:srgbClr val="0000FF"/>
                </a:solidFill>
              </a:rPr>
            </a:br>
            <a:endParaRPr sz="1200">
              <a:solidFill>
                <a:srgbClr val="0000FF"/>
              </a:solidFill>
              <a:highlight>
                <a:srgbClr val="FFFFFF"/>
              </a:highlight>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Neutral stimulus</a:t>
            </a:r>
            <a:r>
              <a:rPr lang="en">
                <a:solidFill>
                  <a:srgbClr val="424242"/>
                </a:solidFill>
                <a:highlight>
                  <a:srgbClr val="FFFFFF"/>
                </a:highlight>
              </a:rPr>
              <a:t>: a stimulus that does not naturally elicit a response.</a:t>
            </a:r>
            <a:r>
              <a:rPr lang="en">
                <a:solidFill>
                  <a:srgbClr val="0000FF"/>
                </a:solidFill>
                <a:highlight>
                  <a:srgbClr val="FFFFFF"/>
                </a:highlight>
              </a:rPr>
              <a:t> </a:t>
            </a:r>
            <a:r>
              <a:rPr lang="en" sz="1200" b="1">
                <a:solidFill>
                  <a:srgbClr val="0000FF"/>
                </a:solidFill>
              </a:rPr>
              <a:t>Estímulo neutro:</a:t>
            </a:r>
            <a:r>
              <a:rPr lang="en" sz="1200">
                <a:solidFill>
                  <a:srgbClr val="0000FF"/>
                </a:solidFill>
              </a:rPr>
              <a:t> un estímulo que no provoca una respuesta.</a:t>
            </a:r>
            <a:br>
              <a:rPr lang="en" sz="1200">
                <a:solidFill>
                  <a:srgbClr val="0000FF"/>
                </a:solidFill>
              </a:rPr>
            </a:br>
            <a:endParaRPr sz="1200">
              <a:solidFill>
                <a:srgbClr val="0000FF"/>
              </a:solidFill>
              <a:highlight>
                <a:srgbClr val="FFFFFF"/>
              </a:highlight>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Conditioned stimulus</a:t>
            </a:r>
            <a:r>
              <a:rPr lang="en">
                <a:solidFill>
                  <a:srgbClr val="424242"/>
                </a:solidFill>
                <a:highlight>
                  <a:srgbClr val="FFFFFF"/>
                </a:highlight>
              </a:rPr>
              <a:t>: a (neutral) stimulus that elicits a response after repeatedly being paired with an unconditioned stimulus. </a:t>
            </a:r>
            <a:r>
              <a:rPr lang="en" sz="1100">
                <a:solidFill>
                  <a:schemeClr val="dk1"/>
                </a:solidFill>
              </a:rPr>
              <a:t> </a:t>
            </a:r>
            <a:r>
              <a:rPr lang="en" sz="1200" b="1">
                <a:solidFill>
                  <a:srgbClr val="0000FF"/>
                </a:solidFill>
              </a:rPr>
              <a:t>Estímulo condicionado:</a:t>
            </a:r>
            <a:r>
              <a:rPr lang="en" sz="1200">
                <a:solidFill>
                  <a:srgbClr val="0000FF"/>
                </a:solidFill>
              </a:rPr>
              <a:t> un estímulo (neutro) que provoca una respuesta después de asociarse repetidamente con un estímulo incondicionado.</a:t>
            </a:r>
            <a:endParaRPr sz="1200">
              <a:solidFill>
                <a:srgbClr val="0000FF"/>
              </a:solidFill>
              <a:highlight>
                <a:srgbClr val="FFFFFF"/>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g3f6bd4abedf_1_29"/>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1414"/>
              <a:buNone/>
            </a:pPr>
            <a:r>
              <a:rPr lang="en"/>
              <a:t>Classical Conditioning </a:t>
            </a:r>
            <a:r>
              <a:rPr lang="en" sz="2200">
                <a:solidFill>
                  <a:srgbClr val="0000FF"/>
                </a:solidFill>
              </a:rPr>
              <a:t>El condicionamento clásico</a:t>
            </a:r>
            <a:endParaRPr sz="2200">
              <a:solidFill>
                <a:srgbClr val="0000FF"/>
              </a:solidFill>
            </a:endParaRPr>
          </a:p>
          <a:p>
            <a:pPr marL="0" lvl="0" indent="0" algn="l" rtl="0">
              <a:lnSpc>
                <a:spcPct val="100000"/>
              </a:lnSpc>
              <a:spcBef>
                <a:spcPts val="0"/>
              </a:spcBef>
              <a:spcAft>
                <a:spcPts val="0"/>
              </a:spcAft>
              <a:buSzPct val="111111"/>
              <a:buNone/>
            </a:pPr>
            <a:endParaRPr/>
          </a:p>
        </p:txBody>
      </p:sp>
      <p:sp>
        <p:nvSpPr>
          <p:cNvPr id="537" name="Google Shape;537;g3f6bd4abedf_1_29"/>
          <p:cNvSpPr txBox="1">
            <a:spLocks noGrp="1"/>
          </p:cNvSpPr>
          <p:nvPr>
            <p:ph type="body" idx="1"/>
          </p:nvPr>
        </p:nvSpPr>
        <p:spPr>
          <a:xfrm>
            <a:off x="311700" y="1376649"/>
            <a:ext cx="8520600" cy="3985800"/>
          </a:xfrm>
          <a:prstGeom prst="rect">
            <a:avLst/>
          </a:prstGeom>
          <a:noFill/>
          <a:ln>
            <a:noFill/>
          </a:ln>
        </p:spPr>
        <p:txBody>
          <a:bodyPr spcFirstLastPara="1" wrap="square" lIns="91425" tIns="91425" rIns="91425" bIns="91425" anchor="t" anchorCtr="0">
            <a:normAutofit/>
          </a:bodyPr>
          <a:lstStyle/>
          <a:p>
            <a:pPr marL="457200" lvl="0" indent="-311150" algn="l" rtl="0">
              <a:lnSpc>
                <a:spcPct val="100000"/>
              </a:lnSpc>
              <a:spcBef>
                <a:spcPts val="0"/>
              </a:spcBef>
              <a:spcAft>
                <a:spcPts val="0"/>
              </a:spcAft>
              <a:buClr>
                <a:srgbClr val="424242"/>
              </a:buClr>
              <a:buSzPts val="1300"/>
              <a:buChar char="●"/>
            </a:pPr>
            <a:r>
              <a:rPr lang="en">
                <a:solidFill>
                  <a:srgbClr val="424242"/>
                </a:solidFill>
                <a:highlight>
                  <a:srgbClr val="FFFFFF"/>
                </a:highlight>
              </a:rPr>
              <a:t>Organisms learn to associate events—or stimuli—that repeatedly happen together. i.e</a:t>
            </a:r>
            <a:r>
              <a:rPr lang="en" sz="1200">
                <a:solidFill>
                  <a:srgbClr val="424242"/>
                </a:solidFill>
                <a:highlight>
                  <a:srgbClr val="FFFFFF"/>
                </a:highlight>
              </a:rPr>
              <a:t> </a:t>
            </a:r>
            <a:r>
              <a:rPr lang="en" sz="1200">
                <a:solidFill>
                  <a:srgbClr val="0000FF"/>
                </a:solidFill>
              </a:rPr>
              <a:t>Los organismos aprenden a asociar eventos —o estímulos— que ocurren juntos de manera repetida. Por ejemplo:</a:t>
            </a:r>
            <a:endParaRPr sz="1200">
              <a:solidFill>
                <a:srgbClr val="0000FF"/>
              </a:solidFill>
            </a:endParaRPr>
          </a:p>
          <a:p>
            <a:pPr marL="457200" lvl="0" indent="0" algn="l" rtl="0">
              <a:lnSpc>
                <a:spcPct val="100000"/>
              </a:lnSpc>
              <a:spcBef>
                <a:spcPts val="0"/>
              </a:spcBef>
              <a:spcAft>
                <a:spcPts val="0"/>
              </a:spcAft>
              <a:buNone/>
            </a:pPr>
            <a:endParaRPr sz="1200">
              <a:solidFill>
                <a:srgbClr val="0000FF"/>
              </a:solidFill>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Unconditioned stimulus</a:t>
            </a:r>
            <a:r>
              <a:rPr lang="en">
                <a:solidFill>
                  <a:srgbClr val="424242"/>
                </a:solidFill>
                <a:highlight>
                  <a:srgbClr val="FFFFFF"/>
                </a:highlight>
              </a:rPr>
              <a:t>: a stimulus that elicits a reflexive response in an organism. </a:t>
            </a:r>
            <a:r>
              <a:rPr lang="en" sz="1200" b="1">
                <a:solidFill>
                  <a:srgbClr val="0000FF"/>
                </a:solidFill>
              </a:rPr>
              <a:t>Estímulo incondicionado:</a:t>
            </a:r>
            <a:r>
              <a:rPr lang="en" sz="1200">
                <a:solidFill>
                  <a:srgbClr val="0000FF"/>
                </a:solidFill>
              </a:rPr>
              <a:t> un estímulo que provoca una respuesta automática en un organismo.</a:t>
            </a:r>
            <a:br>
              <a:rPr lang="en" sz="1200">
                <a:solidFill>
                  <a:srgbClr val="0000FF"/>
                </a:solidFill>
              </a:rPr>
            </a:br>
            <a:endParaRPr sz="1200">
              <a:solidFill>
                <a:srgbClr val="0000FF"/>
              </a:solidFill>
              <a:highlight>
                <a:srgbClr val="FFFFFF"/>
              </a:highlight>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Unconditioned response</a:t>
            </a:r>
            <a:r>
              <a:rPr lang="en">
                <a:solidFill>
                  <a:srgbClr val="424242"/>
                </a:solidFill>
                <a:highlight>
                  <a:srgbClr val="FFFFFF"/>
                </a:highlight>
              </a:rPr>
              <a:t>: a natural (unlearned) reaction to a given stimulus.</a:t>
            </a:r>
            <a:r>
              <a:rPr lang="en">
                <a:solidFill>
                  <a:srgbClr val="0000FF"/>
                </a:solidFill>
                <a:highlight>
                  <a:srgbClr val="FFFFFF"/>
                </a:highlight>
              </a:rPr>
              <a:t> </a:t>
            </a:r>
            <a:r>
              <a:rPr lang="en" sz="1200" b="1">
                <a:solidFill>
                  <a:srgbClr val="0000FF"/>
                </a:solidFill>
              </a:rPr>
              <a:t>Respuesta incondicionada:</a:t>
            </a:r>
            <a:r>
              <a:rPr lang="en" sz="1200">
                <a:solidFill>
                  <a:srgbClr val="0000FF"/>
                </a:solidFill>
              </a:rPr>
              <a:t> una reacción natural (no aprendida) ante un estímulo específico.</a:t>
            </a:r>
            <a:br>
              <a:rPr lang="en" sz="1200">
                <a:solidFill>
                  <a:srgbClr val="0000FF"/>
                </a:solidFill>
              </a:rPr>
            </a:br>
            <a:endParaRPr sz="1200">
              <a:solidFill>
                <a:srgbClr val="0000FF"/>
              </a:solidFill>
              <a:highlight>
                <a:srgbClr val="FFFFFF"/>
              </a:highlight>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Neutral stimulus</a:t>
            </a:r>
            <a:r>
              <a:rPr lang="en">
                <a:solidFill>
                  <a:srgbClr val="424242"/>
                </a:solidFill>
                <a:highlight>
                  <a:srgbClr val="FFFFFF"/>
                </a:highlight>
              </a:rPr>
              <a:t>: a stimulus that does not naturally elicit a response.</a:t>
            </a:r>
            <a:r>
              <a:rPr lang="en">
                <a:solidFill>
                  <a:srgbClr val="0000FF"/>
                </a:solidFill>
                <a:highlight>
                  <a:srgbClr val="FFFFFF"/>
                </a:highlight>
              </a:rPr>
              <a:t> </a:t>
            </a:r>
            <a:r>
              <a:rPr lang="en" sz="1200" b="1">
                <a:solidFill>
                  <a:srgbClr val="0000FF"/>
                </a:solidFill>
              </a:rPr>
              <a:t>Estímulo neutro:</a:t>
            </a:r>
            <a:r>
              <a:rPr lang="en" sz="1200">
                <a:solidFill>
                  <a:srgbClr val="0000FF"/>
                </a:solidFill>
              </a:rPr>
              <a:t> un estímulo que no provoca una respuesta.</a:t>
            </a:r>
            <a:br>
              <a:rPr lang="en" sz="1200">
                <a:solidFill>
                  <a:srgbClr val="0000FF"/>
                </a:solidFill>
              </a:rPr>
            </a:br>
            <a:endParaRPr sz="1200">
              <a:solidFill>
                <a:srgbClr val="0000FF"/>
              </a:solidFill>
              <a:highlight>
                <a:srgbClr val="FFFFFF"/>
              </a:highlight>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Conditioned stimulus</a:t>
            </a:r>
            <a:r>
              <a:rPr lang="en">
                <a:solidFill>
                  <a:srgbClr val="424242"/>
                </a:solidFill>
                <a:highlight>
                  <a:srgbClr val="FFFFFF"/>
                </a:highlight>
              </a:rPr>
              <a:t>: a (neutral) stimulus that elicits a response after repeatedly being paired with an unconditioned stimulus. </a:t>
            </a:r>
            <a:r>
              <a:rPr lang="en" sz="1100">
                <a:solidFill>
                  <a:schemeClr val="dk1"/>
                </a:solidFill>
              </a:rPr>
              <a:t> </a:t>
            </a:r>
            <a:r>
              <a:rPr lang="en" sz="1200" b="1">
                <a:solidFill>
                  <a:srgbClr val="0000FF"/>
                </a:solidFill>
              </a:rPr>
              <a:t>Estímulo condicionado:</a:t>
            </a:r>
            <a:r>
              <a:rPr lang="en" sz="1200">
                <a:solidFill>
                  <a:srgbClr val="0000FF"/>
                </a:solidFill>
              </a:rPr>
              <a:t> un estímulo (neutro) que provoca una respuesta después de asociarse repetidamente con un estímulo incondicionado.</a:t>
            </a:r>
            <a:br>
              <a:rPr lang="en" sz="1200">
                <a:solidFill>
                  <a:srgbClr val="0000FF"/>
                </a:solidFill>
              </a:rPr>
            </a:br>
            <a:endParaRPr sz="1200">
              <a:solidFill>
                <a:srgbClr val="0000FF"/>
              </a:solidFill>
              <a:highlight>
                <a:srgbClr val="FFFFFF"/>
              </a:highlight>
            </a:endParaRPr>
          </a:p>
          <a:p>
            <a:pPr marL="457200" lvl="0" indent="-311150" algn="l" rtl="0">
              <a:lnSpc>
                <a:spcPct val="100000"/>
              </a:lnSpc>
              <a:spcBef>
                <a:spcPts val="0"/>
              </a:spcBef>
              <a:spcAft>
                <a:spcPts val="0"/>
              </a:spcAft>
              <a:buClr>
                <a:srgbClr val="424242"/>
              </a:buClr>
              <a:buSzPts val="1300"/>
              <a:buChar char="●"/>
            </a:pPr>
            <a:r>
              <a:rPr lang="en" u="sng">
                <a:solidFill>
                  <a:srgbClr val="424242"/>
                </a:solidFill>
                <a:highlight>
                  <a:srgbClr val="FFFFFF"/>
                </a:highlight>
              </a:rPr>
              <a:t>Conditioned Response</a:t>
            </a:r>
            <a:r>
              <a:rPr lang="en">
                <a:solidFill>
                  <a:srgbClr val="424242"/>
                </a:solidFill>
                <a:highlight>
                  <a:srgbClr val="FFFFFF"/>
                </a:highlight>
              </a:rPr>
              <a:t>: the behavior caused by the conditioned stimulus.</a:t>
            </a:r>
            <a:r>
              <a:rPr lang="en">
                <a:solidFill>
                  <a:srgbClr val="0000FF"/>
                </a:solidFill>
                <a:highlight>
                  <a:srgbClr val="FFFFFF"/>
                </a:highlight>
              </a:rPr>
              <a:t> </a:t>
            </a:r>
            <a:r>
              <a:rPr lang="en" sz="1200" b="1">
                <a:solidFill>
                  <a:srgbClr val="0000FF"/>
                </a:solidFill>
              </a:rPr>
              <a:t>Respuesta condicionada:</a:t>
            </a:r>
            <a:r>
              <a:rPr lang="en" sz="1200">
                <a:solidFill>
                  <a:srgbClr val="0000FF"/>
                </a:solidFill>
              </a:rPr>
              <a:t> la conducta provocado por el estímulo condicionado.</a:t>
            </a:r>
            <a:endParaRPr sz="1200">
              <a:solidFill>
                <a:srgbClr val="0000FF"/>
              </a:solidFill>
              <a:highlight>
                <a:srgbClr val="FFFFFF"/>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12"/>
          <p:cNvSpPr txBox="1">
            <a:spLocks noGrp="1"/>
          </p:cNvSpPr>
          <p:nvPr>
            <p:ph type="title"/>
          </p:nvPr>
        </p:nvSpPr>
        <p:spPr>
          <a:xfrm>
            <a:off x="1197750" y="624925"/>
            <a:ext cx="7608900" cy="1085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1200"/>
              </a:spcBef>
              <a:spcAft>
                <a:spcPts val="0"/>
              </a:spcAft>
              <a:buClr>
                <a:schemeClr val="dk1"/>
              </a:buClr>
              <a:buSzPct val="46047"/>
              <a:buFont typeface="Arial"/>
              <a:buNone/>
            </a:pPr>
            <a:r>
              <a:rPr lang="en" sz="2150">
                <a:solidFill>
                  <a:srgbClr val="FF0000"/>
                </a:solidFill>
              </a:rPr>
              <a:t>Activity: “The Clap and Word Game” (10 minutes)</a:t>
            </a:r>
            <a:endParaRPr sz="2150">
              <a:solidFill>
                <a:srgbClr val="FF0000"/>
              </a:solidFill>
            </a:endParaRPr>
          </a:p>
          <a:p>
            <a:pPr marL="0" lvl="0" indent="0" algn="l" rtl="0">
              <a:lnSpc>
                <a:spcPct val="100000"/>
              </a:lnSpc>
              <a:spcBef>
                <a:spcPts val="1200"/>
              </a:spcBef>
              <a:spcAft>
                <a:spcPts val="1200"/>
              </a:spcAft>
              <a:buClr>
                <a:schemeClr val="dk1"/>
              </a:buClr>
              <a:buSzPct val="46047"/>
              <a:buFont typeface="Arial"/>
              <a:buNone/>
            </a:pPr>
            <a:r>
              <a:rPr lang="en" sz="2150">
                <a:solidFill>
                  <a:srgbClr val="0000FF"/>
                </a:solidFill>
              </a:rPr>
              <a:t>Actividad: “El juego de las palmadas y las palabras” (10 minutos)</a:t>
            </a:r>
            <a:endParaRPr sz="2150">
              <a:solidFill>
                <a:srgbClr val="0000FF"/>
              </a:solidFill>
            </a:endParaRPr>
          </a:p>
        </p:txBody>
      </p:sp>
      <p:sp>
        <p:nvSpPr>
          <p:cNvPr id="543" name="Google Shape;543;p12"/>
          <p:cNvSpPr txBox="1">
            <a:spLocks noGrp="1"/>
          </p:cNvSpPr>
          <p:nvPr>
            <p:ph type="body" idx="1"/>
          </p:nvPr>
        </p:nvSpPr>
        <p:spPr>
          <a:xfrm>
            <a:off x="363225" y="1941850"/>
            <a:ext cx="8520600" cy="3583500"/>
          </a:xfrm>
          <a:prstGeom prst="rect">
            <a:avLst/>
          </a:prstGeom>
          <a:noFill/>
          <a:ln>
            <a:noFill/>
          </a:ln>
        </p:spPr>
        <p:txBody>
          <a:bodyPr spcFirstLastPara="1" wrap="square" lIns="91425" tIns="91425" rIns="91425" bIns="91425" anchor="t" anchorCtr="0">
            <a:noAutofit/>
          </a:bodyPr>
          <a:lstStyle/>
          <a:p>
            <a:pPr marL="457200" lvl="0" indent="-342900" algn="l" rtl="0">
              <a:lnSpc>
                <a:spcPct val="95000"/>
              </a:lnSpc>
              <a:spcBef>
                <a:spcPts val="1200"/>
              </a:spcBef>
              <a:spcAft>
                <a:spcPts val="0"/>
              </a:spcAft>
              <a:buClr>
                <a:schemeClr val="dk1"/>
              </a:buClr>
              <a:buSzPts val="1800"/>
              <a:buChar char="●"/>
            </a:pPr>
            <a:r>
              <a:rPr lang="en">
                <a:solidFill>
                  <a:schemeClr val="dk1"/>
                </a:solidFill>
              </a:rPr>
              <a:t>The instructor will say random words; students must clap after one word (“dog”) several times</a:t>
            </a:r>
            <a:endParaRPr>
              <a:solidFill>
                <a:schemeClr val="dk1"/>
              </a:solidFill>
            </a:endParaRPr>
          </a:p>
          <a:p>
            <a:pPr marL="457200" lvl="0" indent="0" algn="l" rtl="0">
              <a:lnSpc>
                <a:spcPct val="95000"/>
              </a:lnSpc>
              <a:spcBef>
                <a:spcPts val="1200"/>
              </a:spcBef>
              <a:spcAft>
                <a:spcPts val="0"/>
              </a:spcAft>
              <a:buSzPts val="1300"/>
              <a:buNone/>
            </a:pPr>
            <a:r>
              <a:rPr lang="en">
                <a:solidFill>
                  <a:srgbClr val="0000FF"/>
                </a:solidFill>
              </a:rPr>
              <a:t>El maestro dirá palabras al azar; los estudiantes deberán aplaudir cada vez que escuchen una palabra específica (“perro”).</a:t>
            </a:r>
            <a:endParaRPr>
              <a:solidFill>
                <a:srgbClr val="0000FF"/>
              </a:solidFill>
            </a:endParaRPr>
          </a:p>
          <a:p>
            <a:pPr marL="457200" lvl="0" indent="0" algn="l" rtl="0">
              <a:lnSpc>
                <a:spcPct val="95000"/>
              </a:lnSpc>
              <a:spcBef>
                <a:spcPts val="1200"/>
              </a:spcBef>
              <a:spcAft>
                <a:spcPts val="0"/>
              </a:spcAft>
              <a:buSzPts val="1300"/>
              <a:buNone/>
            </a:pPr>
            <a:endParaRPr>
              <a:solidFill>
                <a:schemeClr val="accent1"/>
              </a:solidFill>
            </a:endParaRPr>
          </a:p>
          <a:p>
            <a:pPr marL="457200" lvl="0" indent="-342900" algn="l" rtl="0">
              <a:lnSpc>
                <a:spcPct val="95000"/>
              </a:lnSpc>
              <a:spcBef>
                <a:spcPts val="1200"/>
              </a:spcBef>
              <a:spcAft>
                <a:spcPts val="0"/>
              </a:spcAft>
              <a:buClr>
                <a:schemeClr val="dk1"/>
              </a:buClr>
              <a:buSzPts val="1800"/>
              <a:buChar char="●"/>
            </a:pPr>
            <a:r>
              <a:rPr lang="en">
                <a:solidFill>
                  <a:schemeClr val="dk1"/>
                </a:solidFill>
              </a:rPr>
              <a:t>After a few minutes, the instructor will say “dog” and students must not clap anymore — note reactions</a:t>
            </a:r>
            <a:endParaRPr>
              <a:solidFill>
                <a:schemeClr val="dk1"/>
              </a:solidFill>
            </a:endParaRPr>
          </a:p>
          <a:p>
            <a:pPr marL="457200" lvl="0" indent="0" algn="l" rtl="0">
              <a:lnSpc>
                <a:spcPct val="95000"/>
              </a:lnSpc>
              <a:spcBef>
                <a:spcPts val="1200"/>
              </a:spcBef>
              <a:spcAft>
                <a:spcPts val="0"/>
              </a:spcAft>
              <a:buSzPts val="1300"/>
              <a:buNone/>
            </a:pPr>
            <a:r>
              <a:rPr lang="en">
                <a:solidFill>
                  <a:srgbClr val="0000FF"/>
                </a:solidFill>
              </a:rPr>
              <a:t>Después de unos minutos, el maestro dirá "perro" y los estudiantes ya no deben aplaudir; observen las reacciones</a:t>
            </a:r>
            <a:endParaRPr>
              <a:solidFill>
                <a:srgbClr val="0000FF"/>
              </a:solidFill>
            </a:endParaRPr>
          </a:p>
          <a:p>
            <a:pPr marL="457200" lvl="0" indent="0" algn="l" rtl="0">
              <a:lnSpc>
                <a:spcPct val="95000"/>
              </a:lnSpc>
              <a:spcBef>
                <a:spcPts val="1200"/>
              </a:spcBef>
              <a:spcAft>
                <a:spcPts val="0"/>
              </a:spcAft>
              <a:buSzPts val="523"/>
              <a:buNone/>
            </a:pPr>
            <a:endParaRPr sz="2070">
              <a:solidFill>
                <a:schemeClr val="accent1"/>
              </a:solidFill>
            </a:endParaRPr>
          </a:p>
          <a:p>
            <a:pPr marL="914400" lvl="0" indent="0" algn="l" rtl="0">
              <a:lnSpc>
                <a:spcPct val="95000"/>
              </a:lnSpc>
              <a:spcBef>
                <a:spcPts val="1200"/>
              </a:spcBef>
              <a:spcAft>
                <a:spcPts val="0"/>
              </a:spcAft>
              <a:buSzPts val="523"/>
              <a:buNone/>
            </a:pPr>
            <a:endParaRPr sz="2070">
              <a:solidFill>
                <a:schemeClr val="accent1"/>
              </a:solidFill>
            </a:endParaRPr>
          </a:p>
          <a:p>
            <a:pPr marL="0" lvl="0" indent="0" algn="l" rtl="0">
              <a:lnSpc>
                <a:spcPct val="95000"/>
              </a:lnSpc>
              <a:spcBef>
                <a:spcPts val="1200"/>
              </a:spcBef>
              <a:spcAft>
                <a:spcPts val="1200"/>
              </a:spcAft>
              <a:buSzPts val="523"/>
              <a:buNone/>
            </a:pPr>
            <a:endParaRPr sz="855"/>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13"/>
          <p:cNvSpPr txBox="1">
            <a:spLocks noGrp="1"/>
          </p:cNvSpPr>
          <p:nvPr>
            <p:ph type="title"/>
          </p:nvPr>
        </p:nvSpPr>
        <p:spPr>
          <a:xfrm>
            <a:off x="1197750" y="624925"/>
            <a:ext cx="7608900" cy="1085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1200"/>
              </a:spcBef>
              <a:spcAft>
                <a:spcPts val="0"/>
              </a:spcAft>
              <a:buClr>
                <a:schemeClr val="dk1"/>
              </a:buClr>
              <a:buSzPct val="46047"/>
              <a:buFont typeface="Arial"/>
              <a:buNone/>
            </a:pPr>
            <a:r>
              <a:rPr lang="en" sz="2150">
                <a:solidFill>
                  <a:srgbClr val="FF0000"/>
                </a:solidFill>
              </a:rPr>
              <a:t>Activity: “The Clap and Word Game” (10 minutes)</a:t>
            </a:r>
            <a:endParaRPr sz="2150">
              <a:solidFill>
                <a:srgbClr val="FF0000"/>
              </a:solidFill>
            </a:endParaRPr>
          </a:p>
          <a:p>
            <a:pPr marL="0" lvl="0" indent="0" algn="l" rtl="0">
              <a:lnSpc>
                <a:spcPct val="100000"/>
              </a:lnSpc>
              <a:spcBef>
                <a:spcPts val="1200"/>
              </a:spcBef>
              <a:spcAft>
                <a:spcPts val="1200"/>
              </a:spcAft>
              <a:buClr>
                <a:schemeClr val="dk1"/>
              </a:buClr>
              <a:buSzPct val="46047"/>
              <a:buFont typeface="Arial"/>
              <a:buNone/>
            </a:pPr>
            <a:r>
              <a:rPr lang="en" sz="2150">
                <a:solidFill>
                  <a:srgbClr val="0000FF"/>
                </a:solidFill>
              </a:rPr>
              <a:t>Actividad: “El juego de las palmadas y las palabras” (10 minutos)</a:t>
            </a:r>
            <a:endParaRPr sz="2150">
              <a:solidFill>
                <a:srgbClr val="0000FF"/>
              </a:solidFill>
            </a:endParaRPr>
          </a:p>
        </p:txBody>
      </p:sp>
      <p:sp>
        <p:nvSpPr>
          <p:cNvPr id="549" name="Google Shape;549;p13"/>
          <p:cNvSpPr txBox="1">
            <a:spLocks noGrp="1"/>
          </p:cNvSpPr>
          <p:nvPr>
            <p:ph type="body" idx="1"/>
          </p:nvPr>
        </p:nvSpPr>
        <p:spPr>
          <a:xfrm>
            <a:off x="311700" y="1903225"/>
            <a:ext cx="8520600" cy="3583500"/>
          </a:xfrm>
          <a:prstGeom prst="rect">
            <a:avLst/>
          </a:prstGeom>
          <a:noFill/>
          <a:ln>
            <a:noFill/>
          </a:ln>
        </p:spPr>
        <p:txBody>
          <a:bodyPr spcFirstLastPara="1" wrap="square" lIns="91425" tIns="91425" rIns="91425" bIns="91425" anchor="t" anchorCtr="0">
            <a:normAutofit fontScale="32500"/>
          </a:bodyPr>
          <a:lstStyle/>
          <a:p>
            <a:pPr marL="0" lvl="0" indent="0" algn="l" rtl="0">
              <a:lnSpc>
                <a:spcPct val="115000"/>
              </a:lnSpc>
              <a:spcBef>
                <a:spcPts val="1200"/>
              </a:spcBef>
              <a:spcAft>
                <a:spcPts val="0"/>
              </a:spcAft>
              <a:buSzPct val="76923"/>
              <a:buNone/>
            </a:pPr>
            <a:r>
              <a:rPr lang="en" sz="5200">
                <a:solidFill>
                  <a:schemeClr val="dk1"/>
                </a:solidFill>
              </a:rPr>
              <a:t>Debrief/</a:t>
            </a:r>
            <a:r>
              <a:rPr lang="en" sz="5200">
                <a:solidFill>
                  <a:schemeClr val="accent1"/>
                </a:solidFill>
              </a:rPr>
              <a:t>Análisis</a:t>
            </a:r>
            <a:r>
              <a:rPr lang="en" sz="5200">
                <a:solidFill>
                  <a:schemeClr val="dk1"/>
                </a:solidFill>
              </a:rPr>
              <a:t>:</a:t>
            </a:r>
            <a:endParaRPr sz="5200">
              <a:solidFill>
                <a:schemeClr val="dk1"/>
              </a:solidFill>
            </a:endParaRPr>
          </a:p>
          <a:p>
            <a:pPr marL="914400" lvl="1" indent="-335915" algn="l" rtl="0">
              <a:lnSpc>
                <a:spcPct val="115000"/>
              </a:lnSpc>
              <a:spcBef>
                <a:spcPts val="1200"/>
              </a:spcBef>
              <a:spcAft>
                <a:spcPts val="0"/>
              </a:spcAft>
              <a:buClr>
                <a:schemeClr val="dk1"/>
              </a:buClr>
              <a:buSzPct val="100000"/>
              <a:buChar char="○"/>
            </a:pPr>
            <a:r>
              <a:rPr lang="en" sz="5200">
                <a:solidFill>
                  <a:schemeClr val="dk1"/>
                </a:solidFill>
              </a:rPr>
              <a:t>What was the </a:t>
            </a:r>
            <a:r>
              <a:rPr lang="en" sz="5200" i="1">
                <a:solidFill>
                  <a:schemeClr val="dk1"/>
                </a:solidFill>
              </a:rPr>
              <a:t>conditioned stimulus</a:t>
            </a:r>
            <a:r>
              <a:rPr lang="en" sz="5200">
                <a:solidFill>
                  <a:schemeClr val="dk1"/>
                </a:solidFill>
              </a:rPr>
              <a:t>?  </a:t>
            </a:r>
            <a:r>
              <a:rPr lang="en" sz="5200" i="1">
                <a:solidFill>
                  <a:srgbClr val="0000FF"/>
                </a:solidFill>
              </a:rPr>
              <a:t>¿Cuál fue el estímulo condicionado?</a:t>
            </a:r>
            <a:br>
              <a:rPr lang="en" sz="5200" i="1">
                <a:solidFill>
                  <a:srgbClr val="0000FF"/>
                </a:solidFill>
              </a:rPr>
            </a:br>
            <a:endParaRPr sz="5200" i="1">
              <a:solidFill>
                <a:srgbClr val="0000FF"/>
              </a:solidFill>
            </a:endParaRPr>
          </a:p>
          <a:p>
            <a:pPr marL="914400" lvl="1" indent="-335915" algn="l" rtl="0">
              <a:lnSpc>
                <a:spcPct val="115000"/>
              </a:lnSpc>
              <a:spcBef>
                <a:spcPts val="0"/>
              </a:spcBef>
              <a:spcAft>
                <a:spcPts val="0"/>
              </a:spcAft>
              <a:buClr>
                <a:schemeClr val="dk1"/>
              </a:buClr>
              <a:buSzPct val="100000"/>
              <a:buChar char="○"/>
            </a:pPr>
            <a:r>
              <a:rPr lang="en" sz="5200" i="1">
                <a:solidFill>
                  <a:schemeClr val="dk1"/>
                </a:solidFill>
              </a:rPr>
              <a:t>What was the conditioned response? </a:t>
            </a:r>
            <a:r>
              <a:rPr lang="en" sz="5200" i="1">
                <a:solidFill>
                  <a:srgbClr val="0000FF"/>
                </a:solidFill>
              </a:rPr>
              <a:t> ¿Cuál fue la respuesta condicionada?</a:t>
            </a:r>
            <a:br>
              <a:rPr lang="en" sz="5200" i="1">
                <a:solidFill>
                  <a:srgbClr val="0000FF"/>
                </a:solidFill>
              </a:rPr>
            </a:br>
            <a:endParaRPr sz="5200" i="1">
              <a:solidFill>
                <a:srgbClr val="0000FF"/>
              </a:solidFill>
            </a:endParaRPr>
          </a:p>
          <a:p>
            <a:pPr marL="914400" lvl="1" indent="-335915" algn="l" rtl="0">
              <a:lnSpc>
                <a:spcPct val="115000"/>
              </a:lnSpc>
              <a:spcBef>
                <a:spcPts val="0"/>
              </a:spcBef>
              <a:spcAft>
                <a:spcPts val="0"/>
              </a:spcAft>
              <a:buClr>
                <a:srgbClr val="FF0000"/>
              </a:buClr>
              <a:buSzPct val="100000"/>
              <a:buChar char="○"/>
            </a:pPr>
            <a:r>
              <a:rPr lang="en" sz="5200">
                <a:solidFill>
                  <a:srgbClr val="FF0000"/>
                </a:solidFill>
              </a:rPr>
              <a:t>Can you think of things that make you tense, calm, or happy because they’ve been paired with something else in your past? Share with a partner.</a:t>
            </a:r>
            <a:endParaRPr sz="5200">
              <a:solidFill>
                <a:srgbClr val="FF0000"/>
              </a:solidFill>
            </a:endParaRPr>
          </a:p>
          <a:p>
            <a:pPr marL="914400" lvl="0" indent="0" algn="l" rtl="0">
              <a:lnSpc>
                <a:spcPct val="115000"/>
              </a:lnSpc>
              <a:spcBef>
                <a:spcPts val="1200"/>
              </a:spcBef>
              <a:spcAft>
                <a:spcPts val="0"/>
              </a:spcAft>
              <a:buSzPct val="79208"/>
              <a:buNone/>
            </a:pPr>
            <a:r>
              <a:rPr lang="en" sz="5050">
                <a:solidFill>
                  <a:srgbClr val="0000FF"/>
                </a:solidFill>
              </a:rPr>
              <a:t>¿Se les ocurren cosas que los ponen tensos, tranquilos, o felices porque se han asociado con algo más en tu pasado? Compártanlo con un compañero.</a:t>
            </a:r>
            <a:endParaRPr sz="5050">
              <a:solidFill>
                <a:srgbClr val="0000FF"/>
              </a:solidFill>
            </a:endParaRPr>
          </a:p>
          <a:p>
            <a:pPr marL="0" lvl="0" indent="0" algn="l" rtl="0">
              <a:lnSpc>
                <a:spcPct val="115000"/>
              </a:lnSpc>
              <a:spcBef>
                <a:spcPts val="1200"/>
              </a:spcBef>
              <a:spcAft>
                <a:spcPts val="1200"/>
              </a:spcAft>
              <a:buSzPct val="307692"/>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14"/>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a:t>Operant Conditioning </a:t>
            </a:r>
            <a:r>
              <a:rPr lang="en" sz="2150">
                <a:solidFill>
                  <a:srgbClr val="0000FF"/>
                </a:solidFill>
              </a:rPr>
              <a:t>El condicionamiento operante</a:t>
            </a:r>
            <a:endParaRPr sz="2150">
              <a:solidFill>
                <a:srgbClr val="0000FF"/>
              </a:solidFill>
            </a:endParaRPr>
          </a:p>
        </p:txBody>
      </p:sp>
      <p:sp>
        <p:nvSpPr>
          <p:cNvPr id="555" name="Google Shape;555;p14"/>
          <p:cNvSpPr txBox="1">
            <a:spLocks noGrp="1"/>
          </p:cNvSpPr>
          <p:nvPr>
            <p:ph type="body" idx="1"/>
          </p:nvPr>
        </p:nvSpPr>
        <p:spPr>
          <a:xfrm>
            <a:off x="311700" y="1597875"/>
            <a:ext cx="8520600" cy="1040400"/>
          </a:xfrm>
          <a:prstGeom prst="rect">
            <a:avLst/>
          </a:prstGeom>
          <a:noFill/>
          <a:ln>
            <a:noFill/>
          </a:ln>
        </p:spPr>
        <p:txBody>
          <a:bodyPr spcFirstLastPara="1" wrap="square" lIns="91425" tIns="91425" rIns="91425" bIns="91425" anchor="t" anchorCtr="0">
            <a:normAutofit/>
          </a:bodyPr>
          <a:lstStyle/>
          <a:p>
            <a:pPr marL="457200" lvl="0" indent="-311150" algn="l" rtl="0">
              <a:lnSpc>
                <a:spcPct val="115000"/>
              </a:lnSpc>
              <a:spcBef>
                <a:spcPts val="0"/>
              </a:spcBef>
              <a:spcAft>
                <a:spcPts val="0"/>
              </a:spcAft>
              <a:buSzPts val="1300"/>
              <a:buChar char="●"/>
            </a:pPr>
            <a:r>
              <a:rPr lang="en"/>
              <a:t>We learn through rewards and consequences — behavior changes based on outcomes. </a:t>
            </a:r>
            <a:endParaRPr/>
          </a:p>
          <a:p>
            <a:pPr marL="457200" lvl="0" indent="0" algn="l" rtl="0">
              <a:lnSpc>
                <a:spcPct val="115000"/>
              </a:lnSpc>
              <a:spcBef>
                <a:spcPts val="1200"/>
              </a:spcBef>
              <a:spcAft>
                <a:spcPts val="1200"/>
              </a:spcAft>
              <a:buSzPts val="1300"/>
              <a:buNone/>
            </a:pPr>
            <a:r>
              <a:rPr lang="en">
                <a:solidFill>
                  <a:srgbClr val="0000FF"/>
                </a:solidFill>
              </a:rPr>
              <a:t>Aprendemos a través de recompensas y consecuencias: el comportamiento cambia según los resultados.</a:t>
            </a:r>
            <a:endParaRPr>
              <a:solidFill>
                <a:srgbClr val="0000FF"/>
              </a:solidFill>
            </a:endParaRPr>
          </a:p>
        </p:txBody>
      </p:sp>
      <p:pic>
        <p:nvPicPr>
          <p:cNvPr id="556" name="Google Shape;556;p14"/>
          <p:cNvPicPr preferRelativeResize="0"/>
          <p:nvPr/>
        </p:nvPicPr>
        <p:blipFill rotWithShape="1">
          <a:blip r:embed="rId3">
            <a:alphaModFix/>
          </a:blip>
          <a:srcRect/>
          <a:stretch/>
        </p:blipFill>
        <p:spPr>
          <a:xfrm>
            <a:off x="459775" y="2858325"/>
            <a:ext cx="2381250" cy="1333500"/>
          </a:xfrm>
          <a:prstGeom prst="rect">
            <a:avLst/>
          </a:prstGeom>
          <a:noFill/>
          <a:ln>
            <a:noFill/>
          </a:ln>
        </p:spPr>
      </p:pic>
      <p:pic>
        <p:nvPicPr>
          <p:cNvPr id="557" name="Google Shape;557;p14"/>
          <p:cNvPicPr preferRelativeResize="0"/>
          <p:nvPr/>
        </p:nvPicPr>
        <p:blipFill rotWithShape="1">
          <a:blip r:embed="rId4">
            <a:alphaModFix/>
          </a:blip>
          <a:srcRect/>
          <a:stretch/>
        </p:blipFill>
        <p:spPr>
          <a:xfrm>
            <a:off x="3449088" y="2780188"/>
            <a:ext cx="2028625" cy="1489775"/>
          </a:xfrm>
          <a:prstGeom prst="rect">
            <a:avLst/>
          </a:prstGeom>
          <a:noFill/>
          <a:ln>
            <a:noFill/>
          </a:ln>
        </p:spPr>
      </p:pic>
      <p:sp>
        <p:nvSpPr>
          <p:cNvPr id="558" name="Google Shape;558;p14"/>
          <p:cNvSpPr txBox="1"/>
          <p:nvPr/>
        </p:nvSpPr>
        <p:spPr>
          <a:xfrm>
            <a:off x="3119600" y="4191825"/>
            <a:ext cx="3076500" cy="48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chemeClr val="dk2"/>
                </a:solidFill>
                <a:latin typeface="Arial"/>
                <a:ea typeface="Arial"/>
                <a:cs typeface="Arial"/>
                <a:sym typeface="Arial"/>
              </a:rPr>
              <a:t>Speeding -&gt; ticket (punishment)</a:t>
            </a:r>
            <a:endParaRPr sz="16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FF"/>
                </a:solidFill>
                <a:latin typeface="Arial"/>
                <a:ea typeface="Arial"/>
                <a:cs typeface="Arial"/>
                <a:sym typeface="Arial"/>
              </a:rPr>
              <a:t>Exceso de velocidad -&gt; multa (sanción)</a:t>
            </a:r>
            <a:endParaRPr sz="1600" b="0" i="0" u="none" strike="noStrike" cap="none">
              <a:solidFill>
                <a:srgbClr val="0000FF"/>
              </a:solidFill>
              <a:latin typeface="Arial"/>
              <a:ea typeface="Arial"/>
              <a:cs typeface="Arial"/>
              <a:sym typeface="Arial"/>
            </a:endParaRPr>
          </a:p>
        </p:txBody>
      </p:sp>
      <p:sp>
        <p:nvSpPr>
          <p:cNvPr id="559" name="Google Shape;559;p14"/>
          <p:cNvSpPr txBox="1"/>
          <p:nvPr/>
        </p:nvSpPr>
        <p:spPr>
          <a:xfrm>
            <a:off x="171500" y="4335125"/>
            <a:ext cx="3076500" cy="48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Sit -&gt; Treat (reward)</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FF"/>
                </a:solidFill>
                <a:latin typeface="Arial"/>
                <a:ea typeface="Arial"/>
                <a:cs typeface="Arial"/>
                <a:sym typeface="Arial"/>
              </a:rPr>
              <a:t>Sentarse -&gt; Recompensa</a:t>
            </a:r>
            <a:endParaRPr sz="1800" b="0" i="0" u="none" strike="noStrike" cap="none">
              <a:solidFill>
                <a:srgbClr val="0000FF"/>
              </a:solidFill>
              <a:latin typeface="Arial"/>
              <a:ea typeface="Arial"/>
              <a:cs typeface="Arial"/>
              <a:sym typeface="Arial"/>
            </a:endParaRPr>
          </a:p>
        </p:txBody>
      </p:sp>
      <p:pic>
        <p:nvPicPr>
          <p:cNvPr id="560" name="Google Shape;560;p14"/>
          <p:cNvPicPr preferRelativeResize="0"/>
          <p:nvPr/>
        </p:nvPicPr>
        <p:blipFill rotWithShape="1">
          <a:blip r:embed="rId5">
            <a:alphaModFix/>
          </a:blip>
          <a:srcRect/>
          <a:stretch/>
        </p:blipFill>
        <p:spPr>
          <a:xfrm>
            <a:off x="6390463" y="2747616"/>
            <a:ext cx="1207179" cy="1554925"/>
          </a:xfrm>
          <a:prstGeom prst="rect">
            <a:avLst/>
          </a:prstGeom>
          <a:noFill/>
          <a:ln>
            <a:noFill/>
          </a:ln>
        </p:spPr>
      </p:pic>
      <p:pic>
        <p:nvPicPr>
          <p:cNvPr id="561" name="Google Shape;561;p14"/>
          <p:cNvPicPr preferRelativeResize="0"/>
          <p:nvPr/>
        </p:nvPicPr>
        <p:blipFill rotWithShape="1">
          <a:blip r:embed="rId6">
            <a:alphaModFix/>
          </a:blip>
          <a:srcRect/>
          <a:stretch/>
        </p:blipFill>
        <p:spPr>
          <a:xfrm>
            <a:off x="7683400" y="3037550"/>
            <a:ext cx="1040299" cy="1040299"/>
          </a:xfrm>
          <a:prstGeom prst="rect">
            <a:avLst/>
          </a:prstGeom>
          <a:noFill/>
          <a:ln>
            <a:noFill/>
          </a:ln>
        </p:spPr>
      </p:pic>
      <p:sp>
        <p:nvSpPr>
          <p:cNvPr id="562" name="Google Shape;562;p14"/>
          <p:cNvSpPr txBox="1"/>
          <p:nvPr/>
        </p:nvSpPr>
        <p:spPr>
          <a:xfrm>
            <a:off x="6314525" y="4335125"/>
            <a:ext cx="3076500" cy="48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Chores -&gt; allowance</a:t>
            </a: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FF"/>
                </a:solidFill>
                <a:latin typeface="Arial"/>
                <a:ea typeface="Arial"/>
                <a:cs typeface="Arial"/>
                <a:sym typeface="Arial"/>
              </a:rPr>
              <a:t>Quehaceres -&gt;</a:t>
            </a:r>
            <a:r>
              <a:rPr lang="en" sz="1800">
                <a:solidFill>
                  <a:srgbClr val="0000FF"/>
                </a:solidFill>
              </a:rPr>
              <a:t> mesada</a:t>
            </a:r>
            <a:endParaRPr sz="1800" b="0" i="0" u="none" strike="noStrike" cap="none">
              <a:solidFill>
                <a:srgbClr val="0000FF"/>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15"/>
          <p:cNvSpPr txBox="1">
            <a:spLocks noGrp="1"/>
          </p:cNvSpPr>
          <p:nvPr>
            <p:ph type="title"/>
          </p:nvPr>
        </p:nvSpPr>
        <p:spPr>
          <a:xfrm>
            <a:off x="1303800" y="598575"/>
            <a:ext cx="26847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Operant Conditioning </a:t>
            </a:r>
            <a:endParaRPr>
              <a:solidFill>
                <a:srgbClr val="FF0000"/>
              </a:solidFill>
            </a:endParaRPr>
          </a:p>
          <a:p>
            <a:pPr marL="0" lvl="0" indent="0" algn="l" rtl="0">
              <a:lnSpc>
                <a:spcPct val="100000"/>
              </a:lnSpc>
              <a:spcBef>
                <a:spcPts val="0"/>
              </a:spcBef>
              <a:spcAft>
                <a:spcPts val="0"/>
              </a:spcAft>
              <a:buClr>
                <a:schemeClr val="dk1"/>
              </a:buClr>
              <a:buSzPct val="51163"/>
              <a:buFont typeface="Arial"/>
              <a:buNone/>
            </a:pPr>
            <a:r>
              <a:rPr lang="en" sz="2150">
                <a:solidFill>
                  <a:srgbClr val="0000FF"/>
                </a:solidFill>
              </a:rPr>
              <a:t>El condicionamiento operante</a:t>
            </a:r>
            <a:endParaRPr sz="2150">
              <a:solidFill>
                <a:srgbClr val="0000FF"/>
              </a:solidFill>
            </a:endParaRPr>
          </a:p>
          <a:p>
            <a:pPr marL="0" lvl="0" indent="0" algn="l" rtl="0">
              <a:lnSpc>
                <a:spcPct val="100000"/>
              </a:lnSpc>
              <a:spcBef>
                <a:spcPts val="0"/>
              </a:spcBef>
              <a:spcAft>
                <a:spcPts val="0"/>
              </a:spcAft>
              <a:buSzPct val="111111"/>
              <a:buNone/>
            </a:pPr>
            <a:endParaRPr/>
          </a:p>
        </p:txBody>
      </p:sp>
      <p:pic>
        <p:nvPicPr>
          <p:cNvPr id="568" name="Google Shape;568;p15"/>
          <p:cNvPicPr preferRelativeResize="0"/>
          <p:nvPr/>
        </p:nvPicPr>
        <p:blipFill rotWithShape="1">
          <a:blip r:embed="rId3">
            <a:alphaModFix/>
          </a:blip>
          <a:srcRect r="50214"/>
          <a:stretch/>
        </p:blipFill>
        <p:spPr>
          <a:xfrm>
            <a:off x="3905652" y="-11750"/>
            <a:ext cx="2560750" cy="5143499"/>
          </a:xfrm>
          <a:prstGeom prst="rect">
            <a:avLst/>
          </a:prstGeom>
          <a:noFill/>
          <a:ln>
            <a:noFill/>
          </a:ln>
        </p:spPr>
      </p:pic>
      <p:sp>
        <p:nvSpPr>
          <p:cNvPr id="569" name="Google Shape;569;p15"/>
          <p:cNvSpPr txBox="1"/>
          <p:nvPr/>
        </p:nvSpPr>
        <p:spPr>
          <a:xfrm>
            <a:off x="311650" y="2301400"/>
            <a:ext cx="3594000" cy="272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800" b="1" i="0" u="none" strike="noStrike" cap="none">
                <a:solidFill>
                  <a:schemeClr val="dk2"/>
                </a:solidFill>
                <a:latin typeface="Arial"/>
                <a:ea typeface="Arial"/>
                <a:cs typeface="Arial"/>
                <a:sym typeface="Arial"/>
              </a:rPr>
              <a:t>Reinforcement</a:t>
            </a:r>
            <a:r>
              <a:rPr lang="en" sz="1800" b="0" i="0" u="none" strike="noStrike" cap="none">
                <a:solidFill>
                  <a:schemeClr val="dk2"/>
                </a:solidFill>
                <a:latin typeface="Arial"/>
                <a:ea typeface="Arial"/>
                <a:cs typeface="Arial"/>
                <a:sym typeface="Arial"/>
              </a:rPr>
              <a:t> = increases behavior</a:t>
            </a:r>
            <a:endParaRPr sz="1800" b="0" i="0" u="none" strike="noStrike" cap="none">
              <a:solidFill>
                <a:schemeClr val="dk2"/>
              </a:solidFill>
              <a:latin typeface="Arial"/>
              <a:ea typeface="Arial"/>
              <a:cs typeface="Arial"/>
              <a:sym typeface="Arial"/>
            </a:endParaRPr>
          </a:p>
          <a:p>
            <a:pPr marL="457200" marR="0" lvl="0" indent="-317500" algn="l" rtl="0">
              <a:lnSpc>
                <a:spcPct val="115000"/>
              </a:lnSpc>
              <a:spcBef>
                <a:spcPts val="1200"/>
              </a:spcBef>
              <a:spcAft>
                <a:spcPts val="0"/>
              </a:spcAft>
              <a:buClr>
                <a:srgbClr val="2537C6"/>
              </a:buClr>
              <a:buSzPts val="1400"/>
              <a:buFont typeface="Arial"/>
              <a:buChar char="●"/>
            </a:pPr>
            <a:r>
              <a:rPr lang="en" sz="1400" b="0" i="0" u="none" strike="noStrike" cap="none">
                <a:solidFill>
                  <a:srgbClr val="2537C6"/>
                </a:solidFill>
                <a:latin typeface="Arial"/>
                <a:ea typeface="Arial"/>
                <a:cs typeface="Arial"/>
                <a:sym typeface="Arial"/>
              </a:rPr>
              <a:t>Positive (add something good)</a:t>
            </a:r>
            <a:endParaRPr sz="1400" b="0" i="0" u="none" strike="noStrike" cap="none">
              <a:solidFill>
                <a:srgbClr val="2537C6"/>
              </a:solidFill>
              <a:latin typeface="Arial"/>
              <a:ea typeface="Arial"/>
              <a:cs typeface="Arial"/>
              <a:sym typeface="Arial"/>
            </a:endParaRPr>
          </a:p>
          <a:p>
            <a:pPr marL="457200" marR="0" lvl="0" indent="-317500" algn="l" rtl="0">
              <a:lnSpc>
                <a:spcPct val="115000"/>
              </a:lnSpc>
              <a:spcBef>
                <a:spcPts val="0"/>
              </a:spcBef>
              <a:spcAft>
                <a:spcPts val="0"/>
              </a:spcAft>
              <a:buClr>
                <a:srgbClr val="FAA418"/>
              </a:buClr>
              <a:buSzPts val="1400"/>
              <a:buFont typeface="Arial"/>
              <a:buChar char="●"/>
            </a:pPr>
            <a:r>
              <a:rPr lang="en" sz="1400" b="0" i="0" u="none" strike="noStrike" cap="none">
                <a:solidFill>
                  <a:srgbClr val="FAA418"/>
                </a:solidFill>
                <a:latin typeface="Arial"/>
                <a:ea typeface="Arial"/>
                <a:cs typeface="Arial"/>
                <a:sym typeface="Arial"/>
              </a:rPr>
              <a:t>Negative (remove something bad)</a:t>
            </a:r>
            <a:endParaRPr sz="1800" b="1" i="0" u="none" strike="noStrike" cap="none">
              <a:solidFill>
                <a:srgbClr val="FAA418"/>
              </a:solidFill>
              <a:latin typeface="Arial"/>
              <a:ea typeface="Arial"/>
              <a:cs typeface="Arial"/>
              <a:sym typeface="Arial"/>
            </a:endParaRPr>
          </a:p>
          <a:p>
            <a:pPr marL="0" marR="0" lvl="0" indent="0" algn="l" rtl="0">
              <a:lnSpc>
                <a:spcPct val="115000"/>
              </a:lnSpc>
              <a:spcBef>
                <a:spcPts val="2000"/>
              </a:spcBef>
              <a:spcAft>
                <a:spcPts val="0"/>
              </a:spcAft>
              <a:buClr>
                <a:schemeClr val="dk1"/>
              </a:buClr>
              <a:buSzPts val="1100"/>
              <a:buFont typeface="Arial"/>
              <a:buNone/>
            </a:pPr>
            <a:r>
              <a:rPr lang="en" sz="1800" b="1" i="0" u="none" strike="noStrike" cap="none">
                <a:solidFill>
                  <a:schemeClr val="dk2"/>
                </a:solidFill>
                <a:latin typeface="Arial"/>
                <a:ea typeface="Arial"/>
                <a:cs typeface="Arial"/>
                <a:sym typeface="Arial"/>
              </a:rPr>
              <a:t>Refuerzo = </a:t>
            </a:r>
            <a:r>
              <a:rPr lang="en" sz="1800" b="0" i="0" u="none" strike="noStrike" cap="none">
                <a:solidFill>
                  <a:schemeClr val="dk2"/>
                </a:solidFill>
                <a:latin typeface="Arial"/>
                <a:ea typeface="Arial"/>
                <a:cs typeface="Arial"/>
                <a:sym typeface="Arial"/>
              </a:rPr>
              <a:t>aumenta la conducta</a:t>
            </a:r>
            <a:endParaRPr sz="1800" b="0" i="0" u="none" strike="noStrike" cap="none">
              <a:solidFill>
                <a:schemeClr val="dk2"/>
              </a:solidFill>
              <a:latin typeface="Arial"/>
              <a:ea typeface="Arial"/>
              <a:cs typeface="Arial"/>
              <a:sym typeface="Arial"/>
            </a:endParaRPr>
          </a:p>
          <a:p>
            <a:pPr marL="457200" marR="0" lvl="0" indent="-317500" algn="l" rtl="0">
              <a:lnSpc>
                <a:spcPct val="115000"/>
              </a:lnSpc>
              <a:spcBef>
                <a:spcPts val="1200"/>
              </a:spcBef>
              <a:spcAft>
                <a:spcPts val="0"/>
              </a:spcAft>
              <a:buClr>
                <a:srgbClr val="0000FF"/>
              </a:buClr>
              <a:buSzPts val="1400"/>
              <a:buFont typeface="Arial"/>
              <a:buChar char="●"/>
            </a:pPr>
            <a:r>
              <a:rPr lang="en" sz="1400" b="0" i="0" u="none" strike="noStrike" cap="none">
                <a:solidFill>
                  <a:srgbClr val="0000FF"/>
                </a:solidFill>
                <a:latin typeface="Arial"/>
                <a:ea typeface="Arial"/>
                <a:cs typeface="Arial"/>
                <a:sym typeface="Arial"/>
              </a:rPr>
              <a:t>Positivo (añadir algo bueno)</a:t>
            </a:r>
            <a:endParaRPr sz="1400" b="0" i="0" u="none" strike="noStrike" cap="none">
              <a:solidFill>
                <a:srgbClr val="0000FF"/>
              </a:solidFill>
              <a:latin typeface="Arial"/>
              <a:ea typeface="Arial"/>
              <a:cs typeface="Arial"/>
              <a:sym typeface="Arial"/>
            </a:endParaRPr>
          </a:p>
          <a:p>
            <a:pPr marL="457200" marR="0" lvl="0" indent="-317500" algn="l" rtl="0">
              <a:lnSpc>
                <a:spcPct val="115000"/>
              </a:lnSpc>
              <a:spcBef>
                <a:spcPts val="0"/>
              </a:spcBef>
              <a:spcAft>
                <a:spcPts val="0"/>
              </a:spcAft>
              <a:buClr>
                <a:srgbClr val="FAA418"/>
              </a:buClr>
              <a:buSzPts val="1400"/>
              <a:buFont typeface="Arial"/>
              <a:buChar char="●"/>
            </a:pPr>
            <a:r>
              <a:rPr lang="en" sz="1400" b="0" i="0" u="none" strike="noStrike" cap="none">
                <a:solidFill>
                  <a:srgbClr val="FAA418"/>
                </a:solidFill>
                <a:latin typeface="Arial"/>
                <a:ea typeface="Arial"/>
                <a:cs typeface="Arial"/>
                <a:sym typeface="Arial"/>
              </a:rPr>
              <a:t>Negativo (</a:t>
            </a:r>
            <a:r>
              <a:rPr lang="en">
                <a:solidFill>
                  <a:srgbClr val="FAA418"/>
                </a:solidFill>
              </a:rPr>
              <a:t>quitar</a:t>
            </a:r>
            <a:r>
              <a:rPr lang="en" sz="1400" b="0" i="0" u="none" strike="noStrike" cap="none">
                <a:solidFill>
                  <a:srgbClr val="FAA418"/>
                </a:solidFill>
                <a:latin typeface="Arial"/>
                <a:ea typeface="Arial"/>
                <a:cs typeface="Arial"/>
                <a:sym typeface="Arial"/>
              </a:rPr>
              <a:t> algo malo)</a:t>
            </a:r>
            <a:endParaRPr sz="1400" b="0" i="0" u="none" strike="noStrike" cap="none">
              <a:solidFill>
                <a:srgbClr val="FAA418"/>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800"/>
              <a:buFont typeface="Arial"/>
              <a:buNone/>
            </a:pPr>
            <a:endParaRPr sz="1800" b="1" i="0" u="none" strike="noStrike" cap="none">
              <a:solidFill>
                <a:srgbClr val="0000FF"/>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pic>
        <p:nvPicPr>
          <p:cNvPr id="570" name="Google Shape;570;p15" title="Screenshot 2026-02-09 at 4.05.22 PM.png"/>
          <p:cNvPicPr preferRelativeResize="0"/>
          <p:nvPr/>
        </p:nvPicPr>
        <p:blipFill rotWithShape="1">
          <a:blip r:embed="rId4">
            <a:alphaModFix/>
          </a:blip>
          <a:srcRect/>
          <a:stretch/>
        </p:blipFill>
        <p:spPr>
          <a:xfrm>
            <a:off x="6105450" y="3741650"/>
            <a:ext cx="588025" cy="210725"/>
          </a:xfrm>
          <a:prstGeom prst="rect">
            <a:avLst/>
          </a:prstGeom>
          <a:noFill/>
          <a:ln>
            <a:noFill/>
          </a:ln>
        </p:spPr>
      </p:pic>
      <p:sp>
        <p:nvSpPr>
          <p:cNvPr id="571" name="Google Shape;571;p15"/>
          <p:cNvSpPr txBox="1"/>
          <p:nvPr/>
        </p:nvSpPr>
        <p:spPr>
          <a:xfrm>
            <a:off x="6604600" y="367350"/>
            <a:ext cx="2359500" cy="1164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1676BB"/>
                </a:solidFill>
                <a:latin typeface="Arial"/>
                <a:ea typeface="Arial"/>
                <a:cs typeface="Arial"/>
                <a:sym typeface="Arial"/>
              </a:rPr>
              <a:t>Refuerzo positivo</a:t>
            </a:r>
            <a:endParaRPr sz="1300" b="1" i="0" u="none" strike="noStrike" cap="none">
              <a:solidFill>
                <a:srgbClr val="1676BB"/>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600" b="1" i="0" u="none" strike="noStrike" cap="none">
              <a:solidFill>
                <a:srgbClr val="1676BB"/>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1676BB"/>
                </a:solidFill>
                <a:latin typeface="Arial"/>
                <a:ea typeface="Arial"/>
                <a:cs typeface="Arial"/>
                <a:sym typeface="Arial"/>
              </a:rPr>
              <a:t>presentar algo agradable</a:t>
            </a:r>
            <a:endParaRPr sz="1300" b="0" i="0" u="none" strike="noStrike" cap="none">
              <a:solidFill>
                <a:srgbClr val="1676BB"/>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600">
              <a:solidFill>
                <a:srgbClr val="1676BB"/>
              </a:solidFill>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1676BB"/>
                </a:solidFill>
                <a:latin typeface="Arial"/>
                <a:ea typeface="Arial"/>
                <a:cs typeface="Arial"/>
                <a:sym typeface="Arial"/>
              </a:rPr>
              <a:t>dar un</a:t>
            </a:r>
            <a:r>
              <a:rPr lang="en" sz="1300">
                <a:solidFill>
                  <a:srgbClr val="1676BB"/>
                </a:solidFill>
              </a:rPr>
              <a:t> premio</a:t>
            </a:r>
            <a:r>
              <a:rPr lang="en" sz="1300" b="0" i="0" u="none" strike="noStrike" cap="none">
                <a:solidFill>
                  <a:srgbClr val="1676BB"/>
                </a:solidFill>
                <a:latin typeface="Arial"/>
                <a:ea typeface="Arial"/>
                <a:cs typeface="Arial"/>
                <a:sym typeface="Arial"/>
              </a:rPr>
              <a:t> </a:t>
            </a:r>
            <a:endParaRPr sz="1300" b="0" i="0" u="none" strike="noStrike" cap="none">
              <a:solidFill>
                <a:srgbClr val="1676BB"/>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1676BB"/>
                </a:solidFill>
                <a:latin typeface="Arial"/>
                <a:ea typeface="Arial"/>
                <a:cs typeface="Arial"/>
                <a:sym typeface="Arial"/>
              </a:rPr>
              <a:t>después de "sentarse"</a:t>
            </a:r>
            <a:endParaRPr sz="1300" b="0" i="0" u="none" strike="noStrike" cap="none">
              <a:solidFill>
                <a:srgbClr val="1676BB"/>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1676BB"/>
              </a:solidFill>
              <a:latin typeface="Arial"/>
              <a:ea typeface="Arial"/>
              <a:cs typeface="Arial"/>
              <a:sym typeface="Arial"/>
            </a:endParaRPr>
          </a:p>
        </p:txBody>
      </p:sp>
      <p:sp>
        <p:nvSpPr>
          <p:cNvPr id="572" name="Google Shape;572;p15"/>
          <p:cNvSpPr txBox="1"/>
          <p:nvPr/>
        </p:nvSpPr>
        <p:spPr>
          <a:xfrm>
            <a:off x="6604600" y="2083075"/>
            <a:ext cx="2329800" cy="1164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FAA418"/>
                </a:solidFill>
                <a:latin typeface="Arial"/>
                <a:ea typeface="Arial"/>
                <a:cs typeface="Arial"/>
                <a:sym typeface="Arial"/>
              </a:rPr>
              <a:t>Refuerzo negativo</a:t>
            </a:r>
            <a:endParaRPr sz="1300" b="1" i="0" u="none" strike="noStrike" cap="none">
              <a:solidFill>
                <a:srgbClr val="FAA418"/>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600" b="1" i="0" u="none" strike="noStrike" cap="none">
              <a:solidFill>
                <a:srgbClr val="FAA418"/>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 sz="1300">
                <a:solidFill>
                  <a:srgbClr val="FAA418"/>
                </a:solidFill>
              </a:rPr>
              <a:t>quitar</a:t>
            </a:r>
            <a:r>
              <a:rPr lang="en" sz="1300" b="0" i="0" u="none" strike="noStrike" cap="none">
                <a:solidFill>
                  <a:srgbClr val="FAA418"/>
                </a:solidFill>
                <a:latin typeface="Arial"/>
                <a:ea typeface="Arial"/>
                <a:cs typeface="Arial"/>
                <a:sym typeface="Arial"/>
              </a:rPr>
              <a:t> algo desagradable</a:t>
            </a:r>
            <a:endParaRPr sz="1300" b="0" i="0" u="none" strike="noStrike" cap="none">
              <a:solidFill>
                <a:srgbClr val="FAA418"/>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600" b="0" i="0" u="none" strike="noStrike" cap="none">
              <a:solidFill>
                <a:srgbClr val="FAA418"/>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FAA418"/>
                </a:solidFill>
                <a:latin typeface="Arial"/>
                <a:ea typeface="Arial"/>
                <a:cs typeface="Arial"/>
                <a:sym typeface="Arial"/>
              </a:rPr>
              <a:t>aflojar la correa durante un paseo</a:t>
            </a:r>
            <a:endParaRPr sz="1300" b="0" i="0" u="none" strike="noStrike" cap="none">
              <a:solidFill>
                <a:srgbClr val="FAA418"/>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FAA418"/>
              </a:solidFill>
              <a:latin typeface="Arial"/>
              <a:ea typeface="Arial"/>
              <a:cs typeface="Arial"/>
              <a:sym typeface="Arial"/>
            </a:endParaRPr>
          </a:p>
        </p:txBody>
      </p:sp>
      <p:sp>
        <p:nvSpPr>
          <p:cNvPr id="573" name="Google Shape;573;p15"/>
          <p:cNvSpPr txBox="1"/>
          <p:nvPr/>
        </p:nvSpPr>
        <p:spPr>
          <a:xfrm>
            <a:off x="6604600" y="3952375"/>
            <a:ext cx="2448300" cy="1062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a:solidFill>
                  <a:srgbClr val="515151"/>
                </a:solidFill>
              </a:rPr>
              <a:t>Fomentar la conducta</a:t>
            </a:r>
            <a:endParaRPr sz="1200" b="1" i="0" u="none" strike="noStrike" cap="none">
              <a:solidFill>
                <a:srgbClr val="51515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600" b="1" i="0" u="none" strike="noStrike" cap="none">
              <a:solidFill>
                <a:srgbClr val="51515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515151"/>
                </a:solidFill>
                <a:latin typeface="Arial"/>
                <a:ea typeface="Arial"/>
                <a:cs typeface="Arial"/>
                <a:sym typeface="Arial"/>
              </a:rPr>
              <a:t>Las consecuencias agradables aumentan la probabilidad de que se repita el comportamiento.</a:t>
            </a:r>
            <a:endParaRPr sz="1200" b="0" i="0" u="none" strike="noStrike" cap="none">
              <a:solidFill>
                <a:srgbClr val="51515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16"/>
          <p:cNvSpPr txBox="1">
            <a:spLocks noGrp="1"/>
          </p:cNvSpPr>
          <p:nvPr>
            <p:ph type="title"/>
          </p:nvPr>
        </p:nvSpPr>
        <p:spPr>
          <a:xfrm>
            <a:off x="1303800" y="598575"/>
            <a:ext cx="29709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Operant Conditioning</a:t>
            </a:r>
            <a:endParaRPr/>
          </a:p>
          <a:p>
            <a:pPr marL="0" lvl="0" indent="0" algn="l" rtl="0">
              <a:lnSpc>
                <a:spcPct val="100000"/>
              </a:lnSpc>
              <a:spcBef>
                <a:spcPts val="0"/>
              </a:spcBef>
              <a:spcAft>
                <a:spcPts val="0"/>
              </a:spcAft>
              <a:buClr>
                <a:schemeClr val="dk1"/>
              </a:buClr>
              <a:buSzPct val="51163"/>
              <a:buFont typeface="Arial"/>
              <a:buNone/>
            </a:pPr>
            <a:r>
              <a:rPr lang="en" sz="2150">
                <a:solidFill>
                  <a:srgbClr val="0000FF"/>
                </a:solidFill>
              </a:rPr>
              <a:t>El condicionamiento operante</a:t>
            </a:r>
            <a:endParaRPr sz="2150">
              <a:solidFill>
                <a:srgbClr val="0000FF"/>
              </a:solidFill>
            </a:endParaRPr>
          </a:p>
          <a:p>
            <a:pPr marL="0" lvl="0" indent="0" algn="l" rtl="0">
              <a:lnSpc>
                <a:spcPct val="100000"/>
              </a:lnSpc>
              <a:spcBef>
                <a:spcPts val="0"/>
              </a:spcBef>
              <a:spcAft>
                <a:spcPts val="0"/>
              </a:spcAft>
              <a:buSzPct val="111111"/>
              <a:buNone/>
            </a:pPr>
            <a:endParaRPr/>
          </a:p>
        </p:txBody>
      </p:sp>
      <p:sp>
        <p:nvSpPr>
          <p:cNvPr id="579" name="Google Shape;579;p16"/>
          <p:cNvSpPr txBox="1"/>
          <p:nvPr/>
        </p:nvSpPr>
        <p:spPr>
          <a:xfrm>
            <a:off x="311700" y="2161350"/>
            <a:ext cx="3594000" cy="30075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1800" b="1" i="0" u="none" strike="noStrike" cap="none">
                <a:solidFill>
                  <a:schemeClr val="dk2"/>
                </a:solidFill>
                <a:latin typeface="Arial"/>
                <a:ea typeface="Arial"/>
                <a:cs typeface="Arial"/>
                <a:sym typeface="Arial"/>
              </a:rPr>
              <a:t>Punishment</a:t>
            </a:r>
            <a:r>
              <a:rPr lang="en" sz="1800" b="0" i="0" u="none" strike="noStrike" cap="none">
                <a:solidFill>
                  <a:schemeClr val="dk2"/>
                </a:solidFill>
                <a:latin typeface="Arial"/>
                <a:ea typeface="Arial"/>
                <a:cs typeface="Arial"/>
                <a:sym typeface="Arial"/>
              </a:rPr>
              <a:t> = decreases behavior</a:t>
            </a:r>
            <a:endParaRPr sz="1800" b="0" i="0" u="none" strike="noStrike" cap="none">
              <a:solidFill>
                <a:schemeClr val="dk2"/>
              </a:solidFill>
              <a:latin typeface="Arial"/>
              <a:ea typeface="Arial"/>
              <a:cs typeface="Arial"/>
              <a:sym typeface="Arial"/>
            </a:endParaRPr>
          </a:p>
          <a:p>
            <a:pPr marL="457200" marR="0" lvl="0" indent="-317500" algn="l" rtl="0">
              <a:lnSpc>
                <a:spcPct val="115000"/>
              </a:lnSpc>
              <a:spcBef>
                <a:spcPts val="1200"/>
              </a:spcBef>
              <a:spcAft>
                <a:spcPts val="0"/>
              </a:spcAft>
              <a:buClr>
                <a:srgbClr val="BF3940"/>
              </a:buClr>
              <a:buSzPts val="1400"/>
              <a:buFont typeface="Arial"/>
              <a:buChar char="●"/>
            </a:pPr>
            <a:r>
              <a:rPr lang="en" sz="1400" b="0" i="0" u="none" strike="noStrike" cap="none">
                <a:solidFill>
                  <a:srgbClr val="BF3940"/>
                </a:solidFill>
                <a:latin typeface="Arial"/>
                <a:ea typeface="Arial"/>
                <a:cs typeface="Arial"/>
                <a:sym typeface="Arial"/>
              </a:rPr>
              <a:t>Positive (add something unpleasant)</a:t>
            </a:r>
            <a:endParaRPr sz="1400" b="0" i="0" u="none" strike="noStrike" cap="none">
              <a:solidFill>
                <a:srgbClr val="BF3940"/>
              </a:solidFill>
              <a:latin typeface="Arial"/>
              <a:ea typeface="Arial"/>
              <a:cs typeface="Arial"/>
              <a:sym typeface="Arial"/>
            </a:endParaRPr>
          </a:p>
          <a:p>
            <a:pPr marL="457200" marR="0" lvl="0" indent="-317500" algn="l" rtl="0">
              <a:lnSpc>
                <a:spcPct val="115000"/>
              </a:lnSpc>
              <a:spcBef>
                <a:spcPts val="0"/>
              </a:spcBef>
              <a:spcAft>
                <a:spcPts val="0"/>
              </a:spcAft>
              <a:buClr>
                <a:srgbClr val="1676BB"/>
              </a:buClr>
              <a:buSzPts val="1400"/>
              <a:buFont typeface="Arial"/>
              <a:buChar char="●"/>
            </a:pPr>
            <a:r>
              <a:rPr lang="en" sz="1400" b="0" i="0" u="none" strike="noStrike" cap="none">
                <a:solidFill>
                  <a:srgbClr val="1676BB"/>
                </a:solidFill>
                <a:latin typeface="Arial"/>
                <a:ea typeface="Arial"/>
                <a:cs typeface="Arial"/>
                <a:sym typeface="Arial"/>
              </a:rPr>
              <a:t>Negative (take away something valued)</a:t>
            </a:r>
            <a:endParaRPr sz="1400" b="0" i="0" u="none" strike="noStrike" cap="none">
              <a:solidFill>
                <a:srgbClr val="1676BB"/>
              </a:solidFill>
              <a:latin typeface="Arial"/>
              <a:ea typeface="Arial"/>
              <a:cs typeface="Arial"/>
              <a:sym typeface="Arial"/>
            </a:endParaRPr>
          </a:p>
          <a:p>
            <a:pPr marL="0" marR="0" lvl="0" indent="0" algn="l" rtl="0">
              <a:lnSpc>
                <a:spcPct val="115000"/>
              </a:lnSpc>
              <a:spcBef>
                <a:spcPts val="2000"/>
              </a:spcBef>
              <a:spcAft>
                <a:spcPts val="0"/>
              </a:spcAft>
              <a:buClr>
                <a:schemeClr val="dk1"/>
              </a:buClr>
              <a:buSzPts val="1100"/>
              <a:buFont typeface="Arial"/>
              <a:buNone/>
            </a:pPr>
            <a:r>
              <a:rPr lang="en" sz="1800" b="1" i="0" u="none" strike="noStrike" cap="none">
                <a:solidFill>
                  <a:schemeClr val="dk2"/>
                </a:solidFill>
                <a:latin typeface="Arial"/>
                <a:ea typeface="Arial"/>
                <a:cs typeface="Arial"/>
                <a:sym typeface="Arial"/>
              </a:rPr>
              <a:t>Castigo</a:t>
            </a:r>
            <a:r>
              <a:rPr lang="en" sz="1800" b="0" i="0" u="none" strike="noStrike" cap="none">
                <a:solidFill>
                  <a:schemeClr val="dk2"/>
                </a:solidFill>
                <a:latin typeface="Arial"/>
                <a:ea typeface="Arial"/>
                <a:cs typeface="Arial"/>
                <a:sym typeface="Arial"/>
              </a:rPr>
              <a:t> = disminuye la conducta</a:t>
            </a:r>
            <a:endParaRPr sz="1800" b="0" i="0" u="none" strike="noStrike" cap="none">
              <a:solidFill>
                <a:schemeClr val="dk2"/>
              </a:solidFill>
              <a:latin typeface="Arial"/>
              <a:ea typeface="Arial"/>
              <a:cs typeface="Arial"/>
              <a:sym typeface="Arial"/>
            </a:endParaRPr>
          </a:p>
          <a:p>
            <a:pPr marL="457200" marR="0" lvl="0" indent="-317500" algn="l" rtl="0">
              <a:lnSpc>
                <a:spcPct val="115000"/>
              </a:lnSpc>
              <a:spcBef>
                <a:spcPts val="1200"/>
              </a:spcBef>
              <a:spcAft>
                <a:spcPts val="0"/>
              </a:spcAft>
              <a:buClr>
                <a:srgbClr val="BF3940"/>
              </a:buClr>
              <a:buSzPts val="1400"/>
              <a:buFont typeface="Arial"/>
              <a:buChar char="●"/>
            </a:pPr>
            <a:r>
              <a:rPr lang="en" sz="1400" b="0" i="0" u="none" strike="noStrike" cap="none">
                <a:solidFill>
                  <a:srgbClr val="BF3940"/>
                </a:solidFill>
                <a:latin typeface="Arial"/>
                <a:ea typeface="Arial"/>
                <a:cs typeface="Arial"/>
                <a:sym typeface="Arial"/>
              </a:rPr>
              <a:t>Positivo (añadir algo desagradable)</a:t>
            </a:r>
            <a:endParaRPr sz="1400" b="0" i="0" u="none" strike="noStrike" cap="none">
              <a:solidFill>
                <a:srgbClr val="BF3940"/>
              </a:solidFill>
              <a:latin typeface="Arial"/>
              <a:ea typeface="Arial"/>
              <a:cs typeface="Arial"/>
              <a:sym typeface="Arial"/>
            </a:endParaRPr>
          </a:p>
          <a:p>
            <a:pPr marL="457200" marR="0" lvl="0" indent="-317500" algn="l" rtl="0">
              <a:lnSpc>
                <a:spcPct val="115000"/>
              </a:lnSpc>
              <a:spcBef>
                <a:spcPts val="0"/>
              </a:spcBef>
              <a:spcAft>
                <a:spcPts val="0"/>
              </a:spcAft>
              <a:buClr>
                <a:srgbClr val="1676BB"/>
              </a:buClr>
              <a:buSzPts val="1400"/>
              <a:buFont typeface="Arial"/>
              <a:buChar char="●"/>
            </a:pPr>
            <a:r>
              <a:rPr lang="en" sz="1400" b="0" i="0" u="none" strike="noStrike" cap="none">
                <a:solidFill>
                  <a:srgbClr val="1676BB"/>
                </a:solidFill>
                <a:latin typeface="Arial"/>
                <a:ea typeface="Arial"/>
                <a:cs typeface="Arial"/>
                <a:sym typeface="Arial"/>
              </a:rPr>
              <a:t>Negativo (quitar algo valioso)</a:t>
            </a:r>
            <a:endParaRPr sz="1400" b="0" i="0" u="none" strike="noStrike" cap="none">
              <a:solidFill>
                <a:srgbClr val="1676BB"/>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pic>
        <p:nvPicPr>
          <p:cNvPr id="580" name="Google Shape;580;p16" title="Screenshot 2026-02-09 at 4.05.22 PM.png"/>
          <p:cNvPicPr preferRelativeResize="0"/>
          <p:nvPr/>
        </p:nvPicPr>
        <p:blipFill rotWithShape="1">
          <a:blip r:embed="rId3">
            <a:alphaModFix/>
          </a:blip>
          <a:srcRect/>
          <a:stretch/>
        </p:blipFill>
        <p:spPr>
          <a:xfrm>
            <a:off x="6253550" y="3741650"/>
            <a:ext cx="588025" cy="210725"/>
          </a:xfrm>
          <a:prstGeom prst="rect">
            <a:avLst/>
          </a:prstGeom>
          <a:noFill/>
          <a:ln>
            <a:noFill/>
          </a:ln>
        </p:spPr>
      </p:pic>
      <p:sp>
        <p:nvSpPr>
          <p:cNvPr id="581" name="Google Shape;581;p16"/>
          <p:cNvSpPr txBox="1"/>
          <p:nvPr/>
        </p:nvSpPr>
        <p:spPr>
          <a:xfrm>
            <a:off x="6553600" y="450575"/>
            <a:ext cx="2604300" cy="108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BF3940"/>
                </a:solidFill>
                <a:latin typeface="Arial"/>
                <a:ea typeface="Arial"/>
                <a:cs typeface="Arial"/>
                <a:sym typeface="Arial"/>
              </a:rPr>
              <a:t>Castigo positivo</a:t>
            </a:r>
            <a:endParaRPr sz="1300" b="1" i="0" u="none" strike="noStrike" cap="none">
              <a:solidFill>
                <a:srgbClr val="BF394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600" b="1" i="0" u="none" strike="noStrike" cap="none">
              <a:solidFill>
                <a:srgbClr val="BF394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BF3940"/>
                </a:solidFill>
                <a:latin typeface="Arial"/>
                <a:ea typeface="Arial"/>
                <a:cs typeface="Arial"/>
                <a:sym typeface="Arial"/>
              </a:rPr>
              <a:t>presentar algo desagradable</a:t>
            </a:r>
            <a:endParaRPr sz="1300" b="0" i="0" u="none" strike="noStrike" cap="none">
              <a:solidFill>
                <a:srgbClr val="BF394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600" b="0" i="0" u="none" strike="noStrike" cap="none">
              <a:solidFill>
                <a:srgbClr val="BF3940"/>
              </a:solidFill>
              <a:latin typeface="Arial"/>
              <a:ea typeface="Arial"/>
              <a:cs typeface="Arial"/>
              <a:sym typeface="Arial"/>
            </a:endParaRPr>
          </a:p>
          <a:p>
            <a:pPr marL="0" marR="495300" lvl="0" indent="0" algn="l" rtl="0">
              <a:lnSpc>
                <a:spcPct val="155555"/>
              </a:lnSpc>
              <a:spcBef>
                <a:spcPts val="0"/>
              </a:spcBef>
              <a:spcAft>
                <a:spcPts val="0"/>
              </a:spcAft>
              <a:buClr>
                <a:srgbClr val="000000"/>
              </a:buClr>
              <a:buSzPts val="1300"/>
              <a:buFont typeface="Arial"/>
              <a:buNone/>
            </a:pPr>
            <a:r>
              <a:rPr lang="en" sz="1300" b="0" i="0" u="none" strike="noStrike" cap="none">
                <a:solidFill>
                  <a:srgbClr val="BF3940"/>
                </a:solidFill>
                <a:latin typeface="Arial"/>
                <a:ea typeface="Arial"/>
                <a:cs typeface="Arial"/>
                <a:sym typeface="Arial"/>
              </a:rPr>
              <a:t>decir "NO" con voz grave</a:t>
            </a:r>
            <a:endParaRPr sz="1300" b="0" i="0" u="none" strike="noStrike" cap="none">
              <a:solidFill>
                <a:srgbClr val="BF3940"/>
              </a:solidFill>
              <a:latin typeface="Arial"/>
              <a:ea typeface="Arial"/>
              <a:cs typeface="Arial"/>
              <a:sym typeface="Arial"/>
            </a:endParaRPr>
          </a:p>
        </p:txBody>
      </p:sp>
      <p:sp>
        <p:nvSpPr>
          <p:cNvPr id="582" name="Google Shape;582;p16"/>
          <p:cNvSpPr txBox="1"/>
          <p:nvPr/>
        </p:nvSpPr>
        <p:spPr>
          <a:xfrm>
            <a:off x="6553600" y="2072650"/>
            <a:ext cx="2250600" cy="1448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34C0C5"/>
                </a:solidFill>
                <a:latin typeface="Arial"/>
                <a:ea typeface="Arial"/>
                <a:cs typeface="Arial"/>
                <a:sym typeface="Arial"/>
              </a:rPr>
              <a:t>Castigo negativo</a:t>
            </a:r>
            <a:endParaRPr sz="1300" b="1" i="0" u="none" strike="noStrike" cap="none">
              <a:solidFill>
                <a:srgbClr val="34C0C5"/>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600" b="1" i="0" u="none" strike="noStrike" cap="none">
              <a:solidFill>
                <a:srgbClr val="34C0C5"/>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34C0C5"/>
                </a:solidFill>
                <a:latin typeface="Arial"/>
                <a:ea typeface="Arial"/>
                <a:cs typeface="Arial"/>
                <a:sym typeface="Arial"/>
              </a:rPr>
              <a:t>eliminar algo </a:t>
            </a:r>
            <a:r>
              <a:rPr lang="en" sz="1300">
                <a:solidFill>
                  <a:srgbClr val="34C0C5"/>
                </a:solidFill>
              </a:rPr>
              <a:t>agradable</a:t>
            </a:r>
            <a:endParaRPr sz="1300" b="0" i="0" u="none" strike="noStrike" cap="none">
              <a:solidFill>
                <a:srgbClr val="34C0C5"/>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600" b="0" i="0" u="none" strike="noStrike" cap="none">
              <a:solidFill>
                <a:srgbClr val="34C0C5"/>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34C0C5"/>
                </a:solidFill>
                <a:latin typeface="Arial"/>
                <a:ea typeface="Arial"/>
                <a:cs typeface="Arial"/>
                <a:sym typeface="Arial"/>
              </a:rPr>
              <a:t>no ofrecer </a:t>
            </a:r>
            <a:r>
              <a:rPr lang="en" sz="1300">
                <a:solidFill>
                  <a:srgbClr val="34C0C5"/>
                </a:solidFill>
              </a:rPr>
              <a:t>un premio</a:t>
            </a:r>
            <a:r>
              <a:rPr lang="en" sz="1300" b="0" i="0" u="none" strike="noStrike" cap="none">
                <a:solidFill>
                  <a:srgbClr val="34C0C5"/>
                </a:solidFill>
                <a:latin typeface="Arial"/>
                <a:ea typeface="Arial"/>
                <a:cs typeface="Arial"/>
                <a:sym typeface="Arial"/>
              </a:rPr>
              <a:t> cuando tu perro no obedece una orden</a:t>
            </a:r>
            <a:endParaRPr sz="1300" b="0" i="0" u="none" strike="noStrike" cap="none">
              <a:solidFill>
                <a:srgbClr val="34C0C5"/>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34C0C5"/>
              </a:solidFill>
              <a:latin typeface="Arial"/>
              <a:ea typeface="Arial"/>
              <a:cs typeface="Arial"/>
              <a:sym typeface="Arial"/>
            </a:endParaRPr>
          </a:p>
        </p:txBody>
      </p:sp>
      <p:sp>
        <p:nvSpPr>
          <p:cNvPr id="583" name="Google Shape;583;p16"/>
          <p:cNvSpPr txBox="1"/>
          <p:nvPr/>
        </p:nvSpPr>
        <p:spPr>
          <a:xfrm>
            <a:off x="6553600" y="3826425"/>
            <a:ext cx="2582700" cy="122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515151"/>
                </a:solidFill>
                <a:latin typeface="Arial"/>
                <a:ea typeface="Arial"/>
                <a:cs typeface="Arial"/>
                <a:sym typeface="Arial"/>
              </a:rPr>
              <a:t>Desalentar </a:t>
            </a:r>
            <a:r>
              <a:rPr lang="en" sz="1300" b="1">
                <a:solidFill>
                  <a:srgbClr val="515151"/>
                </a:solidFill>
              </a:rPr>
              <a:t>la conducta</a:t>
            </a:r>
            <a:endParaRPr sz="1300" b="1" i="0" u="none" strike="noStrike" cap="none">
              <a:solidFill>
                <a:srgbClr val="51515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600" b="1" i="0" u="none" strike="noStrike" cap="none">
              <a:solidFill>
                <a:srgbClr val="51515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515151"/>
                </a:solidFill>
                <a:latin typeface="Arial"/>
                <a:ea typeface="Arial"/>
                <a:cs typeface="Arial"/>
                <a:sym typeface="Arial"/>
              </a:rPr>
              <a:t>Las consecuencias desagradables disminuyen la probabilidad de repetir el comportamiento</a:t>
            </a:r>
            <a:endParaRPr sz="1300" b="0" i="0" u="none" strike="noStrike" cap="none">
              <a:solidFill>
                <a:srgbClr val="51515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515151"/>
              </a:solidFill>
              <a:latin typeface="Arial"/>
              <a:ea typeface="Arial"/>
              <a:cs typeface="Arial"/>
              <a:sym typeface="Arial"/>
            </a:endParaRPr>
          </a:p>
        </p:txBody>
      </p:sp>
      <p:grpSp>
        <p:nvGrpSpPr>
          <p:cNvPr id="584" name="Google Shape;584;p16"/>
          <p:cNvGrpSpPr/>
          <p:nvPr/>
        </p:nvGrpSpPr>
        <p:grpSpPr>
          <a:xfrm>
            <a:off x="3970850" y="0"/>
            <a:ext cx="2582754" cy="5143499"/>
            <a:chOff x="3970850" y="0"/>
            <a:chExt cx="2582754" cy="5143499"/>
          </a:xfrm>
        </p:grpSpPr>
        <p:pic>
          <p:nvPicPr>
            <p:cNvPr id="585" name="Google Shape;585;p16"/>
            <p:cNvPicPr preferRelativeResize="0"/>
            <p:nvPr/>
          </p:nvPicPr>
          <p:blipFill rotWithShape="1">
            <a:blip r:embed="rId4">
              <a:alphaModFix/>
            </a:blip>
            <a:srcRect l="49787"/>
            <a:stretch/>
          </p:blipFill>
          <p:spPr>
            <a:xfrm>
              <a:off x="3970852" y="0"/>
              <a:ext cx="2582752" cy="5143499"/>
            </a:xfrm>
            <a:prstGeom prst="rect">
              <a:avLst/>
            </a:prstGeom>
            <a:noFill/>
            <a:ln>
              <a:noFill/>
            </a:ln>
          </p:spPr>
        </p:pic>
        <p:pic>
          <p:nvPicPr>
            <p:cNvPr id="586" name="Google Shape;586;p16" title="Screenshot 2026-02-09 at 4.05.22 PM.png"/>
            <p:cNvPicPr preferRelativeResize="0"/>
            <p:nvPr/>
          </p:nvPicPr>
          <p:blipFill rotWithShape="1">
            <a:blip r:embed="rId3">
              <a:alphaModFix/>
            </a:blip>
            <a:srcRect/>
            <a:stretch/>
          </p:blipFill>
          <p:spPr>
            <a:xfrm>
              <a:off x="3970850" y="3741650"/>
              <a:ext cx="588025" cy="210725"/>
            </a:xfrm>
            <a:prstGeom prst="rect">
              <a:avLst/>
            </a:prstGeom>
            <a:noFill/>
            <a:ln>
              <a:noFill/>
            </a:ln>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g3f6c98727f8_0_10"/>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Live Example of Positive Reinforcement </a:t>
            </a:r>
            <a:endParaRPr/>
          </a:p>
        </p:txBody>
      </p:sp>
      <p:sp>
        <p:nvSpPr>
          <p:cNvPr id="592" name="Google Shape;592;g3f6c98727f8_0_10"/>
          <p:cNvSpPr txBox="1">
            <a:spLocks noGrp="1"/>
          </p:cNvSpPr>
          <p:nvPr>
            <p:ph type="body" idx="1"/>
          </p:nvPr>
        </p:nvSpPr>
        <p:spPr>
          <a:xfrm>
            <a:off x="1303800" y="1383750"/>
            <a:ext cx="7030500" cy="3147900"/>
          </a:xfrm>
          <a:prstGeom prst="rect">
            <a:avLst/>
          </a:prstGeom>
        </p:spPr>
        <p:txBody>
          <a:bodyPr spcFirstLastPara="1" wrap="square" lIns="91425" tIns="91425" rIns="91425" bIns="91425" anchor="t" anchorCtr="0">
            <a:normAutofit/>
          </a:bodyPr>
          <a:lstStyle/>
          <a:p>
            <a:pPr marL="457200" lvl="0" indent="-311150" algn="l" rtl="0">
              <a:lnSpc>
                <a:spcPct val="150000"/>
              </a:lnSpc>
              <a:spcBef>
                <a:spcPts val="0"/>
              </a:spcBef>
              <a:spcAft>
                <a:spcPts val="0"/>
              </a:spcAft>
              <a:buSzPts val="1300"/>
              <a:buAutoNum type="arabicPeriod"/>
            </a:pPr>
            <a:r>
              <a:rPr lang="en"/>
              <a:t>1 instructor exits the classroom</a:t>
            </a:r>
            <a:endParaRPr/>
          </a:p>
          <a:p>
            <a:pPr marL="457200" lvl="0" indent="-311150" algn="l" rtl="0">
              <a:lnSpc>
                <a:spcPct val="150000"/>
              </a:lnSpc>
              <a:spcBef>
                <a:spcPts val="0"/>
              </a:spcBef>
              <a:spcAft>
                <a:spcPts val="0"/>
              </a:spcAft>
              <a:buSzPts val="1300"/>
              <a:buAutoNum type="arabicPeriod"/>
            </a:pPr>
            <a:r>
              <a:rPr lang="en"/>
              <a:t>Everyone else agrees on an object in the classroom that the instructor must touch</a:t>
            </a:r>
            <a:endParaRPr/>
          </a:p>
          <a:p>
            <a:pPr marL="457200" lvl="0" indent="-311150" algn="l" rtl="0">
              <a:lnSpc>
                <a:spcPct val="150000"/>
              </a:lnSpc>
              <a:spcBef>
                <a:spcPts val="0"/>
              </a:spcBef>
              <a:spcAft>
                <a:spcPts val="0"/>
              </a:spcAft>
              <a:buSzPts val="1300"/>
              <a:buAutoNum type="arabicPeriod"/>
            </a:pPr>
            <a:r>
              <a:rPr lang="en"/>
              <a:t>To help the instructor find the right object, clap and cheer as they get closer. Stop making noise if the instructor moves away from the object.</a:t>
            </a:r>
            <a:endParaRPr/>
          </a:p>
          <a:p>
            <a:pPr marL="0" lvl="0" indent="0" algn="l" rtl="0">
              <a:lnSpc>
                <a:spcPct val="150000"/>
              </a:lnSpc>
              <a:spcBef>
                <a:spcPts val="0"/>
              </a:spcBef>
              <a:spcAft>
                <a:spcPts val="0"/>
              </a:spcAft>
              <a:buNone/>
            </a:pPr>
            <a:endParaRPr>
              <a:solidFill>
                <a:srgbClr val="0000FF"/>
              </a:solidFill>
            </a:endParaRPr>
          </a:p>
          <a:p>
            <a:pPr marL="457200" lvl="0" indent="-311150" algn="l" rtl="0">
              <a:lnSpc>
                <a:spcPct val="150000"/>
              </a:lnSpc>
              <a:spcBef>
                <a:spcPts val="0"/>
              </a:spcBef>
              <a:spcAft>
                <a:spcPts val="0"/>
              </a:spcAft>
              <a:buClr>
                <a:srgbClr val="0000FF"/>
              </a:buClr>
              <a:buSzPts val="1300"/>
              <a:buAutoNum type="arabicPeriod"/>
            </a:pPr>
            <a:r>
              <a:rPr lang="en">
                <a:solidFill>
                  <a:srgbClr val="0000FF"/>
                </a:solidFill>
              </a:rPr>
              <a:t>Un instructor sale del aula.</a:t>
            </a:r>
            <a:endParaRPr>
              <a:solidFill>
                <a:srgbClr val="0000FF"/>
              </a:solidFill>
            </a:endParaRPr>
          </a:p>
          <a:p>
            <a:pPr marL="457200" lvl="0" indent="-311150" algn="l" rtl="0">
              <a:lnSpc>
                <a:spcPct val="150000"/>
              </a:lnSpc>
              <a:spcBef>
                <a:spcPts val="0"/>
              </a:spcBef>
              <a:spcAft>
                <a:spcPts val="0"/>
              </a:spcAft>
              <a:buClr>
                <a:srgbClr val="0000FF"/>
              </a:buClr>
              <a:buSzPts val="1300"/>
              <a:buAutoNum type="arabicPeriod"/>
            </a:pPr>
            <a:r>
              <a:rPr lang="en">
                <a:solidFill>
                  <a:srgbClr val="0000FF"/>
                </a:solidFill>
              </a:rPr>
              <a:t>El resto del grupo acuerda elegir un objeto del aula que el instructor deberá tocar.</a:t>
            </a:r>
            <a:endParaRPr>
              <a:solidFill>
                <a:srgbClr val="0000FF"/>
              </a:solidFill>
            </a:endParaRPr>
          </a:p>
          <a:p>
            <a:pPr marL="457200" lvl="0" indent="-311150" algn="l" rtl="0">
              <a:lnSpc>
                <a:spcPct val="150000"/>
              </a:lnSpc>
              <a:spcBef>
                <a:spcPts val="0"/>
              </a:spcBef>
              <a:spcAft>
                <a:spcPts val="0"/>
              </a:spcAft>
              <a:buClr>
                <a:srgbClr val="0000FF"/>
              </a:buClr>
              <a:buSzPts val="1300"/>
              <a:buAutoNum type="arabicPeriod"/>
            </a:pPr>
            <a:r>
              <a:rPr lang="en">
                <a:solidFill>
                  <a:srgbClr val="0000FF"/>
                </a:solidFill>
              </a:rPr>
              <a:t>Para ayudar al instructor a encontrar el objeto correcto, aplaudan y animen a medida que se acerque a él. Dejen de hacer ruido si el instructor se aleja del objeto.</a:t>
            </a:r>
            <a:endParaRPr>
              <a:solidFill>
                <a:srgbClr val="0000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17"/>
          <p:cNvSpPr txBox="1">
            <a:spLocks noGrp="1"/>
          </p:cNvSpPr>
          <p:nvPr>
            <p:ph type="title"/>
          </p:nvPr>
        </p:nvSpPr>
        <p:spPr>
          <a:xfrm>
            <a:off x="1303800" y="598575"/>
            <a:ext cx="7528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solidFill>
                  <a:srgbClr val="FF0000"/>
                </a:solidFill>
              </a:rPr>
              <a:t>Quick Group Exercise (10–15 minutes): “Behavior Scenarios”</a:t>
            </a:r>
            <a:endParaRPr>
              <a:solidFill>
                <a:srgbClr val="FF0000"/>
              </a:solidFill>
            </a:endParaRPr>
          </a:p>
          <a:p>
            <a:pPr marL="0" lvl="0" indent="0" algn="l" rtl="0">
              <a:lnSpc>
                <a:spcPct val="100000"/>
              </a:lnSpc>
              <a:spcBef>
                <a:spcPts val="0"/>
              </a:spcBef>
              <a:spcAft>
                <a:spcPts val="0"/>
              </a:spcAft>
              <a:buSzPct val="145856"/>
              <a:buNone/>
            </a:pPr>
            <a:r>
              <a:rPr lang="en" sz="2133">
                <a:solidFill>
                  <a:srgbClr val="0000FF"/>
                </a:solidFill>
              </a:rPr>
              <a:t>Ejercicio grupal rápido (10-15 minutos): "Escenarios de comportamiento"</a:t>
            </a:r>
            <a:endParaRPr sz="2133">
              <a:solidFill>
                <a:srgbClr val="0000FF"/>
              </a:solidFill>
            </a:endParaRPr>
          </a:p>
        </p:txBody>
      </p:sp>
      <p:sp>
        <p:nvSpPr>
          <p:cNvPr id="598" name="Google Shape;598;p17"/>
          <p:cNvSpPr txBox="1">
            <a:spLocks noGrp="1"/>
          </p:cNvSpPr>
          <p:nvPr>
            <p:ph type="body" idx="1"/>
          </p:nvPr>
        </p:nvSpPr>
        <p:spPr>
          <a:xfrm>
            <a:off x="311700" y="2218225"/>
            <a:ext cx="8520600" cy="2710500"/>
          </a:xfrm>
          <a:prstGeom prst="rect">
            <a:avLst/>
          </a:prstGeom>
          <a:noFill/>
          <a:ln>
            <a:noFill/>
          </a:ln>
        </p:spPr>
        <p:txBody>
          <a:bodyPr spcFirstLastPara="1" wrap="square" lIns="91425" tIns="91425" rIns="91425" bIns="91425" anchor="t" anchorCtr="0">
            <a:normAutofit fontScale="25000"/>
          </a:bodyPr>
          <a:lstStyle/>
          <a:p>
            <a:pPr marL="457200" lvl="0" indent="-336550" algn="l" rtl="0">
              <a:lnSpc>
                <a:spcPct val="115000"/>
              </a:lnSpc>
              <a:spcBef>
                <a:spcPts val="0"/>
              </a:spcBef>
              <a:spcAft>
                <a:spcPts val="0"/>
              </a:spcAft>
              <a:buSzPct val="100000"/>
              <a:buChar char="●"/>
            </a:pPr>
            <a:r>
              <a:rPr lang="en" sz="6800"/>
              <a:t>Split into small groups or call on volunteers.</a:t>
            </a:r>
            <a:endParaRPr sz="6800"/>
          </a:p>
          <a:p>
            <a:pPr marL="457200" lvl="0" indent="0" algn="l" rtl="0">
              <a:lnSpc>
                <a:spcPct val="115000"/>
              </a:lnSpc>
              <a:spcBef>
                <a:spcPts val="0"/>
              </a:spcBef>
              <a:spcAft>
                <a:spcPts val="0"/>
              </a:spcAft>
              <a:buSzPct val="76471"/>
              <a:buNone/>
            </a:pPr>
            <a:r>
              <a:rPr lang="en" sz="6800">
                <a:solidFill>
                  <a:srgbClr val="0000FF"/>
                </a:solidFill>
              </a:rPr>
              <a:t>Dividanse en grupos pequeños, o el maestro pedirá voluntarios.</a:t>
            </a:r>
            <a:endParaRPr sz="6800">
              <a:solidFill>
                <a:srgbClr val="0000FF"/>
              </a:solidFill>
            </a:endParaRPr>
          </a:p>
          <a:p>
            <a:pPr marL="457200" lvl="0" indent="-336550" algn="l" rtl="0">
              <a:lnSpc>
                <a:spcPct val="115000"/>
              </a:lnSpc>
              <a:spcBef>
                <a:spcPts val="1200"/>
              </a:spcBef>
              <a:spcAft>
                <a:spcPts val="0"/>
              </a:spcAft>
              <a:buSzPct val="100000"/>
              <a:buChar char="●"/>
            </a:pPr>
            <a:r>
              <a:rPr lang="en" sz="6800"/>
              <a:t>The instructor will read short examples and ask: “Is this reinforcement or punishment?”</a:t>
            </a:r>
            <a:endParaRPr sz="6800"/>
          </a:p>
          <a:p>
            <a:pPr marL="457200" lvl="0" indent="0" algn="l" rtl="0">
              <a:lnSpc>
                <a:spcPct val="115000"/>
              </a:lnSpc>
              <a:spcBef>
                <a:spcPts val="0"/>
              </a:spcBef>
              <a:spcAft>
                <a:spcPts val="0"/>
              </a:spcAft>
              <a:buSzPct val="76471"/>
              <a:buNone/>
            </a:pPr>
            <a:r>
              <a:rPr lang="en" sz="6800">
                <a:solidFill>
                  <a:srgbClr val="0000FF"/>
                </a:solidFill>
              </a:rPr>
              <a:t>El maestro leerá ejemplos breves y preguntará: "¿Esto es refuerzo o castigo?"</a:t>
            </a:r>
            <a:endParaRPr sz="6800">
              <a:solidFill>
                <a:srgbClr val="0000FF"/>
              </a:solidFill>
            </a:endParaRPr>
          </a:p>
          <a:p>
            <a:pPr marL="0" lvl="0" indent="0" algn="l" rtl="0">
              <a:lnSpc>
                <a:spcPct val="115000"/>
              </a:lnSpc>
              <a:spcBef>
                <a:spcPts val="2500"/>
              </a:spcBef>
              <a:spcAft>
                <a:spcPts val="0"/>
              </a:spcAft>
              <a:buSzPct val="76471"/>
              <a:buNone/>
            </a:pPr>
            <a:r>
              <a:rPr lang="en" sz="6800"/>
              <a:t>Scenario					What Type of Learning?					Why?</a:t>
            </a:r>
            <a:endParaRPr sz="6800"/>
          </a:p>
          <a:p>
            <a:pPr marL="0" lvl="0" indent="0" algn="l" rtl="0">
              <a:lnSpc>
                <a:spcPct val="115000"/>
              </a:lnSpc>
              <a:spcBef>
                <a:spcPts val="1200"/>
              </a:spcBef>
              <a:spcAft>
                <a:spcPts val="1200"/>
              </a:spcAft>
              <a:buSzPts val="1300"/>
              <a:buNone/>
            </a:pPr>
            <a:endParaRPr/>
          </a:p>
        </p:txBody>
      </p:sp>
      <p:sp>
        <p:nvSpPr>
          <p:cNvPr id="599" name="Google Shape;599;p17"/>
          <p:cNvSpPr txBox="1"/>
          <p:nvPr/>
        </p:nvSpPr>
        <p:spPr>
          <a:xfrm>
            <a:off x="311700" y="4442575"/>
            <a:ext cx="8352000" cy="39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FF"/>
                </a:solidFill>
                <a:latin typeface="Arial"/>
                <a:ea typeface="Arial"/>
                <a:cs typeface="Arial"/>
                <a:sym typeface="Arial"/>
              </a:rPr>
              <a:t>Escenario			    ¿Qué tipo de aprendizaje?                            ¿Por qué?</a:t>
            </a:r>
            <a:endParaRPr sz="1800" b="0" i="0" u="none" strike="noStrike" cap="none">
              <a:solidFill>
                <a:srgbClr val="0000FF"/>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g3f65876b5cd_1_0"/>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Operant Conditioning Overview</a:t>
            </a:r>
            <a:endParaRPr/>
          </a:p>
          <a:p>
            <a:pPr marL="0" lvl="0" indent="0" algn="l" rtl="0">
              <a:spcBef>
                <a:spcPts val="0"/>
              </a:spcBef>
              <a:spcAft>
                <a:spcPts val="0"/>
              </a:spcAft>
              <a:buNone/>
            </a:pPr>
            <a:r>
              <a:rPr lang="en" sz="2100">
                <a:solidFill>
                  <a:srgbClr val="0000FF"/>
                </a:solidFill>
              </a:rPr>
              <a:t>Resumen del condicionamiento operante</a:t>
            </a:r>
            <a:endParaRPr sz="2100">
              <a:solidFill>
                <a:srgbClr val="0000FF"/>
              </a:solidFill>
            </a:endParaRPr>
          </a:p>
        </p:txBody>
      </p:sp>
      <p:graphicFrame>
        <p:nvGraphicFramePr>
          <p:cNvPr id="605" name="Google Shape;605;g3f65876b5cd_1_0"/>
          <p:cNvGraphicFramePr/>
          <p:nvPr/>
        </p:nvGraphicFramePr>
        <p:xfrm>
          <a:off x="952500" y="1676775"/>
          <a:ext cx="3000000" cy="3000000"/>
        </p:xfrm>
        <a:graphic>
          <a:graphicData uri="http://schemas.openxmlformats.org/drawingml/2006/table">
            <a:tbl>
              <a:tblPr>
                <a:noFill/>
                <a:tableStyleId>{F4BFB638-F785-423E-8C43-A966A99C0DAA}</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endParaRPr>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Positive</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Positivo</a:t>
                      </a:r>
                      <a:endParaRPr>
                        <a:solidFill>
                          <a:srgbClr val="0000FF"/>
                        </a:solidFill>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Negative</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Negativo</a:t>
                      </a:r>
                      <a:endParaRPr>
                        <a:solidFill>
                          <a:srgbClr val="0000FF"/>
                        </a:solidFill>
                        <a:latin typeface="Nunito"/>
                        <a:ea typeface="Nunito"/>
                        <a:cs typeface="Nunito"/>
                        <a:sym typeface="Nunito"/>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latin typeface="Nunito"/>
                          <a:ea typeface="Nunito"/>
                          <a:cs typeface="Nunito"/>
                          <a:sym typeface="Nunito"/>
                        </a:rPr>
                        <a:t>Reinforcement</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Refuerzo</a:t>
                      </a:r>
                      <a:endParaRPr>
                        <a:solidFill>
                          <a:srgbClr val="0000FF"/>
                        </a:solidFill>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Add reward to increase behavior.</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Agregar una recompensa para aumentar un comportamiento.</a:t>
                      </a:r>
                      <a:endParaRPr>
                        <a:solidFill>
                          <a:srgbClr val="0000FF"/>
                        </a:solidFill>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Remove something unpleasant to increase behavior.</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Eliminar algo desagradable para aumentar un comportamiento.</a:t>
                      </a:r>
                      <a:endParaRPr>
                        <a:solidFill>
                          <a:srgbClr val="0000FF"/>
                        </a:solidFill>
                        <a:latin typeface="Nunito"/>
                        <a:ea typeface="Nunito"/>
                        <a:cs typeface="Nunito"/>
                        <a:sym typeface="Nunito"/>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latin typeface="Nunito"/>
                          <a:ea typeface="Nunito"/>
                          <a:cs typeface="Nunito"/>
                          <a:sym typeface="Nunito"/>
                        </a:rPr>
                        <a:t>Punishment</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Castigo</a:t>
                      </a:r>
                      <a:endParaRPr>
                        <a:solidFill>
                          <a:srgbClr val="0000FF"/>
                        </a:solidFill>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Add a consequence to decrease behavior.</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Agregar una consecuencia para disminuir un comportamiento.</a:t>
                      </a:r>
                      <a:endParaRPr>
                        <a:solidFill>
                          <a:srgbClr val="0000FF"/>
                        </a:solidFill>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Remove something nice to decrease behavior.</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Eliminar algo agradable para disminuir un comportamiento.</a:t>
                      </a:r>
                      <a:endParaRPr>
                        <a:solidFill>
                          <a:srgbClr val="0000FF"/>
                        </a:solidFill>
                        <a:latin typeface="Nunito"/>
                        <a:ea typeface="Nunito"/>
                        <a:cs typeface="Nunito"/>
                        <a:sym typeface="Nunito"/>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g3f6bd4abedf_1_8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Operant Conditioning Examples</a:t>
            </a:r>
            <a:endParaRPr/>
          </a:p>
          <a:p>
            <a:pPr marL="0" lvl="0" indent="0" algn="l" rtl="0">
              <a:spcBef>
                <a:spcPts val="0"/>
              </a:spcBef>
              <a:spcAft>
                <a:spcPts val="0"/>
              </a:spcAft>
              <a:buNone/>
            </a:pPr>
            <a:r>
              <a:rPr lang="en" sz="2100">
                <a:solidFill>
                  <a:srgbClr val="0000FF"/>
                </a:solidFill>
              </a:rPr>
              <a:t>Resumen del condicionamiento Ejemplos</a:t>
            </a:r>
            <a:endParaRPr sz="2100">
              <a:solidFill>
                <a:srgbClr val="0000FF"/>
              </a:solidFill>
            </a:endParaRPr>
          </a:p>
        </p:txBody>
      </p:sp>
      <p:graphicFrame>
        <p:nvGraphicFramePr>
          <p:cNvPr id="611" name="Google Shape;611;g3f6bd4abedf_1_81"/>
          <p:cNvGraphicFramePr/>
          <p:nvPr/>
        </p:nvGraphicFramePr>
        <p:xfrm>
          <a:off x="952500" y="1676775"/>
          <a:ext cx="3000000" cy="3000000"/>
        </p:xfrm>
        <a:graphic>
          <a:graphicData uri="http://schemas.openxmlformats.org/drawingml/2006/table">
            <a:tbl>
              <a:tblPr>
                <a:noFill/>
                <a:tableStyleId>{F4BFB638-F785-423E-8C43-A966A99C0DAA}</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endParaRPr>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Positive</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Positivo</a:t>
                      </a:r>
                      <a:endParaRPr>
                        <a:solidFill>
                          <a:srgbClr val="0000FF"/>
                        </a:solidFill>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Negative</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Negativo</a:t>
                      </a:r>
                      <a:endParaRPr>
                        <a:solidFill>
                          <a:srgbClr val="0000FF"/>
                        </a:solidFill>
                        <a:latin typeface="Nunito"/>
                        <a:ea typeface="Nunito"/>
                        <a:cs typeface="Nunito"/>
                        <a:sym typeface="Nunito"/>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latin typeface="Nunito"/>
                          <a:ea typeface="Nunito"/>
                          <a:cs typeface="Nunito"/>
                          <a:sym typeface="Nunito"/>
                        </a:rPr>
                        <a:t>Reinforcement</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Refuerzo</a:t>
                      </a:r>
                      <a:endParaRPr>
                        <a:solidFill>
                          <a:srgbClr val="0000FF"/>
                        </a:solidFill>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You get a cookie for cleaning the dishes.</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Recibes una galleta por lavar los platos.</a:t>
                      </a:r>
                      <a:endParaRPr>
                        <a:solidFill>
                          <a:srgbClr val="0000FF"/>
                        </a:solidFill>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You clean your room so you parents stop reminding you.</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Limpias tu habitación para que tus padres dejen de recordártelo.</a:t>
                      </a:r>
                      <a:endParaRPr>
                        <a:solidFill>
                          <a:srgbClr val="0000FF"/>
                        </a:solidFill>
                        <a:latin typeface="Nunito"/>
                        <a:ea typeface="Nunito"/>
                        <a:cs typeface="Nunito"/>
                        <a:sym typeface="Nunito"/>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latin typeface="Nunito"/>
                          <a:ea typeface="Nunito"/>
                          <a:cs typeface="Nunito"/>
                          <a:sym typeface="Nunito"/>
                        </a:rPr>
                        <a:t>Punishment</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Castigo</a:t>
                      </a:r>
                      <a:endParaRPr>
                        <a:solidFill>
                          <a:srgbClr val="0000FF"/>
                        </a:solidFill>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You get a speeding ticket for driving fast.</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Recibes una multa por exceso de velocidad por conducir rápido.</a:t>
                      </a:r>
                      <a:endParaRPr>
                        <a:solidFill>
                          <a:srgbClr val="0000FF"/>
                        </a:solidFill>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You get your phone taken away for not doing your chores. </a:t>
                      </a:r>
                      <a:endParaRPr>
                        <a:latin typeface="Nunito"/>
                        <a:ea typeface="Nunito"/>
                        <a:cs typeface="Nunito"/>
                        <a:sym typeface="Nunito"/>
                      </a:endParaRPr>
                    </a:p>
                    <a:p>
                      <a:pPr marL="0" lvl="0" indent="0" algn="l" rtl="0">
                        <a:spcBef>
                          <a:spcPts val="0"/>
                        </a:spcBef>
                        <a:spcAft>
                          <a:spcPts val="0"/>
                        </a:spcAft>
                        <a:buNone/>
                      </a:pPr>
                      <a:r>
                        <a:rPr lang="en">
                          <a:solidFill>
                            <a:srgbClr val="0000FF"/>
                          </a:solidFill>
                          <a:latin typeface="Nunito"/>
                          <a:ea typeface="Nunito"/>
                          <a:cs typeface="Nunito"/>
                          <a:sym typeface="Nunito"/>
                        </a:rPr>
                        <a:t>Te quitan el teléfono por no hacer tus tareas.</a:t>
                      </a:r>
                      <a:endParaRPr>
                        <a:solidFill>
                          <a:srgbClr val="0000FF"/>
                        </a:solidFill>
                        <a:latin typeface="Nunito"/>
                        <a:ea typeface="Nunito"/>
                        <a:cs typeface="Nunito"/>
                        <a:sym typeface="Nunito"/>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g3f68d628453_0_24"/>
          <p:cNvSpPr txBox="1">
            <a:spLocks noGrp="1"/>
          </p:cNvSpPr>
          <p:nvPr>
            <p:ph type="title"/>
          </p:nvPr>
        </p:nvSpPr>
        <p:spPr>
          <a:xfrm>
            <a:off x="1056750" y="1572450"/>
            <a:ext cx="7030500" cy="196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Other Types of Learning</a:t>
            </a:r>
            <a:endParaRPr/>
          </a:p>
          <a:p>
            <a:pPr marL="0" lvl="0" indent="0" algn="ctr" rtl="0">
              <a:spcBef>
                <a:spcPts val="0"/>
              </a:spcBef>
              <a:spcAft>
                <a:spcPts val="0"/>
              </a:spcAft>
              <a:buNone/>
            </a:pPr>
            <a:endParaRPr/>
          </a:p>
          <a:p>
            <a:pPr marL="0" lvl="0" indent="0" algn="ctr" rtl="0">
              <a:spcBef>
                <a:spcPts val="0"/>
              </a:spcBef>
              <a:spcAft>
                <a:spcPts val="0"/>
              </a:spcAft>
              <a:buNone/>
            </a:pPr>
            <a:r>
              <a:rPr lang="en">
                <a:solidFill>
                  <a:srgbClr val="0000FF"/>
                </a:solidFill>
              </a:rPr>
              <a:t>Otros Tipos de Aprendizaje</a:t>
            </a:r>
            <a:endParaRPr>
              <a:solidFill>
                <a:srgbClr val="0000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18"/>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a:t>Observational/Social Learning </a:t>
            </a:r>
            <a:r>
              <a:rPr lang="en" sz="2022">
                <a:solidFill>
                  <a:srgbClr val="0000FF"/>
                </a:solidFill>
              </a:rPr>
              <a:t>Aprendizaje por observación</a:t>
            </a:r>
            <a:endParaRPr sz="2022">
              <a:solidFill>
                <a:srgbClr val="0000FF"/>
              </a:solidFill>
            </a:endParaRPr>
          </a:p>
        </p:txBody>
      </p:sp>
      <p:sp>
        <p:nvSpPr>
          <p:cNvPr id="622" name="Google Shape;622;p18"/>
          <p:cNvSpPr txBox="1">
            <a:spLocks noGrp="1"/>
          </p:cNvSpPr>
          <p:nvPr>
            <p:ph type="body" idx="1"/>
          </p:nvPr>
        </p:nvSpPr>
        <p:spPr>
          <a:xfrm>
            <a:off x="1095900" y="1597875"/>
            <a:ext cx="8048100" cy="2541600"/>
          </a:xfrm>
          <a:prstGeom prst="rect">
            <a:avLst/>
          </a:prstGeom>
          <a:noFill/>
          <a:ln>
            <a:noFill/>
          </a:ln>
        </p:spPr>
        <p:txBody>
          <a:bodyPr spcFirstLastPara="1" wrap="square" lIns="91425" tIns="91425" rIns="91425" bIns="91425" anchor="t" anchorCtr="0">
            <a:normAutofit/>
          </a:bodyPr>
          <a:lstStyle/>
          <a:p>
            <a:pPr marL="457200" lvl="0" indent="-317500" algn="l" rtl="0">
              <a:lnSpc>
                <a:spcPct val="115000"/>
              </a:lnSpc>
              <a:spcBef>
                <a:spcPts val="0"/>
              </a:spcBef>
              <a:spcAft>
                <a:spcPts val="0"/>
              </a:spcAft>
              <a:buSzPts val="1400"/>
              <a:buChar char="●"/>
            </a:pPr>
            <a:r>
              <a:rPr lang="en" sz="1400"/>
              <a:t>We learn by watching others: seeing what happens to them and modeling their actions.</a:t>
            </a:r>
            <a:endParaRPr sz="1400"/>
          </a:p>
          <a:p>
            <a:pPr marL="457200" lvl="0" indent="0" algn="l" rtl="0">
              <a:lnSpc>
                <a:spcPct val="115000"/>
              </a:lnSpc>
              <a:spcBef>
                <a:spcPts val="600"/>
              </a:spcBef>
              <a:spcAft>
                <a:spcPts val="1200"/>
              </a:spcAft>
              <a:buSzPts val="1300"/>
              <a:buNone/>
            </a:pPr>
            <a:r>
              <a:rPr lang="en" sz="1400">
                <a:solidFill>
                  <a:srgbClr val="0000FF"/>
                </a:solidFill>
              </a:rPr>
              <a:t>Aprendemos observando a los demás: viendo lo que les pasa e imitando sus acciones.</a:t>
            </a:r>
            <a:endParaRPr sz="1400">
              <a:solidFill>
                <a:srgbClr val="0000FF"/>
              </a:solidFill>
            </a:endParaRPr>
          </a:p>
        </p:txBody>
      </p:sp>
      <p:pic>
        <p:nvPicPr>
          <p:cNvPr id="623" name="Google Shape;623;p18"/>
          <p:cNvPicPr preferRelativeResize="0"/>
          <p:nvPr/>
        </p:nvPicPr>
        <p:blipFill rotWithShape="1">
          <a:blip r:embed="rId3">
            <a:alphaModFix/>
          </a:blip>
          <a:srcRect/>
          <a:stretch/>
        </p:blipFill>
        <p:spPr>
          <a:xfrm>
            <a:off x="667100" y="2642538"/>
            <a:ext cx="1584150" cy="2376225"/>
          </a:xfrm>
          <a:prstGeom prst="rect">
            <a:avLst/>
          </a:prstGeom>
          <a:noFill/>
          <a:ln>
            <a:noFill/>
          </a:ln>
        </p:spPr>
      </p:pic>
      <p:pic>
        <p:nvPicPr>
          <p:cNvPr id="624" name="Google Shape;624;p18"/>
          <p:cNvPicPr preferRelativeResize="0"/>
          <p:nvPr/>
        </p:nvPicPr>
        <p:blipFill rotWithShape="1">
          <a:blip r:embed="rId4">
            <a:alphaModFix/>
          </a:blip>
          <a:srcRect/>
          <a:stretch/>
        </p:blipFill>
        <p:spPr>
          <a:xfrm>
            <a:off x="2588543" y="3056804"/>
            <a:ext cx="3033699" cy="1714108"/>
          </a:xfrm>
          <a:prstGeom prst="rect">
            <a:avLst/>
          </a:prstGeom>
          <a:noFill/>
          <a:ln>
            <a:noFill/>
          </a:ln>
        </p:spPr>
      </p:pic>
      <p:pic>
        <p:nvPicPr>
          <p:cNvPr id="625" name="Google Shape;625;p18"/>
          <p:cNvPicPr preferRelativeResize="0"/>
          <p:nvPr/>
        </p:nvPicPr>
        <p:blipFill rotWithShape="1">
          <a:blip r:embed="rId5">
            <a:alphaModFix/>
          </a:blip>
          <a:srcRect/>
          <a:stretch/>
        </p:blipFill>
        <p:spPr>
          <a:xfrm>
            <a:off x="5959550" y="2725750"/>
            <a:ext cx="2872740" cy="2209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19"/>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a:t>Steps in the Modeling Process </a:t>
            </a:r>
            <a:endParaRPr/>
          </a:p>
          <a:p>
            <a:pPr marL="0" lvl="0" indent="0" algn="l" rtl="0">
              <a:lnSpc>
                <a:spcPct val="100000"/>
              </a:lnSpc>
              <a:spcBef>
                <a:spcPts val="0"/>
              </a:spcBef>
              <a:spcAft>
                <a:spcPts val="0"/>
              </a:spcAft>
              <a:buSzPts val="2800"/>
              <a:buNone/>
            </a:pPr>
            <a:r>
              <a:rPr lang="en" sz="2333">
                <a:solidFill>
                  <a:srgbClr val="0000FF"/>
                </a:solidFill>
              </a:rPr>
              <a:t>Pasos en el proceso de modelado</a:t>
            </a:r>
            <a:endParaRPr sz="2333">
              <a:solidFill>
                <a:srgbClr val="0000FF"/>
              </a:solidFill>
            </a:endParaRPr>
          </a:p>
        </p:txBody>
      </p:sp>
      <p:sp>
        <p:nvSpPr>
          <p:cNvPr id="631" name="Google Shape;631;p19"/>
          <p:cNvSpPr txBox="1"/>
          <p:nvPr/>
        </p:nvSpPr>
        <p:spPr>
          <a:xfrm>
            <a:off x="424500" y="1564150"/>
            <a:ext cx="8309700" cy="3537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700" b="1" i="0" u="none" strike="noStrike" cap="none">
                <a:solidFill>
                  <a:schemeClr val="dk2"/>
                </a:solidFill>
                <a:latin typeface="Arial"/>
                <a:ea typeface="Arial"/>
                <a:cs typeface="Arial"/>
                <a:sym typeface="Arial"/>
              </a:rPr>
              <a:t>Key Factors </a:t>
            </a:r>
            <a:r>
              <a:rPr lang="en" sz="1700" b="1" i="0" u="none" strike="noStrike" cap="none">
                <a:solidFill>
                  <a:srgbClr val="0000FF"/>
                </a:solidFill>
                <a:latin typeface="Arial"/>
                <a:ea typeface="Arial"/>
                <a:cs typeface="Arial"/>
                <a:sym typeface="Arial"/>
              </a:rPr>
              <a:t>Factores clave:</a:t>
            </a:r>
            <a:endParaRPr sz="1700" b="1" i="0" u="none" strike="noStrike" cap="none">
              <a:solidFill>
                <a:srgbClr val="0000FF"/>
              </a:solidFill>
              <a:latin typeface="Arial"/>
              <a:ea typeface="Arial"/>
              <a:cs typeface="Arial"/>
              <a:sym typeface="Arial"/>
            </a:endParaRPr>
          </a:p>
          <a:p>
            <a:pPr marL="457200" marR="0" lvl="0" indent="-336550" algn="l" rtl="0">
              <a:lnSpc>
                <a:spcPct val="100000"/>
              </a:lnSpc>
              <a:spcBef>
                <a:spcPts val="1000"/>
              </a:spcBef>
              <a:spcAft>
                <a:spcPts val="0"/>
              </a:spcAft>
              <a:buClr>
                <a:schemeClr val="dk2"/>
              </a:buClr>
              <a:buSzPts val="1700"/>
              <a:buFont typeface="Arial"/>
              <a:buAutoNum type="arabicPeriod"/>
            </a:pPr>
            <a:r>
              <a:rPr lang="en" sz="1700" b="1" i="0" u="none" strike="noStrike" cap="none">
                <a:solidFill>
                  <a:schemeClr val="dk2"/>
                </a:solidFill>
                <a:latin typeface="Arial"/>
                <a:ea typeface="Arial"/>
                <a:cs typeface="Arial"/>
                <a:sym typeface="Arial"/>
              </a:rPr>
              <a:t>Attention</a:t>
            </a:r>
            <a:r>
              <a:rPr lang="en" sz="1700" b="0" i="0" u="none" strike="noStrike" cap="none">
                <a:solidFill>
                  <a:schemeClr val="dk2"/>
                </a:solidFill>
                <a:latin typeface="Arial"/>
                <a:ea typeface="Arial"/>
                <a:cs typeface="Arial"/>
                <a:sym typeface="Arial"/>
              </a:rPr>
              <a:t>: observers cannot learn if they are not actually paying attention</a:t>
            </a:r>
            <a:endParaRPr sz="1700" b="0" i="0" u="none" strike="noStrike" cap="none">
              <a:solidFill>
                <a:schemeClr val="dk2"/>
              </a:solidFill>
              <a:latin typeface="Arial"/>
              <a:ea typeface="Arial"/>
              <a:cs typeface="Arial"/>
              <a:sym typeface="Arial"/>
            </a:endParaRPr>
          </a:p>
          <a:p>
            <a:pPr marL="914400" marR="0" lvl="1" indent="-323850" algn="l" rtl="0">
              <a:lnSpc>
                <a:spcPct val="100000"/>
              </a:lnSpc>
              <a:spcBef>
                <a:spcPts val="0"/>
              </a:spcBef>
              <a:spcAft>
                <a:spcPts val="0"/>
              </a:spcAft>
              <a:buClr>
                <a:srgbClr val="0000FF"/>
              </a:buClr>
              <a:buSzPts val="1500"/>
              <a:buFont typeface="Arial"/>
              <a:buChar char="○"/>
            </a:pPr>
            <a:r>
              <a:rPr lang="en" sz="1500" b="0" i="0" u="none" strike="noStrike" cap="none">
                <a:solidFill>
                  <a:srgbClr val="0000FF"/>
                </a:solidFill>
                <a:latin typeface="Arial"/>
                <a:ea typeface="Arial"/>
                <a:cs typeface="Arial"/>
                <a:sym typeface="Arial"/>
              </a:rPr>
              <a:t>Atención: los observadores no pueden aprender si de verdad no prestan atención.</a:t>
            </a:r>
            <a:endParaRPr sz="1500" b="0" i="0" u="none" strike="noStrike" cap="none">
              <a:solidFill>
                <a:srgbClr val="0000FF"/>
              </a:solidFill>
              <a:latin typeface="Arial"/>
              <a:ea typeface="Arial"/>
              <a:cs typeface="Arial"/>
              <a:sym typeface="Arial"/>
            </a:endParaRPr>
          </a:p>
          <a:p>
            <a:pPr marL="457200" marR="0" lvl="0" indent="-336550" algn="l" rtl="0">
              <a:lnSpc>
                <a:spcPct val="100000"/>
              </a:lnSpc>
              <a:spcBef>
                <a:spcPts val="1000"/>
              </a:spcBef>
              <a:spcAft>
                <a:spcPts val="0"/>
              </a:spcAft>
              <a:buClr>
                <a:schemeClr val="dk2"/>
              </a:buClr>
              <a:buSzPts val="1700"/>
              <a:buFont typeface="Arial"/>
              <a:buAutoNum type="arabicPeriod"/>
            </a:pPr>
            <a:r>
              <a:rPr lang="en" sz="1700" b="1" i="0" u="none" strike="noStrike" cap="none">
                <a:solidFill>
                  <a:schemeClr val="dk2"/>
                </a:solidFill>
                <a:latin typeface="Arial"/>
                <a:ea typeface="Arial"/>
                <a:cs typeface="Arial"/>
                <a:sym typeface="Arial"/>
              </a:rPr>
              <a:t>Retention</a:t>
            </a:r>
            <a:r>
              <a:rPr lang="en" sz="1700" b="0" i="0" u="none" strike="noStrike" cap="none">
                <a:solidFill>
                  <a:schemeClr val="dk2"/>
                </a:solidFill>
                <a:latin typeface="Arial"/>
                <a:ea typeface="Arial"/>
                <a:cs typeface="Arial"/>
                <a:sym typeface="Arial"/>
              </a:rPr>
              <a:t>: the observation must be placed in memory</a:t>
            </a:r>
            <a:endParaRPr sz="1700" b="0" i="0" u="none" strike="noStrike" cap="none">
              <a:solidFill>
                <a:schemeClr val="dk2"/>
              </a:solidFill>
              <a:latin typeface="Arial"/>
              <a:ea typeface="Arial"/>
              <a:cs typeface="Arial"/>
              <a:sym typeface="Arial"/>
            </a:endParaRPr>
          </a:p>
          <a:p>
            <a:pPr marL="914400" marR="0" lvl="1" indent="-323850" algn="l" rtl="0">
              <a:lnSpc>
                <a:spcPct val="100000"/>
              </a:lnSpc>
              <a:spcBef>
                <a:spcPts val="0"/>
              </a:spcBef>
              <a:spcAft>
                <a:spcPts val="0"/>
              </a:spcAft>
              <a:buClr>
                <a:srgbClr val="0000FF"/>
              </a:buClr>
              <a:buSzPts val="1500"/>
              <a:buFont typeface="Arial"/>
              <a:buChar char="○"/>
            </a:pPr>
            <a:r>
              <a:rPr lang="en" sz="1500" b="0" i="0" u="none" strike="noStrike" cap="none">
                <a:solidFill>
                  <a:srgbClr val="0000FF"/>
                </a:solidFill>
                <a:latin typeface="Arial"/>
                <a:ea typeface="Arial"/>
                <a:cs typeface="Arial"/>
                <a:sym typeface="Arial"/>
              </a:rPr>
              <a:t>Retención: la observación debe quedar grabada en la memoria.</a:t>
            </a:r>
            <a:endParaRPr sz="1500" b="0" i="0" u="none" strike="noStrike" cap="none">
              <a:solidFill>
                <a:srgbClr val="0000FF"/>
              </a:solidFill>
              <a:latin typeface="Arial"/>
              <a:ea typeface="Arial"/>
              <a:cs typeface="Arial"/>
              <a:sym typeface="Arial"/>
            </a:endParaRPr>
          </a:p>
          <a:p>
            <a:pPr marL="457200" marR="0" lvl="0" indent="-336550" algn="l" rtl="0">
              <a:lnSpc>
                <a:spcPct val="100000"/>
              </a:lnSpc>
              <a:spcBef>
                <a:spcPts val="1000"/>
              </a:spcBef>
              <a:spcAft>
                <a:spcPts val="0"/>
              </a:spcAft>
              <a:buClr>
                <a:schemeClr val="dk2"/>
              </a:buClr>
              <a:buSzPts val="1700"/>
              <a:buFont typeface="Arial"/>
              <a:buAutoNum type="arabicPeriod"/>
            </a:pPr>
            <a:r>
              <a:rPr lang="en" sz="1700" b="1" i="0" u="none" strike="noStrike" cap="none">
                <a:solidFill>
                  <a:schemeClr val="dk2"/>
                </a:solidFill>
                <a:latin typeface="Arial"/>
                <a:ea typeface="Arial"/>
                <a:cs typeface="Arial"/>
                <a:sym typeface="Arial"/>
              </a:rPr>
              <a:t>Reproduction</a:t>
            </a:r>
            <a:r>
              <a:rPr lang="en" sz="1700" b="0" i="0" u="none" strike="noStrike" cap="none">
                <a:solidFill>
                  <a:schemeClr val="dk2"/>
                </a:solidFill>
                <a:latin typeface="Arial"/>
                <a:ea typeface="Arial"/>
                <a:cs typeface="Arial"/>
                <a:sym typeface="Arial"/>
              </a:rPr>
              <a:t>: the observer has the ability to reproduce the observed behavior</a:t>
            </a:r>
            <a:endParaRPr sz="1700" b="0" i="0" u="none" strike="noStrike" cap="none">
              <a:solidFill>
                <a:schemeClr val="dk2"/>
              </a:solidFill>
              <a:latin typeface="Arial"/>
              <a:ea typeface="Arial"/>
              <a:cs typeface="Arial"/>
              <a:sym typeface="Arial"/>
            </a:endParaRPr>
          </a:p>
          <a:p>
            <a:pPr marL="914400" marR="0" lvl="1" indent="-323850" algn="l" rtl="0">
              <a:lnSpc>
                <a:spcPct val="100000"/>
              </a:lnSpc>
              <a:spcBef>
                <a:spcPts val="0"/>
              </a:spcBef>
              <a:spcAft>
                <a:spcPts val="0"/>
              </a:spcAft>
              <a:buClr>
                <a:srgbClr val="0000FF"/>
              </a:buClr>
              <a:buSzPts val="1500"/>
              <a:buFont typeface="Arial"/>
              <a:buChar char="○"/>
            </a:pPr>
            <a:r>
              <a:rPr lang="en" sz="1500" b="0" i="0" u="none" strike="noStrike" cap="none">
                <a:solidFill>
                  <a:srgbClr val="0000FF"/>
                </a:solidFill>
                <a:latin typeface="Arial"/>
                <a:ea typeface="Arial"/>
                <a:cs typeface="Arial"/>
                <a:sym typeface="Arial"/>
              </a:rPr>
              <a:t>Reproducción: </a:t>
            </a:r>
            <a:r>
              <a:rPr lang="en" sz="1500">
                <a:solidFill>
                  <a:srgbClr val="0000FF"/>
                </a:solidFill>
              </a:rPr>
              <a:t>e</a:t>
            </a:r>
            <a:r>
              <a:rPr lang="en" sz="1500" b="0" i="0" u="none" strike="noStrike" cap="none">
                <a:solidFill>
                  <a:srgbClr val="0000FF"/>
                </a:solidFill>
                <a:latin typeface="Arial"/>
                <a:ea typeface="Arial"/>
                <a:cs typeface="Arial"/>
                <a:sym typeface="Arial"/>
              </a:rPr>
              <a:t>l observador debe ser capaz de reproducir el comportamiento observado.</a:t>
            </a:r>
            <a:endParaRPr sz="1500" b="0" i="0" u="none" strike="noStrike" cap="none">
              <a:solidFill>
                <a:srgbClr val="0000FF"/>
              </a:solidFill>
              <a:latin typeface="Arial"/>
              <a:ea typeface="Arial"/>
              <a:cs typeface="Arial"/>
              <a:sym typeface="Arial"/>
            </a:endParaRPr>
          </a:p>
          <a:p>
            <a:pPr marL="457200" marR="0" lvl="0" indent="-336550" algn="l" rtl="0">
              <a:lnSpc>
                <a:spcPct val="100000"/>
              </a:lnSpc>
              <a:spcBef>
                <a:spcPts val="1000"/>
              </a:spcBef>
              <a:spcAft>
                <a:spcPts val="0"/>
              </a:spcAft>
              <a:buClr>
                <a:schemeClr val="dk2"/>
              </a:buClr>
              <a:buSzPts val="1700"/>
              <a:buFont typeface="Arial"/>
              <a:buAutoNum type="arabicPeriod"/>
            </a:pPr>
            <a:r>
              <a:rPr lang="en" sz="1700" b="1" i="0" u="none" strike="noStrike" cap="none">
                <a:solidFill>
                  <a:schemeClr val="dk2"/>
                </a:solidFill>
                <a:latin typeface="Arial"/>
                <a:ea typeface="Arial"/>
                <a:cs typeface="Arial"/>
                <a:sym typeface="Arial"/>
              </a:rPr>
              <a:t>Motivation</a:t>
            </a:r>
            <a:r>
              <a:rPr lang="en" sz="1700" b="0" i="0" u="none" strike="noStrike" cap="none">
                <a:solidFill>
                  <a:schemeClr val="dk2"/>
                </a:solidFill>
                <a:latin typeface="Arial"/>
                <a:ea typeface="Arial"/>
                <a:cs typeface="Arial"/>
                <a:sym typeface="Arial"/>
              </a:rPr>
              <a:t>: without motivation to engage in the behavior, it will not be reproduced</a:t>
            </a:r>
            <a:endParaRPr sz="1700" b="0" i="0" u="none" strike="noStrike" cap="none">
              <a:solidFill>
                <a:schemeClr val="dk2"/>
              </a:solidFill>
              <a:latin typeface="Arial"/>
              <a:ea typeface="Arial"/>
              <a:cs typeface="Arial"/>
              <a:sym typeface="Arial"/>
            </a:endParaRPr>
          </a:p>
          <a:p>
            <a:pPr marL="914400" marR="0" lvl="1" indent="-323850" algn="l" rtl="0">
              <a:lnSpc>
                <a:spcPct val="100000"/>
              </a:lnSpc>
              <a:spcBef>
                <a:spcPts val="0"/>
              </a:spcBef>
              <a:spcAft>
                <a:spcPts val="0"/>
              </a:spcAft>
              <a:buClr>
                <a:srgbClr val="0000FF"/>
              </a:buClr>
              <a:buSzPts val="1500"/>
              <a:buFont typeface="Arial"/>
              <a:buChar char="○"/>
            </a:pPr>
            <a:r>
              <a:rPr lang="en" sz="1500" b="0" i="0" u="none" strike="noStrike" cap="none">
                <a:solidFill>
                  <a:srgbClr val="0000FF"/>
                </a:solidFill>
                <a:latin typeface="Arial"/>
                <a:ea typeface="Arial"/>
                <a:cs typeface="Arial"/>
                <a:sym typeface="Arial"/>
              </a:rPr>
              <a:t>Motivación: </a:t>
            </a:r>
            <a:r>
              <a:rPr lang="en" sz="1500">
                <a:solidFill>
                  <a:srgbClr val="0000FF"/>
                </a:solidFill>
              </a:rPr>
              <a:t>s</a:t>
            </a:r>
            <a:r>
              <a:rPr lang="en" sz="1500" b="0" i="0" u="none" strike="noStrike" cap="none">
                <a:solidFill>
                  <a:srgbClr val="0000FF"/>
                </a:solidFill>
                <a:latin typeface="Arial"/>
                <a:ea typeface="Arial"/>
                <a:cs typeface="Arial"/>
                <a:sym typeface="Arial"/>
              </a:rPr>
              <a:t>in motivación para realizar el comportamiento, este no se reproducirá.</a:t>
            </a:r>
            <a:endParaRPr sz="1700" b="0" i="0" u="none" strike="noStrike" cap="none">
              <a:solidFill>
                <a:schemeClr val="dk2"/>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20"/>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a:t>Steps in the Modeling Process </a:t>
            </a:r>
            <a:r>
              <a:rPr lang="en" sz="2133">
                <a:solidFill>
                  <a:srgbClr val="0000FF"/>
                </a:solidFill>
              </a:rPr>
              <a:t>Pasos en el proceso de modelado</a:t>
            </a:r>
            <a:endParaRPr sz="2133">
              <a:solidFill>
                <a:srgbClr val="0000FF"/>
              </a:solidFill>
            </a:endParaRPr>
          </a:p>
        </p:txBody>
      </p:sp>
      <p:sp>
        <p:nvSpPr>
          <p:cNvPr id="637" name="Google Shape;637;p20"/>
          <p:cNvSpPr txBox="1"/>
          <p:nvPr/>
        </p:nvSpPr>
        <p:spPr>
          <a:xfrm>
            <a:off x="424500" y="1421625"/>
            <a:ext cx="7779300" cy="314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chemeClr val="dk2"/>
                </a:solidFill>
                <a:latin typeface="Arial"/>
                <a:ea typeface="Arial"/>
                <a:cs typeface="Arial"/>
                <a:sym typeface="Arial"/>
              </a:rPr>
              <a:t>Example:</a:t>
            </a:r>
            <a:endParaRPr sz="16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chemeClr val="dk2"/>
                </a:solidFill>
                <a:latin typeface="Arial"/>
                <a:ea typeface="Arial"/>
                <a:cs typeface="Arial"/>
                <a:sym typeface="Arial"/>
              </a:rPr>
              <a:t>Apprenticeships are the perfect example of observational learning. Through an apprenticeship, you can actually watch what the professional is doing rather than simply learning about it in a classroom. Apprenticeships are therefore very common in practical and hands-on professions like plumbing, carpentry, and cooking.</a:t>
            </a:r>
            <a:endParaRPr sz="16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600" b="1" i="0" u="none" strike="noStrike" cap="none">
                <a:solidFill>
                  <a:srgbClr val="0000FF"/>
                </a:solidFill>
                <a:latin typeface="Arial"/>
                <a:ea typeface="Arial"/>
                <a:cs typeface="Arial"/>
                <a:sym typeface="Arial"/>
              </a:rPr>
              <a:t>Ejemplo</a:t>
            </a:r>
            <a:r>
              <a:rPr lang="en" sz="1600" b="1" i="0" u="none" strike="noStrike" cap="none">
                <a:solidFill>
                  <a:schemeClr val="accent1"/>
                </a:solidFill>
                <a:latin typeface="Arial"/>
                <a:ea typeface="Arial"/>
                <a:cs typeface="Arial"/>
                <a:sym typeface="Arial"/>
              </a:rPr>
              <a:t>:</a:t>
            </a:r>
            <a:endParaRPr sz="16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FF"/>
                </a:solidFill>
                <a:latin typeface="Arial"/>
                <a:ea typeface="Arial"/>
                <a:cs typeface="Arial"/>
                <a:sym typeface="Arial"/>
              </a:rPr>
              <a:t>Los programas de aprendizaje son el ejemplo perfecto de aprendizaje por observación. A través de </a:t>
            </a:r>
            <a:r>
              <a:rPr lang="en" sz="1600">
                <a:solidFill>
                  <a:srgbClr val="0000FF"/>
                </a:solidFill>
              </a:rPr>
              <a:t>uno</a:t>
            </a:r>
            <a:r>
              <a:rPr lang="en" sz="1600" b="0" i="0" u="none" strike="noStrike" cap="none">
                <a:solidFill>
                  <a:srgbClr val="0000FF"/>
                </a:solidFill>
                <a:latin typeface="Arial"/>
                <a:ea typeface="Arial"/>
                <a:cs typeface="Arial"/>
                <a:sym typeface="Arial"/>
              </a:rPr>
              <a:t>, se puede observar directamente lo que hace el profesional en lugar de simplemente aprender sobre ello en un </a:t>
            </a:r>
            <a:r>
              <a:rPr lang="en" sz="1600">
                <a:solidFill>
                  <a:srgbClr val="0000FF"/>
                </a:solidFill>
              </a:rPr>
              <a:t>salón de clases</a:t>
            </a:r>
            <a:r>
              <a:rPr lang="en" sz="1600" b="0" i="0" u="none" strike="noStrike" cap="none">
                <a:solidFill>
                  <a:srgbClr val="0000FF"/>
                </a:solidFill>
                <a:latin typeface="Arial"/>
                <a:ea typeface="Arial"/>
                <a:cs typeface="Arial"/>
                <a:sym typeface="Arial"/>
              </a:rPr>
              <a:t>. Por </a:t>
            </a:r>
            <a:r>
              <a:rPr lang="en" sz="1600">
                <a:solidFill>
                  <a:srgbClr val="0000FF"/>
                </a:solidFill>
              </a:rPr>
              <a:t>eso</a:t>
            </a:r>
            <a:r>
              <a:rPr lang="en" sz="1600" b="0" i="0" u="none" strike="noStrike" cap="none">
                <a:solidFill>
                  <a:srgbClr val="0000FF"/>
                </a:solidFill>
                <a:latin typeface="Arial"/>
                <a:ea typeface="Arial"/>
                <a:cs typeface="Arial"/>
                <a:sym typeface="Arial"/>
              </a:rPr>
              <a:t>, los programas de aprendizaje son muy comunes en profesiones prácticas y manuales como la </a:t>
            </a:r>
            <a:r>
              <a:rPr lang="en" sz="1600">
                <a:solidFill>
                  <a:srgbClr val="0000FF"/>
                </a:solidFill>
              </a:rPr>
              <a:t>plomería</a:t>
            </a:r>
            <a:r>
              <a:rPr lang="en" sz="1600" b="0" i="0" u="none" strike="noStrike" cap="none">
                <a:solidFill>
                  <a:srgbClr val="0000FF"/>
                </a:solidFill>
                <a:latin typeface="Arial"/>
                <a:ea typeface="Arial"/>
                <a:cs typeface="Arial"/>
                <a:sym typeface="Arial"/>
              </a:rPr>
              <a:t>, la carpintería y la cocina.</a:t>
            </a:r>
            <a:endParaRPr sz="1600" b="0" i="0" u="none" strike="noStrike" cap="none">
              <a:solidFill>
                <a:srgbClr val="0000FF"/>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21"/>
          <p:cNvSpPr txBox="1">
            <a:spLocks noGrp="1"/>
          </p:cNvSpPr>
          <p:nvPr>
            <p:ph type="title"/>
          </p:nvPr>
        </p:nvSpPr>
        <p:spPr>
          <a:xfrm>
            <a:off x="1303800" y="598575"/>
            <a:ext cx="7528500" cy="99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000"/>
              <a:t>Observational Learning - The Bobo Doll experiment </a:t>
            </a:r>
            <a:endParaRPr sz="2000">
              <a:solidFill>
                <a:schemeClr val="accent1"/>
              </a:solidFill>
            </a:endParaRPr>
          </a:p>
          <a:p>
            <a:pPr marL="0" lvl="0" indent="0" algn="l" rtl="0">
              <a:lnSpc>
                <a:spcPct val="100000"/>
              </a:lnSpc>
              <a:spcBef>
                <a:spcPts val="0"/>
              </a:spcBef>
              <a:spcAft>
                <a:spcPts val="0"/>
              </a:spcAft>
              <a:buSzPts val="990"/>
              <a:buNone/>
            </a:pPr>
            <a:r>
              <a:rPr lang="en" sz="2000">
                <a:solidFill>
                  <a:srgbClr val="0000FF"/>
                </a:solidFill>
              </a:rPr>
              <a:t>Sobre aprendizaje por observación: el experimento del muñeco Bobo </a:t>
            </a:r>
            <a:endParaRPr sz="2000">
              <a:solidFill>
                <a:srgbClr val="0000FF"/>
              </a:solidFill>
            </a:endParaRPr>
          </a:p>
        </p:txBody>
      </p:sp>
      <p:sp>
        <p:nvSpPr>
          <p:cNvPr id="643" name="Google Shape;643;p21"/>
          <p:cNvSpPr txBox="1">
            <a:spLocks noGrp="1"/>
          </p:cNvSpPr>
          <p:nvPr>
            <p:ph type="body" idx="1"/>
          </p:nvPr>
        </p:nvSpPr>
        <p:spPr>
          <a:xfrm>
            <a:off x="311700" y="1814200"/>
            <a:ext cx="4158300" cy="2778000"/>
          </a:xfrm>
          <a:prstGeom prst="rect">
            <a:avLst/>
          </a:prstGeom>
          <a:noFill/>
          <a:ln>
            <a:noFill/>
          </a:ln>
        </p:spPr>
        <p:txBody>
          <a:bodyPr spcFirstLastPara="1" wrap="square" lIns="91425" tIns="91425" rIns="91425" bIns="91425" anchor="t" anchorCtr="0">
            <a:normAutofit/>
          </a:bodyPr>
          <a:lstStyle/>
          <a:p>
            <a:pPr marL="457200" lvl="0" indent="-330200" algn="l" rtl="0">
              <a:lnSpc>
                <a:spcPct val="115000"/>
              </a:lnSpc>
              <a:spcBef>
                <a:spcPts val="1200"/>
              </a:spcBef>
              <a:spcAft>
                <a:spcPts val="0"/>
              </a:spcAft>
              <a:buClr>
                <a:srgbClr val="000000"/>
              </a:buClr>
              <a:buSzPts val="1600"/>
              <a:buFont typeface="Arial"/>
              <a:buChar char="●"/>
            </a:pPr>
            <a:r>
              <a:rPr lang="en" sz="1600">
                <a:solidFill>
                  <a:srgbClr val="000000"/>
                </a:solidFill>
                <a:latin typeface="Arial"/>
                <a:ea typeface="Arial"/>
                <a:cs typeface="Arial"/>
                <a:sym typeface="Arial"/>
              </a:rPr>
              <a:t>Children can learn aggressive behaviors simply by watching adults act aggressively</a:t>
            </a:r>
            <a:endParaRPr sz="1600">
              <a:solidFill>
                <a:srgbClr val="000000"/>
              </a:solidFill>
              <a:latin typeface="Arial"/>
              <a:ea typeface="Arial"/>
              <a:cs typeface="Arial"/>
              <a:sym typeface="Arial"/>
            </a:endParaRPr>
          </a:p>
          <a:p>
            <a:pPr marL="0" lvl="0" indent="0" algn="l" rtl="0">
              <a:lnSpc>
                <a:spcPct val="115000"/>
              </a:lnSpc>
              <a:spcBef>
                <a:spcPts val="1200"/>
              </a:spcBef>
              <a:spcAft>
                <a:spcPts val="0"/>
              </a:spcAft>
              <a:buNone/>
            </a:pPr>
            <a:endParaRPr sz="1600">
              <a:solidFill>
                <a:srgbClr val="000000"/>
              </a:solidFill>
              <a:latin typeface="Arial"/>
              <a:ea typeface="Arial"/>
              <a:cs typeface="Arial"/>
              <a:sym typeface="Arial"/>
            </a:endParaRPr>
          </a:p>
          <a:p>
            <a:pPr marL="457200" lvl="0" indent="-330200" algn="l" rtl="0">
              <a:lnSpc>
                <a:spcPct val="115000"/>
              </a:lnSpc>
              <a:spcBef>
                <a:spcPts val="1200"/>
              </a:spcBef>
              <a:spcAft>
                <a:spcPts val="0"/>
              </a:spcAft>
              <a:buClr>
                <a:srgbClr val="0000FF"/>
              </a:buClr>
              <a:buSzPts val="1600"/>
              <a:buFont typeface="Arial"/>
              <a:buChar char="●"/>
            </a:pPr>
            <a:r>
              <a:rPr lang="en" sz="1600">
                <a:solidFill>
                  <a:srgbClr val="0000FF"/>
                </a:solidFill>
                <a:latin typeface="Arial"/>
                <a:ea typeface="Arial"/>
                <a:cs typeface="Arial"/>
                <a:sym typeface="Arial"/>
              </a:rPr>
              <a:t>Los niños pueden aprender conductas agresivas simplemente observando a los adultos actuar de manera agresiva.</a:t>
            </a:r>
            <a:endParaRPr sz="1600">
              <a:solidFill>
                <a:srgbClr val="0000FF"/>
              </a:solidFill>
              <a:latin typeface="Arial"/>
              <a:ea typeface="Arial"/>
              <a:cs typeface="Arial"/>
              <a:sym typeface="Arial"/>
            </a:endParaRPr>
          </a:p>
        </p:txBody>
      </p:sp>
      <p:pic>
        <p:nvPicPr>
          <p:cNvPr id="644" name="Google Shape;644;p21" title="experiment-observational-learning-dengan-bobo-doll-oleh-albert-bandura.jpg"/>
          <p:cNvPicPr preferRelativeResize="0"/>
          <p:nvPr/>
        </p:nvPicPr>
        <p:blipFill>
          <a:blip r:embed="rId3">
            <a:alphaModFix/>
          </a:blip>
          <a:stretch>
            <a:fillRect/>
          </a:stretch>
        </p:blipFill>
        <p:spPr>
          <a:xfrm>
            <a:off x="4803300" y="2091463"/>
            <a:ext cx="4028999" cy="22234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g3f6c98727f8_0_2"/>
          <p:cNvSpPr txBox="1">
            <a:spLocks noGrp="1"/>
          </p:cNvSpPr>
          <p:nvPr>
            <p:ph type="title"/>
          </p:nvPr>
        </p:nvSpPr>
        <p:spPr>
          <a:xfrm>
            <a:off x="1303800" y="598575"/>
            <a:ext cx="7528500" cy="999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000"/>
              <a:t>The Bobo Doll experiment video</a:t>
            </a:r>
            <a:endParaRPr sz="2000">
              <a:solidFill>
                <a:schemeClr val="accent1"/>
              </a:solidFill>
            </a:endParaRPr>
          </a:p>
          <a:p>
            <a:pPr marL="0" lvl="0" indent="0" algn="l" rtl="0">
              <a:lnSpc>
                <a:spcPct val="100000"/>
              </a:lnSpc>
              <a:spcBef>
                <a:spcPts val="0"/>
              </a:spcBef>
              <a:spcAft>
                <a:spcPts val="0"/>
              </a:spcAft>
              <a:buSzPts val="990"/>
              <a:buNone/>
            </a:pPr>
            <a:r>
              <a:rPr lang="en" sz="2000">
                <a:solidFill>
                  <a:srgbClr val="0000FF"/>
                </a:solidFill>
              </a:rPr>
              <a:t>Video del experimento del muñeco Bobo </a:t>
            </a:r>
            <a:endParaRPr sz="2000">
              <a:solidFill>
                <a:srgbClr val="0000FF"/>
              </a:solidFill>
            </a:endParaRPr>
          </a:p>
        </p:txBody>
      </p:sp>
      <p:sp>
        <p:nvSpPr>
          <p:cNvPr id="650" name="Google Shape;650;g3f6c98727f8_0_2"/>
          <p:cNvSpPr txBox="1"/>
          <p:nvPr/>
        </p:nvSpPr>
        <p:spPr>
          <a:xfrm>
            <a:off x="1407650" y="1619525"/>
            <a:ext cx="5603700" cy="162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u="sng">
                <a:solidFill>
                  <a:schemeClr val="hlink"/>
                </a:solidFill>
                <a:hlinkClick r:id="rId3"/>
              </a:rPr>
              <a:t>https://www.youtube.com/watch?v=128Ts5r9NRE&amp;t=3s</a:t>
            </a:r>
            <a:endParaRPr sz="1300">
              <a:solidFill>
                <a:schemeClr val="dk2"/>
              </a:solidFill>
              <a:latin typeface="Nunito"/>
              <a:ea typeface="Nunito"/>
              <a:cs typeface="Nunito"/>
              <a:sym typeface="Nuni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22"/>
          <p:cNvSpPr txBox="1">
            <a:spLocks noGrp="1"/>
          </p:cNvSpPr>
          <p:nvPr>
            <p:ph type="title"/>
          </p:nvPr>
        </p:nvSpPr>
        <p:spPr>
          <a:xfrm>
            <a:off x="1303800" y="598575"/>
            <a:ext cx="72852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5856"/>
              <a:buNone/>
            </a:pPr>
            <a:r>
              <a:rPr lang="en"/>
              <a:t>Observational Learning Discussion Questions</a:t>
            </a:r>
            <a:endParaRPr sz="2133">
              <a:solidFill>
                <a:schemeClr val="accent1"/>
              </a:solidFill>
            </a:endParaRPr>
          </a:p>
          <a:p>
            <a:pPr marL="0" lvl="0" indent="0" algn="l" rtl="0">
              <a:lnSpc>
                <a:spcPct val="100000"/>
              </a:lnSpc>
              <a:spcBef>
                <a:spcPts val="0"/>
              </a:spcBef>
              <a:spcAft>
                <a:spcPts val="0"/>
              </a:spcAft>
              <a:buSzPct val="145856"/>
              <a:buNone/>
            </a:pPr>
            <a:r>
              <a:rPr lang="en" sz="2133">
                <a:solidFill>
                  <a:srgbClr val="0000FF"/>
                </a:solidFill>
              </a:rPr>
              <a:t>Preguntas de debate sobre el aprendizaje por observación</a:t>
            </a:r>
            <a:endParaRPr sz="2133">
              <a:solidFill>
                <a:srgbClr val="0000FF"/>
              </a:solidFill>
            </a:endParaRPr>
          </a:p>
        </p:txBody>
      </p:sp>
      <p:sp>
        <p:nvSpPr>
          <p:cNvPr id="656" name="Google Shape;656;p22"/>
          <p:cNvSpPr txBox="1">
            <a:spLocks noGrp="1"/>
          </p:cNvSpPr>
          <p:nvPr>
            <p:ph type="body" idx="1"/>
          </p:nvPr>
        </p:nvSpPr>
        <p:spPr>
          <a:xfrm>
            <a:off x="750900" y="1478275"/>
            <a:ext cx="76422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a:solidFill>
                  <a:srgbClr val="FF0000"/>
                </a:solidFill>
              </a:rPr>
              <a:t>Who do we tend to imitate — and why?</a:t>
            </a:r>
            <a:endParaRPr>
              <a:solidFill>
                <a:srgbClr val="FF0000"/>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0000FF"/>
                </a:solidFill>
              </a:rPr>
              <a:t>¿A quién solemos imitar y por qué?</a:t>
            </a:r>
            <a:endParaRPr>
              <a:solidFill>
                <a:srgbClr val="0000FF"/>
              </a:solidFill>
            </a:endParaRPr>
          </a:p>
          <a:p>
            <a:pPr marL="0" lvl="0" indent="0" algn="l" rtl="0">
              <a:lnSpc>
                <a:spcPct val="115000"/>
              </a:lnSpc>
              <a:spcBef>
                <a:spcPts val="1200"/>
              </a:spcBef>
              <a:spcAft>
                <a:spcPts val="0"/>
              </a:spcAft>
              <a:buSzPts val="1300"/>
              <a:buNone/>
            </a:pPr>
            <a:endParaRPr>
              <a:solidFill>
                <a:srgbClr val="FF0000"/>
              </a:solidFill>
            </a:endParaRPr>
          </a:p>
          <a:p>
            <a:pPr marL="0" lvl="0" indent="0" algn="l" rtl="0">
              <a:lnSpc>
                <a:spcPct val="115000"/>
              </a:lnSpc>
              <a:spcBef>
                <a:spcPts val="1200"/>
              </a:spcBef>
              <a:spcAft>
                <a:spcPts val="0"/>
              </a:spcAft>
              <a:buSzPts val="1300"/>
              <a:buNone/>
            </a:pPr>
            <a:r>
              <a:rPr lang="en">
                <a:solidFill>
                  <a:srgbClr val="FF0000"/>
                </a:solidFill>
              </a:rPr>
              <a:t>What happens when we model behavior from good vs. bad examples?</a:t>
            </a:r>
            <a:endParaRPr>
              <a:solidFill>
                <a:srgbClr val="FF0000"/>
              </a:solidFill>
            </a:endParaRPr>
          </a:p>
          <a:p>
            <a:pPr marL="0" lvl="0" indent="0" algn="l" rtl="0">
              <a:lnSpc>
                <a:spcPct val="115000"/>
              </a:lnSpc>
              <a:spcBef>
                <a:spcPts val="1200"/>
              </a:spcBef>
              <a:spcAft>
                <a:spcPts val="0"/>
              </a:spcAft>
              <a:buSzPts val="1300"/>
              <a:buNone/>
            </a:pPr>
            <a:r>
              <a:rPr lang="en">
                <a:solidFill>
                  <a:srgbClr val="FF0000"/>
                </a:solidFill>
              </a:rPr>
              <a:t>e.g. correlation between violent video games and violent behavior - fact check</a:t>
            </a:r>
            <a:endParaRPr>
              <a:solidFill>
                <a:srgbClr val="FF0000"/>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0000FF"/>
                </a:solidFill>
              </a:rPr>
              <a:t>¿Qué ocurre cuando imitamos comportamientos basados ​​en ejemplos positivos frente a ejemplos negativos?</a:t>
            </a:r>
            <a:endParaRPr>
              <a:solidFill>
                <a:srgbClr val="0000FF"/>
              </a:solidFill>
            </a:endParaRPr>
          </a:p>
          <a:p>
            <a:pPr marL="0" lvl="0" indent="0" algn="l" rtl="0">
              <a:lnSpc>
                <a:spcPct val="115000"/>
              </a:lnSpc>
              <a:spcBef>
                <a:spcPts val="1200"/>
              </a:spcBef>
              <a:spcAft>
                <a:spcPts val="1200"/>
              </a:spcAft>
              <a:buSzPts val="1300"/>
              <a:buNone/>
            </a:pPr>
            <a:r>
              <a:rPr lang="en">
                <a:solidFill>
                  <a:srgbClr val="0000FF"/>
                </a:solidFill>
              </a:rPr>
              <a:t>(Por ejemplo, la correlación entre los videojuegos violentos y el comportamiento violento).</a:t>
            </a:r>
            <a:endParaRPr>
              <a:solidFill>
                <a:srgbClr val="0000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23"/>
          <p:cNvSpPr txBox="1">
            <a:spLocks noGrp="1"/>
          </p:cNvSpPr>
          <p:nvPr>
            <p:ph type="title"/>
          </p:nvPr>
        </p:nvSpPr>
        <p:spPr>
          <a:xfrm>
            <a:off x="1130600" y="566100"/>
            <a:ext cx="83004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5856"/>
              <a:buNone/>
            </a:pPr>
            <a:r>
              <a:rPr lang="en" u="sng"/>
              <a:t>Habits</a:t>
            </a:r>
            <a:r>
              <a:rPr lang="en"/>
              <a:t>: How habits form and how they can change</a:t>
            </a:r>
            <a:endParaRPr sz="2133">
              <a:solidFill>
                <a:schemeClr val="accent1"/>
              </a:solidFill>
            </a:endParaRPr>
          </a:p>
          <a:p>
            <a:pPr marL="0" lvl="0" indent="0" algn="l" rtl="0">
              <a:lnSpc>
                <a:spcPct val="100000"/>
              </a:lnSpc>
              <a:spcBef>
                <a:spcPts val="0"/>
              </a:spcBef>
              <a:spcAft>
                <a:spcPts val="0"/>
              </a:spcAft>
              <a:buSzPct val="145856"/>
              <a:buNone/>
            </a:pPr>
            <a:r>
              <a:rPr lang="en" sz="2133">
                <a:solidFill>
                  <a:srgbClr val="0000FF"/>
                </a:solidFill>
              </a:rPr>
              <a:t>Cómo se forman los hábitos y cómo se pueden cambiar</a:t>
            </a:r>
            <a:endParaRPr sz="2133">
              <a:solidFill>
                <a:srgbClr val="0000FF"/>
              </a:solidFill>
            </a:endParaRPr>
          </a:p>
        </p:txBody>
      </p:sp>
      <p:sp>
        <p:nvSpPr>
          <p:cNvPr id="662" name="Google Shape;662;p23"/>
          <p:cNvSpPr txBox="1">
            <a:spLocks noGrp="1"/>
          </p:cNvSpPr>
          <p:nvPr>
            <p:ph type="body" idx="1"/>
          </p:nvPr>
        </p:nvSpPr>
        <p:spPr>
          <a:xfrm>
            <a:off x="311700" y="1510722"/>
            <a:ext cx="8520600" cy="3416400"/>
          </a:xfrm>
          <a:prstGeom prst="rect">
            <a:avLst/>
          </a:prstGeom>
          <a:noFill/>
          <a:ln>
            <a:noFill/>
          </a:ln>
        </p:spPr>
        <p:txBody>
          <a:bodyPr spcFirstLastPara="1" wrap="square" lIns="91425" tIns="91425" rIns="91425" bIns="91425" anchor="t" anchorCtr="0">
            <a:normAutofit lnSpcReduction="10000"/>
          </a:bodyPr>
          <a:lstStyle/>
          <a:p>
            <a:pPr marL="457200" lvl="0" indent="-323850" algn="l" rtl="0">
              <a:lnSpc>
                <a:spcPct val="115000"/>
              </a:lnSpc>
              <a:spcBef>
                <a:spcPts val="0"/>
              </a:spcBef>
              <a:spcAft>
                <a:spcPts val="0"/>
              </a:spcAft>
              <a:buSzPts val="1500"/>
              <a:buChar char="●"/>
            </a:pPr>
            <a:r>
              <a:rPr lang="en" sz="1500"/>
              <a:t>A habit is a behavior we have learned, but not always consciously. </a:t>
            </a:r>
            <a:endParaRPr sz="1500"/>
          </a:p>
          <a:p>
            <a:pPr marL="457200" lvl="0" indent="0" algn="l" rtl="0">
              <a:spcBef>
                <a:spcPts val="1200"/>
              </a:spcBef>
              <a:spcAft>
                <a:spcPts val="0"/>
              </a:spcAft>
              <a:buNone/>
            </a:pPr>
            <a:r>
              <a:rPr lang="en" sz="1500">
                <a:solidFill>
                  <a:srgbClr val="0000FF"/>
                </a:solidFill>
              </a:rPr>
              <a:t>Un hábito es un comportamiento que hemos aprendido, pero no siempre de forma consciente </a:t>
            </a:r>
            <a:endParaRPr sz="1500">
              <a:solidFill>
                <a:srgbClr val="0000FF"/>
              </a:solidFill>
            </a:endParaRPr>
          </a:p>
          <a:p>
            <a:pPr marL="457200" lvl="0" indent="0" algn="l" rtl="0">
              <a:spcBef>
                <a:spcPts val="1200"/>
              </a:spcBef>
              <a:spcAft>
                <a:spcPts val="0"/>
              </a:spcAft>
              <a:buNone/>
            </a:pPr>
            <a:endParaRPr sz="1500">
              <a:solidFill>
                <a:srgbClr val="0000FF"/>
              </a:solidFill>
            </a:endParaRPr>
          </a:p>
          <a:p>
            <a:pPr marL="457200" lvl="0" indent="-323850" algn="l" rtl="0">
              <a:lnSpc>
                <a:spcPct val="115000"/>
              </a:lnSpc>
              <a:spcBef>
                <a:spcPts val="0"/>
              </a:spcBef>
              <a:spcAft>
                <a:spcPts val="0"/>
              </a:spcAft>
              <a:buSzPts val="1500"/>
              <a:buChar char="●"/>
            </a:pPr>
            <a:r>
              <a:rPr lang="en" sz="1500"/>
              <a:t>Habits become automatic through repetition and reinforcement</a:t>
            </a:r>
            <a:endParaRPr sz="1500"/>
          </a:p>
          <a:p>
            <a:pPr marL="457200" lvl="0" indent="0" algn="l" rtl="0">
              <a:lnSpc>
                <a:spcPct val="115000"/>
              </a:lnSpc>
              <a:spcBef>
                <a:spcPts val="1200"/>
              </a:spcBef>
              <a:spcAft>
                <a:spcPts val="0"/>
              </a:spcAft>
              <a:buSzPts val="1300"/>
              <a:buNone/>
            </a:pPr>
            <a:r>
              <a:rPr lang="en" sz="1500">
                <a:solidFill>
                  <a:srgbClr val="0000FF"/>
                </a:solidFill>
              </a:rPr>
              <a:t>Hábitos se vuelven automáticos a través de la repetición y el refuerzo.</a:t>
            </a:r>
            <a:endParaRPr sz="1500">
              <a:solidFill>
                <a:srgbClr val="0000FF"/>
              </a:solidFill>
            </a:endParaRPr>
          </a:p>
          <a:p>
            <a:pPr marL="0" lvl="0" indent="0" algn="l" rtl="0">
              <a:lnSpc>
                <a:spcPct val="115000"/>
              </a:lnSpc>
              <a:spcBef>
                <a:spcPts val="1200"/>
              </a:spcBef>
              <a:spcAft>
                <a:spcPts val="0"/>
              </a:spcAft>
              <a:buSzPts val="1300"/>
              <a:buNone/>
            </a:pPr>
            <a:endParaRPr sz="1500"/>
          </a:p>
          <a:p>
            <a:pPr marL="0" lvl="0" indent="0" algn="l" rtl="0">
              <a:lnSpc>
                <a:spcPct val="115000"/>
              </a:lnSpc>
              <a:spcBef>
                <a:spcPts val="1200"/>
              </a:spcBef>
              <a:spcAft>
                <a:spcPts val="0"/>
              </a:spcAft>
              <a:buSzPts val="1300"/>
              <a:buNone/>
            </a:pPr>
            <a:r>
              <a:rPr lang="en" sz="1500">
                <a:solidFill>
                  <a:srgbClr val="FF0000"/>
                </a:solidFill>
              </a:rPr>
              <a:t>What are examples of habits? </a:t>
            </a:r>
            <a:endParaRPr sz="1500">
              <a:solidFill>
                <a:srgbClr val="FF0000"/>
              </a:solidFill>
            </a:endParaRPr>
          </a:p>
          <a:p>
            <a:pPr marL="0" lvl="0" indent="0" algn="l" rtl="0">
              <a:lnSpc>
                <a:spcPct val="115000"/>
              </a:lnSpc>
              <a:spcBef>
                <a:spcPts val="1200"/>
              </a:spcBef>
              <a:spcAft>
                <a:spcPts val="1200"/>
              </a:spcAft>
              <a:buSzPts val="1300"/>
              <a:buNone/>
            </a:pPr>
            <a:r>
              <a:rPr lang="en" sz="1500">
                <a:solidFill>
                  <a:srgbClr val="0000FF"/>
                </a:solidFill>
              </a:rPr>
              <a:t>¿Cuáles son algunos ejemplos de hábitos?</a:t>
            </a:r>
            <a:endParaRPr sz="1500">
              <a:solidFill>
                <a:srgbClr val="0000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24"/>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5856"/>
              <a:buNone/>
            </a:pPr>
            <a:r>
              <a:rPr lang="en"/>
              <a:t>The brain and habit formation</a:t>
            </a:r>
            <a:endParaRPr sz="2133">
              <a:solidFill>
                <a:schemeClr val="accent1"/>
              </a:solidFill>
            </a:endParaRPr>
          </a:p>
          <a:p>
            <a:pPr marL="0" lvl="0" indent="0" algn="l" rtl="0">
              <a:lnSpc>
                <a:spcPct val="100000"/>
              </a:lnSpc>
              <a:spcBef>
                <a:spcPts val="0"/>
              </a:spcBef>
              <a:spcAft>
                <a:spcPts val="0"/>
              </a:spcAft>
              <a:buClr>
                <a:schemeClr val="dk1"/>
              </a:buClr>
              <a:buSzPct val="51697"/>
              <a:buFont typeface="Arial"/>
              <a:buNone/>
            </a:pPr>
            <a:r>
              <a:rPr lang="en" sz="2128">
                <a:solidFill>
                  <a:srgbClr val="0000FF"/>
                </a:solidFill>
              </a:rPr>
              <a:t>El cerebro y la formación de los hábitos</a:t>
            </a:r>
            <a:endParaRPr sz="2128">
              <a:solidFill>
                <a:srgbClr val="0000FF"/>
              </a:solidFill>
            </a:endParaRPr>
          </a:p>
          <a:p>
            <a:pPr marL="0" lvl="0" indent="0" algn="l" rtl="0">
              <a:lnSpc>
                <a:spcPct val="100000"/>
              </a:lnSpc>
              <a:spcBef>
                <a:spcPts val="0"/>
              </a:spcBef>
              <a:spcAft>
                <a:spcPts val="0"/>
              </a:spcAft>
              <a:buClr>
                <a:schemeClr val="dk1"/>
              </a:buClr>
              <a:buSzPct val="100000"/>
              <a:buFont typeface="Arial"/>
              <a:buNone/>
            </a:pPr>
            <a:endParaRPr sz="1100"/>
          </a:p>
          <a:p>
            <a:pPr marL="0" lvl="0" indent="0" algn="l" rtl="0">
              <a:lnSpc>
                <a:spcPct val="100000"/>
              </a:lnSpc>
              <a:spcBef>
                <a:spcPts val="0"/>
              </a:spcBef>
              <a:spcAft>
                <a:spcPts val="0"/>
              </a:spcAft>
              <a:buSzPct val="145856"/>
              <a:buNone/>
            </a:pPr>
            <a:endParaRPr sz="2133">
              <a:solidFill>
                <a:schemeClr val="accent1"/>
              </a:solidFill>
            </a:endParaRPr>
          </a:p>
        </p:txBody>
      </p:sp>
      <p:sp>
        <p:nvSpPr>
          <p:cNvPr id="668" name="Google Shape;668;p24"/>
          <p:cNvSpPr txBox="1">
            <a:spLocks noGrp="1"/>
          </p:cNvSpPr>
          <p:nvPr>
            <p:ph type="body" idx="1"/>
          </p:nvPr>
        </p:nvSpPr>
        <p:spPr>
          <a:xfrm>
            <a:off x="311700" y="1478250"/>
            <a:ext cx="4748700" cy="3416400"/>
          </a:xfrm>
          <a:prstGeom prst="rect">
            <a:avLst/>
          </a:prstGeom>
          <a:noFill/>
          <a:ln>
            <a:noFill/>
          </a:ln>
        </p:spPr>
        <p:txBody>
          <a:bodyPr spcFirstLastPara="1" wrap="square" lIns="91425" tIns="91425" rIns="91425" bIns="91425" anchor="t" anchorCtr="0">
            <a:normAutofit fontScale="85000" lnSpcReduction="20000"/>
          </a:bodyPr>
          <a:lstStyle/>
          <a:p>
            <a:pPr marL="457200" lvl="0" indent="-344808" algn="l" rtl="0">
              <a:lnSpc>
                <a:spcPct val="115000"/>
              </a:lnSpc>
              <a:spcBef>
                <a:spcPts val="0"/>
              </a:spcBef>
              <a:spcAft>
                <a:spcPts val="0"/>
              </a:spcAft>
              <a:buSzPct val="100000"/>
              <a:buChar char="●"/>
            </a:pPr>
            <a:r>
              <a:rPr lang="en" sz="2153"/>
              <a:t>The prefrontal cortex is required for new actions</a:t>
            </a:r>
            <a:endParaRPr sz="2153"/>
          </a:p>
          <a:p>
            <a:pPr marL="914400" lvl="0" indent="0" algn="l" rtl="0">
              <a:lnSpc>
                <a:spcPct val="115000"/>
              </a:lnSpc>
              <a:spcBef>
                <a:spcPts val="1200"/>
              </a:spcBef>
              <a:spcAft>
                <a:spcPts val="0"/>
              </a:spcAft>
              <a:buSzPct val="82671"/>
              <a:buNone/>
            </a:pPr>
            <a:r>
              <a:rPr lang="en" sz="1850">
                <a:solidFill>
                  <a:srgbClr val="0000FF"/>
                </a:solidFill>
              </a:rPr>
              <a:t>La corteza prefrontal es necesaria para las nuevas acciones</a:t>
            </a:r>
            <a:endParaRPr sz="1850">
              <a:solidFill>
                <a:srgbClr val="0000FF"/>
              </a:solidFill>
            </a:endParaRPr>
          </a:p>
          <a:p>
            <a:pPr marL="457200" lvl="0" indent="-343900" algn="l" rtl="0">
              <a:lnSpc>
                <a:spcPct val="115000"/>
              </a:lnSpc>
              <a:spcBef>
                <a:spcPts val="1200"/>
              </a:spcBef>
              <a:spcAft>
                <a:spcPts val="0"/>
              </a:spcAft>
              <a:buSzPct val="100000"/>
              <a:buChar char="●"/>
            </a:pPr>
            <a:r>
              <a:rPr lang="en" sz="2135"/>
              <a:t>The basal ganglia is involved in habit automation and is responsible for storing habits and automatic routines</a:t>
            </a:r>
            <a:endParaRPr sz="2135"/>
          </a:p>
          <a:p>
            <a:pPr marL="914400" lvl="0" indent="0" algn="l" rtl="0">
              <a:lnSpc>
                <a:spcPct val="115000"/>
              </a:lnSpc>
              <a:spcBef>
                <a:spcPts val="1200"/>
              </a:spcBef>
              <a:spcAft>
                <a:spcPts val="1200"/>
              </a:spcAft>
              <a:buSzPct val="79948"/>
              <a:buNone/>
            </a:pPr>
            <a:r>
              <a:rPr lang="en" sz="1913">
                <a:solidFill>
                  <a:srgbClr val="0000FF"/>
                </a:solidFill>
              </a:rPr>
              <a:t>Los ganglios basales participan en la automatización de hábitos y son responsables de almacenar hábitos y rutinas automáticas</a:t>
            </a:r>
            <a:endParaRPr>
              <a:solidFill>
                <a:srgbClr val="0000FF"/>
              </a:solidFill>
            </a:endParaRPr>
          </a:p>
        </p:txBody>
      </p:sp>
      <p:pic>
        <p:nvPicPr>
          <p:cNvPr id="669" name="Google Shape;669;p24" title="Screenshot 2026-02-18 at 3.12.05 PM.png"/>
          <p:cNvPicPr preferRelativeResize="0"/>
          <p:nvPr/>
        </p:nvPicPr>
        <p:blipFill rotWithShape="1">
          <a:blip r:embed="rId3">
            <a:alphaModFix/>
          </a:blip>
          <a:srcRect/>
          <a:stretch/>
        </p:blipFill>
        <p:spPr>
          <a:xfrm>
            <a:off x="5128725" y="1599050"/>
            <a:ext cx="3894900" cy="2073475"/>
          </a:xfrm>
          <a:prstGeom prst="rect">
            <a:avLst/>
          </a:prstGeom>
          <a:noFill/>
          <a:ln>
            <a:noFill/>
          </a:ln>
        </p:spPr>
      </p:pic>
      <p:sp>
        <p:nvSpPr>
          <p:cNvPr id="670" name="Google Shape;670;p24"/>
          <p:cNvSpPr txBox="1"/>
          <p:nvPr/>
        </p:nvSpPr>
        <p:spPr>
          <a:xfrm>
            <a:off x="7381300" y="1534076"/>
            <a:ext cx="1698000" cy="1875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1200"/>
              </a:spcAft>
              <a:buClr>
                <a:schemeClr val="dk1"/>
              </a:buClr>
              <a:buSzPts val="1100"/>
              <a:buFont typeface="Arial"/>
              <a:buNone/>
            </a:pPr>
            <a:r>
              <a:rPr lang="en" sz="1100" b="1" i="0" u="none" strike="noStrike" cap="none">
                <a:solidFill>
                  <a:srgbClr val="0000FF"/>
                </a:solidFill>
              </a:rPr>
              <a:t>Los ganglios basales</a:t>
            </a:r>
            <a:endParaRPr sz="1100" b="1" i="0" u="none" strike="noStrike" cap="none">
              <a:solidFill>
                <a:srgbClr val="0000FF"/>
              </a:solidFill>
            </a:endParaRPr>
          </a:p>
        </p:txBody>
      </p:sp>
      <p:sp>
        <p:nvSpPr>
          <p:cNvPr id="671" name="Google Shape;671;p24"/>
          <p:cNvSpPr txBox="1"/>
          <p:nvPr/>
        </p:nvSpPr>
        <p:spPr>
          <a:xfrm>
            <a:off x="4983175" y="3571300"/>
            <a:ext cx="1698000" cy="237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1200"/>
              </a:spcAft>
              <a:buClr>
                <a:schemeClr val="dk1"/>
              </a:buClr>
              <a:buSzPts val="1100"/>
              <a:buFont typeface="Arial"/>
              <a:buNone/>
            </a:pPr>
            <a:r>
              <a:rPr lang="en" sz="1200" b="1" i="0" u="none" strike="noStrike" cap="none">
                <a:solidFill>
                  <a:srgbClr val="0000FF"/>
                </a:solidFill>
              </a:rPr>
              <a:t>La corteza prefrontal </a:t>
            </a:r>
            <a:endParaRPr sz="1200" b="1" i="0" u="none" strike="noStrike" cap="none">
              <a:solidFill>
                <a:srgbClr val="0000FF"/>
              </a:solidFill>
            </a:endParaRPr>
          </a:p>
        </p:txBody>
      </p:sp>
      <p:sp>
        <p:nvSpPr>
          <p:cNvPr id="672" name="Google Shape;672;p24"/>
          <p:cNvSpPr txBox="1"/>
          <p:nvPr/>
        </p:nvSpPr>
        <p:spPr>
          <a:xfrm>
            <a:off x="6418550" y="4448625"/>
            <a:ext cx="2088900" cy="23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2"/>
                </a:solidFill>
                <a:latin typeface="Nunito"/>
                <a:ea typeface="Nunito"/>
                <a:cs typeface="Nunito"/>
                <a:sym typeface="Nunito"/>
              </a:rPr>
              <a:t>Wood and Rünger, 2016</a:t>
            </a:r>
            <a:endParaRPr sz="1300">
              <a:solidFill>
                <a:schemeClr val="dk2"/>
              </a:solidFill>
              <a:latin typeface="Nunito"/>
              <a:ea typeface="Nunito"/>
              <a:cs typeface="Nunito"/>
              <a:sym typeface="Nunito"/>
            </a:endParaRPr>
          </a:p>
          <a:p>
            <a:pPr marL="0" lvl="0" indent="0" algn="l" rtl="0">
              <a:spcBef>
                <a:spcPts val="0"/>
              </a:spcBef>
              <a:spcAft>
                <a:spcPts val="0"/>
              </a:spcAft>
              <a:buNone/>
            </a:pPr>
            <a:r>
              <a:rPr lang="en" sz="1300">
                <a:solidFill>
                  <a:schemeClr val="dk2"/>
                </a:solidFill>
                <a:latin typeface="Nunito"/>
                <a:ea typeface="Nunito"/>
                <a:cs typeface="Nunito"/>
                <a:sym typeface="Nunito"/>
              </a:rPr>
              <a:t>The Psychology of Habit</a:t>
            </a:r>
            <a:endParaRPr sz="1300">
              <a:solidFill>
                <a:schemeClr val="dk2"/>
              </a:solidFill>
              <a:latin typeface="Nunito"/>
              <a:ea typeface="Nunito"/>
              <a:cs typeface="Nunito"/>
              <a:sym typeface="Nuni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25"/>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5856"/>
              <a:buNone/>
            </a:pPr>
            <a:r>
              <a:rPr lang="en"/>
              <a:t>The brain and habit formation</a:t>
            </a:r>
            <a:endParaRPr sz="2133">
              <a:solidFill>
                <a:schemeClr val="accent1"/>
              </a:solidFill>
            </a:endParaRPr>
          </a:p>
          <a:p>
            <a:pPr marL="0" lvl="0" indent="0" algn="l" rtl="0">
              <a:lnSpc>
                <a:spcPct val="100000"/>
              </a:lnSpc>
              <a:spcBef>
                <a:spcPts val="0"/>
              </a:spcBef>
              <a:spcAft>
                <a:spcPts val="0"/>
              </a:spcAft>
              <a:buSzPct val="146199"/>
              <a:buNone/>
            </a:pPr>
            <a:r>
              <a:rPr lang="en" sz="2128">
                <a:solidFill>
                  <a:srgbClr val="0000FF"/>
                </a:solidFill>
              </a:rPr>
              <a:t>El cerebro y la formación de los hábitos</a:t>
            </a:r>
            <a:endParaRPr sz="2128">
              <a:solidFill>
                <a:srgbClr val="0000FF"/>
              </a:solidFill>
            </a:endParaRPr>
          </a:p>
          <a:p>
            <a:pPr marL="0" lvl="0" indent="0" algn="l" rtl="0">
              <a:lnSpc>
                <a:spcPct val="100000"/>
              </a:lnSpc>
              <a:spcBef>
                <a:spcPts val="0"/>
              </a:spcBef>
              <a:spcAft>
                <a:spcPts val="0"/>
              </a:spcAft>
              <a:buSzPct val="282828"/>
              <a:buNone/>
            </a:pPr>
            <a:endParaRPr sz="1100"/>
          </a:p>
          <a:p>
            <a:pPr marL="0" lvl="0" indent="0" algn="l" rtl="0">
              <a:lnSpc>
                <a:spcPct val="100000"/>
              </a:lnSpc>
              <a:spcBef>
                <a:spcPts val="0"/>
              </a:spcBef>
              <a:spcAft>
                <a:spcPts val="0"/>
              </a:spcAft>
              <a:buSzPct val="145856"/>
              <a:buNone/>
            </a:pPr>
            <a:endParaRPr sz="2133">
              <a:solidFill>
                <a:schemeClr val="accent1"/>
              </a:solidFill>
            </a:endParaRPr>
          </a:p>
        </p:txBody>
      </p:sp>
      <p:sp>
        <p:nvSpPr>
          <p:cNvPr id="678" name="Google Shape;678;p25"/>
          <p:cNvSpPr txBox="1">
            <a:spLocks noGrp="1"/>
          </p:cNvSpPr>
          <p:nvPr>
            <p:ph type="body" idx="1"/>
          </p:nvPr>
        </p:nvSpPr>
        <p:spPr>
          <a:xfrm>
            <a:off x="311700" y="1478250"/>
            <a:ext cx="5322900" cy="3416400"/>
          </a:xfrm>
          <a:prstGeom prst="rect">
            <a:avLst/>
          </a:prstGeom>
          <a:noFill/>
          <a:ln>
            <a:noFill/>
          </a:ln>
        </p:spPr>
        <p:txBody>
          <a:bodyPr spcFirstLastPara="1" wrap="square" lIns="91425" tIns="91425" rIns="91425" bIns="91425" anchor="t" anchorCtr="0">
            <a:normAutofit/>
          </a:bodyPr>
          <a:lstStyle/>
          <a:p>
            <a:pPr marL="457200" lvl="0" indent="-350098" algn="l" rtl="0">
              <a:lnSpc>
                <a:spcPct val="115000"/>
              </a:lnSpc>
              <a:spcBef>
                <a:spcPts val="0"/>
              </a:spcBef>
              <a:spcAft>
                <a:spcPts val="0"/>
              </a:spcAft>
              <a:buClr>
                <a:srgbClr val="666666"/>
              </a:buClr>
              <a:buSzPts val="1913"/>
              <a:buChar char="●"/>
            </a:pPr>
            <a:r>
              <a:rPr lang="en" sz="1913">
                <a:solidFill>
                  <a:srgbClr val="666666"/>
                </a:solidFill>
              </a:rPr>
              <a:t>Dopamine motivates behavior, signaling reward prediction and when it is received </a:t>
            </a:r>
            <a:endParaRPr sz="1913">
              <a:solidFill>
                <a:srgbClr val="666666"/>
              </a:solidFill>
            </a:endParaRPr>
          </a:p>
          <a:p>
            <a:pPr marL="457200" lvl="0" indent="0" algn="l" rtl="0">
              <a:lnSpc>
                <a:spcPct val="115000"/>
              </a:lnSpc>
              <a:spcBef>
                <a:spcPts val="600"/>
              </a:spcBef>
              <a:spcAft>
                <a:spcPts val="0"/>
              </a:spcAft>
              <a:buSzPts val="1300"/>
              <a:buNone/>
            </a:pPr>
            <a:r>
              <a:rPr lang="en" sz="1600">
                <a:solidFill>
                  <a:srgbClr val="0000FF"/>
                </a:solidFill>
              </a:rPr>
              <a:t>La dopamina motiva el comportamiento: señala la predicción de la recompensa y el momento en que se recibe</a:t>
            </a:r>
            <a:endParaRPr sz="1600">
              <a:solidFill>
                <a:srgbClr val="0000FF"/>
              </a:solidFill>
            </a:endParaRPr>
          </a:p>
          <a:p>
            <a:pPr marL="457200" lvl="0" indent="-349250" algn="l" rtl="0">
              <a:lnSpc>
                <a:spcPct val="115000"/>
              </a:lnSpc>
              <a:spcBef>
                <a:spcPts val="1200"/>
              </a:spcBef>
              <a:spcAft>
                <a:spcPts val="0"/>
              </a:spcAft>
              <a:buClr>
                <a:srgbClr val="666666"/>
              </a:buClr>
              <a:buSzPts val="1900"/>
              <a:buChar char="●"/>
            </a:pPr>
            <a:r>
              <a:rPr lang="en" sz="1900">
                <a:solidFill>
                  <a:srgbClr val="666666"/>
                </a:solidFill>
              </a:rPr>
              <a:t>Repetition strengthens neural pathways, forming over 18 to 254 days!</a:t>
            </a:r>
            <a:endParaRPr sz="1900">
              <a:solidFill>
                <a:srgbClr val="666666"/>
              </a:solidFill>
            </a:endParaRPr>
          </a:p>
          <a:p>
            <a:pPr marL="457200" lvl="0" indent="0" algn="l" rtl="0">
              <a:lnSpc>
                <a:spcPct val="115000"/>
              </a:lnSpc>
              <a:spcBef>
                <a:spcPts val="600"/>
              </a:spcBef>
              <a:spcAft>
                <a:spcPts val="0"/>
              </a:spcAft>
              <a:buSzPts val="1300"/>
              <a:buNone/>
            </a:pPr>
            <a:r>
              <a:rPr lang="en" sz="1600">
                <a:solidFill>
                  <a:srgbClr val="0000FF"/>
                </a:solidFill>
              </a:rPr>
              <a:t>La repetición fortalece las vías neuronales, ¡y se forman a lo largo de 18 a 254 días!</a:t>
            </a:r>
            <a:endParaRPr sz="1600">
              <a:solidFill>
                <a:srgbClr val="666666"/>
              </a:solidFill>
            </a:endParaRPr>
          </a:p>
        </p:txBody>
      </p:sp>
      <p:pic>
        <p:nvPicPr>
          <p:cNvPr id="679" name="Google Shape;679;p25" title="Screenshot 2026-02-18 at 4.20.28 PM.png"/>
          <p:cNvPicPr preferRelativeResize="0"/>
          <p:nvPr/>
        </p:nvPicPr>
        <p:blipFill rotWithShape="1">
          <a:blip r:embed="rId3">
            <a:alphaModFix/>
          </a:blip>
          <a:srcRect t="14398"/>
          <a:stretch/>
        </p:blipFill>
        <p:spPr>
          <a:xfrm>
            <a:off x="5977000" y="1597875"/>
            <a:ext cx="3098725" cy="2662051"/>
          </a:xfrm>
          <a:prstGeom prst="rect">
            <a:avLst/>
          </a:prstGeom>
          <a:noFill/>
          <a:ln>
            <a:noFill/>
          </a:ln>
        </p:spPr>
      </p:pic>
      <p:sp>
        <p:nvSpPr>
          <p:cNvPr id="680" name="Google Shape;680;p25"/>
          <p:cNvSpPr txBox="1"/>
          <p:nvPr/>
        </p:nvSpPr>
        <p:spPr>
          <a:xfrm>
            <a:off x="6701233" y="1412825"/>
            <a:ext cx="2023800" cy="15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50"/>
              <a:buFont typeface="Arial"/>
              <a:buNone/>
            </a:pPr>
            <a:r>
              <a:rPr lang="en" sz="1350" b="0" i="0" u="none" strike="noStrike" cap="none">
                <a:solidFill>
                  <a:srgbClr val="0000FF"/>
                </a:solidFill>
                <a:latin typeface="Roboto"/>
                <a:ea typeface="Roboto"/>
                <a:cs typeface="Roboto"/>
                <a:sym typeface="Roboto"/>
              </a:rPr>
              <a:t>Bucle de dopamina</a:t>
            </a:r>
            <a:endParaRPr sz="1300" b="0" i="0" u="none" strike="noStrike" cap="none">
              <a:solidFill>
                <a:srgbClr val="0000FF"/>
              </a:solidFill>
              <a:latin typeface="Nunito"/>
              <a:ea typeface="Nunito"/>
              <a:cs typeface="Nunito"/>
              <a:sym typeface="Nunito"/>
            </a:endParaRPr>
          </a:p>
        </p:txBody>
      </p:sp>
      <p:sp>
        <p:nvSpPr>
          <p:cNvPr id="681" name="Google Shape;681;p25"/>
          <p:cNvSpPr txBox="1"/>
          <p:nvPr/>
        </p:nvSpPr>
        <p:spPr>
          <a:xfrm>
            <a:off x="8488385" y="2507146"/>
            <a:ext cx="764100" cy="592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0000FF"/>
                </a:solidFill>
                <a:highlight>
                  <a:schemeClr val="lt1"/>
                </a:highlight>
                <a:latin typeface="Arial"/>
                <a:ea typeface="Arial"/>
                <a:cs typeface="Arial"/>
                <a:sym typeface="Arial"/>
              </a:rPr>
              <a:t>liberación de dopamina</a:t>
            </a:r>
            <a:endParaRPr sz="750" b="0" i="0" u="none" strike="noStrike" cap="none">
              <a:solidFill>
                <a:srgbClr val="0000FF"/>
              </a:solidFill>
              <a:highlight>
                <a:schemeClr val="lt1"/>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highlight>
                <a:schemeClr val="lt1"/>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dk2"/>
              </a:solidFill>
              <a:highlight>
                <a:schemeClr val="lt1"/>
              </a:highlight>
              <a:latin typeface="Nunito"/>
              <a:ea typeface="Nunito"/>
              <a:cs typeface="Nunito"/>
              <a:sym typeface="Nunito"/>
            </a:endParaRPr>
          </a:p>
        </p:txBody>
      </p:sp>
      <p:sp>
        <p:nvSpPr>
          <p:cNvPr id="682" name="Google Shape;682;p25"/>
          <p:cNvSpPr txBox="1"/>
          <p:nvPr/>
        </p:nvSpPr>
        <p:spPr>
          <a:xfrm>
            <a:off x="5634550" y="2695150"/>
            <a:ext cx="849000" cy="493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50"/>
              <a:buFont typeface="Arial"/>
              <a:buNone/>
            </a:pPr>
            <a:r>
              <a:rPr lang="en" sz="950" b="0" i="0" u="none" strike="noStrike" cap="none">
                <a:solidFill>
                  <a:srgbClr val="0000FF"/>
                </a:solidFill>
                <a:latin typeface="Arial"/>
                <a:ea typeface="Arial"/>
                <a:cs typeface="Arial"/>
                <a:sym typeface="Arial"/>
              </a:rPr>
              <a:t>formación del hábito</a:t>
            </a:r>
            <a:endParaRPr sz="950" b="0"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dk2"/>
              </a:solidFill>
              <a:latin typeface="Nunito"/>
              <a:ea typeface="Nunito"/>
              <a:cs typeface="Nunito"/>
              <a:sym typeface="Nunito"/>
            </a:endParaRPr>
          </a:p>
        </p:txBody>
      </p:sp>
      <p:sp>
        <p:nvSpPr>
          <p:cNvPr id="683" name="Google Shape;683;p25"/>
          <p:cNvSpPr txBox="1"/>
          <p:nvPr/>
        </p:nvSpPr>
        <p:spPr>
          <a:xfrm>
            <a:off x="7116713" y="2391783"/>
            <a:ext cx="819300" cy="7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FF"/>
                </a:solidFill>
                <a:latin typeface="Nunito"/>
                <a:ea typeface="Nunito"/>
                <a:cs typeface="Nunito"/>
                <a:sym typeface="Nunito"/>
              </a:rPr>
              <a:t>el estímulo</a:t>
            </a:r>
            <a:endParaRPr sz="1000" b="0" i="0" u="none" strike="noStrike" cap="none">
              <a:solidFill>
                <a:srgbClr val="0000FF"/>
              </a:solidFill>
              <a:latin typeface="Nunito"/>
              <a:ea typeface="Nunito"/>
              <a:cs typeface="Nunito"/>
              <a:sym typeface="Nunito"/>
            </a:endParaRPr>
          </a:p>
        </p:txBody>
      </p:sp>
      <p:sp>
        <p:nvSpPr>
          <p:cNvPr id="684" name="Google Shape;684;p25"/>
          <p:cNvSpPr txBox="1"/>
          <p:nvPr/>
        </p:nvSpPr>
        <p:spPr>
          <a:xfrm>
            <a:off x="5854300" y="1941188"/>
            <a:ext cx="967500" cy="7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FF"/>
                </a:solidFill>
                <a:latin typeface="Roboto"/>
                <a:ea typeface="Roboto"/>
                <a:cs typeface="Roboto"/>
                <a:sym typeface="Roboto"/>
              </a:rPr>
              <a:t>la adicción</a:t>
            </a:r>
            <a:endParaRPr sz="1000" b="0" i="0" u="none" strike="noStrike" cap="none">
              <a:solidFill>
                <a:srgbClr val="0000FF"/>
              </a:solidFill>
              <a:latin typeface="Nunito"/>
              <a:ea typeface="Nunito"/>
              <a:cs typeface="Nunito"/>
              <a:sym typeface="Nunito"/>
            </a:endParaRPr>
          </a:p>
        </p:txBody>
      </p:sp>
      <p:sp>
        <p:nvSpPr>
          <p:cNvPr id="685" name="Google Shape;685;p25"/>
          <p:cNvSpPr txBox="1"/>
          <p:nvPr/>
        </p:nvSpPr>
        <p:spPr>
          <a:xfrm>
            <a:off x="8346054" y="1941200"/>
            <a:ext cx="1086000" cy="15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FF"/>
                </a:solidFill>
                <a:latin typeface="Roboto"/>
                <a:ea typeface="Roboto"/>
                <a:cs typeface="Roboto"/>
                <a:sym typeface="Roboto"/>
              </a:rPr>
              <a:t>la distracción</a:t>
            </a:r>
            <a:endParaRPr sz="900" b="0" i="0" u="none" strike="noStrike" cap="none">
              <a:solidFill>
                <a:srgbClr val="0000FF"/>
              </a:solidFill>
              <a:latin typeface="Nunito"/>
              <a:ea typeface="Nunito"/>
              <a:cs typeface="Nunito"/>
              <a:sym typeface="Nunito"/>
            </a:endParaRPr>
          </a:p>
        </p:txBody>
      </p:sp>
      <p:sp>
        <p:nvSpPr>
          <p:cNvPr id="686" name="Google Shape;686;p25"/>
          <p:cNvSpPr txBox="1"/>
          <p:nvPr/>
        </p:nvSpPr>
        <p:spPr>
          <a:xfrm>
            <a:off x="8375958" y="3590388"/>
            <a:ext cx="1016700" cy="7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a:solidFill>
                  <a:srgbClr val="0000FF"/>
                </a:solidFill>
                <a:latin typeface="Roboto"/>
                <a:ea typeface="Roboto"/>
                <a:cs typeface="Roboto"/>
                <a:sym typeface="Roboto"/>
              </a:rPr>
              <a:t>el placer</a:t>
            </a:r>
            <a:endParaRPr sz="900" b="0" i="0" u="none" strike="noStrike" cap="none">
              <a:solidFill>
                <a:srgbClr val="0000FF"/>
              </a:solidFill>
              <a:latin typeface="Nunito"/>
              <a:ea typeface="Nunito"/>
              <a:cs typeface="Nunito"/>
              <a:sym typeface="Nunito"/>
            </a:endParaRPr>
          </a:p>
        </p:txBody>
      </p:sp>
      <p:sp>
        <p:nvSpPr>
          <p:cNvPr id="687" name="Google Shape;687;p25"/>
          <p:cNvSpPr txBox="1"/>
          <p:nvPr/>
        </p:nvSpPr>
        <p:spPr>
          <a:xfrm>
            <a:off x="5977000" y="3590400"/>
            <a:ext cx="967500" cy="7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FF"/>
                </a:solidFill>
                <a:latin typeface="Roboto"/>
                <a:ea typeface="Roboto"/>
                <a:cs typeface="Roboto"/>
                <a:sym typeface="Roboto"/>
              </a:rPr>
              <a:t>el refuerzo</a:t>
            </a:r>
            <a:endParaRPr sz="900" b="0" i="0" u="none" strike="noStrike" cap="none">
              <a:solidFill>
                <a:srgbClr val="0000FF"/>
              </a:solidFill>
              <a:latin typeface="Nunito"/>
              <a:ea typeface="Nunito"/>
              <a:cs typeface="Nunito"/>
              <a:sym typeface="Nunito"/>
            </a:endParaRPr>
          </a:p>
        </p:txBody>
      </p:sp>
      <p:sp>
        <p:nvSpPr>
          <p:cNvPr id="688" name="Google Shape;688;p25"/>
          <p:cNvSpPr txBox="1"/>
          <p:nvPr/>
        </p:nvSpPr>
        <p:spPr>
          <a:xfrm>
            <a:off x="7064671" y="4042835"/>
            <a:ext cx="1421700" cy="7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 sz="1050" b="0" i="0" u="none" strike="noStrike" cap="none">
                <a:solidFill>
                  <a:srgbClr val="0000FF"/>
                </a:solidFill>
                <a:latin typeface="Arial"/>
                <a:ea typeface="Arial"/>
                <a:cs typeface="Arial"/>
                <a:sym typeface="Arial"/>
              </a:rPr>
              <a:t>deseo de más</a:t>
            </a:r>
            <a:endParaRPr sz="1050" b="0"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dk2"/>
              </a:solidFill>
              <a:latin typeface="Nunito"/>
              <a:ea typeface="Nunito"/>
              <a:cs typeface="Nunito"/>
              <a:sym typeface="Nunito"/>
            </a:endParaRPr>
          </a:p>
        </p:txBody>
      </p:sp>
      <p:sp>
        <p:nvSpPr>
          <p:cNvPr id="689" name="Google Shape;689;p25"/>
          <p:cNvSpPr txBox="1"/>
          <p:nvPr/>
        </p:nvSpPr>
        <p:spPr>
          <a:xfrm>
            <a:off x="6564558" y="1170200"/>
            <a:ext cx="2063400" cy="15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50"/>
              <a:buFont typeface="Arial"/>
              <a:buNone/>
            </a:pPr>
            <a:r>
              <a:rPr lang="en" sz="1650" b="1">
                <a:solidFill>
                  <a:schemeClr val="dk2"/>
                </a:solidFill>
                <a:latin typeface="EB Garamond"/>
                <a:ea typeface="EB Garamond"/>
                <a:cs typeface="EB Garamond"/>
                <a:sym typeface="EB Garamond"/>
              </a:rPr>
              <a:t>The dopamine loop</a:t>
            </a:r>
            <a:endParaRPr sz="1600" b="1" i="0" u="none" strike="noStrike" cap="none">
              <a:solidFill>
                <a:schemeClr val="dk2"/>
              </a:solidFill>
              <a:latin typeface="EB Garamond"/>
              <a:ea typeface="EB Garamond"/>
              <a:cs typeface="EB Garamond"/>
              <a:sym typeface="EB Garamond"/>
            </a:endParaRPr>
          </a:p>
        </p:txBody>
      </p:sp>
      <p:sp>
        <p:nvSpPr>
          <p:cNvPr id="690" name="Google Shape;690;p25"/>
          <p:cNvSpPr/>
          <p:nvPr/>
        </p:nvSpPr>
        <p:spPr>
          <a:xfrm>
            <a:off x="7250800" y="2682650"/>
            <a:ext cx="609900" cy="493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26"/>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a:t>The Habit Loop </a:t>
            </a:r>
            <a:endParaRPr/>
          </a:p>
          <a:p>
            <a:pPr marL="0" lvl="0" indent="0" algn="l" rtl="0">
              <a:lnSpc>
                <a:spcPct val="100000"/>
              </a:lnSpc>
              <a:spcBef>
                <a:spcPts val="0"/>
              </a:spcBef>
              <a:spcAft>
                <a:spcPts val="0"/>
              </a:spcAft>
              <a:buSzPts val="2800"/>
              <a:buNone/>
            </a:pPr>
            <a:r>
              <a:rPr lang="en" sz="2467">
                <a:solidFill>
                  <a:srgbClr val="0000FF"/>
                </a:solidFill>
              </a:rPr>
              <a:t>El bucle del hábito</a:t>
            </a:r>
            <a:endParaRPr sz="2467">
              <a:solidFill>
                <a:srgbClr val="0000FF"/>
              </a:solidFill>
            </a:endParaRPr>
          </a:p>
        </p:txBody>
      </p:sp>
      <p:pic>
        <p:nvPicPr>
          <p:cNvPr id="696" name="Google Shape;696;p26"/>
          <p:cNvPicPr preferRelativeResize="0"/>
          <p:nvPr/>
        </p:nvPicPr>
        <p:blipFill rotWithShape="1">
          <a:blip r:embed="rId3">
            <a:alphaModFix/>
          </a:blip>
          <a:srcRect/>
          <a:stretch/>
        </p:blipFill>
        <p:spPr>
          <a:xfrm>
            <a:off x="1564550" y="1597874"/>
            <a:ext cx="6153150" cy="3269900"/>
          </a:xfrm>
          <a:prstGeom prst="rect">
            <a:avLst/>
          </a:prstGeom>
          <a:noFill/>
          <a:ln>
            <a:noFill/>
          </a:ln>
        </p:spPr>
      </p:pic>
      <p:sp>
        <p:nvSpPr>
          <p:cNvPr id="697" name="Google Shape;697;p26"/>
          <p:cNvSpPr txBox="1"/>
          <p:nvPr/>
        </p:nvSpPr>
        <p:spPr>
          <a:xfrm>
            <a:off x="5015175" y="1471850"/>
            <a:ext cx="3198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FF"/>
                </a:solidFill>
                <a:latin typeface="Arial"/>
                <a:ea typeface="Arial"/>
                <a:cs typeface="Arial"/>
                <a:sym typeface="Arial"/>
              </a:rPr>
              <a:t>Activa el modo automático del cerebro</a:t>
            </a:r>
            <a:endParaRPr sz="1300" b="0"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FF"/>
                </a:solidFill>
                <a:latin typeface="Arial"/>
                <a:ea typeface="Arial"/>
                <a:cs typeface="Arial"/>
                <a:sym typeface="Arial"/>
              </a:rPr>
              <a:t>Le indica qué hábito debe utilizar</a:t>
            </a:r>
            <a:endParaRPr sz="1300" b="0"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accent1"/>
              </a:solidFill>
              <a:latin typeface="Arial"/>
              <a:ea typeface="Arial"/>
              <a:cs typeface="Arial"/>
              <a:sym typeface="Arial"/>
            </a:endParaRPr>
          </a:p>
        </p:txBody>
      </p:sp>
      <p:sp>
        <p:nvSpPr>
          <p:cNvPr id="698" name="Google Shape;698;p26"/>
          <p:cNvSpPr txBox="1"/>
          <p:nvPr/>
        </p:nvSpPr>
        <p:spPr>
          <a:xfrm>
            <a:off x="4167275" y="1689050"/>
            <a:ext cx="1046400" cy="13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400" b="1" i="0" u="none" strike="noStrike" cap="none">
                <a:solidFill>
                  <a:srgbClr val="0000FF"/>
                </a:solidFill>
                <a:latin typeface="Arial"/>
                <a:ea typeface="Arial"/>
                <a:cs typeface="Arial"/>
                <a:sym typeface="Arial"/>
              </a:rPr>
              <a:t>La señal</a:t>
            </a:r>
            <a:endParaRPr sz="1400" b="1"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699" name="Google Shape;699;p26"/>
          <p:cNvSpPr txBox="1"/>
          <p:nvPr/>
        </p:nvSpPr>
        <p:spPr>
          <a:xfrm>
            <a:off x="7236450" y="3376350"/>
            <a:ext cx="1283400" cy="69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400" b="1" i="0" u="none" strike="noStrike" cap="none">
                <a:solidFill>
                  <a:srgbClr val="0000FF"/>
                </a:solidFill>
                <a:latin typeface="Arial"/>
                <a:ea typeface="Arial"/>
                <a:cs typeface="Arial"/>
                <a:sym typeface="Arial"/>
              </a:rPr>
              <a:t>Rutina</a:t>
            </a:r>
            <a:endParaRPr sz="1400" b="1"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FF"/>
                </a:solidFill>
                <a:latin typeface="Arial"/>
                <a:ea typeface="Arial"/>
                <a:cs typeface="Arial"/>
                <a:sym typeface="Arial"/>
              </a:rPr>
              <a:t>Respuesta física, mental o emocional</a:t>
            </a:r>
            <a:endParaRPr sz="1300" b="0"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700" name="Google Shape;700;p26"/>
          <p:cNvSpPr txBox="1"/>
          <p:nvPr/>
        </p:nvSpPr>
        <p:spPr>
          <a:xfrm>
            <a:off x="431625" y="3445350"/>
            <a:ext cx="1987500" cy="135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400" b="1" i="0" u="none" strike="noStrike" cap="none">
                <a:solidFill>
                  <a:srgbClr val="0000FF"/>
                </a:solidFill>
                <a:latin typeface="Arial"/>
                <a:ea typeface="Arial"/>
                <a:cs typeface="Arial"/>
                <a:sym typeface="Arial"/>
              </a:rPr>
              <a:t>Recompensa</a:t>
            </a:r>
            <a:endParaRPr sz="1400" b="1"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FF"/>
                </a:solidFill>
                <a:latin typeface="Arial"/>
                <a:ea typeface="Arial"/>
                <a:cs typeface="Arial"/>
                <a:sym typeface="Arial"/>
              </a:rPr>
              <a:t>Esto le indica </a:t>
            </a:r>
            <a:r>
              <a:rPr lang="en" sz="1300">
                <a:solidFill>
                  <a:srgbClr val="0000FF"/>
                </a:solidFill>
              </a:rPr>
              <a:t>al</a:t>
            </a:r>
            <a:r>
              <a:rPr lang="en" sz="1300" b="0" i="0" u="none" strike="noStrike" cap="none">
                <a:solidFill>
                  <a:srgbClr val="0000FF"/>
                </a:solidFill>
                <a:latin typeface="Arial"/>
                <a:ea typeface="Arial"/>
                <a:cs typeface="Arial"/>
                <a:sym typeface="Arial"/>
              </a:rPr>
              <a:t> cerebro que "vale la pena recordar este proceso en el futuro"</a:t>
            </a:r>
            <a:endParaRPr sz="1300" b="0"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FF"/>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27"/>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5856"/>
              <a:buNone/>
            </a:pPr>
            <a:r>
              <a:rPr lang="en"/>
              <a:t>Example of a Habit Loop </a:t>
            </a:r>
            <a:r>
              <a:rPr lang="en" sz="2133">
                <a:solidFill>
                  <a:srgbClr val="0000FF"/>
                </a:solidFill>
              </a:rPr>
              <a:t>Ejemplo de un bucle del hábito</a:t>
            </a:r>
            <a:endParaRPr sz="2133">
              <a:solidFill>
                <a:srgbClr val="0000FF"/>
              </a:solidFill>
            </a:endParaRPr>
          </a:p>
          <a:p>
            <a:pPr marL="0" lvl="0" indent="0" algn="l" rtl="0">
              <a:lnSpc>
                <a:spcPct val="100000"/>
              </a:lnSpc>
              <a:spcBef>
                <a:spcPts val="0"/>
              </a:spcBef>
              <a:spcAft>
                <a:spcPts val="0"/>
              </a:spcAft>
              <a:buSzPct val="111111"/>
              <a:buNone/>
            </a:pPr>
            <a:endParaRPr/>
          </a:p>
        </p:txBody>
      </p:sp>
      <p:pic>
        <p:nvPicPr>
          <p:cNvPr id="706" name="Google Shape;706;p27"/>
          <p:cNvPicPr preferRelativeResize="0"/>
          <p:nvPr/>
        </p:nvPicPr>
        <p:blipFill rotWithShape="1">
          <a:blip r:embed="rId3">
            <a:alphaModFix/>
          </a:blip>
          <a:srcRect/>
          <a:stretch/>
        </p:blipFill>
        <p:spPr>
          <a:xfrm>
            <a:off x="1885200" y="1369650"/>
            <a:ext cx="5054451" cy="3634725"/>
          </a:xfrm>
          <a:prstGeom prst="rect">
            <a:avLst/>
          </a:prstGeom>
          <a:noFill/>
          <a:ln>
            <a:noFill/>
          </a:ln>
        </p:spPr>
      </p:pic>
      <p:sp>
        <p:nvSpPr>
          <p:cNvPr id="707" name="Google Shape;707;p27"/>
          <p:cNvSpPr txBox="1"/>
          <p:nvPr/>
        </p:nvSpPr>
        <p:spPr>
          <a:xfrm>
            <a:off x="4849489" y="1551193"/>
            <a:ext cx="1579500" cy="729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1" i="0" u="none" strike="noStrike" cap="none">
                <a:solidFill>
                  <a:srgbClr val="0000FF"/>
                </a:solidFill>
                <a:latin typeface="Arial"/>
                <a:ea typeface="Arial"/>
                <a:cs typeface="Arial"/>
                <a:sym typeface="Arial"/>
              </a:rPr>
              <a:t>Comportamiento (rutina)</a:t>
            </a:r>
            <a:endParaRPr sz="1300" b="1" i="0" u="none" strike="noStrike" cap="none">
              <a:solidFill>
                <a:srgbClr val="0000F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0000FF"/>
                </a:solidFill>
                <a:latin typeface="Arial"/>
                <a:ea typeface="Arial"/>
                <a:cs typeface="Arial"/>
                <a:sym typeface="Arial"/>
              </a:rPr>
              <a:t>café</a:t>
            </a:r>
            <a:endParaRPr sz="1300" b="0" i="0" u="none" strike="noStrike" cap="none">
              <a:solidFill>
                <a:srgbClr val="0000FF"/>
              </a:solidFill>
              <a:latin typeface="Arial"/>
              <a:ea typeface="Arial"/>
              <a:cs typeface="Arial"/>
              <a:sym typeface="Arial"/>
            </a:endParaRPr>
          </a:p>
        </p:txBody>
      </p:sp>
      <p:sp>
        <p:nvSpPr>
          <p:cNvPr id="708" name="Google Shape;708;p27"/>
          <p:cNvSpPr txBox="1"/>
          <p:nvPr/>
        </p:nvSpPr>
        <p:spPr>
          <a:xfrm>
            <a:off x="6939600" y="3684921"/>
            <a:ext cx="1698000" cy="612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300" b="1" i="0" u="none" strike="noStrike" cap="none">
                <a:solidFill>
                  <a:srgbClr val="0000FF"/>
                </a:solidFill>
                <a:latin typeface="Arial"/>
                <a:ea typeface="Arial"/>
                <a:cs typeface="Arial"/>
                <a:sym typeface="Arial"/>
              </a:rPr>
              <a:t>Recompensa</a:t>
            </a:r>
            <a:endParaRPr sz="1300" b="1"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FF"/>
                </a:solidFill>
                <a:latin typeface="Arial"/>
                <a:ea typeface="Arial"/>
                <a:cs typeface="Arial"/>
                <a:sym typeface="Arial"/>
              </a:rPr>
              <a:t>Persona animada</a:t>
            </a:r>
            <a:endParaRPr sz="1300" b="0"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FF"/>
              </a:solidFill>
              <a:latin typeface="Arial"/>
              <a:ea typeface="Arial"/>
              <a:cs typeface="Arial"/>
              <a:sym typeface="Arial"/>
            </a:endParaRPr>
          </a:p>
        </p:txBody>
      </p:sp>
      <p:sp>
        <p:nvSpPr>
          <p:cNvPr id="709" name="Google Shape;709;p27"/>
          <p:cNvSpPr txBox="1"/>
          <p:nvPr/>
        </p:nvSpPr>
        <p:spPr>
          <a:xfrm>
            <a:off x="355200" y="3598825"/>
            <a:ext cx="15300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300" b="1" i="0" u="none" strike="noStrike" cap="none">
                <a:solidFill>
                  <a:srgbClr val="0000FF"/>
                </a:solidFill>
                <a:latin typeface="Arial"/>
                <a:ea typeface="Arial"/>
                <a:cs typeface="Arial"/>
                <a:sym typeface="Arial"/>
              </a:rPr>
              <a:t>Desencadena</a:t>
            </a:r>
            <a:r>
              <a:rPr lang="en" sz="1300" b="1">
                <a:solidFill>
                  <a:srgbClr val="0000FF"/>
                </a:solidFill>
              </a:rPr>
              <a:t>nte (la señal)</a:t>
            </a:r>
            <a:endParaRPr sz="1300" b="1"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300" b="0" i="0" u="none" strike="noStrike" cap="none">
                <a:solidFill>
                  <a:srgbClr val="0000FF"/>
                </a:solidFill>
                <a:latin typeface="Arial"/>
                <a:ea typeface="Arial"/>
                <a:cs typeface="Arial"/>
                <a:sym typeface="Arial"/>
              </a:rPr>
              <a:t>Persona cansada</a:t>
            </a:r>
            <a:endParaRPr sz="1300" b="0" i="0" u="none" strike="noStrike" cap="none">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FF"/>
              </a:solidFill>
              <a:latin typeface="Arial"/>
              <a:ea typeface="Arial"/>
              <a:cs typeface="Arial"/>
              <a:sym typeface="Arial"/>
            </a:endParaRPr>
          </a:p>
        </p:txBody>
      </p:sp>
      <p:sp>
        <p:nvSpPr>
          <p:cNvPr id="710" name="Google Shape;710;p27"/>
          <p:cNvSpPr txBox="1"/>
          <p:nvPr/>
        </p:nvSpPr>
        <p:spPr>
          <a:xfrm>
            <a:off x="3589800" y="3546292"/>
            <a:ext cx="1530000" cy="696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a:solidFill>
                  <a:srgbClr val="0000FF"/>
                </a:solidFill>
              </a:rPr>
              <a:t>El bucle del hábito</a:t>
            </a:r>
            <a:endParaRPr sz="1800" b="1" i="0" u="none" strike="noStrike" cap="none">
              <a:solidFill>
                <a:srgbClr val="0000FF"/>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28"/>
          <p:cNvSpPr txBox="1">
            <a:spLocks noGrp="1"/>
          </p:cNvSpPr>
          <p:nvPr>
            <p:ph type="title"/>
          </p:nvPr>
        </p:nvSpPr>
        <p:spPr>
          <a:xfrm>
            <a:off x="1303800" y="598575"/>
            <a:ext cx="77979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26109"/>
              <a:buNone/>
            </a:pPr>
            <a:r>
              <a:rPr lang="en">
                <a:solidFill>
                  <a:srgbClr val="FF0000"/>
                </a:solidFill>
              </a:rPr>
              <a:t>Activity: “Map Your Habit Loop” (10–15 minutes)</a:t>
            </a:r>
            <a:endParaRPr sz="2467">
              <a:solidFill>
                <a:schemeClr val="accent1"/>
              </a:solidFill>
            </a:endParaRPr>
          </a:p>
          <a:p>
            <a:pPr marL="0" lvl="0" indent="0" algn="l" rtl="0">
              <a:lnSpc>
                <a:spcPct val="100000"/>
              </a:lnSpc>
              <a:spcBef>
                <a:spcPts val="0"/>
              </a:spcBef>
              <a:spcAft>
                <a:spcPts val="0"/>
              </a:spcAft>
              <a:buSzPct val="126109"/>
              <a:buNone/>
            </a:pPr>
            <a:r>
              <a:rPr lang="en" sz="2467">
                <a:solidFill>
                  <a:srgbClr val="0000FF"/>
                </a:solidFill>
              </a:rPr>
              <a:t>Actividad: “Mapea su bucle del hábito” (10-15 minutos)</a:t>
            </a:r>
            <a:endParaRPr sz="2467">
              <a:solidFill>
                <a:srgbClr val="0000FF"/>
              </a:solidFill>
            </a:endParaRPr>
          </a:p>
        </p:txBody>
      </p:sp>
      <p:sp>
        <p:nvSpPr>
          <p:cNvPr id="716" name="Google Shape;716;p28"/>
          <p:cNvSpPr txBox="1">
            <a:spLocks noGrp="1"/>
          </p:cNvSpPr>
          <p:nvPr>
            <p:ph type="body" idx="1"/>
          </p:nvPr>
        </p:nvSpPr>
        <p:spPr>
          <a:xfrm>
            <a:off x="311700" y="1721825"/>
            <a:ext cx="8520600" cy="3183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300"/>
              <a:buNone/>
            </a:pPr>
            <a:r>
              <a:rPr lang="en" sz="1400"/>
              <a:t>Step 1/</a:t>
            </a:r>
            <a:r>
              <a:rPr lang="en" sz="1400">
                <a:solidFill>
                  <a:srgbClr val="0000FF"/>
                </a:solidFill>
              </a:rPr>
              <a:t>Paso 1:</a:t>
            </a:r>
            <a:endParaRPr sz="1400">
              <a:solidFill>
                <a:srgbClr val="0000FF"/>
              </a:solidFill>
            </a:endParaRPr>
          </a:p>
          <a:p>
            <a:pPr marL="0" lvl="0" indent="0" algn="l" rtl="0">
              <a:lnSpc>
                <a:spcPct val="100000"/>
              </a:lnSpc>
              <a:spcBef>
                <a:spcPts val="1200"/>
              </a:spcBef>
              <a:spcAft>
                <a:spcPts val="0"/>
              </a:spcAft>
              <a:buSzPts val="1300"/>
              <a:buNone/>
            </a:pPr>
            <a:r>
              <a:rPr lang="en" sz="1400"/>
              <a:t>Think of a small, everyday habit — something automatic (good or bad). Examples: biting nails, morning stretching, reading, eating quickly, reacting to stress.</a:t>
            </a:r>
            <a:endParaRPr sz="1400">
              <a:solidFill>
                <a:schemeClr val="accent1"/>
              </a:solidFill>
            </a:endParaRPr>
          </a:p>
          <a:p>
            <a:pPr marL="0" lvl="0" indent="0" algn="l" rtl="0">
              <a:lnSpc>
                <a:spcPct val="100000"/>
              </a:lnSpc>
              <a:spcBef>
                <a:spcPts val="1200"/>
              </a:spcBef>
              <a:spcAft>
                <a:spcPts val="0"/>
              </a:spcAft>
              <a:buSzPts val="1300"/>
              <a:buNone/>
            </a:pPr>
            <a:r>
              <a:rPr lang="en" sz="1400">
                <a:solidFill>
                  <a:srgbClr val="0000FF"/>
                </a:solidFill>
              </a:rPr>
              <a:t>Piensen en un pequeño hábito cotidiano, algo automático (bueno o malo). Ejemplos: morderse las uñas, estirarse por la mañana, leer, comer rápido, reaccionar al estrés.</a:t>
            </a:r>
            <a:endParaRPr sz="1400">
              <a:solidFill>
                <a:srgbClr val="0000FF"/>
              </a:solidFill>
            </a:endParaRPr>
          </a:p>
          <a:p>
            <a:pPr marL="0" lvl="0" indent="0" algn="l" rtl="0">
              <a:lnSpc>
                <a:spcPct val="100000"/>
              </a:lnSpc>
              <a:spcBef>
                <a:spcPts val="1200"/>
              </a:spcBef>
              <a:spcAft>
                <a:spcPts val="0"/>
              </a:spcAft>
              <a:buSzPts val="1300"/>
              <a:buNone/>
            </a:pPr>
            <a:r>
              <a:rPr lang="en" sz="1400"/>
              <a:t>Step 2/</a:t>
            </a:r>
            <a:r>
              <a:rPr lang="en" sz="1400">
                <a:solidFill>
                  <a:srgbClr val="0000FF"/>
                </a:solidFill>
              </a:rPr>
              <a:t>Paso 2:</a:t>
            </a:r>
            <a:endParaRPr sz="1400">
              <a:solidFill>
                <a:srgbClr val="0000FF"/>
              </a:solidFill>
            </a:endParaRPr>
          </a:p>
          <a:p>
            <a:pPr marL="0" lvl="0" indent="0" algn="l" rtl="0">
              <a:lnSpc>
                <a:spcPct val="100000"/>
              </a:lnSpc>
              <a:spcBef>
                <a:spcPts val="1200"/>
              </a:spcBef>
              <a:spcAft>
                <a:spcPts val="0"/>
              </a:spcAft>
              <a:buSzPts val="1300"/>
              <a:buNone/>
            </a:pPr>
            <a:r>
              <a:rPr lang="en" sz="1400"/>
              <a:t>Write or discuss: What’s the cue that starts it? What’s the routine (the action)? What’s the reward they get from it?</a:t>
            </a:r>
            <a:endParaRPr sz="1400">
              <a:solidFill>
                <a:schemeClr val="accent1"/>
              </a:solidFill>
            </a:endParaRPr>
          </a:p>
          <a:p>
            <a:pPr marL="0" lvl="0" indent="0" algn="l" rtl="0">
              <a:lnSpc>
                <a:spcPct val="100000"/>
              </a:lnSpc>
              <a:spcBef>
                <a:spcPts val="1200"/>
              </a:spcBef>
              <a:spcAft>
                <a:spcPts val="0"/>
              </a:spcAft>
              <a:buClr>
                <a:schemeClr val="dk1"/>
              </a:buClr>
              <a:buSzPts val="1100"/>
              <a:buFont typeface="Arial"/>
              <a:buNone/>
            </a:pPr>
            <a:r>
              <a:rPr lang="en" sz="1400">
                <a:solidFill>
                  <a:srgbClr val="0000FF"/>
                </a:solidFill>
              </a:rPr>
              <a:t>Escriba o comenten: ¿Cuál es la señal que lo inicia? ¿Cuál es la rutina (la acción)? ¿Cuál es la recompensa que obtienen?</a:t>
            </a:r>
            <a:endParaRPr sz="1400">
              <a:solidFill>
                <a:srgbClr val="0000FF"/>
              </a:solidFill>
            </a:endParaRPr>
          </a:p>
          <a:p>
            <a:pPr marL="0" lvl="0" indent="0" algn="l" rtl="0">
              <a:lnSpc>
                <a:spcPct val="100000"/>
              </a:lnSpc>
              <a:spcBef>
                <a:spcPts val="1200"/>
              </a:spcBef>
              <a:spcAft>
                <a:spcPts val="0"/>
              </a:spcAft>
              <a:buSzPts val="1300"/>
              <a:buNone/>
            </a:pPr>
            <a:endParaRPr sz="1500"/>
          </a:p>
          <a:p>
            <a:pPr marL="0" lvl="0" indent="0" algn="l" rtl="0">
              <a:lnSpc>
                <a:spcPct val="100000"/>
              </a:lnSpc>
              <a:spcBef>
                <a:spcPts val="1200"/>
              </a:spcBef>
              <a:spcAft>
                <a:spcPts val="1200"/>
              </a:spcAft>
              <a:buSzPts val="1300"/>
              <a:buNone/>
            </a:pPr>
            <a:endParaRPr sz="15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29"/>
          <p:cNvSpPr txBox="1">
            <a:spLocks noGrp="1"/>
          </p:cNvSpPr>
          <p:nvPr>
            <p:ph type="title"/>
          </p:nvPr>
        </p:nvSpPr>
        <p:spPr>
          <a:xfrm>
            <a:off x="1303800" y="598575"/>
            <a:ext cx="76731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26109"/>
              <a:buNone/>
            </a:pPr>
            <a:r>
              <a:rPr lang="en">
                <a:solidFill>
                  <a:srgbClr val="FF0000"/>
                </a:solidFill>
              </a:rPr>
              <a:t>Activity: “Map Your Habit Loop” (10–15 minutes)</a:t>
            </a:r>
            <a:endParaRPr sz="2467">
              <a:solidFill>
                <a:schemeClr val="accent1"/>
              </a:solidFill>
            </a:endParaRPr>
          </a:p>
          <a:p>
            <a:pPr marL="0" lvl="0" indent="0" algn="l" rtl="0">
              <a:lnSpc>
                <a:spcPct val="100000"/>
              </a:lnSpc>
              <a:spcBef>
                <a:spcPts val="0"/>
              </a:spcBef>
              <a:spcAft>
                <a:spcPts val="0"/>
              </a:spcAft>
              <a:buSzPct val="126109"/>
              <a:buNone/>
            </a:pPr>
            <a:r>
              <a:rPr lang="en" sz="2467">
                <a:solidFill>
                  <a:srgbClr val="0000FF"/>
                </a:solidFill>
              </a:rPr>
              <a:t>Actividad: “Mapea tu ciclo de hábitos” (10-15 minutos)</a:t>
            </a:r>
            <a:endParaRPr sz="2467">
              <a:solidFill>
                <a:srgbClr val="0000FF"/>
              </a:solidFill>
            </a:endParaRPr>
          </a:p>
        </p:txBody>
      </p:sp>
      <p:sp>
        <p:nvSpPr>
          <p:cNvPr id="722" name="Google Shape;722;p29"/>
          <p:cNvSpPr txBox="1">
            <a:spLocks noGrp="1"/>
          </p:cNvSpPr>
          <p:nvPr>
            <p:ph type="body" idx="1"/>
          </p:nvPr>
        </p:nvSpPr>
        <p:spPr>
          <a:xfrm>
            <a:off x="311700" y="2042050"/>
            <a:ext cx="8520600" cy="30153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300"/>
              <a:buNone/>
            </a:pPr>
            <a:r>
              <a:rPr lang="en" sz="1600"/>
              <a:t>Step 3/</a:t>
            </a:r>
            <a:r>
              <a:rPr lang="en" sz="1600">
                <a:solidFill>
                  <a:srgbClr val="0000FF"/>
                </a:solidFill>
              </a:rPr>
              <a:t>Paso 3:</a:t>
            </a:r>
            <a:endParaRPr sz="1600">
              <a:solidFill>
                <a:srgbClr val="0000FF"/>
              </a:solidFill>
            </a:endParaRPr>
          </a:p>
          <a:p>
            <a:pPr marL="0" lvl="0" indent="0" algn="l" rtl="0">
              <a:lnSpc>
                <a:spcPct val="100000"/>
              </a:lnSpc>
              <a:spcBef>
                <a:spcPts val="1200"/>
              </a:spcBef>
              <a:spcAft>
                <a:spcPts val="0"/>
              </a:spcAft>
              <a:buSzPts val="1300"/>
              <a:buNone/>
            </a:pPr>
            <a:r>
              <a:rPr lang="en" sz="1600"/>
              <a:t>Group discussion: “If you wanted to change that habit, what part could you change: the cue, the routine, or the reward?”</a:t>
            </a:r>
            <a:endParaRPr sz="1600"/>
          </a:p>
          <a:p>
            <a:pPr marL="0" lvl="0" indent="0" algn="l" rtl="0">
              <a:lnSpc>
                <a:spcPct val="100000"/>
              </a:lnSpc>
              <a:spcBef>
                <a:spcPts val="1200"/>
              </a:spcBef>
              <a:spcAft>
                <a:spcPts val="0"/>
              </a:spcAft>
              <a:buSzPts val="1300"/>
              <a:buNone/>
            </a:pPr>
            <a:r>
              <a:rPr lang="en" sz="1600">
                <a:solidFill>
                  <a:srgbClr val="0000FF"/>
                </a:solidFill>
              </a:rPr>
              <a:t>Debate en grupo: “Si quisieran cambiar ese hábito, ¿qué parte podrían modificar: la señal, la rutina o la recompensa?”</a:t>
            </a:r>
            <a:endParaRPr sz="1600">
              <a:solidFill>
                <a:srgbClr val="0000FF"/>
              </a:solidFill>
            </a:endParaRPr>
          </a:p>
          <a:p>
            <a:pPr marL="0" lvl="0" indent="0" algn="l" rtl="0">
              <a:lnSpc>
                <a:spcPct val="100000"/>
              </a:lnSpc>
              <a:spcBef>
                <a:spcPts val="1200"/>
              </a:spcBef>
              <a:spcAft>
                <a:spcPts val="0"/>
              </a:spcAft>
              <a:buSzPts val="1300"/>
              <a:buNone/>
            </a:pPr>
            <a:endParaRPr sz="1600">
              <a:solidFill>
                <a:schemeClr val="accent1"/>
              </a:solidFill>
            </a:endParaRPr>
          </a:p>
          <a:p>
            <a:pPr marL="0" lvl="0" indent="0" algn="l" rtl="0">
              <a:lnSpc>
                <a:spcPct val="100000"/>
              </a:lnSpc>
              <a:spcBef>
                <a:spcPts val="1200"/>
              </a:spcBef>
              <a:spcAft>
                <a:spcPts val="0"/>
              </a:spcAft>
              <a:buSzPts val="1300"/>
              <a:buNone/>
            </a:pPr>
            <a:endParaRPr sz="1600">
              <a:solidFill>
                <a:schemeClr val="accent1"/>
              </a:solidFill>
            </a:endParaRPr>
          </a:p>
          <a:p>
            <a:pPr marL="0" lvl="0" indent="0" algn="l" rtl="0">
              <a:lnSpc>
                <a:spcPct val="100000"/>
              </a:lnSpc>
              <a:spcBef>
                <a:spcPts val="1200"/>
              </a:spcBef>
              <a:spcAft>
                <a:spcPts val="0"/>
              </a:spcAft>
              <a:buSzPts val="1300"/>
              <a:buNone/>
            </a:pPr>
            <a:endParaRPr sz="1600">
              <a:solidFill>
                <a:schemeClr val="accent1"/>
              </a:solidFill>
            </a:endParaRPr>
          </a:p>
          <a:p>
            <a:pPr marL="0" lvl="0" indent="0" algn="l" rtl="0">
              <a:lnSpc>
                <a:spcPct val="100000"/>
              </a:lnSpc>
              <a:spcBef>
                <a:spcPts val="1200"/>
              </a:spcBef>
              <a:spcAft>
                <a:spcPts val="0"/>
              </a:spcAft>
              <a:buSzPts val="1300"/>
              <a:buNone/>
            </a:pPr>
            <a:endParaRPr sz="1600">
              <a:solidFill>
                <a:schemeClr val="accent1"/>
              </a:solidFill>
            </a:endParaRPr>
          </a:p>
          <a:p>
            <a:pPr marL="0" lvl="0" indent="0" algn="l" rtl="0">
              <a:lnSpc>
                <a:spcPct val="100000"/>
              </a:lnSpc>
              <a:spcBef>
                <a:spcPts val="1200"/>
              </a:spcBef>
              <a:spcAft>
                <a:spcPts val="0"/>
              </a:spcAft>
              <a:buSzPts val="1300"/>
              <a:buNone/>
            </a:pPr>
            <a:endParaRPr sz="1600"/>
          </a:p>
          <a:p>
            <a:pPr marL="0" lvl="0" indent="0" algn="l" rtl="0">
              <a:lnSpc>
                <a:spcPct val="100000"/>
              </a:lnSpc>
              <a:spcBef>
                <a:spcPts val="1200"/>
              </a:spcBef>
              <a:spcAft>
                <a:spcPts val="1200"/>
              </a:spcAft>
              <a:buSzPts val="1300"/>
              <a:buNone/>
            </a:pPr>
            <a:endParaRPr sz="16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30"/>
          <p:cNvSpPr txBox="1">
            <a:spLocks noGrp="1"/>
          </p:cNvSpPr>
          <p:nvPr>
            <p:ph type="title"/>
          </p:nvPr>
        </p:nvSpPr>
        <p:spPr>
          <a:xfrm>
            <a:off x="1303800" y="598575"/>
            <a:ext cx="7340400" cy="9993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24444"/>
              <a:buNone/>
            </a:pPr>
            <a:r>
              <a:rPr lang="en" sz="2500">
                <a:solidFill>
                  <a:srgbClr val="FF0000"/>
                </a:solidFill>
              </a:rPr>
              <a:t>Use the Habit Loop and Learning Strategies to complete “Relearning” Activity</a:t>
            </a:r>
            <a:r>
              <a:rPr lang="en" sz="2500">
                <a:solidFill>
                  <a:srgbClr val="0000FF"/>
                </a:solidFill>
              </a:rPr>
              <a:t> </a:t>
            </a:r>
            <a:endParaRPr sz="2167">
              <a:solidFill>
                <a:schemeClr val="accent1"/>
              </a:solidFill>
            </a:endParaRPr>
          </a:p>
          <a:p>
            <a:pPr marL="0" lvl="0" indent="0" algn="l" rtl="0">
              <a:lnSpc>
                <a:spcPct val="100000"/>
              </a:lnSpc>
              <a:spcBef>
                <a:spcPts val="0"/>
              </a:spcBef>
              <a:spcAft>
                <a:spcPts val="0"/>
              </a:spcAft>
              <a:buSzPct val="143568"/>
              <a:buNone/>
            </a:pPr>
            <a:r>
              <a:rPr lang="en" sz="2167">
                <a:solidFill>
                  <a:srgbClr val="0000FF"/>
                </a:solidFill>
              </a:rPr>
              <a:t>Utilicen el bucle del hábito y las estrategias de aprendizaje para completar la actividad de “Reaprendizaje”.</a:t>
            </a:r>
            <a:endParaRPr sz="2167">
              <a:solidFill>
                <a:srgbClr val="0000FF"/>
              </a:solidFill>
            </a:endParaRPr>
          </a:p>
        </p:txBody>
      </p:sp>
      <p:sp>
        <p:nvSpPr>
          <p:cNvPr id="728" name="Google Shape;728;p30"/>
          <p:cNvSpPr txBox="1">
            <a:spLocks noGrp="1"/>
          </p:cNvSpPr>
          <p:nvPr>
            <p:ph type="body" idx="1"/>
          </p:nvPr>
        </p:nvSpPr>
        <p:spPr>
          <a:xfrm>
            <a:off x="311700" y="2261125"/>
            <a:ext cx="8520600" cy="22848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SzPts val="1300"/>
              <a:buNone/>
            </a:pPr>
            <a:r>
              <a:rPr lang="en" sz="1500"/>
              <a:t>Think of a habit you would like to break or replace </a:t>
            </a:r>
            <a:endParaRPr sz="1500"/>
          </a:p>
          <a:p>
            <a:pPr marL="0" lvl="0" indent="0" algn="l" rtl="0">
              <a:lnSpc>
                <a:spcPct val="115000"/>
              </a:lnSpc>
              <a:spcBef>
                <a:spcPts val="0"/>
              </a:spcBef>
              <a:spcAft>
                <a:spcPts val="0"/>
              </a:spcAft>
              <a:buSzPts val="1300"/>
              <a:buNone/>
            </a:pPr>
            <a:r>
              <a:rPr lang="en" sz="1500">
                <a:solidFill>
                  <a:srgbClr val="0000FF"/>
                </a:solidFill>
              </a:rPr>
              <a:t>Piensen en algo que les gustaría romper o reemplazar</a:t>
            </a:r>
            <a:endParaRPr sz="1500">
              <a:solidFill>
                <a:srgbClr val="0000FF"/>
              </a:solidFill>
            </a:endParaRPr>
          </a:p>
          <a:p>
            <a:pPr marL="0" lvl="0" indent="0" algn="l" rtl="0">
              <a:lnSpc>
                <a:spcPct val="115000"/>
              </a:lnSpc>
              <a:spcBef>
                <a:spcPts val="1200"/>
              </a:spcBef>
              <a:spcAft>
                <a:spcPts val="0"/>
              </a:spcAft>
              <a:buSzPts val="1300"/>
              <a:buNone/>
            </a:pPr>
            <a:endParaRPr sz="1500"/>
          </a:p>
          <a:p>
            <a:pPr marL="0" lvl="0" indent="0" algn="l" rtl="0">
              <a:lnSpc>
                <a:spcPct val="115000"/>
              </a:lnSpc>
              <a:spcBef>
                <a:spcPts val="1200"/>
              </a:spcBef>
              <a:spcAft>
                <a:spcPts val="0"/>
              </a:spcAft>
              <a:buSzPts val="1300"/>
              <a:buNone/>
            </a:pPr>
            <a:r>
              <a:rPr lang="en" sz="1500"/>
              <a:t>Ex. Reacting in anger, negative thinking</a:t>
            </a:r>
            <a:endParaRPr sz="1500"/>
          </a:p>
          <a:p>
            <a:pPr marL="0" lvl="0" indent="0" algn="l" rtl="0">
              <a:lnSpc>
                <a:spcPct val="115000"/>
              </a:lnSpc>
              <a:spcBef>
                <a:spcPts val="1200"/>
              </a:spcBef>
              <a:spcAft>
                <a:spcPts val="0"/>
              </a:spcAft>
              <a:buSzPts val="1300"/>
              <a:buNone/>
            </a:pPr>
            <a:r>
              <a:rPr lang="en" sz="1500">
                <a:solidFill>
                  <a:srgbClr val="0000FF"/>
                </a:solidFill>
              </a:rPr>
              <a:t>Ej. Reaccionar con enojo, pensamiento negativo</a:t>
            </a:r>
            <a:endParaRPr sz="1500">
              <a:solidFill>
                <a:srgbClr val="0000FF"/>
              </a:solidFill>
            </a:endParaRPr>
          </a:p>
          <a:p>
            <a:pPr marL="0" lvl="0" indent="0" algn="l" rtl="0">
              <a:lnSpc>
                <a:spcPct val="115000"/>
              </a:lnSpc>
              <a:spcBef>
                <a:spcPts val="1200"/>
              </a:spcBef>
              <a:spcAft>
                <a:spcPts val="1200"/>
              </a:spcAft>
              <a:buSzPts val="1300"/>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3f68d628453_0_4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Example to break unwanted habits</a:t>
            </a:r>
            <a:endParaRPr/>
          </a:p>
        </p:txBody>
      </p:sp>
      <p:sp>
        <p:nvSpPr>
          <p:cNvPr id="734" name="Google Shape;734;g3f68d628453_0_45"/>
          <p:cNvSpPr txBox="1">
            <a:spLocks noGrp="1"/>
          </p:cNvSpPr>
          <p:nvPr>
            <p:ph type="body" idx="1"/>
          </p:nvPr>
        </p:nvSpPr>
        <p:spPr>
          <a:xfrm>
            <a:off x="935800" y="1730275"/>
            <a:ext cx="5580300" cy="25416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t>Difficult, but possible to do (neuroplasticity)</a:t>
            </a:r>
            <a:endParaRPr/>
          </a:p>
          <a:p>
            <a:pPr marL="0" lvl="0" indent="0" algn="l" rtl="0">
              <a:spcBef>
                <a:spcPts val="0"/>
              </a:spcBef>
              <a:spcAft>
                <a:spcPts val="0"/>
              </a:spcAft>
              <a:buNone/>
            </a:pPr>
            <a:r>
              <a:rPr lang="en">
                <a:solidFill>
                  <a:srgbClr val="0000FF"/>
                </a:solidFill>
              </a:rPr>
              <a:t>Difícil, pero posible (neuroplasticidad)</a:t>
            </a:r>
            <a:endParaRPr>
              <a:solidFill>
                <a:srgbClr val="0000FF"/>
              </a:solidFill>
            </a:endParaRPr>
          </a:p>
          <a:p>
            <a:pPr marL="0" lvl="0" indent="0" algn="l" rtl="0">
              <a:spcBef>
                <a:spcPts val="0"/>
              </a:spcBef>
              <a:spcAft>
                <a:spcPts val="0"/>
              </a:spcAft>
              <a:buNone/>
            </a:pPr>
            <a:endParaRPr>
              <a:solidFill>
                <a:srgbClr val="0000FF"/>
              </a:solidFill>
            </a:endParaRPr>
          </a:p>
          <a:p>
            <a:pPr marL="0" lvl="0" indent="0" algn="l" rtl="0">
              <a:spcBef>
                <a:spcPts val="0"/>
              </a:spcBef>
              <a:spcAft>
                <a:spcPts val="0"/>
              </a:spcAft>
              <a:buNone/>
            </a:pPr>
            <a:endParaRPr>
              <a:solidFill>
                <a:srgbClr val="0000FF"/>
              </a:solidFill>
            </a:endParaRPr>
          </a:p>
          <a:p>
            <a:pPr marL="0" lvl="0" indent="0" algn="l" rtl="0">
              <a:spcBef>
                <a:spcPts val="0"/>
              </a:spcBef>
              <a:spcAft>
                <a:spcPts val="0"/>
              </a:spcAft>
              <a:buNone/>
            </a:pPr>
            <a:r>
              <a:rPr lang="en"/>
              <a:t>Recognize the unwanted behavior, engage those active neurons by performing a positive simple behavior immediately after (remap neural circuits)</a:t>
            </a:r>
            <a:endParaRPr>
              <a:solidFill>
                <a:srgbClr val="0000FF"/>
              </a:solidFill>
            </a:endParaRPr>
          </a:p>
          <a:p>
            <a:pPr marL="0" marR="0" lvl="0" indent="0" algn="l" rtl="0">
              <a:lnSpc>
                <a:spcPct val="115000"/>
              </a:lnSpc>
              <a:spcBef>
                <a:spcPts val="0"/>
              </a:spcBef>
              <a:spcAft>
                <a:spcPts val="0"/>
              </a:spcAft>
              <a:buNone/>
            </a:pPr>
            <a:r>
              <a:rPr lang="en">
                <a:solidFill>
                  <a:srgbClr val="0000FF"/>
                </a:solidFill>
              </a:rPr>
              <a:t>Reconocer el comportamiento no deseado, y activar esas neuronas activas realizando un comportamiento positivo y simple inmediatamente después (remapear circuitos neuronales)</a:t>
            </a:r>
            <a:endParaRPr>
              <a:solidFill>
                <a:srgbClr val="0000FF"/>
              </a:solidFill>
            </a:endParaRPr>
          </a:p>
          <a:p>
            <a:pPr marL="0" lvl="0" indent="0" algn="l" rtl="0">
              <a:spcBef>
                <a:spcPts val="0"/>
              </a:spcBef>
              <a:spcAft>
                <a:spcPts val="0"/>
              </a:spcAft>
              <a:buNone/>
            </a:pPr>
            <a:endParaRPr/>
          </a:p>
        </p:txBody>
      </p:sp>
      <p:sp>
        <p:nvSpPr>
          <p:cNvPr id="735" name="Google Shape;735;g3f68d628453_0_45"/>
          <p:cNvSpPr txBox="1"/>
          <p:nvPr/>
        </p:nvSpPr>
        <p:spPr>
          <a:xfrm>
            <a:off x="6764925" y="3907450"/>
            <a:ext cx="2088900" cy="23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2"/>
                </a:solidFill>
                <a:latin typeface="Nunito"/>
                <a:ea typeface="Nunito"/>
                <a:cs typeface="Nunito"/>
                <a:sym typeface="Nunito"/>
              </a:rPr>
              <a:t>Wood and Rünger, 2016</a:t>
            </a:r>
            <a:endParaRPr sz="1300">
              <a:solidFill>
                <a:schemeClr val="dk2"/>
              </a:solidFill>
              <a:latin typeface="Nunito"/>
              <a:ea typeface="Nunito"/>
              <a:cs typeface="Nunito"/>
              <a:sym typeface="Nunito"/>
            </a:endParaRPr>
          </a:p>
          <a:p>
            <a:pPr marL="0" lvl="0" indent="0" algn="l" rtl="0">
              <a:spcBef>
                <a:spcPts val="0"/>
              </a:spcBef>
              <a:spcAft>
                <a:spcPts val="0"/>
              </a:spcAft>
              <a:buNone/>
            </a:pPr>
            <a:r>
              <a:rPr lang="en" sz="1300">
                <a:solidFill>
                  <a:schemeClr val="dk2"/>
                </a:solidFill>
                <a:latin typeface="Nunito"/>
                <a:ea typeface="Nunito"/>
                <a:cs typeface="Nunito"/>
                <a:sym typeface="Nunito"/>
              </a:rPr>
              <a:t>The Psychology of Habit</a:t>
            </a:r>
            <a:endParaRPr sz="1300">
              <a:solidFill>
                <a:schemeClr val="dk2"/>
              </a:solidFill>
              <a:latin typeface="Nunito"/>
              <a:ea typeface="Nunito"/>
              <a:cs typeface="Nunito"/>
              <a:sym typeface="Nunit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g3f99c6e39bf_0_66"/>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Last Week Question Answers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744"/>
        <p:cNvGrpSpPr/>
        <p:nvPr/>
      </p:nvGrpSpPr>
      <p:grpSpPr>
        <a:xfrm>
          <a:off x="0" y="0"/>
          <a:ext cx="0" cy="0"/>
          <a:chOff x="0" y="0"/>
          <a:chExt cx="0" cy="0"/>
        </a:xfrm>
      </p:grpSpPr>
      <p:sp>
        <p:nvSpPr>
          <p:cNvPr id="745" name="Google Shape;745;g3f99c6e39bf_0_29"/>
          <p:cNvSpPr txBox="1">
            <a:spLocks noGrp="1"/>
          </p:cNvSpPr>
          <p:nvPr>
            <p:ph type="title" idx="4294967295"/>
          </p:nvPr>
        </p:nvSpPr>
        <p:spPr>
          <a:xfrm>
            <a:off x="1303800" y="598575"/>
            <a:ext cx="7030500" cy="999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much do scientists get paid an hour?</a:t>
            </a:r>
            <a:endParaRPr/>
          </a:p>
        </p:txBody>
      </p:sp>
      <p:sp>
        <p:nvSpPr>
          <p:cNvPr id="746" name="Google Shape;746;g3f99c6e39bf_0_29"/>
          <p:cNvSpPr txBox="1">
            <a:spLocks noGrp="1"/>
          </p:cNvSpPr>
          <p:nvPr>
            <p:ph type="body" idx="4294967295"/>
          </p:nvPr>
        </p:nvSpPr>
        <p:spPr>
          <a:xfrm>
            <a:off x="1303800" y="1990050"/>
            <a:ext cx="7030500" cy="2541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Perhaps describe difference between academic and other scientists and that there are many, many jobs where you can be considered a scientist</a:t>
            </a:r>
            <a:endParaRPr/>
          </a:p>
          <a:p>
            <a:pPr marL="0" lvl="0" indent="0" algn="l" rtl="0">
              <a:spcBef>
                <a:spcPts val="0"/>
              </a:spcBef>
              <a:spcAft>
                <a:spcPts val="0"/>
              </a:spcAft>
              <a:buNone/>
            </a:pPr>
            <a:r>
              <a:rPr lang="en"/>
              <a:t>Then focus on the “scientists” we discuss in class (professors and their labs) </a:t>
            </a:r>
            <a:endParaRPr/>
          </a:p>
          <a:p>
            <a:pPr marL="0" lvl="0" indent="0" algn="l" rtl="0">
              <a:spcBef>
                <a:spcPts val="0"/>
              </a:spcBef>
              <a:spcAft>
                <a:spcPts val="0"/>
              </a:spcAft>
              <a:buNone/>
            </a:pPr>
            <a:r>
              <a:rPr lang="en"/>
              <a:t>x</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3f99c6e39bf_0_34"/>
          <p:cNvSpPr txBox="1">
            <a:spLocks noGrp="1"/>
          </p:cNvSpPr>
          <p:nvPr>
            <p:ph type="body" idx="4294967295"/>
          </p:nvPr>
        </p:nvSpPr>
        <p:spPr>
          <a:xfrm>
            <a:off x="0" y="999300"/>
            <a:ext cx="2785800" cy="414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000000"/>
                </a:solidFill>
              </a:rPr>
              <a:t>Psychological trauma, such as experiencing a frightening event, can also alter communication between different regions of the brain.</a:t>
            </a:r>
            <a:endParaRPr sz="1600">
              <a:solidFill>
                <a:srgbClr val="000000"/>
              </a:solidFill>
            </a:endParaRPr>
          </a:p>
          <a:p>
            <a:pPr marL="0" lvl="0" indent="0" algn="l" rtl="0">
              <a:spcBef>
                <a:spcPts val="0"/>
              </a:spcBef>
              <a:spcAft>
                <a:spcPts val="0"/>
              </a:spcAft>
              <a:buNone/>
            </a:pPr>
            <a:endParaRPr sz="1600">
              <a:solidFill>
                <a:srgbClr val="000000"/>
              </a:solidFill>
            </a:endParaRPr>
          </a:p>
          <a:p>
            <a:pPr marL="0" lvl="0" indent="0" algn="l" rtl="0">
              <a:spcBef>
                <a:spcPts val="0"/>
              </a:spcBef>
              <a:spcAft>
                <a:spcPts val="0"/>
              </a:spcAft>
              <a:buNone/>
            </a:pPr>
            <a:r>
              <a:rPr lang="en" sz="1600">
                <a:solidFill>
                  <a:srgbClr val="000000"/>
                </a:solidFill>
              </a:rPr>
              <a:t>These changes help explain why some individuals may continue to experience stress, fear, or emotional responses long after the original event has occurred.</a:t>
            </a:r>
            <a:endParaRPr sz="1600">
              <a:solidFill>
                <a:srgbClr val="000000"/>
              </a:solidFill>
            </a:endParaRPr>
          </a:p>
          <a:p>
            <a:pPr marL="0" lvl="0" indent="0" algn="l" rtl="0">
              <a:spcBef>
                <a:spcPts val="0"/>
              </a:spcBef>
              <a:spcAft>
                <a:spcPts val="0"/>
              </a:spcAft>
              <a:buNone/>
            </a:pPr>
            <a:endParaRPr sz="1600"/>
          </a:p>
        </p:txBody>
      </p:sp>
      <p:sp>
        <p:nvSpPr>
          <p:cNvPr id="752" name="Google Shape;752;g3f99c6e39bf_0_34"/>
          <p:cNvSpPr txBox="1">
            <a:spLocks noGrp="1"/>
          </p:cNvSpPr>
          <p:nvPr>
            <p:ph type="body" idx="4294967295"/>
          </p:nvPr>
        </p:nvSpPr>
        <p:spPr>
          <a:xfrm>
            <a:off x="2785800" y="999300"/>
            <a:ext cx="2785800" cy="4144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500">
                <a:solidFill>
                  <a:srgbClr val="0000FF"/>
                </a:solidFill>
              </a:rPr>
              <a:t>El trauma psicológico, como experimentar un evento aterrador, también puede alterar la comunicación entre diferentes regiones del cerebro.</a:t>
            </a:r>
            <a:endParaRPr sz="1500">
              <a:solidFill>
                <a:srgbClr val="0000FF"/>
              </a:solidFill>
            </a:endParaRPr>
          </a:p>
          <a:p>
            <a:pPr marL="0" lvl="0" indent="0" algn="l" rtl="0">
              <a:spcBef>
                <a:spcPts val="1200"/>
              </a:spcBef>
              <a:spcAft>
                <a:spcPts val="1200"/>
              </a:spcAft>
              <a:buNone/>
            </a:pPr>
            <a:r>
              <a:rPr lang="en" sz="1500">
                <a:solidFill>
                  <a:srgbClr val="0000FF"/>
                </a:solidFill>
              </a:rPr>
              <a:t>Estos cambios ayudan a explicar por qué algunas personas pueden continuar experimentando estrés, miedo o respuestas emocionales mucho tiempo después de que haya ocurrido el evento original.</a:t>
            </a:r>
            <a:endParaRPr sz="1500">
              <a:solidFill>
                <a:srgbClr val="0000FF"/>
              </a:solidFill>
            </a:endParaRPr>
          </a:p>
        </p:txBody>
      </p:sp>
      <p:pic>
        <p:nvPicPr>
          <p:cNvPr id="753" name="Google Shape;753;g3f99c6e39bf_0_34" title="1CCBBB27-837C-4181-B783-5651B7AFA2BF.png"/>
          <p:cNvPicPr preferRelativeResize="0"/>
          <p:nvPr/>
        </p:nvPicPr>
        <p:blipFill rotWithShape="1">
          <a:blip r:embed="rId3">
            <a:alphaModFix/>
          </a:blip>
          <a:srcRect l="26613" t="7961" r="25497"/>
          <a:stretch/>
        </p:blipFill>
        <p:spPr>
          <a:xfrm>
            <a:off x="5571599" y="999311"/>
            <a:ext cx="3572400" cy="3432876"/>
          </a:xfrm>
          <a:prstGeom prst="rect">
            <a:avLst/>
          </a:prstGeom>
          <a:noFill/>
          <a:ln>
            <a:noFill/>
          </a:ln>
        </p:spPr>
      </p:pic>
      <p:sp>
        <p:nvSpPr>
          <p:cNvPr id="754" name="Google Shape;754;g3f99c6e39bf_0_34"/>
          <p:cNvSpPr txBox="1">
            <a:spLocks noGrp="1"/>
          </p:cNvSpPr>
          <p:nvPr>
            <p:ph type="title" idx="4294967295"/>
          </p:nvPr>
        </p:nvSpPr>
        <p:spPr>
          <a:xfrm>
            <a:off x="0" y="0"/>
            <a:ext cx="8668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How does the brain work after trauma?</a:t>
            </a:r>
            <a:endParaRPr/>
          </a:p>
          <a:p>
            <a:pPr marL="0" lvl="0" indent="0" algn="l" rtl="0">
              <a:spcBef>
                <a:spcPts val="0"/>
              </a:spcBef>
              <a:spcAft>
                <a:spcPts val="0"/>
              </a:spcAft>
              <a:buNone/>
            </a:pPr>
            <a:r>
              <a:rPr lang="en" sz="2400">
                <a:solidFill>
                  <a:srgbClr val="0000FF"/>
                </a:solidFill>
              </a:rPr>
              <a:t>¿Cómo funciona el cerebro después de un trauma?</a:t>
            </a:r>
            <a:endParaRPr sz="2400">
              <a:solidFill>
                <a:srgbClr val="0000FF"/>
              </a:solidFill>
            </a:endParaRPr>
          </a:p>
        </p:txBody>
      </p:sp>
      <p:sp>
        <p:nvSpPr>
          <p:cNvPr id="755" name="Google Shape;755;g3f99c6e39bf_0_34"/>
          <p:cNvSpPr txBox="1">
            <a:spLocks noGrp="1"/>
          </p:cNvSpPr>
          <p:nvPr>
            <p:ph type="title" idx="4294967295"/>
          </p:nvPr>
        </p:nvSpPr>
        <p:spPr>
          <a:xfrm>
            <a:off x="7693050" y="0"/>
            <a:ext cx="1424400" cy="649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i="1">
                <a:solidFill>
                  <a:srgbClr val="FF0000"/>
                </a:solidFill>
              </a:rPr>
              <a:t>Optional</a:t>
            </a:r>
            <a:endParaRPr sz="2200" i="1">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g3f99c6e39bf_0_42"/>
          <p:cNvSpPr txBox="1"/>
          <p:nvPr/>
        </p:nvSpPr>
        <p:spPr>
          <a:xfrm>
            <a:off x="64850" y="46325"/>
            <a:ext cx="8931000" cy="1148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500" b="1"/>
              <a:t>How many nerve endings are in the brain?</a:t>
            </a:r>
            <a:endParaRPr sz="2500" b="1"/>
          </a:p>
          <a:p>
            <a:pPr marL="0" lvl="0" indent="0" algn="l" rtl="0">
              <a:lnSpc>
                <a:spcPct val="115000"/>
              </a:lnSpc>
              <a:spcBef>
                <a:spcPts val="0"/>
              </a:spcBef>
              <a:spcAft>
                <a:spcPts val="300"/>
              </a:spcAft>
              <a:buNone/>
            </a:pPr>
            <a:r>
              <a:rPr lang="en" sz="2100" b="1">
                <a:solidFill>
                  <a:srgbClr val="0000FF"/>
                </a:solidFill>
              </a:rPr>
              <a:t>¿Cuántas terminaciones nerviosas hay en el cerebro?</a:t>
            </a:r>
            <a:endParaRPr sz="2100" b="1">
              <a:solidFill>
                <a:schemeClr val="dk2"/>
              </a:solidFill>
              <a:latin typeface="Nunito"/>
              <a:ea typeface="Nunito"/>
              <a:cs typeface="Nunito"/>
              <a:sym typeface="Nunito"/>
            </a:endParaRPr>
          </a:p>
        </p:txBody>
      </p:sp>
      <p:sp>
        <p:nvSpPr>
          <p:cNvPr id="761" name="Google Shape;761;g3f99c6e39bf_0_42"/>
          <p:cNvSpPr txBox="1"/>
          <p:nvPr/>
        </p:nvSpPr>
        <p:spPr>
          <a:xfrm>
            <a:off x="166750" y="963500"/>
            <a:ext cx="3381600" cy="386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2"/>
                </a:solidFill>
                <a:latin typeface="Nunito"/>
                <a:ea typeface="Nunito"/>
                <a:cs typeface="Nunito"/>
                <a:sym typeface="Nunito"/>
              </a:rPr>
              <a:t>Nerve endings</a:t>
            </a:r>
            <a:r>
              <a:rPr lang="en" sz="1300">
                <a:solidFill>
                  <a:schemeClr val="dk2"/>
                </a:solidFill>
                <a:latin typeface="Nunito"/>
                <a:ea typeface="Nunito"/>
                <a:cs typeface="Nunito"/>
                <a:sym typeface="Nunito"/>
              </a:rPr>
              <a:t> are the tip ends of sensory or motor nerve fibers that either gather signals from the body or trigger actions; acting as the bodies input and output points. Nerves connect the brain to the rest of the body. They exist in your skin, muscles, joints, organs, and digestive tract. Humans are estimated to have trillions (1,000,000,000,000’s) of nerve fibers and endings. </a:t>
            </a:r>
            <a:endParaRPr sz="1300">
              <a:solidFill>
                <a:schemeClr val="dk2"/>
              </a:solidFill>
              <a:latin typeface="Nunito"/>
              <a:ea typeface="Nunito"/>
              <a:cs typeface="Nunito"/>
              <a:sym typeface="Nunito"/>
            </a:endParaRPr>
          </a:p>
          <a:p>
            <a:pPr marL="0" lvl="0" indent="0" algn="l" rtl="0">
              <a:spcBef>
                <a:spcPts val="0"/>
              </a:spcBef>
              <a:spcAft>
                <a:spcPts val="0"/>
              </a:spcAft>
              <a:buNone/>
            </a:pPr>
            <a:endParaRPr sz="1300">
              <a:solidFill>
                <a:schemeClr val="dk2"/>
              </a:solidFill>
              <a:latin typeface="Nunito"/>
              <a:ea typeface="Nunito"/>
              <a:cs typeface="Nunito"/>
              <a:sym typeface="Nunito"/>
            </a:endParaRPr>
          </a:p>
          <a:p>
            <a:pPr marL="0" lvl="0" indent="0" algn="l" rtl="0">
              <a:spcBef>
                <a:spcPts val="0"/>
              </a:spcBef>
              <a:spcAft>
                <a:spcPts val="0"/>
              </a:spcAft>
              <a:buNone/>
            </a:pPr>
            <a:r>
              <a:rPr lang="en" sz="1300">
                <a:solidFill>
                  <a:schemeClr val="dk2"/>
                </a:solidFill>
                <a:latin typeface="Nunito"/>
                <a:ea typeface="Nunito"/>
                <a:cs typeface="Nunito"/>
                <a:sym typeface="Nunito"/>
              </a:rPr>
              <a:t>The brain has a major cell type called </a:t>
            </a:r>
            <a:r>
              <a:rPr lang="en" sz="1300" b="1">
                <a:solidFill>
                  <a:schemeClr val="dk2"/>
                </a:solidFill>
                <a:latin typeface="Nunito"/>
                <a:ea typeface="Nunito"/>
                <a:cs typeface="Nunito"/>
                <a:sym typeface="Nunito"/>
              </a:rPr>
              <a:t>neurons</a:t>
            </a:r>
            <a:r>
              <a:rPr lang="en" sz="1300">
                <a:solidFill>
                  <a:schemeClr val="dk2"/>
                </a:solidFill>
                <a:latin typeface="Nunito"/>
                <a:ea typeface="Nunito"/>
                <a:cs typeface="Nunito"/>
                <a:sym typeface="Nunito"/>
              </a:rPr>
              <a:t> that have many microscopic connection points called synapses. Humans have around 100 billion (100,0</a:t>
            </a:r>
            <a:r>
              <a:rPr lang="en" sz="1300">
                <a:solidFill>
                  <a:srgbClr val="434343"/>
                </a:solidFill>
                <a:latin typeface="Nunito"/>
                <a:ea typeface="Nunito"/>
                <a:cs typeface="Nunito"/>
                <a:sym typeface="Nunito"/>
              </a:rPr>
              <a:t>00,000,000)neurons and estimated 100 quadrillion synapses (100,000,000,000,000,000).</a:t>
            </a:r>
            <a:endParaRPr sz="1300">
              <a:solidFill>
                <a:srgbClr val="434343"/>
              </a:solidFill>
              <a:latin typeface="Nunito"/>
              <a:ea typeface="Nunito"/>
              <a:cs typeface="Nunito"/>
              <a:sym typeface="Nunito"/>
            </a:endParaRPr>
          </a:p>
        </p:txBody>
      </p:sp>
      <p:pic>
        <p:nvPicPr>
          <p:cNvPr id="762" name="Google Shape;762;g3f99c6e39bf_0_42" descr="Hashem - Your body contains 72km of nerves and enough blood vessels to  circle Earth twice. The human body's nervous system is a marvel of  biological engineering. If all your nerve fibers"/>
          <p:cNvPicPr preferRelativeResize="0"/>
          <p:nvPr/>
        </p:nvPicPr>
        <p:blipFill rotWithShape="1">
          <a:blip r:embed="rId3">
            <a:alphaModFix/>
          </a:blip>
          <a:srcRect l="36393" t="20677" r="26054" b="11618"/>
          <a:stretch/>
        </p:blipFill>
        <p:spPr>
          <a:xfrm>
            <a:off x="7718502" y="2677425"/>
            <a:ext cx="1030675" cy="2306975"/>
          </a:xfrm>
          <a:prstGeom prst="rect">
            <a:avLst/>
          </a:prstGeom>
          <a:noFill/>
          <a:ln>
            <a:noFill/>
          </a:ln>
        </p:spPr>
      </p:pic>
      <p:pic>
        <p:nvPicPr>
          <p:cNvPr id="763" name="Google Shape;763;g3f99c6e39bf_0_42" descr="Synapse: structure and labeled diagram | GetBodySmart"/>
          <p:cNvPicPr preferRelativeResize="0"/>
          <p:nvPr/>
        </p:nvPicPr>
        <p:blipFill>
          <a:blip r:embed="rId4">
            <a:alphaModFix/>
          </a:blip>
          <a:stretch>
            <a:fillRect/>
          </a:stretch>
        </p:blipFill>
        <p:spPr>
          <a:xfrm>
            <a:off x="6830625" y="569525"/>
            <a:ext cx="2257875" cy="1709500"/>
          </a:xfrm>
          <a:prstGeom prst="rect">
            <a:avLst/>
          </a:prstGeom>
          <a:noFill/>
          <a:ln>
            <a:noFill/>
          </a:ln>
        </p:spPr>
      </p:pic>
      <p:sp>
        <p:nvSpPr>
          <p:cNvPr id="764" name="Google Shape;764;g3f99c6e39bf_0_42"/>
          <p:cNvSpPr txBox="1"/>
          <p:nvPr/>
        </p:nvSpPr>
        <p:spPr>
          <a:xfrm>
            <a:off x="3548350" y="931100"/>
            <a:ext cx="3381600" cy="392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rgbClr val="0000FF"/>
                </a:solidFill>
                <a:latin typeface="Nunito"/>
                <a:ea typeface="Nunito"/>
                <a:cs typeface="Nunito"/>
                <a:sym typeface="Nunito"/>
              </a:rPr>
              <a:t>Las terminaciones nerviosas</a:t>
            </a:r>
            <a:r>
              <a:rPr lang="en" sz="1300">
                <a:solidFill>
                  <a:srgbClr val="0000FF"/>
                </a:solidFill>
                <a:latin typeface="Nunito"/>
                <a:ea typeface="Nunito"/>
                <a:cs typeface="Nunito"/>
                <a:sym typeface="Nunito"/>
              </a:rPr>
              <a:t> son los extremos de las fibras nerviosas sensoriales o motoras que captan señales del cuerpo o desencadenan acciones, actuando así como puntos de entrada y salida del organismo. Los nervios conectan el cerebro con el resto del cuerpo y se encuentran en la piel, los músculos, las articulaciones, los órganos y el tracto digestivo. Se estima que los seres humanos poseen billones de fibras y terminaciones nerviosas.</a:t>
            </a:r>
            <a:endParaRPr sz="1300">
              <a:solidFill>
                <a:srgbClr val="0000FF"/>
              </a:solidFill>
              <a:latin typeface="Nunito"/>
              <a:ea typeface="Nunito"/>
              <a:cs typeface="Nunito"/>
              <a:sym typeface="Nunito"/>
            </a:endParaRPr>
          </a:p>
          <a:p>
            <a:pPr marL="0" lvl="0" indent="0" algn="l" rtl="0">
              <a:spcBef>
                <a:spcPts val="0"/>
              </a:spcBef>
              <a:spcAft>
                <a:spcPts val="0"/>
              </a:spcAft>
              <a:buNone/>
            </a:pPr>
            <a:endParaRPr sz="1300">
              <a:solidFill>
                <a:srgbClr val="0000FF"/>
              </a:solidFill>
              <a:latin typeface="Nunito"/>
              <a:ea typeface="Nunito"/>
              <a:cs typeface="Nunito"/>
              <a:sym typeface="Nunito"/>
            </a:endParaRPr>
          </a:p>
          <a:p>
            <a:pPr marL="0" lvl="0" indent="0" algn="l" rtl="0">
              <a:spcBef>
                <a:spcPts val="0"/>
              </a:spcBef>
              <a:spcAft>
                <a:spcPts val="0"/>
              </a:spcAft>
              <a:buNone/>
            </a:pPr>
            <a:r>
              <a:rPr lang="en" sz="1300">
                <a:solidFill>
                  <a:srgbClr val="0000FF"/>
                </a:solidFill>
                <a:latin typeface="Nunito"/>
                <a:ea typeface="Nunito"/>
                <a:cs typeface="Nunito"/>
                <a:sym typeface="Nunito"/>
              </a:rPr>
              <a:t>El cerebro cuenta con un tipo de célula principal denominado </a:t>
            </a:r>
            <a:r>
              <a:rPr lang="en" sz="1300" b="1">
                <a:solidFill>
                  <a:srgbClr val="0000FF"/>
                </a:solidFill>
                <a:latin typeface="Nunito"/>
                <a:ea typeface="Nunito"/>
                <a:cs typeface="Nunito"/>
                <a:sym typeface="Nunito"/>
              </a:rPr>
              <a:t>neurona</a:t>
            </a:r>
            <a:r>
              <a:rPr lang="en" sz="1300">
                <a:solidFill>
                  <a:srgbClr val="0000FF"/>
                </a:solidFill>
                <a:latin typeface="Nunito"/>
                <a:ea typeface="Nunito"/>
                <a:cs typeface="Nunito"/>
                <a:sym typeface="Nunito"/>
              </a:rPr>
              <a:t>, que presenta numerosos puntos de conexión microscópicos llamados sinapsis. Los seres humanos tienen alrededor de 100.000 millones de neuronas y se estima que poseen 100.000 billones de sinapsis.</a:t>
            </a:r>
            <a:endParaRPr sz="1300">
              <a:solidFill>
                <a:srgbClr val="0000FF"/>
              </a:solidFill>
              <a:latin typeface="Nunito"/>
              <a:ea typeface="Nunito"/>
              <a:cs typeface="Nunito"/>
              <a:sym typeface="Nunito"/>
            </a:endParaRPr>
          </a:p>
          <a:p>
            <a:pPr marL="0" lvl="0" indent="0" algn="l" rtl="0">
              <a:spcBef>
                <a:spcPts val="0"/>
              </a:spcBef>
              <a:spcAft>
                <a:spcPts val="0"/>
              </a:spcAft>
              <a:buNone/>
            </a:pPr>
            <a:endParaRPr sz="1300">
              <a:solidFill>
                <a:srgbClr val="0000FF"/>
              </a:solidFill>
              <a:latin typeface="Nunito"/>
              <a:ea typeface="Nunito"/>
              <a:cs typeface="Nunito"/>
              <a:sym typeface="Nunito"/>
            </a:endParaRPr>
          </a:p>
        </p:txBody>
      </p:sp>
      <p:sp>
        <p:nvSpPr>
          <p:cNvPr id="765" name="Google Shape;765;g3f99c6e39bf_0_42"/>
          <p:cNvSpPr txBox="1"/>
          <p:nvPr/>
        </p:nvSpPr>
        <p:spPr>
          <a:xfrm>
            <a:off x="7576088" y="2030625"/>
            <a:ext cx="1315500" cy="64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chemeClr val="dk2"/>
                </a:solidFill>
                <a:latin typeface="Nunito"/>
                <a:ea typeface="Nunito"/>
                <a:cs typeface="Nunito"/>
                <a:sym typeface="Nunito"/>
              </a:rPr>
              <a:t>Nerves</a:t>
            </a:r>
            <a:endParaRPr sz="1300" b="1">
              <a:solidFill>
                <a:schemeClr val="dk2"/>
              </a:solidFill>
              <a:latin typeface="Nunito"/>
              <a:ea typeface="Nunito"/>
              <a:cs typeface="Nunito"/>
              <a:sym typeface="Nunito"/>
            </a:endParaRPr>
          </a:p>
          <a:p>
            <a:pPr marL="0" marR="38100" lvl="0" indent="0" algn="ctr" rtl="0">
              <a:lnSpc>
                <a:spcPct val="128571"/>
              </a:lnSpc>
              <a:spcBef>
                <a:spcPts val="0"/>
              </a:spcBef>
              <a:spcAft>
                <a:spcPts val="0"/>
              </a:spcAft>
              <a:buNone/>
            </a:pPr>
            <a:r>
              <a:rPr lang="en" sz="1300" b="1">
                <a:solidFill>
                  <a:srgbClr val="0000FF"/>
                </a:solidFill>
                <a:latin typeface="Nunito"/>
                <a:ea typeface="Nunito"/>
                <a:cs typeface="Nunito"/>
                <a:sym typeface="Nunito"/>
              </a:rPr>
              <a:t>Nervios</a:t>
            </a:r>
            <a:endParaRPr sz="1300" b="1">
              <a:solidFill>
                <a:srgbClr val="0000FF"/>
              </a:solidFill>
              <a:latin typeface="Nunito"/>
              <a:ea typeface="Nunito"/>
              <a:cs typeface="Nunito"/>
              <a:sym typeface="Nunito"/>
            </a:endParaRPr>
          </a:p>
          <a:p>
            <a:pPr marL="0" lvl="0" indent="0" algn="ctr" rtl="0">
              <a:spcBef>
                <a:spcPts val="0"/>
              </a:spcBef>
              <a:spcAft>
                <a:spcPts val="0"/>
              </a:spcAft>
              <a:buNone/>
            </a:pPr>
            <a:endParaRPr sz="1300">
              <a:solidFill>
                <a:schemeClr val="dk2"/>
              </a:solidFill>
              <a:latin typeface="Nunito"/>
              <a:ea typeface="Nunito"/>
              <a:cs typeface="Nunito"/>
              <a:sym typeface="Nunito"/>
            </a:endParaRPr>
          </a:p>
        </p:txBody>
      </p:sp>
      <p:sp>
        <p:nvSpPr>
          <p:cNvPr id="766" name="Google Shape;766;g3f99c6e39bf_0_42"/>
          <p:cNvSpPr txBox="1"/>
          <p:nvPr/>
        </p:nvSpPr>
        <p:spPr>
          <a:xfrm>
            <a:off x="7433663" y="297275"/>
            <a:ext cx="1315500" cy="64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chemeClr val="dk2"/>
                </a:solidFill>
                <a:latin typeface="Nunito"/>
                <a:ea typeface="Nunito"/>
                <a:cs typeface="Nunito"/>
                <a:sym typeface="Nunito"/>
              </a:rPr>
              <a:t>Neuron</a:t>
            </a:r>
            <a:endParaRPr sz="1300" b="1">
              <a:solidFill>
                <a:schemeClr val="dk2"/>
              </a:solidFill>
              <a:latin typeface="Nunito"/>
              <a:ea typeface="Nunito"/>
              <a:cs typeface="Nunito"/>
              <a:sym typeface="Nunito"/>
            </a:endParaRPr>
          </a:p>
          <a:p>
            <a:pPr marL="0" marR="38100" lvl="0" indent="0" algn="ctr" rtl="0">
              <a:lnSpc>
                <a:spcPct val="128571"/>
              </a:lnSpc>
              <a:spcBef>
                <a:spcPts val="0"/>
              </a:spcBef>
              <a:spcAft>
                <a:spcPts val="0"/>
              </a:spcAft>
              <a:buNone/>
            </a:pPr>
            <a:r>
              <a:rPr lang="en" sz="1300" b="1">
                <a:solidFill>
                  <a:srgbClr val="0000FF"/>
                </a:solidFill>
                <a:latin typeface="Nunito"/>
                <a:ea typeface="Nunito"/>
                <a:cs typeface="Nunito"/>
                <a:sym typeface="Nunito"/>
              </a:rPr>
              <a:t>Neurona</a:t>
            </a:r>
            <a:endParaRPr sz="1300" b="1">
              <a:solidFill>
                <a:srgbClr val="0000FF"/>
              </a:solidFill>
              <a:latin typeface="Nunito"/>
              <a:ea typeface="Nunito"/>
              <a:cs typeface="Nunito"/>
              <a:sym typeface="Nunito"/>
            </a:endParaRPr>
          </a:p>
          <a:p>
            <a:pPr marL="0" lvl="0" indent="0" algn="ctr" rtl="0">
              <a:spcBef>
                <a:spcPts val="0"/>
              </a:spcBef>
              <a:spcAft>
                <a:spcPts val="0"/>
              </a:spcAft>
              <a:buNone/>
            </a:pPr>
            <a:endParaRPr sz="1300">
              <a:solidFill>
                <a:schemeClr val="dk2"/>
              </a:solidFill>
              <a:latin typeface="Nunito"/>
              <a:ea typeface="Nunito"/>
              <a:cs typeface="Nunito"/>
              <a:sym typeface="Nunito"/>
            </a:endParaRPr>
          </a:p>
        </p:txBody>
      </p:sp>
      <p:sp>
        <p:nvSpPr>
          <p:cNvPr id="767" name="Google Shape;767;g3f99c6e39bf_0_42"/>
          <p:cNvSpPr txBox="1"/>
          <p:nvPr/>
        </p:nvSpPr>
        <p:spPr>
          <a:xfrm>
            <a:off x="8324025" y="1624238"/>
            <a:ext cx="1030800" cy="322500"/>
          </a:xfrm>
          <a:prstGeom prst="rect">
            <a:avLst/>
          </a:prstGeom>
          <a:noFill/>
          <a:ln>
            <a:noFill/>
          </a:ln>
        </p:spPr>
        <p:txBody>
          <a:bodyPr spcFirstLastPara="1" wrap="square" lIns="91425" tIns="91425" rIns="91425" bIns="91425" anchor="t" anchorCtr="0">
            <a:noAutofit/>
          </a:bodyPr>
          <a:lstStyle/>
          <a:p>
            <a:pPr marL="0" marR="38100" lvl="0" indent="0" algn="l" rtl="0">
              <a:lnSpc>
                <a:spcPct val="128571"/>
              </a:lnSpc>
              <a:spcBef>
                <a:spcPts val="0"/>
              </a:spcBef>
              <a:spcAft>
                <a:spcPts val="0"/>
              </a:spcAft>
              <a:buNone/>
            </a:pPr>
            <a:r>
              <a:rPr lang="en" sz="1200">
                <a:solidFill>
                  <a:srgbClr val="0000FF"/>
                </a:solidFill>
                <a:latin typeface="Nunito"/>
                <a:ea typeface="Nunito"/>
                <a:cs typeface="Nunito"/>
                <a:sym typeface="Nunito"/>
              </a:rPr>
              <a:t>sinapsis</a:t>
            </a:r>
            <a:endParaRPr sz="1200">
              <a:solidFill>
                <a:srgbClr val="0000FF"/>
              </a:solidFill>
              <a:latin typeface="Nunito"/>
              <a:ea typeface="Nunito"/>
              <a:cs typeface="Nunito"/>
              <a:sym typeface="Nunito"/>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3f99c6e39bf_0_53"/>
          <p:cNvSpPr txBox="1">
            <a:spLocks noGrp="1"/>
          </p:cNvSpPr>
          <p:nvPr>
            <p:ph type="title" idx="4294967295"/>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Trolley Problem </a:t>
            </a:r>
            <a:endParaRPr/>
          </a:p>
        </p:txBody>
      </p:sp>
      <p:sp>
        <p:nvSpPr>
          <p:cNvPr id="773" name="Google Shape;773;g3f99c6e39bf_0_53"/>
          <p:cNvSpPr txBox="1">
            <a:spLocks noGrp="1"/>
          </p:cNvSpPr>
          <p:nvPr>
            <p:ph type="body" idx="4294967295"/>
          </p:nvPr>
        </p:nvSpPr>
        <p:spPr>
          <a:xfrm>
            <a:off x="4678450" y="1316700"/>
            <a:ext cx="4426200" cy="382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B0B0B"/>
                </a:solidFill>
              </a:rPr>
              <a:t>Problem: A runaway trolley is moving toward five people who are stuck on the track. You are standing next to a lever that can switch the trolley onto another track, but there is one person on that track. If you pull the lever, the trolley will hit one person instead of five. If you do nothing, it will hit the five people. What do you do?</a:t>
            </a:r>
            <a:endParaRPr>
              <a:solidFill>
                <a:srgbClr val="0B0B0B"/>
              </a:solidFill>
            </a:endParaRPr>
          </a:p>
          <a:p>
            <a:pPr marL="0" lvl="0" indent="0" algn="l" rtl="0">
              <a:spcBef>
                <a:spcPts val="0"/>
              </a:spcBef>
              <a:spcAft>
                <a:spcPts val="0"/>
              </a:spcAft>
              <a:buNone/>
            </a:pPr>
            <a:endParaRPr>
              <a:solidFill>
                <a:srgbClr val="0B0B0B"/>
              </a:solidFill>
            </a:endParaRPr>
          </a:p>
          <a:p>
            <a:pPr marL="0" lvl="0" indent="0" algn="l" rtl="0">
              <a:spcBef>
                <a:spcPts val="1200"/>
              </a:spcBef>
              <a:spcAft>
                <a:spcPts val="1200"/>
              </a:spcAft>
              <a:buNone/>
            </a:pPr>
            <a:r>
              <a:rPr lang="en">
                <a:solidFill>
                  <a:srgbClr val="0000FF"/>
                </a:solidFill>
              </a:rPr>
              <a:t>Problema: Un tranvía fuera de control se dirige hacia cinco personas que están atrapadas en las vías. Tú estás junto a una palanca que puede cambiar el tranvía hacia otra vía, pero hay una persona en esa vía. Si tiras de la palanca, el tranvía golpeará a una persona en lugar de a cinco. Si no haces nada, atropellará a las cinco personas. ¿Qué harías?</a:t>
            </a:r>
            <a:endParaRPr/>
          </a:p>
        </p:txBody>
      </p:sp>
      <p:pic>
        <p:nvPicPr>
          <p:cNvPr id="774" name="Google Shape;774;g3f99c6e39bf_0_53" title="images.jpg"/>
          <p:cNvPicPr preferRelativeResize="0"/>
          <p:nvPr/>
        </p:nvPicPr>
        <p:blipFill>
          <a:blip r:embed="rId3">
            <a:alphaModFix/>
          </a:blip>
          <a:stretch>
            <a:fillRect/>
          </a:stretch>
        </p:blipFill>
        <p:spPr>
          <a:xfrm>
            <a:off x="0" y="1944375"/>
            <a:ext cx="4584428" cy="25717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3f6ebbd21f1_0_0"/>
          <p:cNvSpPr txBox="1">
            <a:spLocks noGrp="1"/>
          </p:cNvSpPr>
          <p:nvPr>
            <p:ph type="title" idx="4294967295"/>
          </p:nvPr>
        </p:nvSpPr>
        <p:spPr>
          <a:xfrm>
            <a:off x="0" y="0"/>
            <a:ext cx="8668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How does the brain work after trauma?</a:t>
            </a:r>
            <a:endParaRPr/>
          </a:p>
          <a:p>
            <a:pPr marL="0" lvl="0" indent="0" algn="l" rtl="0">
              <a:spcBef>
                <a:spcPts val="0"/>
              </a:spcBef>
              <a:spcAft>
                <a:spcPts val="0"/>
              </a:spcAft>
              <a:buNone/>
            </a:pPr>
            <a:r>
              <a:rPr lang="en" sz="2400">
                <a:solidFill>
                  <a:srgbClr val="0000FF"/>
                </a:solidFill>
              </a:rPr>
              <a:t>¿Cómo funciona el cerebro después de un trauma?</a:t>
            </a:r>
            <a:endParaRPr sz="2400">
              <a:solidFill>
                <a:srgbClr val="0000FF"/>
              </a:solidFill>
            </a:endParaRPr>
          </a:p>
        </p:txBody>
      </p:sp>
      <p:sp>
        <p:nvSpPr>
          <p:cNvPr id="780" name="Google Shape;780;g3f6ebbd21f1_0_0"/>
          <p:cNvSpPr txBox="1">
            <a:spLocks noGrp="1"/>
          </p:cNvSpPr>
          <p:nvPr>
            <p:ph type="body" idx="4294967295"/>
          </p:nvPr>
        </p:nvSpPr>
        <p:spPr>
          <a:xfrm>
            <a:off x="76200" y="999300"/>
            <a:ext cx="3045000" cy="414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000000"/>
                </a:solidFill>
              </a:rPr>
              <a:t>Following a traumatic event or physical injury, the brain can experience swelling and internal damage that affects normal function.</a:t>
            </a:r>
            <a:endParaRPr sz="1400">
              <a:solidFill>
                <a:srgbClr val="000000"/>
              </a:solidFill>
            </a:endParaRPr>
          </a:p>
          <a:p>
            <a:pPr marL="0" lvl="0" indent="0" algn="l" rtl="0">
              <a:spcBef>
                <a:spcPts val="0"/>
              </a:spcBef>
              <a:spcAft>
                <a:spcPts val="0"/>
              </a:spcAft>
              <a:buNone/>
            </a:pPr>
            <a:endParaRPr sz="1400">
              <a:solidFill>
                <a:srgbClr val="000000"/>
              </a:solidFill>
            </a:endParaRPr>
          </a:p>
          <a:p>
            <a:pPr marL="0" lvl="0" indent="0" algn="l" rtl="0">
              <a:spcBef>
                <a:spcPts val="0"/>
              </a:spcBef>
              <a:spcAft>
                <a:spcPts val="0"/>
              </a:spcAft>
              <a:buNone/>
            </a:pPr>
            <a:r>
              <a:rPr lang="en" sz="1400">
                <a:solidFill>
                  <a:srgbClr val="000000"/>
                </a:solidFill>
              </a:rPr>
              <a:t>During the recovery process, the brain can adapt by forming new connections between neurons, a process known as neuroplasticity.</a:t>
            </a:r>
            <a:endParaRPr sz="1400">
              <a:solidFill>
                <a:srgbClr val="000000"/>
              </a:solidFill>
            </a:endParaRPr>
          </a:p>
          <a:p>
            <a:pPr marL="0" lvl="0" indent="0" algn="l" rtl="0">
              <a:spcBef>
                <a:spcPts val="0"/>
              </a:spcBef>
              <a:spcAft>
                <a:spcPts val="0"/>
              </a:spcAft>
              <a:buNone/>
            </a:pPr>
            <a:endParaRPr sz="1400">
              <a:solidFill>
                <a:srgbClr val="000000"/>
              </a:solidFill>
            </a:endParaRPr>
          </a:p>
          <a:p>
            <a:pPr marL="0" lvl="0" indent="0" algn="l" rtl="0">
              <a:spcBef>
                <a:spcPts val="0"/>
              </a:spcBef>
              <a:spcAft>
                <a:spcPts val="0"/>
              </a:spcAft>
              <a:buNone/>
            </a:pPr>
            <a:r>
              <a:rPr lang="en" sz="1400">
                <a:solidFill>
                  <a:srgbClr val="000000"/>
                </a:solidFill>
              </a:rPr>
              <a:t>Brain injuries can impact important functions such as memory, mood regulation, learning, and decision-making</a:t>
            </a:r>
            <a:endParaRPr sz="1400">
              <a:solidFill>
                <a:srgbClr val="000000"/>
              </a:solidFill>
            </a:endParaRPr>
          </a:p>
          <a:p>
            <a:pPr marL="0" lvl="0" indent="0" algn="l" rtl="0">
              <a:spcBef>
                <a:spcPts val="0"/>
              </a:spcBef>
              <a:spcAft>
                <a:spcPts val="0"/>
              </a:spcAft>
              <a:buNone/>
            </a:pPr>
            <a:endParaRPr sz="1400"/>
          </a:p>
        </p:txBody>
      </p:sp>
      <p:sp>
        <p:nvSpPr>
          <p:cNvPr id="781" name="Google Shape;781;g3f6ebbd21f1_0_0"/>
          <p:cNvSpPr txBox="1">
            <a:spLocks noGrp="1"/>
          </p:cNvSpPr>
          <p:nvPr>
            <p:ph type="body" idx="4294967295"/>
          </p:nvPr>
        </p:nvSpPr>
        <p:spPr>
          <a:xfrm>
            <a:off x="3121200" y="999300"/>
            <a:ext cx="3153000" cy="4144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400">
                <a:solidFill>
                  <a:srgbClr val="0000FF"/>
                </a:solidFill>
              </a:rPr>
              <a:t>Después de un evento traumático o una lesión física, el cerebro puede experimentar inflamación y daño interno que afectan su funcionamiento normal.</a:t>
            </a:r>
            <a:endParaRPr sz="1400">
              <a:solidFill>
                <a:srgbClr val="0000FF"/>
              </a:solidFill>
            </a:endParaRPr>
          </a:p>
          <a:p>
            <a:pPr marL="0" lvl="0" indent="0" algn="l" rtl="0">
              <a:spcBef>
                <a:spcPts val="1200"/>
              </a:spcBef>
              <a:spcAft>
                <a:spcPts val="0"/>
              </a:spcAft>
              <a:buNone/>
            </a:pPr>
            <a:r>
              <a:rPr lang="en" sz="1400">
                <a:solidFill>
                  <a:srgbClr val="0000FF"/>
                </a:solidFill>
              </a:rPr>
              <a:t>Durante el proceso de recuperación, el cerebro puede adaptarse formando nuevas conexiones entre las neuronas, un proceso conocido como neuroplasticidad.</a:t>
            </a:r>
            <a:endParaRPr sz="1400">
              <a:solidFill>
                <a:srgbClr val="0000FF"/>
              </a:solidFill>
            </a:endParaRPr>
          </a:p>
          <a:p>
            <a:pPr marL="0" lvl="0" indent="0" algn="l" rtl="0">
              <a:spcBef>
                <a:spcPts val="1200"/>
              </a:spcBef>
              <a:spcAft>
                <a:spcPts val="1200"/>
              </a:spcAft>
              <a:buNone/>
            </a:pPr>
            <a:r>
              <a:rPr lang="en" sz="1400">
                <a:solidFill>
                  <a:srgbClr val="0000FF"/>
                </a:solidFill>
              </a:rPr>
              <a:t>Las lesiones cerebrales pueden afectar funciones importantes como la memoria, la regulación del estado de ánimo, el aprendizaje y la toma de decisiones.</a:t>
            </a:r>
            <a:endParaRPr sz="1400">
              <a:solidFill>
                <a:srgbClr val="0000FF"/>
              </a:solidFill>
            </a:endParaRPr>
          </a:p>
        </p:txBody>
      </p:sp>
      <p:pic>
        <p:nvPicPr>
          <p:cNvPr id="782" name="Google Shape;782;g3f6ebbd21f1_0_0" title="Brain-Injury.gif"/>
          <p:cNvPicPr preferRelativeResize="0"/>
          <p:nvPr/>
        </p:nvPicPr>
        <p:blipFill rotWithShape="1">
          <a:blip r:embed="rId3">
            <a:alphaModFix/>
          </a:blip>
          <a:srcRect l="51119" t="21377" r="2083"/>
          <a:stretch/>
        </p:blipFill>
        <p:spPr>
          <a:xfrm>
            <a:off x="7555875" y="2329125"/>
            <a:ext cx="1456474" cy="1359475"/>
          </a:xfrm>
          <a:prstGeom prst="rect">
            <a:avLst/>
          </a:prstGeom>
          <a:noFill/>
          <a:ln>
            <a:noFill/>
          </a:ln>
        </p:spPr>
      </p:pic>
      <p:sp>
        <p:nvSpPr>
          <p:cNvPr id="783" name="Google Shape;783;g3f6ebbd21f1_0_0"/>
          <p:cNvSpPr txBox="1"/>
          <p:nvPr/>
        </p:nvSpPr>
        <p:spPr>
          <a:xfrm>
            <a:off x="0" y="4817775"/>
            <a:ext cx="4374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latin typeface="Nunito"/>
                <a:ea typeface="Nunito"/>
                <a:cs typeface="Nunito"/>
                <a:sym typeface="Nunito"/>
              </a:rPr>
              <a:t>Renee</a:t>
            </a:r>
            <a:endParaRPr sz="1300">
              <a:solidFill>
                <a:schemeClr val="dk2"/>
              </a:solidFill>
              <a:latin typeface="Nunito"/>
              <a:ea typeface="Nunito"/>
              <a:cs typeface="Nunito"/>
              <a:sym typeface="Nunito"/>
            </a:endParaRPr>
          </a:p>
        </p:txBody>
      </p:sp>
      <p:pic>
        <p:nvPicPr>
          <p:cNvPr id="784" name="Google Shape;784;g3f6ebbd21f1_0_0" title="Brain-Injury.gif"/>
          <p:cNvPicPr preferRelativeResize="0"/>
          <p:nvPr/>
        </p:nvPicPr>
        <p:blipFill rotWithShape="1">
          <a:blip r:embed="rId3">
            <a:alphaModFix/>
          </a:blip>
          <a:srcRect l="3256" t="21377" r="64251"/>
          <a:stretch/>
        </p:blipFill>
        <p:spPr>
          <a:xfrm>
            <a:off x="6385175" y="2329125"/>
            <a:ext cx="1011250" cy="1359475"/>
          </a:xfrm>
          <a:prstGeom prst="rect">
            <a:avLst/>
          </a:prstGeom>
          <a:noFill/>
          <a:ln>
            <a:noFill/>
          </a:ln>
        </p:spPr>
      </p:pic>
      <p:sp>
        <p:nvSpPr>
          <p:cNvPr id="785" name="Google Shape;785;g3f6ebbd21f1_0_0"/>
          <p:cNvSpPr txBox="1"/>
          <p:nvPr/>
        </p:nvSpPr>
        <p:spPr>
          <a:xfrm>
            <a:off x="7705360" y="2058782"/>
            <a:ext cx="952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0B0B0B"/>
                </a:solidFill>
                <a:latin typeface="Nunito"/>
                <a:ea typeface="Nunito"/>
                <a:cs typeface="Nunito"/>
                <a:sym typeface="Nunito"/>
              </a:rPr>
              <a:t>Brain injury</a:t>
            </a:r>
            <a:endParaRPr sz="900" b="1">
              <a:solidFill>
                <a:srgbClr val="0B0B0B"/>
              </a:solidFill>
              <a:latin typeface="Nunito"/>
              <a:ea typeface="Nunito"/>
              <a:cs typeface="Nunito"/>
              <a:sym typeface="Nunito"/>
            </a:endParaRPr>
          </a:p>
        </p:txBody>
      </p:sp>
      <p:sp>
        <p:nvSpPr>
          <p:cNvPr id="786" name="Google Shape;786;g3f6ebbd21f1_0_0"/>
          <p:cNvSpPr txBox="1"/>
          <p:nvPr/>
        </p:nvSpPr>
        <p:spPr>
          <a:xfrm>
            <a:off x="6356784" y="2058786"/>
            <a:ext cx="1081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0B0B0B"/>
                </a:solidFill>
                <a:latin typeface="Nunito"/>
                <a:ea typeface="Nunito"/>
                <a:cs typeface="Nunito"/>
                <a:sym typeface="Nunito"/>
              </a:rPr>
              <a:t>Uninjured brain</a:t>
            </a:r>
            <a:endParaRPr sz="900" b="1">
              <a:solidFill>
                <a:srgbClr val="0B0B0B"/>
              </a:solidFill>
              <a:latin typeface="Nunito"/>
              <a:ea typeface="Nunito"/>
              <a:cs typeface="Nunito"/>
              <a:sym typeface="Nunito"/>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g3f99c6e39bf_0_59"/>
          <p:cNvSpPr txBox="1">
            <a:spLocks noGrp="1"/>
          </p:cNvSpPr>
          <p:nvPr>
            <p:ph type="title" idx="4294967295"/>
          </p:nvPr>
        </p:nvSpPr>
        <p:spPr>
          <a:xfrm>
            <a:off x="155325" y="147050"/>
            <a:ext cx="7030500" cy="999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Is the Wechuge real?</a:t>
            </a:r>
            <a:endParaRPr/>
          </a:p>
          <a:p>
            <a:pPr marL="0" lvl="0" indent="0" algn="l" rtl="0">
              <a:spcBef>
                <a:spcPts val="0"/>
              </a:spcBef>
              <a:spcAft>
                <a:spcPts val="0"/>
              </a:spcAft>
              <a:buNone/>
            </a:pPr>
            <a:r>
              <a:rPr lang="en" sz="2750" b="0">
                <a:solidFill>
                  <a:srgbClr val="0000FF"/>
                </a:solidFill>
                <a:latin typeface="Arial"/>
                <a:ea typeface="Arial"/>
                <a:cs typeface="Arial"/>
                <a:sym typeface="Arial"/>
              </a:rPr>
              <a:t>¿</a:t>
            </a:r>
            <a:r>
              <a:rPr lang="en" b="0">
                <a:solidFill>
                  <a:srgbClr val="0000FF"/>
                </a:solidFill>
              </a:rPr>
              <a:t>El Wechuge es real?</a:t>
            </a:r>
            <a:endParaRPr b="0">
              <a:solidFill>
                <a:srgbClr val="0000FF"/>
              </a:solidFill>
            </a:endParaRPr>
          </a:p>
          <a:p>
            <a:pPr marL="0" lvl="0" indent="0" algn="l" rtl="0">
              <a:spcBef>
                <a:spcPts val="0"/>
              </a:spcBef>
              <a:spcAft>
                <a:spcPts val="0"/>
              </a:spcAft>
              <a:buNone/>
            </a:pPr>
            <a:endParaRPr/>
          </a:p>
        </p:txBody>
      </p:sp>
      <p:sp>
        <p:nvSpPr>
          <p:cNvPr id="792" name="Google Shape;792;g3f99c6e39bf_0_59"/>
          <p:cNvSpPr txBox="1">
            <a:spLocks noGrp="1"/>
          </p:cNvSpPr>
          <p:nvPr>
            <p:ph type="body" idx="4294967295"/>
          </p:nvPr>
        </p:nvSpPr>
        <p:spPr>
          <a:xfrm>
            <a:off x="224050" y="1146350"/>
            <a:ext cx="4446000" cy="39054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a:t>Mythological creature in legends from the Dene-zaa peoples of northwestern British Columbia (Canada)</a:t>
            </a:r>
            <a:endParaRPr/>
          </a:p>
          <a:p>
            <a:pPr marL="0" marR="0" lvl="0" indent="0" algn="l" rtl="0">
              <a:lnSpc>
                <a:spcPct val="115000"/>
              </a:lnSpc>
              <a:spcBef>
                <a:spcPts val="0"/>
              </a:spcBef>
              <a:spcAft>
                <a:spcPts val="0"/>
              </a:spcAft>
              <a:buNone/>
            </a:pPr>
            <a:r>
              <a:rPr lang="en">
                <a:solidFill>
                  <a:srgbClr val="0000FF"/>
                </a:solidFill>
              </a:rPr>
              <a:t>Criatura mitológica en leyendas de los pueblos Dene-zaa </a:t>
            </a:r>
            <a:endParaRPr>
              <a:solidFill>
                <a:srgbClr val="0000FF"/>
              </a:solidFill>
            </a:endParaRPr>
          </a:p>
          <a:p>
            <a:pPr marL="0" marR="0" lvl="0" indent="0" algn="l" rtl="0">
              <a:lnSpc>
                <a:spcPct val="115000"/>
              </a:lnSpc>
              <a:spcBef>
                <a:spcPts val="0"/>
              </a:spcBef>
              <a:spcAft>
                <a:spcPts val="0"/>
              </a:spcAft>
              <a:buNone/>
            </a:pPr>
            <a:endParaRPr>
              <a:solidFill>
                <a:srgbClr val="0000FF"/>
              </a:solidFill>
            </a:endParaRPr>
          </a:p>
          <a:p>
            <a:pPr marL="0" marR="0" lvl="0" indent="0" algn="l" rtl="0">
              <a:lnSpc>
                <a:spcPct val="115000"/>
              </a:lnSpc>
              <a:spcBef>
                <a:spcPts val="0"/>
              </a:spcBef>
              <a:spcAft>
                <a:spcPts val="0"/>
              </a:spcAft>
              <a:buNone/>
            </a:pPr>
            <a:r>
              <a:rPr lang="en"/>
              <a:t>Folklore says forests once roamed by man-eating monsters until a cultural figure, Saya, transformed them</a:t>
            </a:r>
            <a:endParaRPr/>
          </a:p>
          <a:p>
            <a:pPr marL="0" marR="0" lvl="0" indent="0" algn="l" rtl="0">
              <a:lnSpc>
                <a:spcPct val="115000"/>
              </a:lnSpc>
              <a:spcBef>
                <a:spcPts val="0"/>
              </a:spcBef>
              <a:spcAft>
                <a:spcPts val="0"/>
              </a:spcAft>
              <a:buNone/>
            </a:pPr>
            <a:r>
              <a:rPr lang="en">
                <a:solidFill>
                  <a:srgbClr val="0000FF"/>
                </a:solidFill>
              </a:rPr>
              <a:t>Cuenta la leyenda que los bosques alguna vez estuvieron habitados por monstruos devoradores de hombres hasta que una figura cultural, Saya, los transformó</a:t>
            </a:r>
            <a:endParaRPr>
              <a:solidFill>
                <a:srgbClr val="0000FF"/>
              </a:solidFill>
            </a:endParaRPr>
          </a:p>
          <a:p>
            <a:pPr marL="0" marR="0" lvl="0" indent="0" algn="l" rtl="0">
              <a:lnSpc>
                <a:spcPct val="115000"/>
              </a:lnSpc>
              <a:spcBef>
                <a:spcPts val="0"/>
              </a:spcBef>
              <a:spcAft>
                <a:spcPts val="0"/>
              </a:spcAft>
              <a:buNone/>
            </a:pPr>
            <a:endParaRPr/>
          </a:p>
          <a:p>
            <a:pPr marL="0" marR="0" lvl="0" indent="0" algn="l" rtl="0">
              <a:lnSpc>
                <a:spcPct val="115000"/>
              </a:lnSpc>
              <a:spcBef>
                <a:spcPts val="0"/>
              </a:spcBef>
              <a:spcAft>
                <a:spcPts val="0"/>
              </a:spcAft>
              <a:buNone/>
            </a:pPr>
            <a:r>
              <a:rPr lang="en"/>
              <a:t>Myth held that people could become “wechuge” by breaking a taboo</a:t>
            </a:r>
            <a:endParaRPr/>
          </a:p>
          <a:p>
            <a:pPr marL="0" marR="0" lvl="0" indent="0" algn="l" rtl="0">
              <a:lnSpc>
                <a:spcPct val="115000"/>
              </a:lnSpc>
              <a:spcBef>
                <a:spcPts val="0"/>
              </a:spcBef>
              <a:spcAft>
                <a:spcPts val="0"/>
              </a:spcAft>
              <a:buNone/>
            </a:pPr>
            <a:r>
              <a:rPr lang="en">
                <a:solidFill>
                  <a:srgbClr val="0000FF"/>
                </a:solidFill>
              </a:rPr>
              <a:t>Según la mitología, una persona podía convertirse en "wechuge" al romper un tabú</a:t>
            </a:r>
            <a:endParaRPr>
              <a:solidFill>
                <a:srgbClr val="0000FF"/>
              </a:solidFill>
            </a:endParaRPr>
          </a:p>
          <a:p>
            <a:pPr marL="0" marR="0" lvl="0" indent="0" algn="l" rtl="0">
              <a:lnSpc>
                <a:spcPct val="115000"/>
              </a:lnSpc>
              <a:spcBef>
                <a:spcPts val="0"/>
              </a:spcBef>
              <a:spcAft>
                <a:spcPts val="0"/>
              </a:spcAft>
              <a:buNone/>
            </a:pPr>
            <a:endParaRPr/>
          </a:p>
          <a:p>
            <a:pPr marL="0" marR="0" lvl="0" indent="0" algn="l" rtl="0">
              <a:lnSpc>
                <a:spcPct val="115000"/>
              </a:lnSpc>
              <a:spcBef>
                <a:spcPts val="0"/>
              </a:spcBef>
              <a:spcAft>
                <a:spcPts val="0"/>
              </a:spcAft>
              <a:buNone/>
            </a:pPr>
            <a:r>
              <a:rPr lang="en"/>
              <a:t>Wechuge is unlikely “real” as a physical being, but is a real belief in several indigenous cultures in northern Canada</a:t>
            </a:r>
            <a:endParaRPr/>
          </a:p>
          <a:p>
            <a:pPr marL="0" marR="0" lvl="0" indent="0" algn="l" rtl="0">
              <a:lnSpc>
                <a:spcPct val="115000"/>
              </a:lnSpc>
              <a:spcBef>
                <a:spcPts val="0"/>
              </a:spcBef>
              <a:spcAft>
                <a:spcPts val="0"/>
              </a:spcAft>
              <a:buNone/>
            </a:pPr>
            <a:r>
              <a:rPr lang="en">
                <a:solidFill>
                  <a:srgbClr val="0000FF"/>
                </a:solidFill>
              </a:rPr>
              <a:t>Wechuge probablemente no sea "real" como ser físico, pero es una creencia real en varias culturas indígenas del norte de Canadá</a:t>
            </a:r>
            <a:endParaRPr>
              <a:solidFill>
                <a:srgbClr val="0000FF"/>
              </a:solidFill>
            </a:endParaRPr>
          </a:p>
        </p:txBody>
      </p:sp>
      <p:pic>
        <p:nvPicPr>
          <p:cNvPr id="793" name="Google Shape;793;g3f99c6e39bf_0_59"/>
          <p:cNvPicPr preferRelativeResize="0"/>
          <p:nvPr/>
        </p:nvPicPr>
        <p:blipFill>
          <a:blip r:embed="rId3">
            <a:alphaModFix/>
          </a:blip>
          <a:stretch>
            <a:fillRect/>
          </a:stretch>
        </p:blipFill>
        <p:spPr>
          <a:xfrm>
            <a:off x="6482525" y="595325"/>
            <a:ext cx="2517075" cy="1439025"/>
          </a:xfrm>
          <a:prstGeom prst="rect">
            <a:avLst/>
          </a:prstGeom>
          <a:noFill/>
          <a:ln>
            <a:noFill/>
          </a:ln>
        </p:spPr>
      </p:pic>
      <p:pic>
        <p:nvPicPr>
          <p:cNvPr id="794" name="Google Shape;794;g3f99c6e39bf_0_59"/>
          <p:cNvPicPr preferRelativeResize="0"/>
          <p:nvPr/>
        </p:nvPicPr>
        <p:blipFill>
          <a:blip r:embed="rId4">
            <a:alphaModFix/>
          </a:blip>
          <a:stretch>
            <a:fillRect/>
          </a:stretch>
        </p:blipFill>
        <p:spPr>
          <a:xfrm>
            <a:off x="4804299" y="1644500"/>
            <a:ext cx="3254150" cy="317110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g3f6ebbd21f1_0_11"/>
          <p:cNvSpPr txBox="1">
            <a:spLocks noGrp="1"/>
          </p:cNvSpPr>
          <p:nvPr>
            <p:ph type="title" idx="4294967295"/>
          </p:nvPr>
        </p:nvSpPr>
        <p:spPr>
          <a:xfrm>
            <a:off x="0" y="0"/>
            <a:ext cx="9095400" cy="1552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t>Where do electric companies get power, how do they make it?</a:t>
            </a:r>
            <a:endParaRPr sz="2200"/>
          </a:p>
          <a:p>
            <a:pPr marL="0" lvl="0" indent="0" algn="l" rtl="0">
              <a:spcBef>
                <a:spcPts val="0"/>
              </a:spcBef>
              <a:spcAft>
                <a:spcPts val="0"/>
              </a:spcAft>
              <a:buNone/>
            </a:pPr>
            <a:r>
              <a:rPr lang="en" sz="1900">
                <a:solidFill>
                  <a:srgbClr val="0000FF"/>
                </a:solidFill>
                <a:latin typeface="Arial"/>
                <a:ea typeface="Arial"/>
                <a:cs typeface="Arial"/>
                <a:sym typeface="Arial"/>
              </a:rPr>
              <a:t>¿De donde le obtienen la electricidad las compañías eléctricas? ¿Y cómo la generan?</a:t>
            </a:r>
            <a:endParaRPr sz="1900"/>
          </a:p>
        </p:txBody>
      </p:sp>
      <p:sp>
        <p:nvSpPr>
          <p:cNvPr id="800" name="Google Shape;800;g3f6ebbd21f1_0_11"/>
          <p:cNvSpPr txBox="1">
            <a:spLocks noGrp="1"/>
          </p:cNvSpPr>
          <p:nvPr>
            <p:ph type="body" idx="4294967295"/>
          </p:nvPr>
        </p:nvSpPr>
        <p:spPr>
          <a:xfrm>
            <a:off x="111450" y="999300"/>
            <a:ext cx="4357800" cy="41442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100">
                <a:solidFill>
                  <a:srgbClr val="000000"/>
                </a:solidFill>
              </a:rPr>
              <a:t>Electric companies get power from different energy sources, including coal, natural gas, nuclear energy, wind, solar, water, and geothermal heat.</a:t>
            </a:r>
            <a:endParaRPr sz="1100">
              <a:solidFill>
                <a:srgbClr val="000000"/>
              </a:solidFill>
            </a:endParaRPr>
          </a:p>
          <a:p>
            <a:pPr marL="0" lvl="0" indent="0" algn="l" rtl="0">
              <a:spcBef>
                <a:spcPts val="1200"/>
              </a:spcBef>
              <a:spcAft>
                <a:spcPts val="0"/>
              </a:spcAft>
              <a:buNone/>
            </a:pPr>
            <a:r>
              <a:rPr lang="en" sz="1100">
                <a:solidFill>
                  <a:srgbClr val="0000FF"/>
                </a:solidFill>
              </a:rPr>
              <a:t>Las compañías eléctricas obtienen energía de diferentes fuentes, como el carbón, el gas natural, la energía nuclear, la energía eólica, la energía solar, el agua y el calor geotérmico.</a:t>
            </a:r>
            <a:endParaRPr sz="1100">
              <a:solidFill>
                <a:srgbClr val="0000FF"/>
              </a:solidFill>
            </a:endParaRPr>
          </a:p>
          <a:p>
            <a:pPr marL="0" lvl="0" indent="0" algn="l" rtl="0">
              <a:spcBef>
                <a:spcPts val="1200"/>
              </a:spcBef>
              <a:spcAft>
                <a:spcPts val="0"/>
              </a:spcAft>
              <a:buNone/>
            </a:pPr>
            <a:endParaRPr sz="1100">
              <a:solidFill>
                <a:srgbClr val="0000FF"/>
              </a:solidFill>
            </a:endParaRPr>
          </a:p>
          <a:p>
            <a:pPr marL="0" lvl="0" indent="0" algn="l" rtl="0">
              <a:spcBef>
                <a:spcPts val="1200"/>
              </a:spcBef>
              <a:spcAft>
                <a:spcPts val="0"/>
              </a:spcAft>
              <a:buNone/>
            </a:pPr>
            <a:r>
              <a:rPr lang="en" sz="1100">
                <a:solidFill>
                  <a:srgbClr val="000000"/>
                </a:solidFill>
              </a:rPr>
              <a:t>Most power plants make electricity by using energy to spin a turbine. As the turbine spins, it is connected to a generator. The generator uses magnets and coils of wire to convert the motion of the turbine into electrical energy.</a:t>
            </a:r>
            <a:endParaRPr sz="1100">
              <a:solidFill>
                <a:srgbClr val="000000"/>
              </a:solidFill>
            </a:endParaRPr>
          </a:p>
          <a:p>
            <a:pPr marL="0" lvl="0" indent="0" algn="l" rtl="0">
              <a:spcBef>
                <a:spcPts val="1200"/>
              </a:spcBef>
              <a:spcAft>
                <a:spcPts val="1200"/>
              </a:spcAft>
              <a:buNone/>
            </a:pPr>
            <a:r>
              <a:rPr lang="en" sz="1100">
                <a:solidFill>
                  <a:srgbClr val="0000FF"/>
                </a:solidFill>
              </a:rPr>
              <a:t>La mayoría de las plantas de energía producen electricidad utilizando energía para hacer girar una turbina. La turbina está conectada a un generador, y al girar, el generador utiliza imanes y bobinas de alambre para convertir el movimiento en energía eléctrica.</a:t>
            </a:r>
            <a:endParaRPr sz="1100">
              <a:solidFill>
                <a:srgbClr val="000000"/>
              </a:solidFill>
            </a:endParaRPr>
          </a:p>
        </p:txBody>
      </p:sp>
      <p:pic>
        <p:nvPicPr>
          <p:cNvPr id="801" name="Google Shape;801;g3f6ebbd21f1_0_11" title="electricity-generation-turbine.png"/>
          <p:cNvPicPr preferRelativeResize="0"/>
          <p:nvPr/>
        </p:nvPicPr>
        <p:blipFill>
          <a:blip r:embed="rId3">
            <a:alphaModFix/>
          </a:blip>
          <a:stretch>
            <a:fillRect/>
          </a:stretch>
        </p:blipFill>
        <p:spPr>
          <a:xfrm>
            <a:off x="4469275" y="3141175"/>
            <a:ext cx="4674726" cy="2002400"/>
          </a:xfrm>
          <a:prstGeom prst="rect">
            <a:avLst/>
          </a:prstGeom>
          <a:noFill/>
          <a:ln>
            <a:noFill/>
          </a:ln>
        </p:spPr>
      </p:pic>
      <p:pic>
        <p:nvPicPr>
          <p:cNvPr id="802" name="Google Shape;802;g3f6ebbd21f1_0_11" title="Solar-Wind-Nuclear-Coal-Gas-Montage-by-BN.jpg"/>
          <p:cNvPicPr preferRelativeResize="0"/>
          <p:nvPr/>
        </p:nvPicPr>
        <p:blipFill>
          <a:blip r:embed="rId4">
            <a:alphaModFix/>
          </a:blip>
          <a:stretch>
            <a:fillRect/>
          </a:stretch>
        </p:blipFill>
        <p:spPr>
          <a:xfrm>
            <a:off x="5181950" y="1279200"/>
            <a:ext cx="3324150" cy="173962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3f6ebbd21f1_0_18"/>
          <p:cNvSpPr txBox="1">
            <a:spLocks noGrp="1"/>
          </p:cNvSpPr>
          <p:nvPr>
            <p:ph type="body" idx="4294967295"/>
          </p:nvPr>
        </p:nvSpPr>
        <p:spPr>
          <a:xfrm>
            <a:off x="111450" y="999300"/>
            <a:ext cx="4357800" cy="4144200"/>
          </a:xfrm>
          <a:prstGeom prst="rect">
            <a:avLst/>
          </a:prstGeom>
        </p:spPr>
        <p:txBody>
          <a:bodyPr spcFirstLastPara="1" wrap="square" lIns="91425" tIns="91425" rIns="91425" bIns="91425" anchor="t" anchorCtr="0">
            <a:normAutofit lnSpcReduction="10000"/>
          </a:bodyPr>
          <a:lstStyle/>
          <a:p>
            <a:pPr marL="0" lvl="0" indent="0" algn="l" rtl="0">
              <a:spcBef>
                <a:spcPts val="1200"/>
              </a:spcBef>
              <a:spcAft>
                <a:spcPts val="0"/>
              </a:spcAft>
              <a:buNone/>
            </a:pPr>
            <a:r>
              <a:rPr lang="en" sz="1100">
                <a:solidFill>
                  <a:srgbClr val="000000"/>
                </a:solidFill>
              </a:rPr>
              <a:t>Burning coal or natural gas, or using nuclear reactions, produces heat that turns water into steam. The steam spins a turbine, which powers the generator. Wind turbines use moving air to spin generators, hydroelectric plants use moving water, and solar panels convert sunlight directly into electricity.</a:t>
            </a:r>
            <a:endParaRPr sz="1100">
              <a:solidFill>
                <a:srgbClr val="000000"/>
              </a:solidFill>
            </a:endParaRPr>
          </a:p>
          <a:p>
            <a:pPr marL="0" lvl="0" indent="0" algn="l" rtl="0">
              <a:spcBef>
                <a:spcPts val="1200"/>
              </a:spcBef>
              <a:spcAft>
                <a:spcPts val="0"/>
              </a:spcAft>
              <a:buNone/>
            </a:pPr>
            <a:r>
              <a:rPr lang="en" sz="1100">
                <a:solidFill>
                  <a:srgbClr val="0000FF"/>
                </a:solidFill>
              </a:rPr>
              <a:t>La quema de carbón o gas natural, o el uso de reacciones nucleares, produce calor que convierte el agua en vapor. El vapor hace girar una turbina, que impulsa el generador. Las turbinas eólicas utilizan el aire en movimiento para hacer girar generadores, las plantas hidroeléctricas utilizan agua en movimiento y los paneles solares convierten la luz solar directamente en electricidad.</a:t>
            </a:r>
            <a:endParaRPr sz="1100">
              <a:solidFill>
                <a:srgbClr val="0000FF"/>
              </a:solidFill>
            </a:endParaRPr>
          </a:p>
          <a:p>
            <a:pPr marL="0" lvl="0" indent="0" algn="l" rtl="0">
              <a:spcBef>
                <a:spcPts val="1200"/>
              </a:spcBef>
              <a:spcAft>
                <a:spcPts val="0"/>
              </a:spcAft>
              <a:buNone/>
            </a:pPr>
            <a:endParaRPr sz="1100">
              <a:solidFill>
                <a:srgbClr val="000000"/>
              </a:solidFill>
            </a:endParaRPr>
          </a:p>
          <a:p>
            <a:pPr marL="0" lvl="0" indent="0" algn="l" rtl="0">
              <a:spcBef>
                <a:spcPts val="1200"/>
              </a:spcBef>
              <a:spcAft>
                <a:spcPts val="0"/>
              </a:spcAft>
              <a:buNone/>
            </a:pPr>
            <a:r>
              <a:rPr lang="en" sz="1100">
                <a:solidFill>
                  <a:srgbClr val="000000"/>
                </a:solidFill>
              </a:rPr>
              <a:t>Moving objects have kinetic energy, and this energy can be converted into other forms of energy, such as electrical energy.</a:t>
            </a:r>
            <a:endParaRPr sz="1100">
              <a:solidFill>
                <a:srgbClr val="000000"/>
              </a:solidFill>
            </a:endParaRPr>
          </a:p>
          <a:p>
            <a:pPr marL="0" lvl="0" indent="0" algn="l" rtl="0">
              <a:spcBef>
                <a:spcPts val="1200"/>
              </a:spcBef>
              <a:spcAft>
                <a:spcPts val="1200"/>
              </a:spcAft>
              <a:buNone/>
            </a:pPr>
            <a:r>
              <a:rPr lang="en" sz="1100">
                <a:solidFill>
                  <a:srgbClr val="0000FF"/>
                </a:solidFill>
              </a:rPr>
              <a:t>Los objetos en movimiento tienen energía cinética, y esta energía puede convertirse en otras formas de energía, como la energía eléctrica.</a:t>
            </a:r>
            <a:endParaRPr sz="1100">
              <a:solidFill>
                <a:srgbClr val="000000"/>
              </a:solidFill>
            </a:endParaRPr>
          </a:p>
        </p:txBody>
      </p:sp>
      <p:pic>
        <p:nvPicPr>
          <p:cNvPr id="808" name="Google Shape;808;g3f6ebbd21f1_0_18" title="electricity-generation-turbine.png"/>
          <p:cNvPicPr preferRelativeResize="0"/>
          <p:nvPr/>
        </p:nvPicPr>
        <p:blipFill>
          <a:blip r:embed="rId3">
            <a:alphaModFix/>
          </a:blip>
          <a:stretch>
            <a:fillRect/>
          </a:stretch>
        </p:blipFill>
        <p:spPr>
          <a:xfrm>
            <a:off x="4469275" y="3141175"/>
            <a:ext cx="4674726" cy="2002400"/>
          </a:xfrm>
          <a:prstGeom prst="rect">
            <a:avLst/>
          </a:prstGeom>
          <a:noFill/>
          <a:ln>
            <a:noFill/>
          </a:ln>
        </p:spPr>
      </p:pic>
      <p:pic>
        <p:nvPicPr>
          <p:cNvPr id="809" name="Google Shape;809;g3f6ebbd21f1_0_18" title="images.jpg"/>
          <p:cNvPicPr preferRelativeResize="0"/>
          <p:nvPr/>
        </p:nvPicPr>
        <p:blipFill>
          <a:blip r:embed="rId4">
            <a:alphaModFix/>
          </a:blip>
          <a:stretch>
            <a:fillRect/>
          </a:stretch>
        </p:blipFill>
        <p:spPr>
          <a:xfrm>
            <a:off x="5304838" y="1138775"/>
            <a:ext cx="3003599" cy="2002400"/>
          </a:xfrm>
          <a:prstGeom prst="rect">
            <a:avLst/>
          </a:prstGeom>
          <a:noFill/>
          <a:ln>
            <a:noFill/>
          </a:ln>
        </p:spPr>
      </p:pic>
      <p:sp>
        <p:nvSpPr>
          <p:cNvPr id="810" name="Google Shape;810;g3f6ebbd21f1_0_18"/>
          <p:cNvSpPr txBox="1">
            <a:spLocks noGrp="1"/>
          </p:cNvSpPr>
          <p:nvPr>
            <p:ph type="title" idx="4294967295"/>
          </p:nvPr>
        </p:nvSpPr>
        <p:spPr>
          <a:xfrm>
            <a:off x="0" y="0"/>
            <a:ext cx="9144000" cy="1552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t>Where do electric companies get power, how do they make it?</a:t>
            </a:r>
            <a:endParaRPr sz="2200"/>
          </a:p>
          <a:p>
            <a:pPr marL="0" lvl="0" indent="0" algn="l" rtl="0">
              <a:spcBef>
                <a:spcPts val="0"/>
              </a:spcBef>
              <a:spcAft>
                <a:spcPts val="0"/>
              </a:spcAft>
              <a:buNone/>
            </a:pPr>
            <a:r>
              <a:rPr lang="en" sz="1900">
                <a:solidFill>
                  <a:srgbClr val="0000FF"/>
                </a:solidFill>
                <a:latin typeface="Arial"/>
                <a:ea typeface="Arial"/>
                <a:cs typeface="Arial"/>
                <a:sym typeface="Arial"/>
              </a:rPr>
              <a:t>¿De donde le obtienen la electricidad las compañías eléctricas? ¿Y cómo la generan?</a:t>
            </a:r>
            <a:endParaRPr sz="19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3f6ebbd21f1_0_25"/>
          <p:cNvSpPr txBox="1">
            <a:spLocks noGrp="1"/>
          </p:cNvSpPr>
          <p:nvPr>
            <p:ph type="title" idx="4294967295"/>
          </p:nvPr>
        </p:nvSpPr>
        <p:spPr>
          <a:xfrm>
            <a:off x="0" y="0"/>
            <a:ext cx="4217700" cy="702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What are rainbows?</a:t>
            </a:r>
            <a:endParaRPr/>
          </a:p>
        </p:txBody>
      </p:sp>
      <p:sp>
        <p:nvSpPr>
          <p:cNvPr id="816" name="Google Shape;816;g3f6ebbd21f1_0_25"/>
          <p:cNvSpPr txBox="1">
            <a:spLocks noGrp="1"/>
          </p:cNvSpPr>
          <p:nvPr>
            <p:ph type="body" idx="4294967295"/>
          </p:nvPr>
        </p:nvSpPr>
        <p:spPr>
          <a:xfrm>
            <a:off x="0" y="702900"/>
            <a:ext cx="4460400" cy="2911200"/>
          </a:xfrm>
          <a:prstGeom prst="rect">
            <a:avLst/>
          </a:prstGeom>
        </p:spPr>
        <p:txBody>
          <a:bodyPr spcFirstLastPara="1" wrap="square" lIns="91425" tIns="91425" rIns="91425" bIns="91425" anchor="t" anchorCtr="0">
            <a:normAutofit/>
          </a:bodyPr>
          <a:lstStyle/>
          <a:p>
            <a:pPr marL="0" lvl="0" indent="0" algn="l" rtl="0">
              <a:lnSpc>
                <a:spcPct val="95000"/>
              </a:lnSpc>
              <a:spcBef>
                <a:spcPts val="1200"/>
              </a:spcBef>
              <a:spcAft>
                <a:spcPts val="0"/>
              </a:spcAft>
              <a:buNone/>
            </a:pPr>
            <a:r>
              <a:rPr lang="en">
                <a:solidFill>
                  <a:srgbClr val="000000"/>
                </a:solidFill>
              </a:rPr>
              <a:t>Rainbows display the visible color spectrum when sunlight passes through water droplets in the air.</a:t>
            </a:r>
            <a:endParaRPr>
              <a:solidFill>
                <a:srgbClr val="000000"/>
              </a:solidFill>
            </a:endParaRPr>
          </a:p>
          <a:p>
            <a:pPr marL="0" lvl="0" indent="0" algn="l" rtl="0">
              <a:lnSpc>
                <a:spcPct val="95000"/>
              </a:lnSpc>
              <a:spcBef>
                <a:spcPts val="1200"/>
              </a:spcBef>
              <a:spcAft>
                <a:spcPts val="0"/>
              </a:spcAft>
              <a:buNone/>
            </a:pPr>
            <a:r>
              <a:rPr lang="en">
                <a:solidFill>
                  <a:srgbClr val="000000"/>
                </a:solidFill>
              </a:rPr>
              <a:t>When light moves from air into water, it slows down and bends. </a:t>
            </a:r>
            <a:endParaRPr>
              <a:solidFill>
                <a:srgbClr val="000000"/>
              </a:solidFill>
            </a:endParaRPr>
          </a:p>
          <a:p>
            <a:pPr marL="0" lvl="0" indent="0" algn="l" rtl="0">
              <a:lnSpc>
                <a:spcPct val="95000"/>
              </a:lnSpc>
              <a:spcBef>
                <a:spcPts val="1200"/>
              </a:spcBef>
              <a:spcAft>
                <a:spcPts val="0"/>
              </a:spcAft>
              <a:buNone/>
            </a:pPr>
            <a:r>
              <a:rPr lang="en">
                <a:solidFill>
                  <a:srgbClr val="000000"/>
                </a:solidFill>
              </a:rPr>
              <a:t>When sunlight enters a water droplet, it usually does so at an angle. One side of the light enters the water first and slows down, causing the light to change direction.</a:t>
            </a:r>
            <a:endParaRPr>
              <a:solidFill>
                <a:srgbClr val="000000"/>
              </a:solidFill>
            </a:endParaRPr>
          </a:p>
          <a:p>
            <a:pPr marL="0" lvl="0" indent="0" algn="l" rtl="0">
              <a:lnSpc>
                <a:spcPct val="95000"/>
              </a:lnSpc>
              <a:spcBef>
                <a:spcPts val="1200"/>
              </a:spcBef>
              <a:spcAft>
                <a:spcPts val="1200"/>
              </a:spcAft>
              <a:buNone/>
            </a:pPr>
            <a:r>
              <a:rPr lang="en">
                <a:solidFill>
                  <a:srgbClr val="000000"/>
                </a:solidFill>
              </a:rPr>
              <a:t>Because each color of light bends by a slightly different amount, the colors separate from one another. This creates the different colors we see in a rainbow.</a:t>
            </a:r>
            <a:endParaRPr>
              <a:solidFill>
                <a:srgbClr val="000000"/>
              </a:solidFill>
            </a:endParaRPr>
          </a:p>
        </p:txBody>
      </p:sp>
      <p:sp>
        <p:nvSpPr>
          <p:cNvPr id="817" name="Google Shape;817;g3f6ebbd21f1_0_25"/>
          <p:cNvSpPr txBox="1">
            <a:spLocks noGrp="1"/>
          </p:cNvSpPr>
          <p:nvPr>
            <p:ph type="body" idx="4294967295"/>
          </p:nvPr>
        </p:nvSpPr>
        <p:spPr>
          <a:xfrm>
            <a:off x="4711200" y="702900"/>
            <a:ext cx="4321200" cy="3480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a:solidFill>
                  <a:srgbClr val="0000FF"/>
                </a:solidFill>
              </a:rPr>
              <a:t>Los arcoíris muestran el espectro de colores visible cuando la luz del sol pasa a través de gotas de agua en el aire.</a:t>
            </a:r>
            <a:endParaRPr>
              <a:solidFill>
                <a:srgbClr val="0000FF"/>
              </a:solidFill>
            </a:endParaRPr>
          </a:p>
          <a:p>
            <a:pPr marL="0" lvl="0" indent="0" algn="l" rtl="0">
              <a:spcBef>
                <a:spcPts val="1200"/>
              </a:spcBef>
              <a:spcAft>
                <a:spcPts val="0"/>
              </a:spcAft>
              <a:buNone/>
            </a:pPr>
            <a:r>
              <a:rPr lang="en">
                <a:solidFill>
                  <a:srgbClr val="0000FF"/>
                </a:solidFill>
              </a:rPr>
              <a:t>Cuando la luz pasa del aire al agua, se frena y se desvía.</a:t>
            </a:r>
            <a:endParaRPr>
              <a:solidFill>
                <a:srgbClr val="0000FF"/>
              </a:solidFill>
            </a:endParaRPr>
          </a:p>
          <a:p>
            <a:pPr marL="0" lvl="0" indent="0" algn="l" rtl="0">
              <a:spcBef>
                <a:spcPts val="1200"/>
              </a:spcBef>
              <a:spcAft>
                <a:spcPts val="0"/>
              </a:spcAft>
              <a:buNone/>
            </a:pPr>
            <a:r>
              <a:rPr lang="en">
                <a:solidFill>
                  <a:srgbClr val="0000FF"/>
                </a:solidFill>
              </a:rPr>
              <a:t>Al entrar a una gota de agua, la luz del sol casi siempre lo hace en ángulo. Un lado entra primero y se frena, lo que hace que la luz cambie de dirección.</a:t>
            </a:r>
            <a:endParaRPr>
              <a:solidFill>
                <a:srgbClr val="0000FF"/>
              </a:solidFill>
            </a:endParaRPr>
          </a:p>
          <a:p>
            <a:pPr marL="0" lvl="0" indent="0" algn="l" rtl="0">
              <a:spcBef>
                <a:spcPts val="1200"/>
              </a:spcBef>
              <a:spcAft>
                <a:spcPts val="1200"/>
              </a:spcAft>
              <a:buNone/>
            </a:pPr>
            <a:r>
              <a:rPr lang="en">
                <a:solidFill>
                  <a:srgbClr val="0000FF"/>
                </a:solidFill>
              </a:rPr>
              <a:t>Como cada color de luz se desvía un poco distinto, los colores se separan entre sí. Así se forma la gama de colores que vemos en un arcoíris.</a:t>
            </a:r>
            <a:endParaRPr>
              <a:solidFill>
                <a:srgbClr val="0000FF"/>
              </a:solidFill>
            </a:endParaRPr>
          </a:p>
        </p:txBody>
      </p:sp>
      <p:pic>
        <p:nvPicPr>
          <p:cNvPr id="818" name="Google Shape;818;g3f6ebbd21f1_0_25" title="images.jpg"/>
          <p:cNvPicPr preferRelativeResize="0"/>
          <p:nvPr/>
        </p:nvPicPr>
        <p:blipFill>
          <a:blip r:embed="rId3">
            <a:alphaModFix/>
          </a:blip>
          <a:stretch>
            <a:fillRect/>
          </a:stretch>
        </p:blipFill>
        <p:spPr>
          <a:xfrm>
            <a:off x="2353475" y="3589700"/>
            <a:ext cx="2218524" cy="1553800"/>
          </a:xfrm>
          <a:prstGeom prst="rect">
            <a:avLst/>
          </a:prstGeom>
          <a:noFill/>
          <a:ln>
            <a:noFill/>
          </a:ln>
        </p:spPr>
      </p:pic>
      <p:pic>
        <p:nvPicPr>
          <p:cNvPr id="819" name="Google Shape;819;g3f6ebbd21f1_0_25" title="rainbow_physics.jpg"/>
          <p:cNvPicPr preferRelativeResize="0"/>
          <p:nvPr/>
        </p:nvPicPr>
        <p:blipFill>
          <a:blip r:embed="rId4">
            <a:alphaModFix/>
          </a:blip>
          <a:stretch>
            <a:fillRect/>
          </a:stretch>
        </p:blipFill>
        <p:spPr>
          <a:xfrm>
            <a:off x="0" y="3589701"/>
            <a:ext cx="1844850" cy="1553800"/>
          </a:xfrm>
          <a:prstGeom prst="rect">
            <a:avLst/>
          </a:prstGeom>
          <a:noFill/>
          <a:ln>
            <a:noFill/>
          </a:ln>
        </p:spPr>
      </p:pic>
      <p:sp>
        <p:nvSpPr>
          <p:cNvPr id="820" name="Google Shape;820;g3f6ebbd21f1_0_25"/>
          <p:cNvSpPr txBox="1">
            <a:spLocks noGrp="1"/>
          </p:cNvSpPr>
          <p:nvPr>
            <p:ph type="title" idx="4294967295"/>
          </p:nvPr>
        </p:nvSpPr>
        <p:spPr>
          <a:xfrm>
            <a:off x="4460405" y="0"/>
            <a:ext cx="4217700" cy="702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solidFill>
                  <a:srgbClr val="0000FF"/>
                </a:solidFill>
              </a:rPr>
              <a:t>¿Qué son los arcoíris?</a:t>
            </a:r>
            <a:endParaRPr>
              <a:solidFill>
                <a:srgbClr val="0000FF"/>
              </a:solidFill>
            </a:endParaRPr>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6338</Words>
  <Application>Microsoft Office PowerPoint</Application>
  <PresentationFormat>On-screen Show (16:9)</PresentationFormat>
  <Paragraphs>503</Paragraphs>
  <Slides>55</Slides>
  <Notes>55</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Roboto</vt:lpstr>
      <vt:lpstr>Nunito</vt:lpstr>
      <vt:lpstr>Arial</vt:lpstr>
      <vt:lpstr>Times New Roman</vt:lpstr>
      <vt:lpstr>Maven Pro</vt:lpstr>
      <vt:lpstr>EB Garamond</vt:lpstr>
      <vt:lpstr>Momentum</vt:lpstr>
      <vt:lpstr>Class 2: How We Learn and Create Habits:  Classical, Operant, and Observational Learning</vt:lpstr>
      <vt:lpstr>Learning Objectives Objetivos de Aprendizaje</vt:lpstr>
      <vt:lpstr>What does learning mean to you?  ¿Qué significa para ti aprender? </vt:lpstr>
      <vt:lpstr>What is Learning?  ¿Qué es el aprendizaje?</vt:lpstr>
      <vt:lpstr>Why Learning Matters  Por qué es importante el aprendizaje  </vt:lpstr>
      <vt:lpstr>Why Learning Matters  Por qué es importante el aprendizaje  </vt:lpstr>
      <vt:lpstr>“Is all learning helpful? What are examples of habits we’ve learned automatically?” «¿Todo aprendizaje es útil? ¿Cuáles son algunos ejemplos de hábitos que hemos aprendido automáticamente?»</vt:lpstr>
      <vt:lpstr>Classical Conditioning Condicionamiento clásico</vt:lpstr>
      <vt:lpstr>Pavlov’s Classical Conditioning.  El condicionamiento clásico de Pavlov</vt:lpstr>
      <vt:lpstr>Pavlov’s Classical Conditioning.  El condicionamiento clásico de Pavlov More info about experiment   Más información sobre el experimento </vt:lpstr>
      <vt:lpstr>Pavlov’s Classical Conditioning El condicionamiento clásico de Pavlov</vt:lpstr>
      <vt:lpstr>Pavlov’s Classical Conditioning El condicionamiento clásico de Pavlov</vt:lpstr>
      <vt:lpstr>Pavlov’s Classical Conditioning El condicionamiento clásico de Pavlov</vt:lpstr>
      <vt:lpstr>Pavlov’s Classical Conditioning El condicionamiento clásico de Pavlov</vt:lpstr>
      <vt:lpstr>Classical Conditioning El condicionamento clásico </vt:lpstr>
      <vt:lpstr>Classical Conditioning El condicionamento clásico </vt:lpstr>
      <vt:lpstr>Classical Conditioning El condicionamento clásico </vt:lpstr>
      <vt:lpstr>Classical Conditioning El condicionamento clásico </vt:lpstr>
      <vt:lpstr>Classical Conditioning El condicionamento clásico </vt:lpstr>
      <vt:lpstr>Classical Conditioning El condicionamento clásico </vt:lpstr>
      <vt:lpstr>Activity: “The Clap and Word Game” (10 minutes) Actividad: “El juego de las palmadas y las palabras” (10 minutos)</vt:lpstr>
      <vt:lpstr>Activity: “The Clap and Word Game” (10 minutes) Actividad: “El juego de las palmadas y las palabras” (10 minutos)</vt:lpstr>
      <vt:lpstr>Operant Conditioning El condicionamiento operante</vt:lpstr>
      <vt:lpstr>Operant Conditioning  El condicionamiento operante </vt:lpstr>
      <vt:lpstr>Operant Conditioning El condicionamiento operante </vt:lpstr>
      <vt:lpstr>Live Example of Positive Reinforcement </vt:lpstr>
      <vt:lpstr>Quick Group Exercise (10–15 minutes): “Behavior Scenarios” Ejercicio grupal rápido (10-15 minutos): "Escenarios de comportamiento"</vt:lpstr>
      <vt:lpstr>Operant Conditioning Overview Resumen del condicionamiento operante</vt:lpstr>
      <vt:lpstr>Operant Conditioning Examples Resumen del condicionamiento Ejemplos</vt:lpstr>
      <vt:lpstr>Other Types of Learning  Otros Tipos de Aprendizaje</vt:lpstr>
      <vt:lpstr>Observational/Social Learning Aprendizaje por observación</vt:lpstr>
      <vt:lpstr>Steps in the Modeling Process  Pasos en el proceso de modelado</vt:lpstr>
      <vt:lpstr>Steps in the Modeling Process Pasos en el proceso de modelado</vt:lpstr>
      <vt:lpstr>Observational Learning - The Bobo Doll experiment  Sobre aprendizaje por observación: el experimento del muñeco Bobo </vt:lpstr>
      <vt:lpstr>The Bobo Doll experiment video Video del experimento del muñeco Bobo </vt:lpstr>
      <vt:lpstr>Observational Learning Discussion Questions Preguntas de debate sobre el aprendizaje por observación</vt:lpstr>
      <vt:lpstr>Habits: How habits form and how they can change Cómo se forman los hábitos y cómo se pueden cambiar</vt:lpstr>
      <vt:lpstr>The brain and habit formation El cerebro y la formación de los hábitos  </vt:lpstr>
      <vt:lpstr>The brain and habit formation El cerebro y la formación de los hábitos  </vt:lpstr>
      <vt:lpstr>The Habit Loop  El bucle del hábito</vt:lpstr>
      <vt:lpstr>Example of a Habit Loop Ejemplo de un bucle del hábito </vt:lpstr>
      <vt:lpstr>Activity: “Map Your Habit Loop” (10–15 minutes) Actividad: “Mapea su bucle del hábito” (10-15 minutos)</vt:lpstr>
      <vt:lpstr>Activity: “Map Your Habit Loop” (10–15 minutes) Actividad: “Mapea tu ciclo de hábitos” (10-15 minutos)</vt:lpstr>
      <vt:lpstr>Use the Habit Loop and Learning Strategies to complete “Relearning” Activity  Utilicen el bucle del hábito y las estrategias de aprendizaje para completar la actividad de “Reaprendizaje”.</vt:lpstr>
      <vt:lpstr>Example to break unwanted habits</vt:lpstr>
      <vt:lpstr>Last Week Question Answers</vt:lpstr>
      <vt:lpstr>How much do scientists get paid an hour?</vt:lpstr>
      <vt:lpstr>How does the brain work after trauma? ¿Cómo funciona el cerebro después de un trauma?</vt:lpstr>
      <vt:lpstr>PowerPoint Presentation</vt:lpstr>
      <vt:lpstr>Trolley Problem </vt:lpstr>
      <vt:lpstr>How does the brain work after trauma? ¿Cómo funciona el cerebro después de un trauma?</vt:lpstr>
      <vt:lpstr>Is the Wechuge real? ¿El Wechuge es real? </vt:lpstr>
      <vt:lpstr>Where do electric companies get power, how do they make it? ¿De donde le obtienen la electricidad las compañías eléctricas? ¿Y cómo la generan?</vt:lpstr>
      <vt:lpstr>Where do electric companies get power, how do they make it? ¿De donde le obtienen la electricidad las compañías eléctricas? ¿Y cómo la generan?</vt:lpstr>
      <vt:lpstr>What are rainbows?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Megan Nelson</cp:lastModifiedBy>
  <cp:revision>1</cp:revision>
  <dcterms:modified xsi:type="dcterms:W3CDTF">2026-09-09T06:38:36Z</dcterms:modified>
</cp:coreProperties>
</file>