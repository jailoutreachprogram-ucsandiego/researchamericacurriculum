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commentAuthors.xml" ContentType="application/vnd.openxmlformats-officedocument.presentationml.commentAuthors+xml"/>
  <Override PartName="/ppt/comments/comment1.xml" ContentType="application/vnd.openxmlformats-officedocument.presentationml.comments+xml"/>
  <Override PartName="/ppt/metadata" ContentType="application/binary"/>
  <Override PartName="/ppt/notesMasters/notesMaster1.xml" ContentType="application/vnd.openxmlformats-officedocument.presentationml.notesMaster+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6"/>
    <p:sldMasterId id="2147483660" r:id="rId7"/>
  </p:sldMasterIdLst>
  <p:notesMasterIdLst>
    <p:notesMasterId r:id="rId8"/>
  </p:notesMasterIdLst>
  <p:sldIdLst>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 id="329" r:id="rId82"/>
    <p:sldId id="330" r:id="rId83"/>
    <p:sldId id="331" r:id="rId84"/>
    <p:sldId id="332" r:id="rId85"/>
    <p:sldId id="333" r:id="rId86"/>
    <p:sldId id="334" r:id="rId87"/>
    <p:sldId id="335" r:id="rId88"/>
  </p:sldIdLst>
  <p:sldSz cy="10287000" cx="18288000"/>
  <p:notesSz cx="6858000" cy="9144000"/>
  <p:embeddedFontLst>
    <p:embeddedFont>
      <p:font typeface="Roboto"/>
      <p:regular r:id="rId89"/>
      <p:bold r:id="rId90"/>
      <p:italic r:id="rId91"/>
      <p:boldItalic r:id="rId92"/>
    </p:embeddedFont>
    <p:embeddedFont>
      <p:font typeface="Nunito"/>
      <p:regular r:id="rId93"/>
      <p:bold r:id="rId94"/>
      <p:italic r:id="rId95"/>
      <p:boldItalic r:id="rId96"/>
    </p:embeddedFont>
    <p:embeddedFont>
      <p:font typeface="Poppins"/>
      <p:regular r:id="rId97"/>
      <p:bold r:id="rId98"/>
      <p:italic r:id="rId99"/>
      <p:boldItalic r:id="rId100"/>
    </p:embeddedFont>
    <p:embeddedFont>
      <p:font typeface="Maven Pro"/>
      <p:regular r:id="rId101"/>
      <p:bold r:id="rId102"/>
    </p:embeddedFont>
    <p:embeddedFont>
      <p:font typeface="Poppins Medium"/>
      <p:regular r:id="rId103"/>
      <p:bold r:id="rId104"/>
      <p:italic r:id="rId105"/>
      <p:boldItalic r:id="rId10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07" roundtripDataSignature="AMtx7mjtfa1GmWNMaBcQos1MOPjHfeozQA=="/>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Lauren Stanwicks"/>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2D305A8-9C28-4498-B054-4B8704CC307A}">
  <a:tblStyle styleId="{72D305A8-9C28-4498-B054-4B8704CC307A}"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slideMaster" Target="slideMasters/slideMaster2.xml"/><Relationship Id="rId8" Type="http://schemas.openxmlformats.org/officeDocument/2006/relationships/notesMaster" Target="notesMasters/notesMaster1.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 Id="rId60" Type="http://schemas.openxmlformats.org/officeDocument/2006/relationships/slide" Target="slides/slide52.xml"/><Relationship Id="rId61" Type="http://schemas.openxmlformats.org/officeDocument/2006/relationships/slide" Target="slides/slide53.xml"/><Relationship Id="rId62" Type="http://schemas.openxmlformats.org/officeDocument/2006/relationships/slide" Target="slides/slide54.xml"/><Relationship Id="rId63" Type="http://schemas.openxmlformats.org/officeDocument/2006/relationships/slide" Target="slides/slide55.xml"/><Relationship Id="rId64" Type="http://schemas.openxmlformats.org/officeDocument/2006/relationships/slide" Target="slides/slide56.xml"/><Relationship Id="rId65" Type="http://schemas.openxmlformats.org/officeDocument/2006/relationships/slide" Target="slides/slide57.xml"/><Relationship Id="rId66" Type="http://schemas.openxmlformats.org/officeDocument/2006/relationships/slide" Target="slides/slide58.xml"/><Relationship Id="rId67" Type="http://schemas.openxmlformats.org/officeDocument/2006/relationships/slide" Target="slides/slide59.xml"/><Relationship Id="rId68" Type="http://schemas.openxmlformats.org/officeDocument/2006/relationships/slide" Target="slides/slide60.xml"/><Relationship Id="rId69" Type="http://schemas.openxmlformats.org/officeDocument/2006/relationships/slide" Target="slides/slide61.xml"/><Relationship Id="rId70" Type="http://schemas.openxmlformats.org/officeDocument/2006/relationships/slide" Target="slides/slide62.xml"/><Relationship Id="rId71" Type="http://schemas.openxmlformats.org/officeDocument/2006/relationships/slide" Target="slides/slide63.xml"/><Relationship Id="rId72" Type="http://schemas.openxmlformats.org/officeDocument/2006/relationships/slide" Target="slides/slide64.xml"/><Relationship Id="rId73" Type="http://schemas.openxmlformats.org/officeDocument/2006/relationships/slide" Target="slides/slide65.xml"/><Relationship Id="rId74" Type="http://schemas.openxmlformats.org/officeDocument/2006/relationships/slide" Target="slides/slide66.xml"/><Relationship Id="rId75" Type="http://schemas.openxmlformats.org/officeDocument/2006/relationships/slide" Target="slides/slide67.xml"/><Relationship Id="rId76" Type="http://schemas.openxmlformats.org/officeDocument/2006/relationships/slide" Target="slides/slide68.xml"/><Relationship Id="rId77" Type="http://schemas.openxmlformats.org/officeDocument/2006/relationships/slide" Target="slides/slide69.xml"/><Relationship Id="rId78" Type="http://schemas.openxmlformats.org/officeDocument/2006/relationships/slide" Target="slides/slide70.xml"/><Relationship Id="rId79" Type="http://schemas.openxmlformats.org/officeDocument/2006/relationships/slide" Target="slides/slide71.xml"/><Relationship Id="rId80" Type="http://schemas.openxmlformats.org/officeDocument/2006/relationships/slide" Target="slides/slide72.xml"/><Relationship Id="rId81" Type="http://schemas.openxmlformats.org/officeDocument/2006/relationships/slide" Target="slides/slide73.xml"/><Relationship Id="rId82" Type="http://schemas.openxmlformats.org/officeDocument/2006/relationships/slide" Target="slides/slide74.xml"/><Relationship Id="rId83" Type="http://schemas.openxmlformats.org/officeDocument/2006/relationships/slide" Target="slides/slide75.xml"/><Relationship Id="rId84" Type="http://schemas.openxmlformats.org/officeDocument/2006/relationships/slide" Target="slides/slide76.xml"/><Relationship Id="rId85" Type="http://schemas.openxmlformats.org/officeDocument/2006/relationships/slide" Target="slides/slide77.xml"/><Relationship Id="rId86" Type="http://schemas.openxmlformats.org/officeDocument/2006/relationships/slide" Target="slides/slide78.xml"/><Relationship Id="rId87" Type="http://schemas.openxmlformats.org/officeDocument/2006/relationships/slide" Target="slides/slide79.xml"/><Relationship Id="rId88" Type="http://schemas.openxmlformats.org/officeDocument/2006/relationships/slide" Target="slides/slide80.xml"/><Relationship Id="rId89" Type="http://schemas.openxmlformats.org/officeDocument/2006/relationships/font" Target="fonts/Roboto-regular.fntdata"/><Relationship Id="rId90" Type="http://schemas.openxmlformats.org/officeDocument/2006/relationships/font" Target="fonts/Roboto-bold.fntdata"/><Relationship Id="rId91" Type="http://schemas.openxmlformats.org/officeDocument/2006/relationships/font" Target="fonts/Roboto-italic.fntdata"/><Relationship Id="rId92" Type="http://schemas.openxmlformats.org/officeDocument/2006/relationships/font" Target="fonts/Roboto-boldItalic.fntdata"/><Relationship Id="rId93" Type="http://schemas.openxmlformats.org/officeDocument/2006/relationships/font" Target="fonts/Nunito-regular.fntdata"/><Relationship Id="rId94" Type="http://schemas.openxmlformats.org/officeDocument/2006/relationships/font" Target="fonts/Nunito-bold.fntdata"/><Relationship Id="rId95" Type="http://schemas.openxmlformats.org/officeDocument/2006/relationships/font" Target="fonts/Nunito-italic.fntdata"/><Relationship Id="rId96" Type="http://schemas.openxmlformats.org/officeDocument/2006/relationships/font" Target="fonts/Nunito-boldItalic.fntdata"/><Relationship Id="rId97" Type="http://schemas.openxmlformats.org/officeDocument/2006/relationships/font" Target="fonts/Poppins-regular.fntdata"/><Relationship Id="rId98" Type="http://schemas.openxmlformats.org/officeDocument/2006/relationships/font" Target="fonts/Poppins-bold.fntdata"/><Relationship Id="rId99" Type="http://schemas.openxmlformats.org/officeDocument/2006/relationships/font" Target="fonts/Poppins-italic.fntdata"/><Relationship Id="rId100" Type="http://schemas.openxmlformats.org/officeDocument/2006/relationships/font" Target="fonts/Poppins-boldItalic.fntdata"/><Relationship Id="rId101" Type="http://schemas.openxmlformats.org/officeDocument/2006/relationships/font" Target="fonts/MavenPro-regular.fntdata"/><Relationship Id="rId102" Type="http://schemas.openxmlformats.org/officeDocument/2006/relationships/font" Target="fonts/MavenPro-bold.fntdata"/><Relationship Id="rId103" Type="http://schemas.openxmlformats.org/officeDocument/2006/relationships/font" Target="fonts/PoppinsMedium-regular.fntdata"/><Relationship Id="rId104" Type="http://schemas.openxmlformats.org/officeDocument/2006/relationships/font" Target="fonts/PoppinsMedium-bold.fntdata"/><Relationship Id="rId105" Type="http://schemas.openxmlformats.org/officeDocument/2006/relationships/font" Target="fonts/PoppinsMedium-italic.fntdata"/><Relationship Id="rId106" Type="http://schemas.openxmlformats.org/officeDocument/2006/relationships/font" Target="fonts/PoppinsMedium-boldItalic.fntdata"/><Relationship Id="rId107" Type="http://customschemas.google.com/relationships/presentationmetadata" Target="metadata"/></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8-11T17:45:29.019">
    <p:pos x="6000" y="0"/>
    <p:text>i think this entire section is too dense/can be cut out</p:text>
    <p:extLst>
      <p:ext uri="{C676402C-5697-4E1C-873F-D02D1690AC5C}">
        <p15:threadingInfo timeZoneBias="0"/>
      </p:ext>
      <p:ext uri="http://customooxmlschemas.google.com/">
        <go:slidesCustomData xmlns:go="http://customooxmlschemas.google.com/" commentPostId="AAACFfK-gXY"/>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5" name="Shape 1025"/>
        <p:cNvGrpSpPr/>
        <p:nvPr/>
      </p:nvGrpSpPr>
      <p:grpSpPr>
        <a:xfrm>
          <a:off x="0" y="0"/>
          <a:ext cx="0" cy="0"/>
          <a:chOff x="0" y="0"/>
          <a:chExt cx="0" cy="0"/>
        </a:xfrm>
      </p:grpSpPr>
      <p:sp>
        <p:nvSpPr>
          <p:cNvPr id="1026" name="Google Shape;1026;p30: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7" name="Google Shape;1027;p30: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p31: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8" name="Google Shape;1038;p31: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p32: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branch like extensions are called the dendrites, and they receive signals from other neurons </a:t>
            </a:r>
            <a:endParaRPr/>
          </a:p>
          <a:p>
            <a:pPr indent="0" lvl="0" marL="0" rtl="0" algn="l">
              <a:lnSpc>
                <a:spcPct val="100000"/>
              </a:lnSpc>
              <a:spcBef>
                <a:spcPts val="0"/>
              </a:spcBef>
              <a:spcAft>
                <a:spcPts val="0"/>
              </a:spcAft>
              <a:buSzPts val="1400"/>
              <a:buNone/>
            </a:pPr>
            <a:r>
              <a:rPr lang="en-US"/>
              <a:t>more dendrites = more connections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 soma, also known as the cell body, contains the nucleus and organelles. It is responsible for interpreting the incoming signals from the dendrites and will then send them down the rest of the neuron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 axon is the long slender projection of the neuron that transmits the signals from the neuron’s soma to the axon terminal to transmit the message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 myelin sheath is a fatty coating around the axon that is able to insulate and speed up the signals that are received. This helps protect the axon from damage and ensure that signals travel quickly and efficiently between neurons.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 Schwann cells form the myelin sheath around the axons, providing essential support for neurons.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 Nodes of Ranvier are the small gaps in myelin that enable the transmitted signal to jump from node to node. This also greatly increases the speed of the signal and requires less energy to transmit a signal.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At the other end of the neuron is the axon terminals, which is where it communicates with the dendrites of another neuron. When the signal reaches the end of the axon terminals, it triggers the release of chemical messengers called neurotransmitters into the synapse. These neurotransmitters will cross a synaptic gap and bind to the receptors on the next neuron, which we will go more in depth into. </a:t>
            </a:r>
            <a:endParaRPr/>
          </a:p>
        </p:txBody>
      </p:sp>
      <p:sp>
        <p:nvSpPr>
          <p:cNvPr id="1047" name="Google Shape;1047;p32: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p33: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These action potentials are regulated by sodium potassium pumps, which work to maintain the resting membrane potential and allow for depolarization and repolarization.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At rest, the pump actively transports 3 sodium ions out of the cell for every 2 potassium ions, makes the resting membrane potential negative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dont forget, ions have charge!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1064" name="Google Shape;1064;p33: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p34: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has a negative charge relative inside relative to the outside, known as the resting membrane potential (salty banana rmp)</a:t>
            </a:r>
            <a:endParaRPr/>
          </a:p>
          <a:p>
            <a:pPr indent="0" lvl="0" marL="0" rtl="0" algn="l">
              <a:lnSpc>
                <a:spcPct val="100000"/>
              </a:lnSpc>
              <a:spcBef>
                <a:spcPts val="0"/>
              </a:spcBef>
              <a:spcAft>
                <a:spcPts val="0"/>
              </a:spcAft>
              <a:buSzPts val="1400"/>
              <a:buNone/>
            </a:pPr>
            <a:r>
              <a:t/>
            </a:r>
            <a:endParaRPr/>
          </a:p>
          <a:p>
            <a:pPr indent="0" lvl="0" marL="0" rtl="0" algn="l">
              <a:lnSpc>
                <a:spcPct val="110000"/>
              </a:lnSpc>
              <a:spcBef>
                <a:spcPts val="0"/>
              </a:spcBef>
              <a:spcAft>
                <a:spcPts val="0"/>
              </a:spcAft>
              <a:buClr>
                <a:schemeClr val="dk1"/>
              </a:buClr>
              <a:buSzPts val="1100"/>
              <a:buFont typeface="Arial"/>
              <a:buNone/>
            </a:pPr>
            <a:r>
              <a:rPr lang="en-US">
                <a:solidFill>
                  <a:srgbClr val="1C4587"/>
                </a:solidFill>
                <a:latin typeface="Poppins"/>
                <a:ea typeface="Poppins"/>
                <a:cs typeface="Poppins"/>
                <a:sym typeface="Poppins"/>
              </a:rPr>
              <a:t>Metaphor: A quiet room with a bouncer at the door</a:t>
            </a:r>
            <a:endParaRPr>
              <a:solidFill>
                <a:srgbClr val="1C4587"/>
              </a:solidFill>
              <a:latin typeface="Poppins"/>
              <a:ea typeface="Poppins"/>
              <a:cs typeface="Poppins"/>
              <a:sym typeface="Poppins"/>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1075" name="Google Shape;1075;p34: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6" name="Shape 1086"/>
        <p:cNvGrpSpPr/>
        <p:nvPr/>
      </p:nvGrpSpPr>
      <p:grpSpPr>
        <a:xfrm>
          <a:off x="0" y="0"/>
          <a:ext cx="0" cy="0"/>
          <a:chOff x="0" y="0"/>
          <a:chExt cx="0" cy="0"/>
        </a:xfrm>
      </p:grpSpPr>
      <p:sp>
        <p:nvSpPr>
          <p:cNvPr id="1087" name="Google Shape;1087;p35: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There is minimum stimulation needed to fire</a:t>
            </a:r>
            <a:endParaRPr/>
          </a:p>
          <a:p>
            <a:pPr indent="0" lvl="0" marL="0" rtl="0" algn="l">
              <a:lnSpc>
                <a:spcPct val="100000"/>
              </a:lnSpc>
              <a:spcBef>
                <a:spcPts val="0"/>
              </a:spcBef>
              <a:spcAft>
                <a:spcPts val="0"/>
              </a:spcAft>
              <a:buSzPts val="1400"/>
              <a:buNone/>
            </a:pPr>
            <a:r>
              <a:t/>
            </a:r>
            <a:endParaRPr/>
          </a:p>
          <a:p>
            <a:pPr indent="0" lvl="0" marL="0" rtl="0" algn="l">
              <a:lnSpc>
                <a:spcPct val="110000"/>
              </a:lnSpc>
              <a:spcBef>
                <a:spcPts val="0"/>
              </a:spcBef>
              <a:spcAft>
                <a:spcPts val="0"/>
              </a:spcAft>
              <a:buClr>
                <a:schemeClr val="dk1"/>
              </a:buClr>
              <a:buSzPts val="1100"/>
              <a:buFont typeface="Arial"/>
              <a:buNone/>
            </a:pPr>
            <a:r>
              <a:rPr lang="en-US">
                <a:solidFill>
                  <a:srgbClr val="1F1F1F"/>
                </a:solidFill>
                <a:latin typeface="Poppins"/>
                <a:ea typeface="Poppins"/>
                <a:cs typeface="Poppins"/>
                <a:sym typeface="Poppins"/>
              </a:rPr>
              <a:t>Metaphor: A few excited fans gather at the door – pressure starts to build; the door flies open, and a rush of people enter the room</a:t>
            </a:r>
            <a:endParaRPr>
              <a:solidFill>
                <a:srgbClr val="1F1F1F"/>
              </a:solidFill>
              <a:latin typeface="Poppins"/>
              <a:ea typeface="Poppins"/>
              <a:cs typeface="Poppins"/>
              <a:sym typeface="Poppins"/>
            </a:endParaRPr>
          </a:p>
          <a:p>
            <a:pPr indent="0" lvl="0" marL="0" rtl="0" algn="l">
              <a:lnSpc>
                <a:spcPct val="100000"/>
              </a:lnSpc>
              <a:spcBef>
                <a:spcPts val="0"/>
              </a:spcBef>
              <a:spcAft>
                <a:spcPts val="0"/>
              </a:spcAft>
              <a:buSzPts val="1400"/>
              <a:buNone/>
            </a:pPr>
            <a:r>
              <a:t/>
            </a:r>
            <a:endParaRPr/>
          </a:p>
        </p:txBody>
      </p:sp>
      <p:sp>
        <p:nvSpPr>
          <p:cNvPr id="1088" name="Google Shape;1088;p35: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p36: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electrical signal is triggered by the cell body of the neuron, which receives signals from the dendrites. The signal will then be sent down the rest of the neuron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This electrical signal is called an action potential</a:t>
            </a:r>
            <a:endParaRPr/>
          </a:p>
          <a:p>
            <a:pPr indent="0" lvl="0" marL="457200" rtl="0" algn="l">
              <a:lnSpc>
                <a:spcPct val="110000"/>
              </a:lnSpc>
              <a:spcBef>
                <a:spcPts val="0"/>
              </a:spcBef>
              <a:spcAft>
                <a:spcPts val="0"/>
              </a:spcAft>
              <a:buSzPts val="1400"/>
              <a:buNone/>
            </a:pPr>
            <a:r>
              <a:t/>
            </a:r>
            <a:endParaRPr>
              <a:solidFill>
                <a:srgbClr val="000000"/>
              </a:solidFill>
              <a:latin typeface="Poppins"/>
              <a:ea typeface="Poppins"/>
              <a:cs typeface="Poppins"/>
              <a:sym typeface="Poppins"/>
            </a:endParaRPr>
          </a:p>
          <a:p>
            <a:pPr indent="0" lvl="0" marL="0" rtl="0" algn="l">
              <a:lnSpc>
                <a:spcPct val="110000"/>
              </a:lnSpc>
              <a:spcBef>
                <a:spcPts val="0"/>
              </a:spcBef>
              <a:spcAft>
                <a:spcPts val="0"/>
              </a:spcAft>
              <a:buClr>
                <a:schemeClr val="dk1"/>
              </a:buClr>
              <a:buSzPts val="1100"/>
              <a:buFont typeface="Arial"/>
              <a:buNone/>
            </a:pPr>
            <a:r>
              <a:rPr lang="en-US">
                <a:solidFill>
                  <a:srgbClr val="000000"/>
                </a:solidFill>
                <a:latin typeface="Poppins"/>
                <a:ea typeface="Poppins"/>
                <a:cs typeface="Poppins"/>
                <a:sym typeface="Poppins"/>
              </a:rPr>
              <a:t>Metaphor: The room is packed and buzzing – almost too full; the bouncer begins to kick people out through a side exit</a:t>
            </a:r>
            <a:endParaRPr>
              <a:solidFill>
                <a:srgbClr val="000000"/>
              </a:solidFill>
            </a:endParaRPr>
          </a:p>
        </p:txBody>
      </p:sp>
      <p:sp>
        <p:nvSpPr>
          <p:cNvPr id="1101" name="Google Shape;1101;p36: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2" name="Shape 1112"/>
        <p:cNvGrpSpPr/>
        <p:nvPr/>
      </p:nvGrpSpPr>
      <p:grpSpPr>
        <a:xfrm>
          <a:off x="0" y="0"/>
          <a:ext cx="0" cy="0"/>
          <a:chOff x="0" y="0"/>
          <a:chExt cx="0" cy="0"/>
        </a:xfrm>
      </p:grpSpPr>
      <p:sp>
        <p:nvSpPr>
          <p:cNvPr id="1113" name="Google Shape;1113;p37: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ensures that the signal moves only in one direction from the dendrites to the axon terminals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also known as the refractory period</a:t>
            </a:r>
            <a:endParaRPr/>
          </a:p>
          <a:p>
            <a:pPr indent="0" lvl="0" marL="0" rtl="0" algn="l">
              <a:lnSpc>
                <a:spcPct val="100000"/>
              </a:lnSpc>
              <a:spcBef>
                <a:spcPts val="0"/>
              </a:spcBef>
              <a:spcAft>
                <a:spcPts val="0"/>
              </a:spcAft>
              <a:buSzPts val="1400"/>
              <a:buNone/>
            </a:pPr>
            <a:r>
              <a:t/>
            </a:r>
            <a:endParaRPr/>
          </a:p>
          <a:p>
            <a:pPr indent="0" lvl="0" marL="0" rtl="0" algn="l">
              <a:lnSpc>
                <a:spcPct val="110000"/>
              </a:lnSpc>
              <a:spcBef>
                <a:spcPts val="0"/>
              </a:spcBef>
              <a:spcAft>
                <a:spcPts val="0"/>
              </a:spcAft>
              <a:buClr>
                <a:schemeClr val="dk1"/>
              </a:buClr>
              <a:buSzPts val="1100"/>
              <a:buFont typeface="Arial"/>
              <a:buNone/>
            </a:pPr>
            <a:r>
              <a:rPr lang="en-US">
                <a:solidFill>
                  <a:srgbClr val="351C75"/>
                </a:solidFill>
                <a:latin typeface="Poppins"/>
                <a:ea typeface="Poppins"/>
                <a:cs typeface="Poppins"/>
                <a:sym typeface="Poppins"/>
              </a:rPr>
              <a:t>Metaphor: Security kicks out too many people</a:t>
            </a:r>
            <a:endParaRPr>
              <a:solidFill>
                <a:srgbClr val="351C75"/>
              </a:solidFill>
            </a:endParaRPr>
          </a:p>
        </p:txBody>
      </p:sp>
      <p:sp>
        <p:nvSpPr>
          <p:cNvPr id="1114" name="Google Shape;1114;p37: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5" name="Shape 1125"/>
        <p:cNvGrpSpPr/>
        <p:nvPr/>
      </p:nvGrpSpPr>
      <p:grpSpPr>
        <a:xfrm>
          <a:off x="0" y="0"/>
          <a:ext cx="0" cy="0"/>
          <a:chOff x="0" y="0"/>
          <a:chExt cx="0" cy="0"/>
        </a:xfrm>
      </p:grpSpPr>
      <p:sp>
        <p:nvSpPr>
          <p:cNvPr id="1126" name="Google Shape;1126;p38: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Clr>
                <a:schemeClr val="dk1"/>
              </a:buClr>
              <a:buSzPts val="1100"/>
              <a:buFont typeface="Arial"/>
              <a:buNone/>
            </a:pPr>
            <a:r>
              <a:rPr lang="en-US">
                <a:solidFill>
                  <a:srgbClr val="000000"/>
                </a:solidFill>
                <a:latin typeface="Poppins"/>
                <a:ea typeface="Poppins"/>
                <a:cs typeface="Poppins"/>
                <a:sym typeface="Poppins"/>
              </a:rPr>
              <a:t>Metaphor: Bouncer lets some more people back in to restore people</a:t>
            </a:r>
            <a:endParaRPr>
              <a:solidFill>
                <a:srgbClr val="000000"/>
              </a:solidFill>
              <a:latin typeface="Poppins"/>
              <a:ea typeface="Poppins"/>
              <a:cs typeface="Poppins"/>
              <a:sym typeface="Poppins"/>
            </a:endParaRPr>
          </a:p>
          <a:p>
            <a:pPr indent="0" lvl="0" marL="0" rtl="0" algn="l">
              <a:lnSpc>
                <a:spcPct val="100000"/>
              </a:lnSpc>
              <a:spcBef>
                <a:spcPts val="0"/>
              </a:spcBef>
              <a:spcAft>
                <a:spcPts val="0"/>
              </a:spcAft>
              <a:buSzPts val="1400"/>
              <a:buNone/>
            </a:pPr>
            <a:r>
              <a:t/>
            </a:r>
            <a:endParaRPr/>
          </a:p>
        </p:txBody>
      </p:sp>
      <p:sp>
        <p:nvSpPr>
          <p:cNvPr id="1127" name="Google Shape;1127;p38: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8" name="Shape 1138"/>
        <p:cNvGrpSpPr/>
        <p:nvPr/>
      </p:nvGrpSpPr>
      <p:grpSpPr>
        <a:xfrm>
          <a:off x="0" y="0"/>
          <a:ext cx="0" cy="0"/>
          <a:chOff x="0" y="0"/>
          <a:chExt cx="0" cy="0"/>
        </a:xfrm>
      </p:grpSpPr>
      <p:sp>
        <p:nvSpPr>
          <p:cNvPr id="1139" name="Google Shape;1139;p39: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These synapses are at the end of the axon terminals</a:t>
            </a:r>
            <a:endParaRPr/>
          </a:p>
        </p:txBody>
      </p:sp>
      <p:sp>
        <p:nvSpPr>
          <p:cNvPr id="1140" name="Google Shape;1140;p39: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8" name="Shape 1148"/>
        <p:cNvGrpSpPr/>
        <p:nvPr/>
      </p:nvGrpSpPr>
      <p:grpSpPr>
        <a:xfrm>
          <a:off x="0" y="0"/>
          <a:ext cx="0" cy="0"/>
          <a:chOff x="0" y="0"/>
          <a:chExt cx="0" cy="0"/>
        </a:xfrm>
      </p:grpSpPr>
      <p:sp>
        <p:nvSpPr>
          <p:cNvPr id="1149" name="Google Shape;1149;p40: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is the action potential that is carried down from the axon</a:t>
            </a:r>
            <a:endParaRPr/>
          </a:p>
        </p:txBody>
      </p:sp>
      <p:sp>
        <p:nvSpPr>
          <p:cNvPr id="1150" name="Google Shape;1150;p40: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8" name="Shape 1158"/>
        <p:cNvGrpSpPr/>
        <p:nvPr/>
      </p:nvGrpSpPr>
      <p:grpSpPr>
        <a:xfrm>
          <a:off x="0" y="0"/>
          <a:ext cx="0" cy="0"/>
          <a:chOff x="0" y="0"/>
          <a:chExt cx="0" cy="0"/>
        </a:xfrm>
      </p:grpSpPr>
      <p:sp>
        <p:nvSpPr>
          <p:cNvPr id="1159" name="Google Shape;1159;p41: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arrival of the action potential also opens voltage gated calcium channels</a:t>
            </a:r>
            <a:endParaRPr/>
          </a:p>
        </p:txBody>
      </p:sp>
      <p:sp>
        <p:nvSpPr>
          <p:cNvPr id="1160" name="Google Shape;1160;p41: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8" name="Shape 1168"/>
        <p:cNvGrpSpPr/>
        <p:nvPr/>
      </p:nvGrpSpPr>
      <p:grpSpPr>
        <a:xfrm>
          <a:off x="0" y="0"/>
          <a:ext cx="0" cy="0"/>
          <a:chOff x="0" y="0"/>
          <a:chExt cx="0" cy="0"/>
        </a:xfrm>
      </p:grpSpPr>
      <p:sp>
        <p:nvSpPr>
          <p:cNvPr id="1169" name="Google Shape;1169;p42: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calcium released flows into these synapses, moving these vesicles with neurotransmitters to the presynaptic cleft, which is at the bottom of synapse, and releasing them into the synaptic cleft, which is the space between the two synapses of the 2 neurons</a:t>
            </a:r>
            <a:endParaRPr/>
          </a:p>
        </p:txBody>
      </p:sp>
      <p:sp>
        <p:nvSpPr>
          <p:cNvPr id="1170" name="Google Shape;1170;p42: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8" name="Shape 1178"/>
        <p:cNvGrpSpPr/>
        <p:nvPr/>
      </p:nvGrpSpPr>
      <p:grpSpPr>
        <a:xfrm>
          <a:off x="0" y="0"/>
          <a:ext cx="0" cy="0"/>
          <a:chOff x="0" y="0"/>
          <a:chExt cx="0" cy="0"/>
        </a:xfrm>
      </p:grpSpPr>
      <p:sp>
        <p:nvSpPr>
          <p:cNvPr id="1179" name="Google Shape;1179;p43: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800"/>
              </a:spcBef>
              <a:spcAft>
                <a:spcPts val="0"/>
              </a:spcAft>
              <a:buSzPts val="1400"/>
              <a:buNone/>
            </a:pPr>
            <a:r>
              <a:rPr lang="en-US"/>
              <a:t>The released neurotransmitter molecules diffuse across the synaptic cleft to bind to receptors on the next neuron</a:t>
            </a:r>
            <a:endParaRPr/>
          </a:p>
          <a:p>
            <a:pPr indent="0" lvl="0" marL="457200" rtl="0" algn="l">
              <a:lnSpc>
                <a:spcPct val="150000"/>
              </a:lnSpc>
              <a:spcBef>
                <a:spcPts val="2400"/>
              </a:spcBef>
              <a:spcAft>
                <a:spcPts val="0"/>
              </a:spcAft>
              <a:buSzPts val="1400"/>
              <a:buNone/>
            </a:pPr>
            <a:r>
              <a:t/>
            </a:r>
            <a:endParaRPr>
              <a:solidFill>
                <a:srgbClr val="E6E8F0"/>
              </a:solidFill>
              <a:highlight>
                <a:srgbClr val="1F1F1F"/>
              </a:highlight>
              <a:latin typeface="Roboto"/>
              <a:ea typeface="Roboto"/>
              <a:cs typeface="Roboto"/>
              <a:sym typeface="Roboto"/>
            </a:endParaRPr>
          </a:p>
          <a:p>
            <a:pPr indent="0" lvl="0" marL="0" rtl="0" algn="l">
              <a:lnSpc>
                <a:spcPct val="100000"/>
              </a:lnSpc>
              <a:spcBef>
                <a:spcPts val="1500"/>
              </a:spcBef>
              <a:spcAft>
                <a:spcPts val="0"/>
              </a:spcAft>
              <a:buSzPts val="1400"/>
              <a:buNone/>
            </a:pPr>
            <a:r>
              <a:t/>
            </a:r>
            <a:endParaRPr/>
          </a:p>
        </p:txBody>
      </p:sp>
      <p:sp>
        <p:nvSpPr>
          <p:cNvPr id="1180" name="Google Shape;1180;p43: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8" name="Shape 1188"/>
        <p:cNvGrpSpPr/>
        <p:nvPr/>
      </p:nvGrpSpPr>
      <p:grpSpPr>
        <a:xfrm>
          <a:off x="0" y="0"/>
          <a:ext cx="0" cy="0"/>
          <a:chOff x="0" y="0"/>
          <a:chExt cx="0" cy="0"/>
        </a:xfrm>
      </p:grpSpPr>
      <p:sp>
        <p:nvSpPr>
          <p:cNvPr id="1189" name="Google Shape;1189;p44: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800"/>
              </a:spcBef>
              <a:spcAft>
                <a:spcPts val="0"/>
              </a:spcAft>
              <a:buSzPts val="1400"/>
              <a:buNone/>
            </a:pPr>
            <a:r>
              <a:rPr lang="en-US"/>
              <a:t>The signal that these neurotransmitters send will trigger a response in the postsynaptic neuron</a:t>
            </a:r>
            <a:endParaRPr/>
          </a:p>
          <a:p>
            <a:pPr indent="0" lvl="0" marL="0" rtl="0" algn="l">
              <a:lnSpc>
                <a:spcPct val="150000"/>
              </a:lnSpc>
              <a:spcBef>
                <a:spcPts val="2400"/>
              </a:spcBef>
              <a:spcAft>
                <a:spcPts val="0"/>
              </a:spcAft>
              <a:buSzPts val="1400"/>
              <a:buNone/>
            </a:pPr>
            <a:r>
              <a:rPr lang="en-US"/>
              <a:t>This can involve opening different channels which will then directly change the neuron’s membrane potential, making it more (excitatory) or less likely (inhibitory) to fire its own action potential.</a:t>
            </a:r>
            <a:endParaRPr/>
          </a:p>
          <a:p>
            <a:pPr indent="0" lvl="0" marL="0" rtl="0" algn="l">
              <a:lnSpc>
                <a:spcPct val="150000"/>
              </a:lnSpc>
              <a:spcBef>
                <a:spcPts val="2400"/>
              </a:spcBef>
              <a:spcAft>
                <a:spcPts val="0"/>
              </a:spcAft>
              <a:buSzPts val="1400"/>
              <a:buNone/>
            </a:pPr>
            <a:r>
              <a:rPr lang="en-US"/>
              <a:t>This is important because it allows for the precise balance of neural activity and proper response to stimuli. For example, we want excitatory action potentials when our neurons are transmitting an active signal, such as telling a muscle to contract or a brain region to process information fast. If it does not transmit information fast enough or at all, then we will have an imbalance and can lead to dysfunction. This can be seen in disorders like epilepsy, where an excess of excitation (too many action potentials) or a lack of inhibition can cause seizures</a:t>
            </a:r>
            <a:endParaRPr/>
          </a:p>
          <a:p>
            <a:pPr indent="0" lvl="0" marL="457200" rtl="0" algn="l">
              <a:lnSpc>
                <a:spcPct val="150000"/>
              </a:lnSpc>
              <a:spcBef>
                <a:spcPts val="2400"/>
              </a:spcBef>
              <a:spcAft>
                <a:spcPts val="0"/>
              </a:spcAft>
              <a:buSzPts val="1400"/>
              <a:buNone/>
            </a:pPr>
            <a:r>
              <a:t/>
            </a:r>
            <a:endParaRPr>
              <a:solidFill>
                <a:srgbClr val="E6E8F0"/>
              </a:solidFill>
              <a:highlight>
                <a:srgbClr val="1F1F1F"/>
              </a:highlight>
              <a:latin typeface="Roboto"/>
              <a:ea typeface="Roboto"/>
              <a:cs typeface="Roboto"/>
              <a:sym typeface="Roboto"/>
            </a:endParaRPr>
          </a:p>
          <a:p>
            <a:pPr indent="0" lvl="0" marL="0" rtl="0" algn="l">
              <a:lnSpc>
                <a:spcPct val="100000"/>
              </a:lnSpc>
              <a:spcBef>
                <a:spcPts val="1500"/>
              </a:spcBef>
              <a:spcAft>
                <a:spcPts val="0"/>
              </a:spcAft>
              <a:buSzPts val="1400"/>
              <a:buNone/>
            </a:pPr>
            <a:r>
              <a:t/>
            </a:r>
            <a:endParaRPr/>
          </a:p>
        </p:txBody>
      </p:sp>
      <p:sp>
        <p:nvSpPr>
          <p:cNvPr id="1190" name="Google Shape;1190;p44: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8" name="Shape 1198"/>
        <p:cNvGrpSpPr/>
        <p:nvPr/>
      </p:nvGrpSpPr>
      <p:grpSpPr>
        <a:xfrm>
          <a:off x="0" y="0"/>
          <a:ext cx="0" cy="0"/>
          <a:chOff x="0" y="0"/>
          <a:chExt cx="0" cy="0"/>
        </a:xfrm>
      </p:grpSpPr>
      <p:sp>
        <p:nvSpPr>
          <p:cNvPr id="1199" name="Google Shape;1199;p45: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800"/>
              </a:spcBef>
              <a:spcAft>
                <a:spcPts val="0"/>
              </a:spcAft>
              <a:buSzPts val="1400"/>
              <a:buNone/>
            </a:pPr>
            <a:r>
              <a:rPr lang="en-US"/>
              <a:t>Once the signal is properly transmitted to the postsynaptic neuron, the neurotransmitter must be cleared from the synaptic cleft to allow for new signals. This can happen by glial uptake, which is when a glial cell, which is responsible for clearing neurotransmitters quickly and efficiently, removes the neurotransmitters to prevent build up and toxicity in the neuron. </a:t>
            </a:r>
            <a:endParaRPr/>
          </a:p>
          <a:p>
            <a:pPr indent="0" lvl="0" marL="0" rtl="0" algn="l">
              <a:lnSpc>
                <a:spcPct val="150000"/>
              </a:lnSpc>
              <a:spcBef>
                <a:spcPts val="1500"/>
              </a:spcBef>
              <a:spcAft>
                <a:spcPts val="0"/>
              </a:spcAft>
              <a:buSzPts val="1400"/>
              <a:buNone/>
            </a:pPr>
            <a:r>
              <a:rPr lang="en-US"/>
              <a:t>Neurotransmitters can also be removed by enzymatic degradation, where enzymes come into the synaptic cleft and terminate their actions and break them down.</a:t>
            </a:r>
            <a:endParaRPr/>
          </a:p>
          <a:p>
            <a:pPr indent="0" lvl="0" marL="0" rtl="0" algn="l">
              <a:lnSpc>
                <a:spcPct val="150000"/>
              </a:lnSpc>
              <a:spcBef>
                <a:spcPts val="1500"/>
              </a:spcBef>
              <a:spcAft>
                <a:spcPts val="0"/>
              </a:spcAft>
              <a:buSzPts val="1400"/>
              <a:buNone/>
            </a:pPr>
            <a:r>
              <a:rPr lang="en-US"/>
              <a:t>The docked vesicles then are recycled back into the synaptic membrane and can be used again for when a new signal arrives.</a:t>
            </a:r>
            <a:endParaRPr/>
          </a:p>
          <a:p>
            <a:pPr indent="0" lvl="0" marL="0" rtl="0" algn="l">
              <a:lnSpc>
                <a:spcPct val="100000"/>
              </a:lnSpc>
              <a:spcBef>
                <a:spcPts val="1500"/>
              </a:spcBef>
              <a:spcAft>
                <a:spcPts val="0"/>
              </a:spcAft>
              <a:buSzPts val="1400"/>
              <a:buNone/>
            </a:pPr>
            <a:r>
              <a:t/>
            </a:r>
            <a:endParaRPr/>
          </a:p>
        </p:txBody>
      </p:sp>
      <p:sp>
        <p:nvSpPr>
          <p:cNvPr id="1200" name="Google Shape;1200;p45: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0" name="Shape 1210"/>
        <p:cNvGrpSpPr/>
        <p:nvPr/>
      </p:nvGrpSpPr>
      <p:grpSpPr>
        <a:xfrm>
          <a:off x="0" y="0"/>
          <a:ext cx="0" cy="0"/>
          <a:chOff x="0" y="0"/>
          <a:chExt cx="0" cy="0"/>
        </a:xfrm>
      </p:grpSpPr>
      <p:sp>
        <p:nvSpPr>
          <p:cNvPr id="1211" name="Google Shape;1211;p46: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looking at the bigger picture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both matter, but the connections between the neurons are generally considered more important for explaining thought, memory, and behavior. Meaning comes from connections, not just from single cells. A single neuron can fire by itself, but it does not represent much on its own. What matters is when thousands or millions of neurons fire together in patterns.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These connections determine the flow of information and which neurons talk to which other neurons, which ultimately shapes perception, decision making, and learning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Learning also happens in these connections because the brain primarily learns by changing synaptic strength. Experiences don’t change the the number of neurons, but rather how they connect to each other. </a:t>
            </a:r>
            <a:endParaRPr/>
          </a:p>
          <a:p>
            <a:pPr indent="0" lvl="0" marL="0" rtl="0" algn="l">
              <a:lnSpc>
                <a:spcPct val="100000"/>
              </a:lnSpc>
              <a:spcBef>
                <a:spcPts val="0"/>
              </a:spcBef>
              <a:spcAft>
                <a:spcPts val="0"/>
              </a:spcAft>
              <a:buSzPts val="1400"/>
              <a:buNone/>
            </a:pPr>
            <a:r>
              <a:t/>
            </a:r>
            <a:endParaRPr/>
          </a:p>
        </p:txBody>
      </p:sp>
      <p:sp>
        <p:nvSpPr>
          <p:cNvPr id="1212" name="Google Shape;1212;p46: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p47: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1" name="Google Shape;1221;p47: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0" name="Shape 1230"/>
        <p:cNvGrpSpPr/>
        <p:nvPr/>
      </p:nvGrpSpPr>
      <p:grpSpPr>
        <a:xfrm>
          <a:off x="0" y="0"/>
          <a:ext cx="0" cy="0"/>
          <a:chOff x="0" y="0"/>
          <a:chExt cx="0" cy="0"/>
        </a:xfrm>
      </p:grpSpPr>
      <p:sp>
        <p:nvSpPr>
          <p:cNvPr id="1231" name="Google Shape;1231;p48: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2" name="Google Shape;1232;p48: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6" name="Shape 1246"/>
        <p:cNvGrpSpPr/>
        <p:nvPr/>
      </p:nvGrpSpPr>
      <p:grpSpPr>
        <a:xfrm>
          <a:off x="0" y="0"/>
          <a:ext cx="0" cy="0"/>
          <a:chOff x="0" y="0"/>
          <a:chExt cx="0" cy="0"/>
        </a:xfrm>
      </p:grpSpPr>
      <p:sp>
        <p:nvSpPr>
          <p:cNvPr id="1247" name="Google Shape;1247;p49: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8" name="Google Shape;1248;p49: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8" name="Shape 1258"/>
        <p:cNvGrpSpPr/>
        <p:nvPr/>
      </p:nvGrpSpPr>
      <p:grpSpPr>
        <a:xfrm>
          <a:off x="0" y="0"/>
          <a:ext cx="0" cy="0"/>
          <a:chOff x="0" y="0"/>
          <a:chExt cx="0" cy="0"/>
        </a:xfrm>
      </p:grpSpPr>
      <p:sp>
        <p:nvSpPr>
          <p:cNvPr id="1259" name="Google Shape;1259;p50: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Low dopamine = Parkinson’s </a:t>
            </a:r>
            <a:endParaRPr/>
          </a:p>
          <a:p>
            <a:pPr indent="0" lvl="0" marL="0" rtl="0" algn="l">
              <a:lnSpc>
                <a:spcPct val="100000"/>
              </a:lnSpc>
              <a:spcBef>
                <a:spcPts val="0"/>
              </a:spcBef>
              <a:spcAft>
                <a:spcPts val="0"/>
              </a:spcAft>
              <a:buSzPts val="1400"/>
              <a:buNone/>
            </a:pPr>
            <a:r>
              <a:rPr lang="en-US"/>
              <a:t>High dopamine = linked to schizophrenia</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Low GABA = anxiety and seizures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High glutamate = seizures or overstimulation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Low ACh = ties to alzheimer's </a:t>
            </a:r>
            <a:endParaRPr/>
          </a:p>
        </p:txBody>
      </p:sp>
      <p:sp>
        <p:nvSpPr>
          <p:cNvPr id="1260" name="Google Shape;1260;p50: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9" name="Shape 1289"/>
        <p:cNvGrpSpPr/>
        <p:nvPr/>
      </p:nvGrpSpPr>
      <p:grpSpPr>
        <a:xfrm>
          <a:off x="0" y="0"/>
          <a:ext cx="0" cy="0"/>
          <a:chOff x="0" y="0"/>
          <a:chExt cx="0" cy="0"/>
        </a:xfrm>
      </p:grpSpPr>
      <p:sp>
        <p:nvSpPr>
          <p:cNvPr id="1290" name="Google Shape;1290;p51: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Neurotransmitters work in seconds, but on the other hand, hormones can affect behavior over minutes, hours, and even years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Because they travel in the blood, their effects are slower, longer lasting, and more widespread</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1291" name="Google Shape;1291;p51: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9" name="Shape 1299"/>
        <p:cNvGrpSpPr/>
        <p:nvPr/>
      </p:nvGrpSpPr>
      <p:grpSpPr>
        <a:xfrm>
          <a:off x="0" y="0"/>
          <a:ext cx="0" cy="0"/>
          <a:chOff x="0" y="0"/>
          <a:chExt cx="0" cy="0"/>
        </a:xfrm>
      </p:grpSpPr>
      <p:sp>
        <p:nvSpPr>
          <p:cNvPr id="1300" name="Google Shape;1300;p52: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Neurotransmitters work in seconds, but on the other hand, hormones can affect behavior over minutes, hours, and even years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Because they travel in the blood, their effects are slower, longer lasting, and more widespread</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adrenaline is part of the fight or flight response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High cortisol = anxiety, poor sleep, weakened immune system</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screen time at night will delay melatonin = harder to sleep</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puberty shifts emotion and behavior because your hormones will change dramatically   </a:t>
            </a:r>
            <a:endParaRPr/>
          </a:p>
        </p:txBody>
      </p:sp>
      <p:sp>
        <p:nvSpPr>
          <p:cNvPr id="1301" name="Google Shape;1301;p52: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0" name="Shape 1330"/>
        <p:cNvGrpSpPr/>
        <p:nvPr/>
      </p:nvGrpSpPr>
      <p:grpSpPr>
        <a:xfrm>
          <a:off x="0" y="0"/>
          <a:ext cx="0" cy="0"/>
          <a:chOff x="0" y="0"/>
          <a:chExt cx="0" cy="0"/>
        </a:xfrm>
      </p:grpSpPr>
      <p:sp>
        <p:nvSpPr>
          <p:cNvPr id="1331" name="Google Shape;1331;p53: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32" name="Google Shape;1332;p53: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8" name="Shape 1338"/>
        <p:cNvGrpSpPr/>
        <p:nvPr/>
      </p:nvGrpSpPr>
      <p:grpSpPr>
        <a:xfrm>
          <a:off x="0" y="0"/>
          <a:ext cx="0" cy="0"/>
          <a:chOff x="0" y="0"/>
          <a:chExt cx="0" cy="0"/>
        </a:xfrm>
      </p:grpSpPr>
      <p:sp>
        <p:nvSpPr>
          <p:cNvPr id="1339" name="Google Shape;1339;p54: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40" name="Google Shape;1340;p54: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9" name="Shape 1349"/>
        <p:cNvGrpSpPr/>
        <p:nvPr/>
      </p:nvGrpSpPr>
      <p:grpSpPr>
        <a:xfrm>
          <a:off x="0" y="0"/>
          <a:ext cx="0" cy="0"/>
          <a:chOff x="0" y="0"/>
          <a:chExt cx="0" cy="0"/>
        </a:xfrm>
      </p:grpSpPr>
      <p:sp>
        <p:nvSpPr>
          <p:cNvPr id="1350" name="Google Shape;1350;p55: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1" name="Google Shape;1351;p55: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5" name="Shape 1365"/>
        <p:cNvGrpSpPr/>
        <p:nvPr/>
      </p:nvGrpSpPr>
      <p:grpSpPr>
        <a:xfrm>
          <a:off x="0" y="0"/>
          <a:ext cx="0" cy="0"/>
          <a:chOff x="0" y="0"/>
          <a:chExt cx="0" cy="0"/>
        </a:xfrm>
      </p:grpSpPr>
      <p:sp>
        <p:nvSpPr>
          <p:cNvPr id="1366" name="Google Shape;1366;p5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7" name="Google Shape;1367;p56: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4" name="Shape 1374"/>
        <p:cNvGrpSpPr/>
        <p:nvPr/>
      </p:nvGrpSpPr>
      <p:grpSpPr>
        <a:xfrm>
          <a:off x="0" y="0"/>
          <a:ext cx="0" cy="0"/>
          <a:chOff x="0" y="0"/>
          <a:chExt cx="0" cy="0"/>
        </a:xfrm>
      </p:grpSpPr>
      <p:sp>
        <p:nvSpPr>
          <p:cNvPr id="1375" name="Google Shape;1375;p57: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76" name="Google Shape;1376;p57: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3" name="Shape 1383"/>
        <p:cNvGrpSpPr/>
        <p:nvPr/>
      </p:nvGrpSpPr>
      <p:grpSpPr>
        <a:xfrm>
          <a:off x="0" y="0"/>
          <a:ext cx="0" cy="0"/>
          <a:chOff x="0" y="0"/>
          <a:chExt cx="0" cy="0"/>
        </a:xfrm>
      </p:grpSpPr>
      <p:sp>
        <p:nvSpPr>
          <p:cNvPr id="1384" name="Google Shape;1384;p58: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85" name="Google Shape;1385;p58: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3" name="Shape 1393"/>
        <p:cNvGrpSpPr/>
        <p:nvPr/>
      </p:nvGrpSpPr>
      <p:grpSpPr>
        <a:xfrm>
          <a:off x="0" y="0"/>
          <a:ext cx="0" cy="0"/>
          <a:chOff x="0" y="0"/>
          <a:chExt cx="0" cy="0"/>
        </a:xfrm>
      </p:grpSpPr>
      <p:sp>
        <p:nvSpPr>
          <p:cNvPr id="1394" name="Google Shape;1394;p59: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95" name="Google Shape;1395;p59: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3" name="Shape 1403"/>
        <p:cNvGrpSpPr/>
        <p:nvPr/>
      </p:nvGrpSpPr>
      <p:grpSpPr>
        <a:xfrm>
          <a:off x="0" y="0"/>
          <a:ext cx="0" cy="0"/>
          <a:chOff x="0" y="0"/>
          <a:chExt cx="0" cy="0"/>
        </a:xfrm>
      </p:grpSpPr>
      <p:sp>
        <p:nvSpPr>
          <p:cNvPr id="1404" name="Google Shape;1404;p60: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05" name="Google Shape;1405;p60: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4" name="Shape 1414"/>
        <p:cNvGrpSpPr/>
        <p:nvPr/>
      </p:nvGrpSpPr>
      <p:grpSpPr>
        <a:xfrm>
          <a:off x="0" y="0"/>
          <a:ext cx="0" cy="0"/>
          <a:chOff x="0" y="0"/>
          <a:chExt cx="0" cy="0"/>
        </a:xfrm>
      </p:grpSpPr>
      <p:sp>
        <p:nvSpPr>
          <p:cNvPr id="1415" name="Google Shape;1415;p61: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6" name="Google Shape;1416;p61: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4" name="Shape 1424"/>
        <p:cNvGrpSpPr/>
        <p:nvPr/>
      </p:nvGrpSpPr>
      <p:grpSpPr>
        <a:xfrm>
          <a:off x="0" y="0"/>
          <a:ext cx="0" cy="0"/>
          <a:chOff x="0" y="0"/>
          <a:chExt cx="0" cy="0"/>
        </a:xfrm>
      </p:grpSpPr>
      <p:sp>
        <p:nvSpPr>
          <p:cNvPr id="1425" name="Google Shape;1425;p62: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26" name="Google Shape;1426;p62: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2" name="Shape 1432"/>
        <p:cNvGrpSpPr/>
        <p:nvPr/>
      </p:nvGrpSpPr>
      <p:grpSpPr>
        <a:xfrm>
          <a:off x="0" y="0"/>
          <a:ext cx="0" cy="0"/>
          <a:chOff x="0" y="0"/>
          <a:chExt cx="0" cy="0"/>
        </a:xfrm>
      </p:grpSpPr>
      <p:sp>
        <p:nvSpPr>
          <p:cNvPr id="1433" name="Google Shape;1433;p63: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34" name="Google Shape;1434;p63: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9" name="Shape 1439"/>
        <p:cNvGrpSpPr/>
        <p:nvPr/>
      </p:nvGrpSpPr>
      <p:grpSpPr>
        <a:xfrm>
          <a:off x="0" y="0"/>
          <a:ext cx="0" cy="0"/>
          <a:chOff x="0" y="0"/>
          <a:chExt cx="0" cy="0"/>
        </a:xfrm>
      </p:grpSpPr>
      <p:sp>
        <p:nvSpPr>
          <p:cNvPr id="1440" name="Google Shape;1440;p64: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US" sz="1300">
                <a:latin typeface="Arial"/>
                <a:ea typeface="Arial"/>
                <a:cs typeface="Arial"/>
                <a:sym typeface="Arial"/>
              </a:rPr>
              <a:t>Optional</a:t>
            </a:r>
            <a:endParaRPr b="1" sz="13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Whole-class discussion: Which traits were most often labeled </a:t>
            </a:r>
            <a:r>
              <a:rPr b="1" lang="en-US" sz="1100">
                <a:latin typeface="Arial"/>
                <a:ea typeface="Arial"/>
                <a:cs typeface="Arial"/>
                <a:sym typeface="Arial"/>
              </a:rPr>
              <a:t>Both</a:t>
            </a:r>
            <a:r>
              <a:rPr lang="en-US" sz="1100">
                <a:latin typeface="Arial"/>
                <a:ea typeface="Arial"/>
                <a:cs typeface="Arial"/>
                <a:sym typeface="Arial"/>
              </a:rPr>
              <a:t>? Why?</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Written reflection: </a:t>
            </a:r>
            <a:r>
              <a:rPr i="1" lang="en-US" sz="1100">
                <a:latin typeface="Arial"/>
                <a:ea typeface="Arial"/>
                <a:cs typeface="Arial"/>
                <a:sym typeface="Arial"/>
              </a:rPr>
              <a:t>Which trait was hardest to label and why?</a:t>
            </a:r>
            <a:endParaRPr i="1"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a:p>
        </p:txBody>
      </p:sp>
      <p:sp>
        <p:nvSpPr>
          <p:cNvPr id="1441" name="Google Shape;1441;p64: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7" name="Shape 1447"/>
        <p:cNvGrpSpPr/>
        <p:nvPr/>
      </p:nvGrpSpPr>
      <p:grpSpPr>
        <a:xfrm>
          <a:off x="0" y="0"/>
          <a:ext cx="0" cy="0"/>
          <a:chOff x="0" y="0"/>
          <a:chExt cx="0" cy="0"/>
        </a:xfrm>
      </p:grpSpPr>
      <p:sp>
        <p:nvSpPr>
          <p:cNvPr id="1448" name="Google Shape;1448;g3f6c934d049_0_0: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p:spPr>
      </p:sp>
      <p:sp>
        <p:nvSpPr>
          <p:cNvPr id="1449" name="Google Shape;1449;g3f6c934d049_0_0:notes"/>
          <p:cNvSpPr txBox="1"/>
          <p:nvPr>
            <p:ph idx="1" type="body"/>
          </p:nvPr>
        </p:nvSpPr>
        <p:spPr>
          <a:xfrm>
            <a:off x="914400" y="3251200"/>
            <a:ext cx="7315200" cy="3081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0" name="Google Shape;1450;g3f6c934d049_0_0:notes"/>
          <p:cNvSpPr txBox="1"/>
          <p:nvPr>
            <p:ph idx="12" type="sldNum"/>
          </p:nvPr>
        </p:nvSpPr>
        <p:spPr>
          <a:xfrm>
            <a:off x="5180013" y="6502400"/>
            <a:ext cx="3962400" cy="341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3" name="Shape 1453"/>
        <p:cNvGrpSpPr/>
        <p:nvPr/>
      </p:nvGrpSpPr>
      <p:grpSpPr>
        <a:xfrm>
          <a:off x="0" y="0"/>
          <a:ext cx="0" cy="0"/>
          <a:chOff x="0" y="0"/>
          <a:chExt cx="0" cy="0"/>
        </a:xfrm>
      </p:grpSpPr>
      <p:sp>
        <p:nvSpPr>
          <p:cNvPr id="1454" name="Google Shape;1454;g3f6d4ad7c21_1_0: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p:spPr>
      </p:sp>
      <p:sp>
        <p:nvSpPr>
          <p:cNvPr id="1455" name="Google Shape;1455;g3f6d4ad7c21_1_0:notes"/>
          <p:cNvSpPr txBox="1"/>
          <p:nvPr>
            <p:ph idx="1" type="body"/>
          </p:nvPr>
        </p:nvSpPr>
        <p:spPr>
          <a:xfrm>
            <a:off x="914400" y="3251200"/>
            <a:ext cx="7315200" cy="3081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6" name="Google Shape;1456;g3f6d4ad7c21_1_0:notes"/>
          <p:cNvSpPr txBox="1"/>
          <p:nvPr>
            <p:ph idx="12" type="sldNum"/>
          </p:nvPr>
        </p:nvSpPr>
        <p:spPr>
          <a:xfrm>
            <a:off x="5180013" y="6502400"/>
            <a:ext cx="3962400" cy="341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6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6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6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6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6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6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6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6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6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6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6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6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6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6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6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6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6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7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7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7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7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7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7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7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7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7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7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7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7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7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7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7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7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7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7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7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7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7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7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7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7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74"/>
          <p:cNvSpPr/>
          <p:nvPr>
            <p:ph idx="2" type="pic"/>
          </p:nvPr>
        </p:nvSpPr>
        <p:spPr>
          <a:xfrm>
            <a:off x="1792288" y="612775"/>
            <a:ext cx="5486400" cy="4114800"/>
          </a:xfrm>
          <a:prstGeom prst="rect">
            <a:avLst/>
          </a:prstGeom>
          <a:noFill/>
          <a:ln>
            <a:noFill/>
          </a:ln>
        </p:spPr>
      </p:sp>
      <p:sp>
        <p:nvSpPr>
          <p:cNvPr id="68" name="Google Shape;68;p7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7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7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7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7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75"/>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7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7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7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76"/>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7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7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7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7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88" name="Shape 88"/>
        <p:cNvGrpSpPr/>
        <p:nvPr/>
      </p:nvGrpSpPr>
      <p:grpSpPr>
        <a:xfrm>
          <a:off x="0" y="0"/>
          <a:ext cx="0" cy="0"/>
          <a:chOff x="0" y="0"/>
          <a:chExt cx="0" cy="0"/>
        </a:xfrm>
      </p:grpSpPr>
      <p:grpSp>
        <p:nvGrpSpPr>
          <p:cNvPr id="89" name="Google Shape;89;g3f7282457ef_0_286"/>
          <p:cNvGrpSpPr/>
          <p:nvPr/>
        </p:nvGrpSpPr>
        <p:grpSpPr>
          <a:xfrm>
            <a:off x="14686006" y="6819350"/>
            <a:ext cx="3382844" cy="3465096"/>
            <a:chOff x="7343003" y="3409675"/>
            <a:chExt cx="1691422" cy="1732548"/>
          </a:xfrm>
        </p:grpSpPr>
        <p:grpSp>
          <p:nvGrpSpPr>
            <p:cNvPr id="90" name="Google Shape;90;g3f7282457ef_0_286"/>
            <p:cNvGrpSpPr/>
            <p:nvPr/>
          </p:nvGrpSpPr>
          <p:grpSpPr>
            <a:xfrm>
              <a:off x="7343003" y="4453711"/>
              <a:ext cx="316800" cy="688512"/>
              <a:chOff x="7343003" y="4453711"/>
              <a:chExt cx="316800" cy="688512"/>
            </a:xfrm>
          </p:grpSpPr>
          <p:sp>
            <p:nvSpPr>
              <p:cNvPr id="91" name="Google Shape;91;g3f7282457ef_0_286"/>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92" name="Google Shape;92;g3f7282457ef_0_286"/>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93" name="Google Shape;93;g3f7282457ef_0_286"/>
            <p:cNvGrpSpPr/>
            <p:nvPr/>
          </p:nvGrpSpPr>
          <p:grpSpPr>
            <a:xfrm>
              <a:off x="7801210" y="4105700"/>
              <a:ext cx="316800" cy="1036523"/>
              <a:chOff x="7801210" y="4105700"/>
              <a:chExt cx="316800" cy="1036523"/>
            </a:xfrm>
          </p:grpSpPr>
          <p:sp>
            <p:nvSpPr>
              <p:cNvPr id="94" name="Google Shape;94;g3f7282457ef_0_286"/>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95" name="Google Shape;95;g3f7282457ef_0_286"/>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96" name="Google Shape;96;g3f7282457ef_0_286"/>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97" name="Google Shape;97;g3f7282457ef_0_286"/>
            <p:cNvGrpSpPr/>
            <p:nvPr/>
          </p:nvGrpSpPr>
          <p:grpSpPr>
            <a:xfrm>
              <a:off x="8259418" y="3757688"/>
              <a:ext cx="316800" cy="1384535"/>
              <a:chOff x="8259418" y="3757688"/>
              <a:chExt cx="316800" cy="1384535"/>
            </a:xfrm>
          </p:grpSpPr>
          <p:sp>
            <p:nvSpPr>
              <p:cNvPr id="98" name="Google Shape;98;g3f7282457ef_0_286"/>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99" name="Google Shape;99;g3f7282457ef_0_286"/>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00" name="Google Shape;100;g3f7282457ef_0_286"/>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01" name="Google Shape;101;g3f7282457ef_0_286"/>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102" name="Google Shape;102;g3f7282457ef_0_286"/>
            <p:cNvGrpSpPr/>
            <p:nvPr/>
          </p:nvGrpSpPr>
          <p:grpSpPr>
            <a:xfrm>
              <a:off x="8717625" y="3409675"/>
              <a:ext cx="316800" cy="1732548"/>
              <a:chOff x="8717625" y="3409675"/>
              <a:chExt cx="316800" cy="1732548"/>
            </a:xfrm>
          </p:grpSpPr>
          <p:sp>
            <p:nvSpPr>
              <p:cNvPr id="103" name="Google Shape;103;g3f7282457ef_0_286"/>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04" name="Google Shape;104;g3f7282457ef_0_286"/>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05" name="Google Shape;105;g3f7282457ef_0_286"/>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06" name="Google Shape;106;g3f7282457ef_0_286"/>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07" name="Google Shape;107;g3f7282457ef_0_286"/>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grpSp>
        <p:nvGrpSpPr>
          <p:cNvPr id="108" name="Google Shape;108;g3f7282457ef_0_286"/>
          <p:cNvGrpSpPr/>
          <p:nvPr/>
        </p:nvGrpSpPr>
        <p:grpSpPr>
          <a:xfrm>
            <a:off x="10087006" y="0"/>
            <a:ext cx="7628144" cy="7678203"/>
            <a:chOff x="5043503" y="0"/>
            <a:chExt cx="3814072" cy="3839102"/>
          </a:xfrm>
        </p:grpSpPr>
        <p:sp>
          <p:nvSpPr>
            <p:cNvPr id="109" name="Google Shape;109;g3f7282457ef_0_286"/>
            <p:cNvSpPr/>
            <p:nvPr/>
          </p:nvSpPr>
          <p:spPr>
            <a:xfrm>
              <a:off x="8460975" y="1817775"/>
              <a:ext cx="396600" cy="396600"/>
            </a:xfrm>
            <a:prstGeom prst="ellipse">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10" name="Google Shape;110;g3f7282457ef_0_286"/>
            <p:cNvSpPr/>
            <p:nvPr/>
          </p:nvSpPr>
          <p:spPr>
            <a:xfrm rot="-9830444">
              <a:off x="6469759" y="3480727"/>
              <a:ext cx="320148" cy="320148"/>
            </a:xfrm>
            <a:prstGeom prst="ellipse">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nvGrpSpPr>
            <p:cNvPr id="111" name="Google Shape;111;g3f7282457ef_0_286"/>
            <p:cNvGrpSpPr/>
            <p:nvPr/>
          </p:nvGrpSpPr>
          <p:grpSpPr>
            <a:xfrm>
              <a:off x="7647815" y="2704283"/>
              <a:ext cx="635220" cy="635219"/>
              <a:chOff x="6725724" y="2701260"/>
              <a:chExt cx="1208101" cy="1208100"/>
            </a:xfrm>
          </p:grpSpPr>
          <p:sp>
            <p:nvSpPr>
              <p:cNvPr id="112" name="Google Shape;112;g3f7282457ef_0_286"/>
              <p:cNvSpPr/>
              <p:nvPr/>
            </p:nvSpPr>
            <p:spPr>
              <a:xfrm rot="5400000">
                <a:off x="6725725" y="2701260"/>
                <a:ext cx="1208100" cy="1208100"/>
              </a:xfrm>
              <a:prstGeom prst="ellipse">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13" name="Google Shape;113;g3f7282457ef_0_286"/>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14" name="Google Shape;114;g3f7282457ef_0_286"/>
              <p:cNvSpPr/>
              <p:nvPr/>
            </p:nvSpPr>
            <p:spPr>
              <a:xfrm rot="5400000">
                <a:off x="6954988" y="2930398"/>
                <a:ext cx="749700" cy="749700"/>
              </a:xfrm>
              <a:prstGeom prst="ellipse">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sp>
          <p:nvSpPr>
            <p:cNvPr id="115" name="Google Shape;115;g3f7282457ef_0_286"/>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nvGrpSpPr>
            <p:cNvPr id="116" name="Google Shape;116;g3f7282457ef_0_286"/>
            <p:cNvGrpSpPr/>
            <p:nvPr/>
          </p:nvGrpSpPr>
          <p:grpSpPr>
            <a:xfrm>
              <a:off x="7952718" y="179238"/>
              <a:ext cx="873165" cy="873002"/>
              <a:chOff x="7754428" y="208725"/>
              <a:chExt cx="541800" cy="541800"/>
            </a:xfrm>
          </p:grpSpPr>
          <p:sp>
            <p:nvSpPr>
              <p:cNvPr id="117" name="Google Shape;117;g3f7282457ef_0_286"/>
              <p:cNvSpPr/>
              <p:nvPr/>
            </p:nvSpPr>
            <p:spPr>
              <a:xfrm rot="-8647347">
                <a:off x="7831319" y="285616"/>
                <a:ext cx="388018" cy="388018"/>
              </a:xfrm>
              <a:prstGeom prst="ellipse">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18" name="Google Shape;118;g3f7282457ef_0_286"/>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sp>
          <p:nvSpPr>
            <p:cNvPr id="119" name="Google Shape;119;g3f7282457ef_0_286"/>
            <p:cNvSpPr/>
            <p:nvPr/>
          </p:nvSpPr>
          <p:spPr>
            <a:xfrm>
              <a:off x="5399840" y="356365"/>
              <a:ext cx="2577000" cy="2577000"/>
            </a:xfrm>
            <a:prstGeom prst="ellipse">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20" name="Google Shape;120;g3f7282457ef_0_286"/>
            <p:cNvSpPr/>
            <p:nvPr/>
          </p:nvSpPr>
          <p:spPr>
            <a:xfrm rot="2043858">
              <a:off x="5503813" y="460310"/>
              <a:ext cx="2369480" cy="2369480"/>
            </a:xfrm>
            <a:prstGeom prst="ellipse">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21" name="Google Shape;121;g3f7282457ef_0_286"/>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22" name="Google Shape;122;g3f7282457ef_0_286"/>
            <p:cNvSpPr/>
            <p:nvPr/>
          </p:nvSpPr>
          <p:spPr>
            <a:xfrm rot="2044777">
              <a:off x="5911449" y="867729"/>
              <a:ext cx="1554223" cy="1554223"/>
            </a:xfrm>
            <a:prstGeom prst="ellipse">
              <a:avLst/>
            </a:prstGeom>
            <a:solidFill>
              <a:schemeClr val="accent3"/>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23" name="Google Shape;123;g3f7282457ef_0_286"/>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24" name="Google Shape;124;g3f7282457ef_0_286"/>
            <p:cNvSpPr/>
            <p:nvPr/>
          </p:nvSpPr>
          <p:spPr>
            <a:xfrm rot="-9830444">
              <a:off x="6469759" y="3480726"/>
              <a:ext cx="320148" cy="320148"/>
            </a:xfrm>
            <a:prstGeom prst="pie">
              <a:avLst>
                <a:gd fmla="val 19376841" name="adj1"/>
                <a:gd fmla="val 16200000" name="adj2"/>
              </a:avLst>
            </a:prstGeom>
            <a:solidFill>
              <a:schemeClr val="lt1">
                <a:alpha val="941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sp>
        <p:nvSpPr>
          <p:cNvPr id="125" name="Google Shape;125;g3f7282457ef_0_286"/>
          <p:cNvSpPr txBox="1"/>
          <p:nvPr>
            <p:ph type="ctrTitle"/>
          </p:nvPr>
        </p:nvSpPr>
        <p:spPr>
          <a:xfrm>
            <a:off x="1648000" y="3227626"/>
            <a:ext cx="8511000" cy="3745800"/>
          </a:xfrm>
          <a:prstGeom prst="rect">
            <a:avLst/>
          </a:prstGeom>
          <a:noFill/>
          <a:ln>
            <a:noFill/>
          </a:ln>
        </p:spPr>
        <p:txBody>
          <a:bodyPr anchorCtr="0" anchor="ctr" bIns="182850" lIns="182850" spcFirstLastPara="1" rIns="182850" wrap="square" tIns="182850">
            <a:normAutofit/>
          </a:bodyPr>
          <a:lstStyle>
            <a:lvl1pPr lvl="0" algn="l">
              <a:lnSpc>
                <a:spcPct val="100000"/>
              </a:lnSpc>
              <a:spcBef>
                <a:spcPts val="0"/>
              </a:spcBef>
              <a:spcAft>
                <a:spcPts val="0"/>
              </a:spcAft>
              <a:buClr>
                <a:schemeClr val="lt1"/>
              </a:buClr>
              <a:buSzPts val="7200"/>
              <a:buNone/>
              <a:defRPr sz="7200">
                <a:solidFill>
                  <a:schemeClr val="lt1"/>
                </a:solidFill>
              </a:defRPr>
            </a:lvl1pPr>
            <a:lvl2pPr lvl="1" algn="l">
              <a:lnSpc>
                <a:spcPct val="100000"/>
              </a:lnSpc>
              <a:spcBef>
                <a:spcPts val="0"/>
              </a:spcBef>
              <a:spcAft>
                <a:spcPts val="0"/>
              </a:spcAft>
              <a:buClr>
                <a:schemeClr val="lt1"/>
              </a:buClr>
              <a:buSzPts val="7200"/>
              <a:buNone/>
              <a:defRPr sz="7200">
                <a:solidFill>
                  <a:schemeClr val="lt1"/>
                </a:solidFill>
              </a:defRPr>
            </a:lvl2pPr>
            <a:lvl3pPr lvl="2" algn="l">
              <a:lnSpc>
                <a:spcPct val="100000"/>
              </a:lnSpc>
              <a:spcBef>
                <a:spcPts val="0"/>
              </a:spcBef>
              <a:spcAft>
                <a:spcPts val="0"/>
              </a:spcAft>
              <a:buClr>
                <a:schemeClr val="lt1"/>
              </a:buClr>
              <a:buSzPts val="7200"/>
              <a:buNone/>
              <a:defRPr sz="7200">
                <a:solidFill>
                  <a:schemeClr val="lt1"/>
                </a:solidFill>
              </a:defRPr>
            </a:lvl3pPr>
            <a:lvl4pPr lvl="3" algn="l">
              <a:lnSpc>
                <a:spcPct val="100000"/>
              </a:lnSpc>
              <a:spcBef>
                <a:spcPts val="0"/>
              </a:spcBef>
              <a:spcAft>
                <a:spcPts val="0"/>
              </a:spcAft>
              <a:buClr>
                <a:schemeClr val="lt1"/>
              </a:buClr>
              <a:buSzPts val="7200"/>
              <a:buNone/>
              <a:defRPr sz="7200">
                <a:solidFill>
                  <a:schemeClr val="lt1"/>
                </a:solidFill>
              </a:defRPr>
            </a:lvl4pPr>
            <a:lvl5pPr lvl="4" algn="l">
              <a:lnSpc>
                <a:spcPct val="100000"/>
              </a:lnSpc>
              <a:spcBef>
                <a:spcPts val="0"/>
              </a:spcBef>
              <a:spcAft>
                <a:spcPts val="0"/>
              </a:spcAft>
              <a:buClr>
                <a:schemeClr val="lt1"/>
              </a:buClr>
              <a:buSzPts val="7200"/>
              <a:buNone/>
              <a:defRPr sz="7200">
                <a:solidFill>
                  <a:schemeClr val="lt1"/>
                </a:solidFill>
              </a:defRPr>
            </a:lvl5pPr>
            <a:lvl6pPr lvl="5" algn="l">
              <a:lnSpc>
                <a:spcPct val="100000"/>
              </a:lnSpc>
              <a:spcBef>
                <a:spcPts val="0"/>
              </a:spcBef>
              <a:spcAft>
                <a:spcPts val="0"/>
              </a:spcAft>
              <a:buClr>
                <a:schemeClr val="lt1"/>
              </a:buClr>
              <a:buSzPts val="7200"/>
              <a:buNone/>
              <a:defRPr sz="7200">
                <a:solidFill>
                  <a:schemeClr val="lt1"/>
                </a:solidFill>
              </a:defRPr>
            </a:lvl6pPr>
            <a:lvl7pPr lvl="6" algn="l">
              <a:lnSpc>
                <a:spcPct val="100000"/>
              </a:lnSpc>
              <a:spcBef>
                <a:spcPts val="0"/>
              </a:spcBef>
              <a:spcAft>
                <a:spcPts val="0"/>
              </a:spcAft>
              <a:buClr>
                <a:schemeClr val="lt1"/>
              </a:buClr>
              <a:buSzPts val="7200"/>
              <a:buNone/>
              <a:defRPr sz="7200">
                <a:solidFill>
                  <a:schemeClr val="lt1"/>
                </a:solidFill>
              </a:defRPr>
            </a:lvl7pPr>
            <a:lvl8pPr lvl="7" algn="l">
              <a:lnSpc>
                <a:spcPct val="100000"/>
              </a:lnSpc>
              <a:spcBef>
                <a:spcPts val="0"/>
              </a:spcBef>
              <a:spcAft>
                <a:spcPts val="0"/>
              </a:spcAft>
              <a:buClr>
                <a:schemeClr val="lt1"/>
              </a:buClr>
              <a:buSzPts val="7200"/>
              <a:buNone/>
              <a:defRPr sz="7200">
                <a:solidFill>
                  <a:schemeClr val="lt1"/>
                </a:solidFill>
              </a:defRPr>
            </a:lvl8pPr>
            <a:lvl9pPr lvl="8" algn="l">
              <a:lnSpc>
                <a:spcPct val="100000"/>
              </a:lnSpc>
              <a:spcBef>
                <a:spcPts val="0"/>
              </a:spcBef>
              <a:spcAft>
                <a:spcPts val="0"/>
              </a:spcAft>
              <a:buClr>
                <a:schemeClr val="lt1"/>
              </a:buClr>
              <a:buSzPts val="7200"/>
              <a:buNone/>
              <a:defRPr sz="7200">
                <a:solidFill>
                  <a:schemeClr val="lt1"/>
                </a:solidFill>
              </a:defRPr>
            </a:lvl9pPr>
          </a:lstStyle>
          <a:p/>
        </p:txBody>
      </p:sp>
      <p:sp>
        <p:nvSpPr>
          <p:cNvPr id="126" name="Google Shape;126;g3f7282457ef_0_286"/>
          <p:cNvSpPr txBox="1"/>
          <p:nvPr>
            <p:ph idx="1" type="subTitle"/>
          </p:nvPr>
        </p:nvSpPr>
        <p:spPr>
          <a:xfrm>
            <a:off x="1648000" y="7192600"/>
            <a:ext cx="8511000" cy="13908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Clr>
                <a:schemeClr val="lt1"/>
              </a:buClr>
              <a:buSzPts val="3200"/>
              <a:buNone/>
              <a:defRPr sz="3200">
                <a:solidFill>
                  <a:schemeClr val="lt1"/>
                </a:solidFill>
              </a:defRPr>
            </a:lvl1pPr>
            <a:lvl2pPr lvl="1" algn="l">
              <a:lnSpc>
                <a:spcPct val="100000"/>
              </a:lnSpc>
              <a:spcBef>
                <a:spcPts val="0"/>
              </a:spcBef>
              <a:spcAft>
                <a:spcPts val="0"/>
              </a:spcAft>
              <a:buClr>
                <a:schemeClr val="lt1"/>
              </a:buClr>
              <a:buSzPts val="3200"/>
              <a:buNone/>
              <a:defRPr sz="3200">
                <a:solidFill>
                  <a:schemeClr val="lt1"/>
                </a:solidFill>
              </a:defRPr>
            </a:lvl2pPr>
            <a:lvl3pPr lvl="2" algn="l">
              <a:lnSpc>
                <a:spcPct val="100000"/>
              </a:lnSpc>
              <a:spcBef>
                <a:spcPts val="0"/>
              </a:spcBef>
              <a:spcAft>
                <a:spcPts val="0"/>
              </a:spcAft>
              <a:buClr>
                <a:schemeClr val="lt1"/>
              </a:buClr>
              <a:buSzPts val="3200"/>
              <a:buNone/>
              <a:defRPr sz="3200">
                <a:solidFill>
                  <a:schemeClr val="lt1"/>
                </a:solidFill>
              </a:defRPr>
            </a:lvl3pPr>
            <a:lvl4pPr lvl="3" algn="l">
              <a:lnSpc>
                <a:spcPct val="100000"/>
              </a:lnSpc>
              <a:spcBef>
                <a:spcPts val="0"/>
              </a:spcBef>
              <a:spcAft>
                <a:spcPts val="0"/>
              </a:spcAft>
              <a:buClr>
                <a:schemeClr val="lt1"/>
              </a:buClr>
              <a:buSzPts val="3200"/>
              <a:buNone/>
              <a:defRPr sz="3200">
                <a:solidFill>
                  <a:schemeClr val="lt1"/>
                </a:solidFill>
              </a:defRPr>
            </a:lvl4pPr>
            <a:lvl5pPr lvl="4" algn="l">
              <a:lnSpc>
                <a:spcPct val="100000"/>
              </a:lnSpc>
              <a:spcBef>
                <a:spcPts val="0"/>
              </a:spcBef>
              <a:spcAft>
                <a:spcPts val="0"/>
              </a:spcAft>
              <a:buClr>
                <a:schemeClr val="lt1"/>
              </a:buClr>
              <a:buSzPts val="3200"/>
              <a:buNone/>
              <a:defRPr sz="3200">
                <a:solidFill>
                  <a:schemeClr val="lt1"/>
                </a:solidFill>
              </a:defRPr>
            </a:lvl5pPr>
            <a:lvl6pPr lvl="5" algn="l">
              <a:lnSpc>
                <a:spcPct val="100000"/>
              </a:lnSpc>
              <a:spcBef>
                <a:spcPts val="0"/>
              </a:spcBef>
              <a:spcAft>
                <a:spcPts val="0"/>
              </a:spcAft>
              <a:buClr>
                <a:schemeClr val="lt1"/>
              </a:buClr>
              <a:buSzPts val="3200"/>
              <a:buNone/>
              <a:defRPr sz="3200">
                <a:solidFill>
                  <a:schemeClr val="lt1"/>
                </a:solidFill>
              </a:defRPr>
            </a:lvl6pPr>
            <a:lvl7pPr lvl="6" algn="l">
              <a:lnSpc>
                <a:spcPct val="100000"/>
              </a:lnSpc>
              <a:spcBef>
                <a:spcPts val="0"/>
              </a:spcBef>
              <a:spcAft>
                <a:spcPts val="0"/>
              </a:spcAft>
              <a:buClr>
                <a:schemeClr val="lt1"/>
              </a:buClr>
              <a:buSzPts val="3200"/>
              <a:buNone/>
              <a:defRPr sz="3200">
                <a:solidFill>
                  <a:schemeClr val="lt1"/>
                </a:solidFill>
              </a:defRPr>
            </a:lvl7pPr>
            <a:lvl8pPr lvl="7" algn="l">
              <a:lnSpc>
                <a:spcPct val="100000"/>
              </a:lnSpc>
              <a:spcBef>
                <a:spcPts val="0"/>
              </a:spcBef>
              <a:spcAft>
                <a:spcPts val="0"/>
              </a:spcAft>
              <a:buClr>
                <a:schemeClr val="lt1"/>
              </a:buClr>
              <a:buSzPts val="3200"/>
              <a:buNone/>
              <a:defRPr sz="3200">
                <a:solidFill>
                  <a:schemeClr val="lt1"/>
                </a:solidFill>
              </a:defRPr>
            </a:lvl8pPr>
            <a:lvl9pPr lvl="8" algn="l">
              <a:lnSpc>
                <a:spcPct val="100000"/>
              </a:lnSpc>
              <a:spcBef>
                <a:spcPts val="0"/>
              </a:spcBef>
              <a:spcAft>
                <a:spcPts val="0"/>
              </a:spcAft>
              <a:buClr>
                <a:schemeClr val="lt1"/>
              </a:buClr>
              <a:buSzPts val="3200"/>
              <a:buNone/>
              <a:defRPr sz="3200">
                <a:solidFill>
                  <a:schemeClr val="lt1"/>
                </a:solidFill>
              </a:defRPr>
            </a:lvl9pPr>
          </a:lstStyle>
          <a:p/>
        </p:txBody>
      </p:sp>
      <p:sp>
        <p:nvSpPr>
          <p:cNvPr id="127" name="Google Shape;127;g3f7282457ef_0_286"/>
          <p:cNvSpPr txBox="1"/>
          <p:nvPr>
            <p:ph idx="12" type="sldNum"/>
          </p:nvPr>
        </p:nvSpPr>
        <p:spPr>
          <a:xfrm>
            <a:off x="16902092" y="9473952"/>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8" name="Shape 128"/>
        <p:cNvGrpSpPr/>
        <p:nvPr/>
      </p:nvGrpSpPr>
      <p:grpSpPr>
        <a:xfrm>
          <a:off x="0" y="0"/>
          <a:ext cx="0" cy="0"/>
          <a:chOff x="0" y="0"/>
          <a:chExt cx="0" cy="0"/>
        </a:xfrm>
      </p:grpSpPr>
      <p:grpSp>
        <p:nvGrpSpPr>
          <p:cNvPr id="129" name="Google Shape;129;g3f7282457ef_0_326"/>
          <p:cNvGrpSpPr/>
          <p:nvPr/>
        </p:nvGrpSpPr>
        <p:grpSpPr>
          <a:xfrm>
            <a:off x="1251932" y="598752"/>
            <a:ext cx="1998624" cy="1998624"/>
            <a:chOff x="348199" y="179450"/>
            <a:chExt cx="1116300" cy="1116300"/>
          </a:xfrm>
        </p:grpSpPr>
        <p:sp>
          <p:nvSpPr>
            <p:cNvPr id="130" name="Google Shape;130;g3f7282457ef_0_326"/>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31" name="Google Shape;131;g3f7282457ef_0_326"/>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sp>
        <p:nvSpPr>
          <p:cNvPr id="132" name="Google Shape;132;g3f7282457ef_0_326"/>
          <p:cNvSpPr txBox="1"/>
          <p:nvPr>
            <p:ph type="title"/>
          </p:nvPr>
        </p:nvSpPr>
        <p:spPr>
          <a:xfrm>
            <a:off x="2607600" y="1197150"/>
            <a:ext cx="14061000" cy="19986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33" name="Google Shape;133;g3f7282457ef_0_326"/>
          <p:cNvSpPr txBox="1"/>
          <p:nvPr>
            <p:ph idx="1" type="body"/>
          </p:nvPr>
        </p:nvSpPr>
        <p:spPr>
          <a:xfrm>
            <a:off x="2607600" y="3980100"/>
            <a:ext cx="14061000" cy="5083200"/>
          </a:xfrm>
          <a:prstGeom prst="rect">
            <a:avLst/>
          </a:prstGeom>
          <a:noFill/>
          <a:ln>
            <a:noFill/>
          </a:ln>
        </p:spPr>
        <p:txBody>
          <a:bodyPr anchorCtr="0" anchor="t" bIns="182850" lIns="182850" spcFirstLastPara="1" rIns="182850" wrap="square" tIns="182850">
            <a:normAutofit/>
          </a:bodyPr>
          <a:lstStyle>
            <a:lvl1pPr indent="-393700" lvl="0" marL="457200" algn="l">
              <a:lnSpc>
                <a:spcPct val="115000"/>
              </a:lnSpc>
              <a:spcBef>
                <a:spcPts val="0"/>
              </a:spcBef>
              <a:spcAft>
                <a:spcPts val="0"/>
              </a:spcAft>
              <a:buSzPts val="26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134" name="Google Shape;134;g3f7282457ef_0_326"/>
          <p:cNvSpPr txBox="1"/>
          <p:nvPr>
            <p:ph idx="12" type="sldNum"/>
          </p:nvPr>
        </p:nvSpPr>
        <p:spPr>
          <a:xfrm>
            <a:off x="16902092" y="9473952"/>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35" name="Shape 135"/>
        <p:cNvGrpSpPr/>
        <p:nvPr/>
      </p:nvGrpSpPr>
      <p:grpSpPr>
        <a:xfrm>
          <a:off x="0" y="0"/>
          <a:ext cx="0" cy="0"/>
          <a:chOff x="0" y="0"/>
          <a:chExt cx="0" cy="0"/>
        </a:xfrm>
      </p:grpSpPr>
      <p:grpSp>
        <p:nvGrpSpPr>
          <p:cNvPr id="136" name="Google Shape;136;g3f7282457ef_0_333"/>
          <p:cNvGrpSpPr/>
          <p:nvPr/>
        </p:nvGrpSpPr>
        <p:grpSpPr>
          <a:xfrm>
            <a:off x="293538" y="6812"/>
            <a:ext cx="2466428" cy="2769070"/>
            <a:chOff x="146769" y="3406"/>
            <a:chExt cx="1233214" cy="1384535"/>
          </a:xfrm>
        </p:grpSpPr>
        <p:grpSp>
          <p:nvGrpSpPr>
            <p:cNvPr id="137" name="Google Shape;137;g3f7282457ef_0_333"/>
            <p:cNvGrpSpPr/>
            <p:nvPr/>
          </p:nvGrpSpPr>
          <p:grpSpPr>
            <a:xfrm>
              <a:off x="1063183" y="3406"/>
              <a:ext cx="316800" cy="688513"/>
              <a:chOff x="1063183" y="3406"/>
              <a:chExt cx="316800" cy="688513"/>
            </a:xfrm>
          </p:grpSpPr>
          <p:sp>
            <p:nvSpPr>
              <p:cNvPr id="138" name="Google Shape;138;g3f7282457ef_0_33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39" name="Google Shape;139;g3f7282457ef_0_33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140" name="Google Shape;140;g3f7282457ef_0_333"/>
            <p:cNvGrpSpPr/>
            <p:nvPr/>
          </p:nvGrpSpPr>
          <p:grpSpPr>
            <a:xfrm>
              <a:off x="604976" y="3406"/>
              <a:ext cx="316800" cy="1036524"/>
              <a:chOff x="604976" y="3406"/>
              <a:chExt cx="316800" cy="1036524"/>
            </a:xfrm>
          </p:grpSpPr>
          <p:sp>
            <p:nvSpPr>
              <p:cNvPr id="141" name="Google Shape;141;g3f7282457ef_0_33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42" name="Google Shape;142;g3f7282457ef_0_33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43" name="Google Shape;143;g3f7282457ef_0_33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144" name="Google Shape;144;g3f7282457ef_0_333"/>
            <p:cNvGrpSpPr/>
            <p:nvPr/>
          </p:nvGrpSpPr>
          <p:grpSpPr>
            <a:xfrm>
              <a:off x="146769" y="3406"/>
              <a:ext cx="316800" cy="1384535"/>
              <a:chOff x="146769" y="3406"/>
              <a:chExt cx="316800" cy="1384535"/>
            </a:xfrm>
          </p:grpSpPr>
          <p:sp>
            <p:nvSpPr>
              <p:cNvPr id="145" name="Google Shape;145;g3f7282457ef_0_33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46" name="Google Shape;146;g3f7282457ef_0_33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47" name="Google Shape;147;g3f7282457ef_0_33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48" name="Google Shape;148;g3f7282457ef_0_33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grpSp>
        <p:nvGrpSpPr>
          <p:cNvPr id="149" name="Google Shape;149;g3f7282457ef_0_333"/>
          <p:cNvGrpSpPr/>
          <p:nvPr/>
        </p:nvGrpSpPr>
        <p:grpSpPr>
          <a:xfrm>
            <a:off x="13550168" y="5808016"/>
            <a:ext cx="4372294" cy="4479000"/>
            <a:chOff x="6775084" y="2904008"/>
            <a:chExt cx="2186147" cy="2239500"/>
          </a:xfrm>
        </p:grpSpPr>
        <p:grpSp>
          <p:nvGrpSpPr>
            <p:cNvPr id="150" name="Google Shape;150;g3f7282457ef_0_333"/>
            <p:cNvGrpSpPr/>
            <p:nvPr/>
          </p:nvGrpSpPr>
          <p:grpSpPr>
            <a:xfrm>
              <a:off x="6775084" y="4253708"/>
              <a:ext cx="409500" cy="889800"/>
              <a:chOff x="6775084" y="4253708"/>
              <a:chExt cx="409500" cy="889800"/>
            </a:xfrm>
          </p:grpSpPr>
          <p:sp>
            <p:nvSpPr>
              <p:cNvPr id="151" name="Google Shape;151;g3f7282457ef_0_33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52" name="Google Shape;152;g3f7282457ef_0_33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153" name="Google Shape;153;g3f7282457ef_0_333"/>
            <p:cNvGrpSpPr/>
            <p:nvPr/>
          </p:nvGrpSpPr>
          <p:grpSpPr>
            <a:xfrm>
              <a:off x="7367299" y="3804008"/>
              <a:ext cx="409500" cy="1339500"/>
              <a:chOff x="7367299" y="3804008"/>
              <a:chExt cx="409500" cy="1339500"/>
            </a:xfrm>
          </p:grpSpPr>
          <p:sp>
            <p:nvSpPr>
              <p:cNvPr id="154" name="Google Shape;154;g3f7282457ef_0_33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55" name="Google Shape;155;g3f7282457ef_0_33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56" name="Google Shape;156;g3f7282457ef_0_33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157" name="Google Shape;157;g3f7282457ef_0_333"/>
            <p:cNvGrpSpPr/>
            <p:nvPr/>
          </p:nvGrpSpPr>
          <p:grpSpPr>
            <a:xfrm>
              <a:off x="7959516" y="3354008"/>
              <a:ext cx="409500" cy="1789500"/>
              <a:chOff x="7959516" y="3354008"/>
              <a:chExt cx="409500" cy="1789500"/>
            </a:xfrm>
          </p:grpSpPr>
          <p:sp>
            <p:nvSpPr>
              <p:cNvPr id="158" name="Google Shape;158;g3f7282457ef_0_33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59" name="Google Shape;159;g3f7282457ef_0_33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60" name="Google Shape;160;g3f7282457ef_0_33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61" name="Google Shape;161;g3f7282457ef_0_33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162" name="Google Shape;162;g3f7282457ef_0_333"/>
            <p:cNvGrpSpPr/>
            <p:nvPr/>
          </p:nvGrpSpPr>
          <p:grpSpPr>
            <a:xfrm>
              <a:off x="8551731" y="2904008"/>
              <a:ext cx="409500" cy="2239500"/>
              <a:chOff x="8551731" y="2904008"/>
              <a:chExt cx="409500" cy="2239500"/>
            </a:xfrm>
          </p:grpSpPr>
          <p:sp>
            <p:nvSpPr>
              <p:cNvPr id="163" name="Google Shape;163;g3f7282457ef_0_33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64" name="Google Shape;164;g3f7282457ef_0_33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65" name="Google Shape;165;g3f7282457ef_0_33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66" name="Google Shape;166;g3f7282457ef_0_33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67" name="Google Shape;167;g3f7282457ef_0_33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sp>
        <p:nvSpPr>
          <p:cNvPr id="168" name="Google Shape;168;g3f7282457ef_0_333"/>
          <p:cNvSpPr txBox="1"/>
          <p:nvPr>
            <p:ph type="title"/>
          </p:nvPr>
        </p:nvSpPr>
        <p:spPr>
          <a:xfrm>
            <a:off x="1648000" y="3227650"/>
            <a:ext cx="11715600" cy="3745800"/>
          </a:xfrm>
          <a:prstGeom prst="rect">
            <a:avLst/>
          </a:prstGeom>
          <a:noFill/>
          <a:ln>
            <a:noFill/>
          </a:ln>
        </p:spPr>
        <p:txBody>
          <a:bodyPr anchorCtr="0" anchor="ctr" bIns="182850" lIns="182850" spcFirstLastPara="1" rIns="182850" wrap="square" tIns="182850">
            <a:normAutofit/>
          </a:bodyPr>
          <a:lstStyle>
            <a:lvl1pPr lvl="0" algn="l">
              <a:lnSpc>
                <a:spcPct val="100000"/>
              </a:lnSpc>
              <a:spcBef>
                <a:spcPts val="0"/>
              </a:spcBef>
              <a:spcAft>
                <a:spcPts val="0"/>
              </a:spcAft>
              <a:buClr>
                <a:schemeClr val="lt1"/>
              </a:buClr>
              <a:buSzPts val="7200"/>
              <a:buNone/>
              <a:defRPr sz="7200">
                <a:solidFill>
                  <a:schemeClr val="lt1"/>
                </a:solidFill>
              </a:defRPr>
            </a:lvl1pPr>
            <a:lvl2pPr lvl="1" algn="l">
              <a:lnSpc>
                <a:spcPct val="100000"/>
              </a:lnSpc>
              <a:spcBef>
                <a:spcPts val="0"/>
              </a:spcBef>
              <a:spcAft>
                <a:spcPts val="0"/>
              </a:spcAft>
              <a:buClr>
                <a:schemeClr val="lt1"/>
              </a:buClr>
              <a:buSzPts val="7200"/>
              <a:buNone/>
              <a:defRPr sz="7200">
                <a:solidFill>
                  <a:schemeClr val="lt1"/>
                </a:solidFill>
              </a:defRPr>
            </a:lvl2pPr>
            <a:lvl3pPr lvl="2" algn="l">
              <a:lnSpc>
                <a:spcPct val="100000"/>
              </a:lnSpc>
              <a:spcBef>
                <a:spcPts val="0"/>
              </a:spcBef>
              <a:spcAft>
                <a:spcPts val="0"/>
              </a:spcAft>
              <a:buClr>
                <a:schemeClr val="lt1"/>
              </a:buClr>
              <a:buSzPts val="7200"/>
              <a:buNone/>
              <a:defRPr sz="7200">
                <a:solidFill>
                  <a:schemeClr val="lt1"/>
                </a:solidFill>
              </a:defRPr>
            </a:lvl3pPr>
            <a:lvl4pPr lvl="3" algn="l">
              <a:lnSpc>
                <a:spcPct val="100000"/>
              </a:lnSpc>
              <a:spcBef>
                <a:spcPts val="0"/>
              </a:spcBef>
              <a:spcAft>
                <a:spcPts val="0"/>
              </a:spcAft>
              <a:buClr>
                <a:schemeClr val="lt1"/>
              </a:buClr>
              <a:buSzPts val="7200"/>
              <a:buNone/>
              <a:defRPr sz="7200">
                <a:solidFill>
                  <a:schemeClr val="lt1"/>
                </a:solidFill>
              </a:defRPr>
            </a:lvl4pPr>
            <a:lvl5pPr lvl="4" algn="l">
              <a:lnSpc>
                <a:spcPct val="100000"/>
              </a:lnSpc>
              <a:spcBef>
                <a:spcPts val="0"/>
              </a:spcBef>
              <a:spcAft>
                <a:spcPts val="0"/>
              </a:spcAft>
              <a:buClr>
                <a:schemeClr val="lt1"/>
              </a:buClr>
              <a:buSzPts val="7200"/>
              <a:buNone/>
              <a:defRPr sz="7200">
                <a:solidFill>
                  <a:schemeClr val="lt1"/>
                </a:solidFill>
              </a:defRPr>
            </a:lvl5pPr>
            <a:lvl6pPr lvl="5" algn="l">
              <a:lnSpc>
                <a:spcPct val="100000"/>
              </a:lnSpc>
              <a:spcBef>
                <a:spcPts val="0"/>
              </a:spcBef>
              <a:spcAft>
                <a:spcPts val="0"/>
              </a:spcAft>
              <a:buClr>
                <a:schemeClr val="lt1"/>
              </a:buClr>
              <a:buSzPts val="7200"/>
              <a:buNone/>
              <a:defRPr sz="7200">
                <a:solidFill>
                  <a:schemeClr val="lt1"/>
                </a:solidFill>
              </a:defRPr>
            </a:lvl6pPr>
            <a:lvl7pPr lvl="6" algn="l">
              <a:lnSpc>
                <a:spcPct val="100000"/>
              </a:lnSpc>
              <a:spcBef>
                <a:spcPts val="0"/>
              </a:spcBef>
              <a:spcAft>
                <a:spcPts val="0"/>
              </a:spcAft>
              <a:buClr>
                <a:schemeClr val="lt1"/>
              </a:buClr>
              <a:buSzPts val="7200"/>
              <a:buNone/>
              <a:defRPr sz="7200">
                <a:solidFill>
                  <a:schemeClr val="lt1"/>
                </a:solidFill>
              </a:defRPr>
            </a:lvl7pPr>
            <a:lvl8pPr lvl="7" algn="l">
              <a:lnSpc>
                <a:spcPct val="100000"/>
              </a:lnSpc>
              <a:spcBef>
                <a:spcPts val="0"/>
              </a:spcBef>
              <a:spcAft>
                <a:spcPts val="0"/>
              </a:spcAft>
              <a:buClr>
                <a:schemeClr val="lt1"/>
              </a:buClr>
              <a:buSzPts val="7200"/>
              <a:buNone/>
              <a:defRPr sz="7200">
                <a:solidFill>
                  <a:schemeClr val="lt1"/>
                </a:solidFill>
              </a:defRPr>
            </a:lvl8pPr>
            <a:lvl9pPr lvl="8" algn="l">
              <a:lnSpc>
                <a:spcPct val="100000"/>
              </a:lnSpc>
              <a:spcBef>
                <a:spcPts val="0"/>
              </a:spcBef>
              <a:spcAft>
                <a:spcPts val="0"/>
              </a:spcAft>
              <a:buClr>
                <a:schemeClr val="lt1"/>
              </a:buClr>
              <a:buSzPts val="7200"/>
              <a:buNone/>
              <a:defRPr sz="7200">
                <a:solidFill>
                  <a:schemeClr val="lt1"/>
                </a:solidFill>
              </a:defRPr>
            </a:lvl9pPr>
          </a:lstStyle>
          <a:p/>
        </p:txBody>
      </p:sp>
      <p:sp>
        <p:nvSpPr>
          <p:cNvPr id="169" name="Google Shape;169;g3f7282457ef_0_333"/>
          <p:cNvSpPr txBox="1"/>
          <p:nvPr>
            <p:ph idx="12" type="sldNum"/>
          </p:nvPr>
        </p:nvSpPr>
        <p:spPr>
          <a:xfrm>
            <a:off x="16902092" y="9473952"/>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0" name="Shape 170"/>
        <p:cNvGrpSpPr/>
        <p:nvPr/>
      </p:nvGrpSpPr>
      <p:grpSpPr>
        <a:xfrm>
          <a:off x="0" y="0"/>
          <a:ext cx="0" cy="0"/>
          <a:chOff x="0" y="0"/>
          <a:chExt cx="0" cy="0"/>
        </a:xfrm>
      </p:grpSpPr>
      <p:grpSp>
        <p:nvGrpSpPr>
          <p:cNvPr id="171" name="Google Shape;171;g3f7282457ef_0_368"/>
          <p:cNvGrpSpPr/>
          <p:nvPr/>
        </p:nvGrpSpPr>
        <p:grpSpPr>
          <a:xfrm>
            <a:off x="1251932" y="598752"/>
            <a:ext cx="1998624" cy="1998624"/>
            <a:chOff x="348199" y="179450"/>
            <a:chExt cx="1116300" cy="1116300"/>
          </a:xfrm>
        </p:grpSpPr>
        <p:sp>
          <p:nvSpPr>
            <p:cNvPr id="172" name="Google Shape;172;g3f7282457ef_0_368"/>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73" name="Google Shape;173;g3f7282457ef_0_368"/>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sp>
        <p:nvSpPr>
          <p:cNvPr id="174" name="Google Shape;174;g3f7282457ef_0_368"/>
          <p:cNvSpPr txBox="1"/>
          <p:nvPr>
            <p:ph type="title"/>
          </p:nvPr>
        </p:nvSpPr>
        <p:spPr>
          <a:xfrm>
            <a:off x="2607600" y="1197150"/>
            <a:ext cx="14061000" cy="19986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75" name="Google Shape;175;g3f7282457ef_0_368"/>
          <p:cNvSpPr txBox="1"/>
          <p:nvPr>
            <p:ph idx="1" type="body"/>
          </p:nvPr>
        </p:nvSpPr>
        <p:spPr>
          <a:xfrm>
            <a:off x="2607600" y="3980100"/>
            <a:ext cx="6861000" cy="5083200"/>
          </a:xfrm>
          <a:prstGeom prst="rect">
            <a:avLst/>
          </a:prstGeom>
          <a:noFill/>
          <a:ln>
            <a:noFill/>
          </a:ln>
        </p:spPr>
        <p:txBody>
          <a:bodyPr anchorCtr="0" anchor="t" bIns="182850" lIns="182850" spcFirstLastPara="1" rIns="182850" wrap="square" tIns="182850">
            <a:normAutofit/>
          </a:bodyPr>
          <a:lstStyle>
            <a:lvl1pPr indent="-393700" lvl="0" marL="457200" algn="l">
              <a:lnSpc>
                <a:spcPct val="115000"/>
              </a:lnSpc>
              <a:spcBef>
                <a:spcPts val="0"/>
              </a:spcBef>
              <a:spcAft>
                <a:spcPts val="0"/>
              </a:spcAft>
              <a:buSzPts val="26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176" name="Google Shape;176;g3f7282457ef_0_368"/>
          <p:cNvSpPr txBox="1"/>
          <p:nvPr>
            <p:ph idx="2" type="body"/>
          </p:nvPr>
        </p:nvSpPr>
        <p:spPr>
          <a:xfrm>
            <a:off x="9807300" y="3980100"/>
            <a:ext cx="6861000" cy="5083200"/>
          </a:xfrm>
          <a:prstGeom prst="rect">
            <a:avLst/>
          </a:prstGeom>
          <a:noFill/>
          <a:ln>
            <a:noFill/>
          </a:ln>
        </p:spPr>
        <p:txBody>
          <a:bodyPr anchorCtr="0" anchor="t" bIns="182850" lIns="182850" spcFirstLastPara="1" rIns="182850" wrap="square" tIns="182850">
            <a:normAutofit/>
          </a:bodyPr>
          <a:lstStyle>
            <a:lvl1pPr indent="-393700" lvl="0" marL="457200" algn="l">
              <a:lnSpc>
                <a:spcPct val="115000"/>
              </a:lnSpc>
              <a:spcBef>
                <a:spcPts val="0"/>
              </a:spcBef>
              <a:spcAft>
                <a:spcPts val="0"/>
              </a:spcAft>
              <a:buSzPts val="26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177" name="Google Shape;177;g3f7282457ef_0_368"/>
          <p:cNvSpPr txBox="1"/>
          <p:nvPr>
            <p:ph idx="12" type="sldNum"/>
          </p:nvPr>
        </p:nvSpPr>
        <p:spPr>
          <a:xfrm>
            <a:off x="16902092" y="9473952"/>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8" name="Shape 178"/>
        <p:cNvGrpSpPr/>
        <p:nvPr/>
      </p:nvGrpSpPr>
      <p:grpSpPr>
        <a:xfrm>
          <a:off x="0" y="0"/>
          <a:ext cx="0" cy="0"/>
          <a:chOff x="0" y="0"/>
          <a:chExt cx="0" cy="0"/>
        </a:xfrm>
      </p:grpSpPr>
      <p:grpSp>
        <p:nvGrpSpPr>
          <p:cNvPr id="179" name="Google Shape;179;g3f7282457ef_0_376"/>
          <p:cNvGrpSpPr/>
          <p:nvPr/>
        </p:nvGrpSpPr>
        <p:grpSpPr>
          <a:xfrm>
            <a:off x="1251932" y="598752"/>
            <a:ext cx="1998624" cy="1998624"/>
            <a:chOff x="348199" y="179450"/>
            <a:chExt cx="1116300" cy="1116300"/>
          </a:xfrm>
        </p:grpSpPr>
        <p:sp>
          <p:nvSpPr>
            <p:cNvPr id="180" name="Google Shape;180;g3f7282457ef_0_376"/>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81" name="Google Shape;181;g3f7282457ef_0_376"/>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sp>
        <p:nvSpPr>
          <p:cNvPr id="182" name="Google Shape;182;g3f7282457ef_0_376"/>
          <p:cNvSpPr txBox="1"/>
          <p:nvPr>
            <p:ph type="title"/>
          </p:nvPr>
        </p:nvSpPr>
        <p:spPr>
          <a:xfrm>
            <a:off x="2607600" y="1197150"/>
            <a:ext cx="14061000" cy="19986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83" name="Google Shape;183;g3f7282457ef_0_376"/>
          <p:cNvSpPr txBox="1"/>
          <p:nvPr>
            <p:ph idx="12" type="sldNum"/>
          </p:nvPr>
        </p:nvSpPr>
        <p:spPr>
          <a:xfrm>
            <a:off x="16902092" y="9473952"/>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84" name="Shape 184"/>
        <p:cNvGrpSpPr/>
        <p:nvPr/>
      </p:nvGrpSpPr>
      <p:grpSpPr>
        <a:xfrm>
          <a:off x="0" y="0"/>
          <a:ext cx="0" cy="0"/>
          <a:chOff x="0" y="0"/>
          <a:chExt cx="0" cy="0"/>
        </a:xfrm>
      </p:grpSpPr>
      <p:grpSp>
        <p:nvGrpSpPr>
          <p:cNvPr id="185" name="Google Shape;185;g3f7282457ef_0_382"/>
          <p:cNvGrpSpPr/>
          <p:nvPr/>
        </p:nvGrpSpPr>
        <p:grpSpPr>
          <a:xfrm>
            <a:off x="1251932" y="598752"/>
            <a:ext cx="1998624" cy="1998624"/>
            <a:chOff x="348199" y="179450"/>
            <a:chExt cx="1116300" cy="1116300"/>
          </a:xfrm>
        </p:grpSpPr>
        <p:sp>
          <p:nvSpPr>
            <p:cNvPr id="186" name="Google Shape;186;g3f7282457ef_0_382"/>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87" name="Google Shape;187;g3f7282457ef_0_382"/>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sp>
        <p:nvSpPr>
          <p:cNvPr id="188" name="Google Shape;188;g3f7282457ef_0_382"/>
          <p:cNvSpPr txBox="1"/>
          <p:nvPr>
            <p:ph type="title"/>
          </p:nvPr>
        </p:nvSpPr>
        <p:spPr>
          <a:xfrm>
            <a:off x="2607600" y="1197150"/>
            <a:ext cx="6624000" cy="31800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89" name="Google Shape;189;g3f7282457ef_0_382"/>
          <p:cNvSpPr txBox="1"/>
          <p:nvPr>
            <p:ph idx="1" type="body"/>
          </p:nvPr>
        </p:nvSpPr>
        <p:spPr>
          <a:xfrm>
            <a:off x="2607600" y="4619350"/>
            <a:ext cx="6624000" cy="4443600"/>
          </a:xfrm>
          <a:prstGeom prst="rect">
            <a:avLst/>
          </a:prstGeom>
          <a:noFill/>
          <a:ln>
            <a:noFill/>
          </a:ln>
        </p:spPr>
        <p:txBody>
          <a:bodyPr anchorCtr="0" anchor="t" bIns="182850" lIns="182850" spcFirstLastPara="1" rIns="182850" wrap="square" tIns="182850">
            <a:normAutofit/>
          </a:bodyPr>
          <a:lstStyle>
            <a:lvl1pPr indent="-393700" lvl="0" marL="457200" algn="l">
              <a:lnSpc>
                <a:spcPct val="115000"/>
              </a:lnSpc>
              <a:spcBef>
                <a:spcPts val="0"/>
              </a:spcBef>
              <a:spcAft>
                <a:spcPts val="0"/>
              </a:spcAft>
              <a:buSzPts val="26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190" name="Google Shape;190;g3f7282457ef_0_382"/>
          <p:cNvSpPr txBox="1"/>
          <p:nvPr>
            <p:ph idx="12" type="sldNum"/>
          </p:nvPr>
        </p:nvSpPr>
        <p:spPr>
          <a:xfrm>
            <a:off x="16902092" y="9473952"/>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91" name="Shape 191"/>
        <p:cNvGrpSpPr/>
        <p:nvPr/>
      </p:nvGrpSpPr>
      <p:grpSpPr>
        <a:xfrm>
          <a:off x="0" y="0"/>
          <a:ext cx="0" cy="0"/>
          <a:chOff x="0" y="0"/>
          <a:chExt cx="0" cy="0"/>
        </a:xfrm>
      </p:grpSpPr>
      <p:grpSp>
        <p:nvGrpSpPr>
          <p:cNvPr id="192" name="Google Shape;192;g3f7282457ef_0_389"/>
          <p:cNvGrpSpPr/>
          <p:nvPr/>
        </p:nvGrpSpPr>
        <p:grpSpPr>
          <a:xfrm>
            <a:off x="13733428" y="2717"/>
            <a:ext cx="4535043" cy="5203276"/>
            <a:chOff x="6790514" y="1359"/>
            <a:chExt cx="2267522" cy="2601638"/>
          </a:xfrm>
        </p:grpSpPr>
        <p:grpSp>
          <p:nvGrpSpPr>
            <p:cNvPr id="193" name="Google Shape;193;g3f7282457ef_0_389"/>
            <p:cNvGrpSpPr/>
            <p:nvPr/>
          </p:nvGrpSpPr>
          <p:grpSpPr>
            <a:xfrm>
              <a:off x="7067536" y="1359"/>
              <a:ext cx="1990500" cy="1990200"/>
              <a:chOff x="7067536" y="1359"/>
              <a:chExt cx="1990500" cy="1990200"/>
            </a:xfrm>
          </p:grpSpPr>
          <p:sp>
            <p:nvSpPr>
              <p:cNvPr id="194" name="Google Shape;194;g3f7282457ef_0_389"/>
              <p:cNvSpPr/>
              <p:nvPr/>
            </p:nvSpPr>
            <p:spPr>
              <a:xfrm rot="-8648551">
                <a:off x="7594313" y="527721"/>
                <a:ext cx="937226" cy="937226"/>
              </a:xfrm>
              <a:prstGeom prst="ellipse">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95" name="Google Shape;195;g3f7282457ef_0_389"/>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96" name="Google Shape;196;g3f7282457ef_0_389"/>
              <p:cNvSpPr/>
              <p:nvPr/>
            </p:nvSpPr>
            <p:spPr>
              <a:xfrm rot="-8649154">
                <a:off x="7349962" y="283757"/>
                <a:ext cx="1425647" cy="1425404"/>
              </a:xfrm>
              <a:prstGeom prst="ellipse">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197" name="Google Shape;197;g3f7282457ef_0_389"/>
            <p:cNvGrpSpPr/>
            <p:nvPr/>
          </p:nvGrpSpPr>
          <p:grpSpPr>
            <a:xfrm>
              <a:off x="8207126" y="1807997"/>
              <a:ext cx="795000" cy="795000"/>
              <a:chOff x="8207126" y="1807997"/>
              <a:chExt cx="795000" cy="795000"/>
            </a:xfrm>
          </p:grpSpPr>
          <p:sp>
            <p:nvSpPr>
              <p:cNvPr id="198" name="Google Shape;198;g3f7282457ef_0_389"/>
              <p:cNvSpPr/>
              <p:nvPr/>
            </p:nvSpPr>
            <p:spPr>
              <a:xfrm rot="2152054">
                <a:off x="8319942" y="1920813"/>
                <a:ext cx="569367" cy="569367"/>
              </a:xfrm>
              <a:prstGeom prst="ellipse">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99" name="Google Shape;199;g3f7282457ef_0_389"/>
              <p:cNvSpPr/>
              <p:nvPr/>
            </p:nvSpPr>
            <p:spPr>
              <a:xfrm rot="2150259">
                <a:off x="8408218" y="2008610"/>
                <a:ext cx="393004" cy="393004"/>
              </a:xfrm>
              <a:prstGeom prst="ellipse">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00" name="Google Shape;200;g3f7282457ef_0_389"/>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201" name="Google Shape;201;g3f7282457ef_0_389"/>
            <p:cNvGrpSpPr/>
            <p:nvPr/>
          </p:nvGrpSpPr>
          <p:grpSpPr>
            <a:xfrm>
              <a:off x="6790514" y="118857"/>
              <a:ext cx="548700" cy="548700"/>
              <a:chOff x="6790514" y="118857"/>
              <a:chExt cx="548700" cy="548700"/>
            </a:xfrm>
          </p:grpSpPr>
          <p:sp>
            <p:nvSpPr>
              <p:cNvPr id="202" name="Google Shape;202;g3f7282457ef_0_389"/>
              <p:cNvSpPr/>
              <p:nvPr/>
            </p:nvSpPr>
            <p:spPr>
              <a:xfrm rot="2150259">
                <a:off x="6868362" y="196705"/>
                <a:ext cx="393004" cy="393004"/>
              </a:xfrm>
              <a:prstGeom prst="ellipse">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03" name="Google Shape;203;g3f7282457ef_0_389"/>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sp>
        <p:nvSpPr>
          <p:cNvPr id="204" name="Google Shape;204;g3f7282457ef_0_389"/>
          <p:cNvSpPr txBox="1"/>
          <p:nvPr>
            <p:ph type="title"/>
          </p:nvPr>
        </p:nvSpPr>
        <p:spPr>
          <a:xfrm>
            <a:off x="1648000" y="1527200"/>
            <a:ext cx="11715600" cy="7146600"/>
          </a:xfrm>
          <a:prstGeom prst="rect">
            <a:avLst/>
          </a:prstGeom>
          <a:noFill/>
          <a:ln>
            <a:noFill/>
          </a:ln>
        </p:spPr>
        <p:txBody>
          <a:bodyPr anchorCtr="0" anchor="ctr" bIns="182850" lIns="182850" spcFirstLastPara="1" rIns="182850" wrap="square" tIns="182850">
            <a:normAutofit/>
          </a:bodyPr>
          <a:lstStyle>
            <a:lvl1pPr lvl="0" algn="l">
              <a:lnSpc>
                <a:spcPct val="100000"/>
              </a:lnSpc>
              <a:spcBef>
                <a:spcPts val="0"/>
              </a:spcBef>
              <a:spcAft>
                <a:spcPts val="0"/>
              </a:spcAft>
              <a:buClr>
                <a:schemeClr val="lt1"/>
              </a:buClr>
              <a:buSzPts val="7200"/>
              <a:buNone/>
              <a:defRPr sz="7200">
                <a:solidFill>
                  <a:schemeClr val="lt1"/>
                </a:solidFill>
              </a:defRPr>
            </a:lvl1pPr>
            <a:lvl2pPr lvl="1" algn="l">
              <a:lnSpc>
                <a:spcPct val="100000"/>
              </a:lnSpc>
              <a:spcBef>
                <a:spcPts val="0"/>
              </a:spcBef>
              <a:spcAft>
                <a:spcPts val="0"/>
              </a:spcAft>
              <a:buClr>
                <a:schemeClr val="lt1"/>
              </a:buClr>
              <a:buSzPts val="7200"/>
              <a:buNone/>
              <a:defRPr sz="7200">
                <a:solidFill>
                  <a:schemeClr val="lt1"/>
                </a:solidFill>
              </a:defRPr>
            </a:lvl2pPr>
            <a:lvl3pPr lvl="2" algn="l">
              <a:lnSpc>
                <a:spcPct val="100000"/>
              </a:lnSpc>
              <a:spcBef>
                <a:spcPts val="0"/>
              </a:spcBef>
              <a:spcAft>
                <a:spcPts val="0"/>
              </a:spcAft>
              <a:buClr>
                <a:schemeClr val="lt1"/>
              </a:buClr>
              <a:buSzPts val="7200"/>
              <a:buNone/>
              <a:defRPr sz="7200">
                <a:solidFill>
                  <a:schemeClr val="lt1"/>
                </a:solidFill>
              </a:defRPr>
            </a:lvl3pPr>
            <a:lvl4pPr lvl="3" algn="l">
              <a:lnSpc>
                <a:spcPct val="100000"/>
              </a:lnSpc>
              <a:spcBef>
                <a:spcPts val="0"/>
              </a:spcBef>
              <a:spcAft>
                <a:spcPts val="0"/>
              </a:spcAft>
              <a:buClr>
                <a:schemeClr val="lt1"/>
              </a:buClr>
              <a:buSzPts val="7200"/>
              <a:buNone/>
              <a:defRPr sz="7200">
                <a:solidFill>
                  <a:schemeClr val="lt1"/>
                </a:solidFill>
              </a:defRPr>
            </a:lvl4pPr>
            <a:lvl5pPr lvl="4" algn="l">
              <a:lnSpc>
                <a:spcPct val="100000"/>
              </a:lnSpc>
              <a:spcBef>
                <a:spcPts val="0"/>
              </a:spcBef>
              <a:spcAft>
                <a:spcPts val="0"/>
              </a:spcAft>
              <a:buClr>
                <a:schemeClr val="lt1"/>
              </a:buClr>
              <a:buSzPts val="7200"/>
              <a:buNone/>
              <a:defRPr sz="7200">
                <a:solidFill>
                  <a:schemeClr val="lt1"/>
                </a:solidFill>
              </a:defRPr>
            </a:lvl5pPr>
            <a:lvl6pPr lvl="5" algn="l">
              <a:lnSpc>
                <a:spcPct val="100000"/>
              </a:lnSpc>
              <a:spcBef>
                <a:spcPts val="0"/>
              </a:spcBef>
              <a:spcAft>
                <a:spcPts val="0"/>
              </a:spcAft>
              <a:buClr>
                <a:schemeClr val="lt1"/>
              </a:buClr>
              <a:buSzPts val="7200"/>
              <a:buNone/>
              <a:defRPr sz="7200">
                <a:solidFill>
                  <a:schemeClr val="lt1"/>
                </a:solidFill>
              </a:defRPr>
            </a:lvl6pPr>
            <a:lvl7pPr lvl="6" algn="l">
              <a:lnSpc>
                <a:spcPct val="100000"/>
              </a:lnSpc>
              <a:spcBef>
                <a:spcPts val="0"/>
              </a:spcBef>
              <a:spcAft>
                <a:spcPts val="0"/>
              </a:spcAft>
              <a:buClr>
                <a:schemeClr val="lt1"/>
              </a:buClr>
              <a:buSzPts val="7200"/>
              <a:buNone/>
              <a:defRPr sz="7200">
                <a:solidFill>
                  <a:schemeClr val="lt1"/>
                </a:solidFill>
              </a:defRPr>
            </a:lvl7pPr>
            <a:lvl8pPr lvl="7" algn="l">
              <a:lnSpc>
                <a:spcPct val="100000"/>
              </a:lnSpc>
              <a:spcBef>
                <a:spcPts val="0"/>
              </a:spcBef>
              <a:spcAft>
                <a:spcPts val="0"/>
              </a:spcAft>
              <a:buClr>
                <a:schemeClr val="lt1"/>
              </a:buClr>
              <a:buSzPts val="7200"/>
              <a:buNone/>
              <a:defRPr sz="7200">
                <a:solidFill>
                  <a:schemeClr val="lt1"/>
                </a:solidFill>
              </a:defRPr>
            </a:lvl8pPr>
            <a:lvl9pPr lvl="8" algn="l">
              <a:lnSpc>
                <a:spcPct val="100000"/>
              </a:lnSpc>
              <a:spcBef>
                <a:spcPts val="0"/>
              </a:spcBef>
              <a:spcAft>
                <a:spcPts val="0"/>
              </a:spcAft>
              <a:buClr>
                <a:schemeClr val="lt1"/>
              </a:buClr>
              <a:buSzPts val="7200"/>
              <a:buNone/>
              <a:defRPr sz="7200">
                <a:solidFill>
                  <a:schemeClr val="lt1"/>
                </a:solidFill>
              </a:defRPr>
            </a:lvl9pPr>
          </a:lstStyle>
          <a:p/>
        </p:txBody>
      </p:sp>
      <p:sp>
        <p:nvSpPr>
          <p:cNvPr id="205" name="Google Shape;205;g3f7282457ef_0_389"/>
          <p:cNvSpPr txBox="1"/>
          <p:nvPr>
            <p:ph idx="12" type="sldNum"/>
          </p:nvPr>
        </p:nvSpPr>
        <p:spPr>
          <a:xfrm>
            <a:off x="16902092" y="9473952"/>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06" name="Shape 206"/>
        <p:cNvGrpSpPr/>
        <p:nvPr/>
      </p:nvGrpSpPr>
      <p:grpSpPr>
        <a:xfrm>
          <a:off x="0" y="0"/>
          <a:ext cx="0" cy="0"/>
          <a:chOff x="0" y="0"/>
          <a:chExt cx="0" cy="0"/>
        </a:xfrm>
      </p:grpSpPr>
      <p:grpSp>
        <p:nvGrpSpPr>
          <p:cNvPr id="207" name="Google Shape;207;g3f7282457ef_0_404"/>
          <p:cNvGrpSpPr/>
          <p:nvPr/>
        </p:nvGrpSpPr>
        <p:grpSpPr>
          <a:xfrm>
            <a:off x="1251932" y="598752"/>
            <a:ext cx="1998624" cy="1998624"/>
            <a:chOff x="348199" y="179450"/>
            <a:chExt cx="1116300" cy="1116300"/>
          </a:xfrm>
        </p:grpSpPr>
        <p:sp>
          <p:nvSpPr>
            <p:cNvPr id="208" name="Google Shape;208;g3f7282457ef_0_404"/>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09" name="Google Shape;209;g3f7282457ef_0_404"/>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sp>
        <p:nvSpPr>
          <p:cNvPr id="210" name="Google Shape;210;g3f7282457ef_0_404"/>
          <p:cNvSpPr txBox="1"/>
          <p:nvPr>
            <p:ph type="title"/>
          </p:nvPr>
        </p:nvSpPr>
        <p:spPr>
          <a:xfrm>
            <a:off x="2607600" y="1197150"/>
            <a:ext cx="6861000" cy="3980400"/>
          </a:xfrm>
          <a:prstGeom prst="rect">
            <a:avLst/>
          </a:prstGeom>
          <a:noFill/>
          <a:ln cap="flat" cmpd="sng" w="19050">
            <a:solidFill>
              <a:schemeClr val="lt1"/>
            </a:solidFill>
            <a:prstDash val="solid"/>
            <a:round/>
            <a:headEnd len="sm" w="sm" type="none"/>
            <a:tailEnd len="sm" w="sm" type="none"/>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211" name="Google Shape;211;g3f7282457ef_0_404"/>
          <p:cNvSpPr txBox="1"/>
          <p:nvPr>
            <p:ph idx="1" type="subTitle"/>
          </p:nvPr>
        </p:nvSpPr>
        <p:spPr>
          <a:xfrm>
            <a:off x="2607600" y="5486406"/>
            <a:ext cx="6861000" cy="1452000"/>
          </a:xfrm>
          <a:prstGeom prst="rect">
            <a:avLst/>
          </a:prstGeom>
          <a:noFill/>
          <a:ln cap="flat" cmpd="sng" w="19050">
            <a:solidFill>
              <a:schemeClr val="lt1"/>
            </a:solidFill>
            <a:prstDash val="solid"/>
            <a:round/>
            <a:headEnd len="sm" w="sm" type="none"/>
            <a:tailEnd len="sm" w="sm" type="none"/>
          </a:ln>
        </p:spPr>
        <p:txBody>
          <a:bodyPr anchorCtr="0" anchor="t" bIns="182850" lIns="182850" spcFirstLastPara="1" rIns="182850" wrap="square" tIns="182850">
            <a:norm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212" name="Google Shape;212;g3f7282457ef_0_404"/>
          <p:cNvSpPr txBox="1"/>
          <p:nvPr>
            <p:ph idx="2" type="body"/>
          </p:nvPr>
        </p:nvSpPr>
        <p:spPr>
          <a:xfrm>
            <a:off x="9807400" y="1322000"/>
            <a:ext cx="6861000" cy="7741200"/>
          </a:xfrm>
          <a:prstGeom prst="rect">
            <a:avLst/>
          </a:prstGeom>
          <a:noFill/>
          <a:ln cap="flat" cmpd="sng" w="19050">
            <a:solidFill>
              <a:schemeClr val="lt1"/>
            </a:solidFill>
            <a:prstDash val="solid"/>
            <a:round/>
            <a:headEnd len="sm" w="sm" type="none"/>
            <a:tailEnd len="sm" w="sm" type="none"/>
          </a:ln>
        </p:spPr>
        <p:txBody>
          <a:bodyPr anchorCtr="0" anchor="t" bIns="182850" lIns="182850" spcFirstLastPara="1" rIns="182850" wrap="square" tIns="182850">
            <a:normAutofit/>
          </a:bodyPr>
          <a:lstStyle>
            <a:lvl1pPr indent="-393700" lvl="0" marL="457200" algn="l">
              <a:lnSpc>
                <a:spcPct val="115000"/>
              </a:lnSpc>
              <a:spcBef>
                <a:spcPts val="0"/>
              </a:spcBef>
              <a:spcAft>
                <a:spcPts val="0"/>
              </a:spcAft>
              <a:buSzPts val="26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213" name="Google Shape;213;g3f7282457ef_0_404"/>
          <p:cNvSpPr txBox="1"/>
          <p:nvPr>
            <p:ph idx="12" type="sldNum"/>
          </p:nvPr>
        </p:nvSpPr>
        <p:spPr>
          <a:xfrm>
            <a:off x="16902092" y="9473952"/>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14" name="Shape 214"/>
        <p:cNvGrpSpPr/>
        <p:nvPr/>
      </p:nvGrpSpPr>
      <p:grpSpPr>
        <a:xfrm>
          <a:off x="0" y="0"/>
          <a:ext cx="0" cy="0"/>
          <a:chOff x="0" y="0"/>
          <a:chExt cx="0" cy="0"/>
        </a:xfrm>
      </p:grpSpPr>
      <p:grpSp>
        <p:nvGrpSpPr>
          <p:cNvPr id="215" name="Google Shape;215;g3f7282457ef_0_412"/>
          <p:cNvGrpSpPr/>
          <p:nvPr/>
        </p:nvGrpSpPr>
        <p:grpSpPr>
          <a:xfrm>
            <a:off x="1426746" y="7694238"/>
            <a:ext cx="1650784" cy="1650784"/>
            <a:chOff x="348199" y="179450"/>
            <a:chExt cx="1116300" cy="1116300"/>
          </a:xfrm>
        </p:grpSpPr>
        <p:sp>
          <p:nvSpPr>
            <p:cNvPr id="216" name="Google Shape;216;g3f7282457ef_0_412"/>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17" name="Google Shape;217;g3f7282457ef_0_412"/>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sp>
        <p:nvSpPr>
          <p:cNvPr id="218" name="Google Shape;218;g3f7282457ef_0_412"/>
          <p:cNvSpPr txBox="1"/>
          <p:nvPr>
            <p:ph idx="1" type="body"/>
          </p:nvPr>
        </p:nvSpPr>
        <p:spPr>
          <a:xfrm>
            <a:off x="2607600" y="8277950"/>
            <a:ext cx="11686200" cy="1069800"/>
          </a:xfrm>
          <a:prstGeom prst="rect">
            <a:avLst/>
          </a:prstGeom>
          <a:noFill/>
          <a:ln>
            <a:noFill/>
          </a:ln>
        </p:spPr>
        <p:txBody>
          <a:bodyPr anchorCtr="0" anchor="t" bIns="182850" lIns="182850" spcFirstLastPara="1" rIns="182850" wrap="square" tIns="182850">
            <a:normAutofit/>
          </a:bodyPr>
          <a:lstStyle>
            <a:lvl1pPr indent="-228600" lvl="0" marL="457200" algn="l">
              <a:lnSpc>
                <a:spcPct val="100000"/>
              </a:lnSpc>
              <a:spcBef>
                <a:spcPts val="0"/>
              </a:spcBef>
              <a:spcAft>
                <a:spcPts val="0"/>
              </a:spcAft>
              <a:buSzPts val="2600"/>
              <a:buNone/>
              <a:defRPr/>
            </a:lvl1pPr>
          </a:lstStyle>
          <a:p/>
        </p:txBody>
      </p:sp>
      <p:sp>
        <p:nvSpPr>
          <p:cNvPr id="219" name="Google Shape;219;g3f7282457ef_0_412"/>
          <p:cNvSpPr txBox="1"/>
          <p:nvPr>
            <p:ph idx="12" type="sldNum"/>
          </p:nvPr>
        </p:nvSpPr>
        <p:spPr>
          <a:xfrm>
            <a:off x="16902092" y="9473952"/>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220" name="Shape 220"/>
        <p:cNvGrpSpPr/>
        <p:nvPr/>
      </p:nvGrpSpPr>
      <p:grpSpPr>
        <a:xfrm>
          <a:off x="0" y="0"/>
          <a:ext cx="0" cy="0"/>
          <a:chOff x="0" y="0"/>
          <a:chExt cx="0" cy="0"/>
        </a:xfrm>
      </p:grpSpPr>
      <p:grpSp>
        <p:nvGrpSpPr>
          <p:cNvPr id="221" name="Google Shape;221;g3f7282457ef_0_418"/>
          <p:cNvGrpSpPr/>
          <p:nvPr/>
        </p:nvGrpSpPr>
        <p:grpSpPr>
          <a:xfrm>
            <a:off x="98" y="8198400"/>
            <a:ext cx="18288078" cy="2088600"/>
            <a:chOff x="49" y="4099200"/>
            <a:chExt cx="9144039" cy="1044300"/>
          </a:xfrm>
        </p:grpSpPr>
        <p:grpSp>
          <p:nvGrpSpPr>
            <p:cNvPr id="222" name="Google Shape;222;g3f7282457ef_0_418"/>
            <p:cNvGrpSpPr/>
            <p:nvPr/>
          </p:nvGrpSpPr>
          <p:grpSpPr>
            <a:xfrm>
              <a:off x="49" y="4309200"/>
              <a:ext cx="231622" cy="834300"/>
              <a:chOff x="2688737" y="4301380"/>
              <a:chExt cx="231900" cy="834300"/>
            </a:xfrm>
          </p:grpSpPr>
          <p:sp>
            <p:nvSpPr>
              <p:cNvPr id="223" name="Google Shape;223;g3f7282457ef_0_418"/>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24" name="Google Shape;224;g3f7282457ef_0_418"/>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25" name="Google Shape;225;g3f7282457ef_0_418"/>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26" name="Google Shape;226;g3f7282457ef_0_418"/>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227" name="Google Shape;227;g3f7282457ef_0_418"/>
            <p:cNvGrpSpPr/>
            <p:nvPr/>
          </p:nvGrpSpPr>
          <p:grpSpPr>
            <a:xfrm>
              <a:off x="371403" y="4099200"/>
              <a:ext cx="231622" cy="1044300"/>
              <a:chOff x="2688737" y="4091380"/>
              <a:chExt cx="231900" cy="1044300"/>
            </a:xfrm>
          </p:grpSpPr>
          <p:sp>
            <p:nvSpPr>
              <p:cNvPr id="228" name="Google Shape;228;g3f7282457ef_0_418"/>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29" name="Google Shape;229;g3f7282457ef_0_418"/>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30" name="Google Shape;230;g3f7282457ef_0_418"/>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31" name="Google Shape;231;g3f7282457ef_0_418"/>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32" name="Google Shape;232;g3f7282457ef_0_418"/>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233" name="Google Shape;233;g3f7282457ef_0_418"/>
            <p:cNvGrpSpPr/>
            <p:nvPr/>
          </p:nvGrpSpPr>
          <p:grpSpPr>
            <a:xfrm>
              <a:off x="742758" y="4309200"/>
              <a:ext cx="231622" cy="834300"/>
              <a:chOff x="2688737" y="4301380"/>
              <a:chExt cx="231900" cy="834300"/>
            </a:xfrm>
          </p:grpSpPr>
          <p:sp>
            <p:nvSpPr>
              <p:cNvPr id="234" name="Google Shape;234;g3f7282457ef_0_418"/>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35" name="Google Shape;235;g3f7282457ef_0_418"/>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36" name="Google Shape;236;g3f7282457ef_0_418"/>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37" name="Google Shape;237;g3f7282457ef_0_418"/>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238" name="Google Shape;238;g3f7282457ef_0_418"/>
            <p:cNvGrpSpPr/>
            <p:nvPr/>
          </p:nvGrpSpPr>
          <p:grpSpPr>
            <a:xfrm>
              <a:off x="1114112" y="4518900"/>
              <a:ext cx="231622" cy="624600"/>
              <a:chOff x="2688737" y="4511080"/>
              <a:chExt cx="231900" cy="624600"/>
            </a:xfrm>
          </p:grpSpPr>
          <p:sp>
            <p:nvSpPr>
              <p:cNvPr id="239" name="Google Shape;239;g3f7282457ef_0_418"/>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40" name="Google Shape;240;g3f7282457ef_0_418"/>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41" name="Google Shape;241;g3f7282457ef_0_418"/>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242" name="Google Shape;242;g3f7282457ef_0_418"/>
            <p:cNvGrpSpPr/>
            <p:nvPr/>
          </p:nvGrpSpPr>
          <p:grpSpPr>
            <a:xfrm>
              <a:off x="1856753" y="4099200"/>
              <a:ext cx="231600" cy="1044300"/>
              <a:chOff x="1856753" y="4099200"/>
              <a:chExt cx="231600" cy="1044300"/>
            </a:xfrm>
          </p:grpSpPr>
          <p:sp>
            <p:nvSpPr>
              <p:cNvPr id="243" name="Google Shape;243;g3f7282457ef_0_418"/>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44" name="Google Shape;244;g3f7282457ef_0_418"/>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45" name="Google Shape;245;g3f7282457ef_0_418"/>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46" name="Google Shape;246;g3f7282457ef_0_418"/>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47" name="Google Shape;247;g3f7282457ef_0_418"/>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248" name="Google Shape;248;g3f7282457ef_0_418"/>
            <p:cNvGrpSpPr/>
            <p:nvPr/>
          </p:nvGrpSpPr>
          <p:grpSpPr>
            <a:xfrm>
              <a:off x="2228107" y="4309200"/>
              <a:ext cx="231600" cy="834300"/>
              <a:chOff x="2228107" y="4309200"/>
              <a:chExt cx="231600" cy="834300"/>
            </a:xfrm>
          </p:grpSpPr>
          <p:sp>
            <p:nvSpPr>
              <p:cNvPr id="249" name="Google Shape;249;g3f7282457ef_0_418"/>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50" name="Google Shape;250;g3f7282457ef_0_418"/>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51" name="Google Shape;251;g3f7282457ef_0_418"/>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52" name="Google Shape;252;g3f7282457ef_0_418"/>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253" name="Google Shape;253;g3f7282457ef_0_418"/>
            <p:cNvGrpSpPr/>
            <p:nvPr/>
          </p:nvGrpSpPr>
          <p:grpSpPr>
            <a:xfrm>
              <a:off x="2599462" y="4518900"/>
              <a:ext cx="231600" cy="624600"/>
              <a:chOff x="2599462" y="4518900"/>
              <a:chExt cx="231600" cy="624600"/>
            </a:xfrm>
          </p:grpSpPr>
          <p:sp>
            <p:nvSpPr>
              <p:cNvPr id="254" name="Google Shape;254;g3f7282457ef_0_418"/>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55" name="Google Shape;255;g3f7282457ef_0_418"/>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56" name="Google Shape;256;g3f7282457ef_0_418"/>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257" name="Google Shape;257;g3f7282457ef_0_418"/>
            <p:cNvGrpSpPr/>
            <p:nvPr/>
          </p:nvGrpSpPr>
          <p:grpSpPr>
            <a:xfrm>
              <a:off x="3342171" y="4099200"/>
              <a:ext cx="231600" cy="1044300"/>
              <a:chOff x="3342171" y="4099200"/>
              <a:chExt cx="231600" cy="1044300"/>
            </a:xfrm>
          </p:grpSpPr>
          <p:sp>
            <p:nvSpPr>
              <p:cNvPr id="258" name="Google Shape;258;g3f7282457ef_0_418"/>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59" name="Google Shape;259;g3f7282457ef_0_418"/>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60" name="Google Shape;260;g3f7282457ef_0_418"/>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61" name="Google Shape;261;g3f7282457ef_0_418"/>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62" name="Google Shape;262;g3f7282457ef_0_418"/>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263" name="Google Shape;263;g3f7282457ef_0_418"/>
            <p:cNvGrpSpPr/>
            <p:nvPr/>
          </p:nvGrpSpPr>
          <p:grpSpPr>
            <a:xfrm>
              <a:off x="3713525" y="4309200"/>
              <a:ext cx="231600" cy="834300"/>
              <a:chOff x="3713525" y="4309200"/>
              <a:chExt cx="231600" cy="834300"/>
            </a:xfrm>
          </p:grpSpPr>
          <p:sp>
            <p:nvSpPr>
              <p:cNvPr id="264" name="Google Shape;264;g3f7282457ef_0_418"/>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65" name="Google Shape;265;g3f7282457ef_0_418"/>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66" name="Google Shape;266;g3f7282457ef_0_418"/>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67" name="Google Shape;267;g3f7282457ef_0_418"/>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268" name="Google Shape;268;g3f7282457ef_0_418"/>
            <p:cNvGrpSpPr/>
            <p:nvPr/>
          </p:nvGrpSpPr>
          <p:grpSpPr>
            <a:xfrm>
              <a:off x="1485398" y="4309200"/>
              <a:ext cx="231600" cy="834300"/>
              <a:chOff x="1485398" y="4309200"/>
              <a:chExt cx="231600" cy="834300"/>
            </a:xfrm>
          </p:grpSpPr>
          <p:sp>
            <p:nvSpPr>
              <p:cNvPr id="269" name="Google Shape;269;g3f7282457ef_0_418"/>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70" name="Google Shape;270;g3f7282457ef_0_418"/>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71" name="Google Shape;271;g3f7282457ef_0_418"/>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72" name="Google Shape;272;g3f7282457ef_0_418"/>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273" name="Google Shape;273;g3f7282457ef_0_418"/>
            <p:cNvGrpSpPr/>
            <p:nvPr/>
          </p:nvGrpSpPr>
          <p:grpSpPr>
            <a:xfrm>
              <a:off x="4084879" y="4518900"/>
              <a:ext cx="231600" cy="624600"/>
              <a:chOff x="4084879" y="4518900"/>
              <a:chExt cx="231600" cy="624600"/>
            </a:xfrm>
          </p:grpSpPr>
          <p:sp>
            <p:nvSpPr>
              <p:cNvPr id="274" name="Google Shape;274;g3f7282457ef_0_418"/>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75" name="Google Shape;275;g3f7282457ef_0_418"/>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76" name="Google Shape;276;g3f7282457ef_0_418"/>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277" name="Google Shape;277;g3f7282457ef_0_418"/>
            <p:cNvGrpSpPr/>
            <p:nvPr/>
          </p:nvGrpSpPr>
          <p:grpSpPr>
            <a:xfrm>
              <a:off x="2970816" y="4309200"/>
              <a:ext cx="231600" cy="834300"/>
              <a:chOff x="2970816" y="4309200"/>
              <a:chExt cx="231600" cy="834300"/>
            </a:xfrm>
          </p:grpSpPr>
          <p:sp>
            <p:nvSpPr>
              <p:cNvPr id="278" name="Google Shape;278;g3f7282457ef_0_418"/>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79" name="Google Shape;279;g3f7282457ef_0_418"/>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80" name="Google Shape;280;g3f7282457ef_0_418"/>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81" name="Google Shape;281;g3f7282457ef_0_418"/>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282" name="Google Shape;282;g3f7282457ef_0_418"/>
            <p:cNvGrpSpPr/>
            <p:nvPr/>
          </p:nvGrpSpPr>
          <p:grpSpPr>
            <a:xfrm>
              <a:off x="4456234" y="4309200"/>
              <a:ext cx="231600" cy="834300"/>
              <a:chOff x="4456234" y="4309200"/>
              <a:chExt cx="231600" cy="834300"/>
            </a:xfrm>
          </p:grpSpPr>
          <p:sp>
            <p:nvSpPr>
              <p:cNvPr id="283" name="Google Shape;283;g3f7282457ef_0_418"/>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84" name="Google Shape;284;g3f7282457ef_0_418"/>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85" name="Google Shape;285;g3f7282457ef_0_418"/>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86" name="Google Shape;286;g3f7282457ef_0_418"/>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287" name="Google Shape;287;g3f7282457ef_0_418"/>
            <p:cNvGrpSpPr/>
            <p:nvPr/>
          </p:nvGrpSpPr>
          <p:grpSpPr>
            <a:xfrm>
              <a:off x="4827588" y="4099200"/>
              <a:ext cx="231600" cy="1044300"/>
              <a:chOff x="4827588" y="4099200"/>
              <a:chExt cx="231600" cy="1044300"/>
            </a:xfrm>
          </p:grpSpPr>
          <p:sp>
            <p:nvSpPr>
              <p:cNvPr id="288" name="Google Shape;288;g3f7282457ef_0_418"/>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89" name="Google Shape;289;g3f7282457ef_0_418"/>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90" name="Google Shape;290;g3f7282457ef_0_418"/>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91" name="Google Shape;291;g3f7282457ef_0_418"/>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92" name="Google Shape;292;g3f7282457ef_0_418"/>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293" name="Google Shape;293;g3f7282457ef_0_418"/>
            <p:cNvGrpSpPr/>
            <p:nvPr/>
          </p:nvGrpSpPr>
          <p:grpSpPr>
            <a:xfrm>
              <a:off x="5198943" y="4309200"/>
              <a:ext cx="231600" cy="834300"/>
              <a:chOff x="5198943" y="4309200"/>
              <a:chExt cx="231600" cy="834300"/>
            </a:xfrm>
          </p:grpSpPr>
          <p:sp>
            <p:nvSpPr>
              <p:cNvPr id="294" name="Google Shape;294;g3f7282457ef_0_418"/>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95" name="Google Shape;295;g3f7282457ef_0_418"/>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96" name="Google Shape;296;g3f7282457ef_0_418"/>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97" name="Google Shape;297;g3f7282457ef_0_418"/>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298" name="Google Shape;298;g3f7282457ef_0_418"/>
            <p:cNvGrpSpPr/>
            <p:nvPr/>
          </p:nvGrpSpPr>
          <p:grpSpPr>
            <a:xfrm>
              <a:off x="5570297" y="4518900"/>
              <a:ext cx="231600" cy="624600"/>
              <a:chOff x="5570297" y="4518900"/>
              <a:chExt cx="231600" cy="624600"/>
            </a:xfrm>
          </p:grpSpPr>
          <p:sp>
            <p:nvSpPr>
              <p:cNvPr id="299" name="Google Shape;299;g3f7282457ef_0_418"/>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00" name="Google Shape;300;g3f7282457ef_0_418"/>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01" name="Google Shape;301;g3f7282457ef_0_418"/>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302" name="Google Shape;302;g3f7282457ef_0_418"/>
            <p:cNvGrpSpPr/>
            <p:nvPr/>
          </p:nvGrpSpPr>
          <p:grpSpPr>
            <a:xfrm>
              <a:off x="5941652" y="4309200"/>
              <a:ext cx="231600" cy="834300"/>
              <a:chOff x="5941652" y="4309200"/>
              <a:chExt cx="231600" cy="834300"/>
            </a:xfrm>
          </p:grpSpPr>
          <p:sp>
            <p:nvSpPr>
              <p:cNvPr id="303" name="Google Shape;303;g3f7282457ef_0_418"/>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04" name="Google Shape;304;g3f7282457ef_0_418"/>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05" name="Google Shape;305;g3f7282457ef_0_418"/>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06" name="Google Shape;306;g3f7282457ef_0_418"/>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307" name="Google Shape;307;g3f7282457ef_0_418"/>
            <p:cNvGrpSpPr/>
            <p:nvPr/>
          </p:nvGrpSpPr>
          <p:grpSpPr>
            <a:xfrm>
              <a:off x="6313006" y="4099200"/>
              <a:ext cx="231600" cy="1044300"/>
              <a:chOff x="6313006" y="4099200"/>
              <a:chExt cx="231600" cy="1044300"/>
            </a:xfrm>
          </p:grpSpPr>
          <p:sp>
            <p:nvSpPr>
              <p:cNvPr id="308" name="Google Shape;308;g3f7282457ef_0_418"/>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09" name="Google Shape;309;g3f7282457ef_0_418"/>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10" name="Google Shape;310;g3f7282457ef_0_418"/>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11" name="Google Shape;311;g3f7282457ef_0_418"/>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12" name="Google Shape;312;g3f7282457ef_0_418"/>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313" name="Google Shape;313;g3f7282457ef_0_418"/>
            <p:cNvGrpSpPr/>
            <p:nvPr/>
          </p:nvGrpSpPr>
          <p:grpSpPr>
            <a:xfrm>
              <a:off x="6684361" y="4309200"/>
              <a:ext cx="231600" cy="834300"/>
              <a:chOff x="6684361" y="4309200"/>
              <a:chExt cx="231600" cy="834300"/>
            </a:xfrm>
          </p:grpSpPr>
          <p:sp>
            <p:nvSpPr>
              <p:cNvPr id="314" name="Google Shape;314;g3f7282457ef_0_418"/>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15" name="Google Shape;315;g3f7282457ef_0_418"/>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16" name="Google Shape;316;g3f7282457ef_0_418"/>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17" name="Google Shape;317;g3f7282457ef_0_418"/>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318" name="Google Shape;318;g3f7282457ef_0_418"/>
            <p:cNvGrpSpPr/>
            <p:nvPr/>
          </p:nvGrpSpPr>
          <p:grpSpPr>
            <a:xfrm>
              <a:off x="7055715" y="4518900"/>
              <a:ext cx="231600" cy="624600"/>
              <a:chOff x="7055715" y="4518900"/>
              <a:chExt cx="231600" cy="624600"/>
            </a:xfrm>
          </p:grpSpPr>
          <p:sp>
            <p:nvSpPr>
              <p:cNvPr id="319" name="Google Shape;319;g3f7282457ef_0_418"/>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20" name="Google Shape;320;g3f7282457ef_0_418"/>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21" name="Google Shape;321;g3f7282457ef_0_418"/>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322" name="Google Shape;322;g3f7282457ef_0_418"/>
            <p:cNvGrpSpPr/>
            <p:nvPr/>
          </p:nvGrpSpPr>
          <p:grpSpPr>
            <a:xfrm>
              <a:off x="7798424" y="4099200"/>
              <a:ext cx="231600" cy="1044300"/>
              <a:chOff x="7798424" y="4099200"/>
              <a:chExt cx="231600" cy="1044300"/>
            </a:xfrm>
          </p:grpSpPr>
          <p:sp>
            <p:nvSpPr>
              <p:cNvPr id="323" name="Google Shape;323;g3f7282457ef_0_418"/>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24" name="Google Shape;324;g3f7282457ef_0_418"/>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25" name="Google Shape;325;g3f7282457ef_0_418"/>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26" name="Google Shape;326;g3f7282457ef_0_418"/>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27" name="Google Shape;327;g3f7282457ef_0_418"/>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328" name="Google Shape;328;g3f7282457ef_0_418"/>
            <p:cNvGrpSpPr/>
            <p:nvPr/>
          </p:nvGrpSpPr>
          <p:grpSpPr>
            <a:xfrm>
              <a:off x="8169779" y="4309200"/>
              <a:ext cx="231600" cy="834300"/>
              <a:chOff x="8169779" y="4309200"/>
              <a:chExt cx="231600" cy="834300"/>
            </a:xfrm>
          </p:grpSpPr>
          <p:sp>
            <p:nvSpPr>
              <p:cNvPr id="329" name="Google Shape;329;g3f7282457ef_0_418"/>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30" name="Google Shape;330;g3f7282457ef_0_418"/>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31" name="Google Shape;331;g3f7282457ef_0_418"/>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32" name="Google Shape;332;g3f7282457ef_0_418"/>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333" name="Google Shape;333;g3f7282457ef_0_418"/>
            <p:cNvGrpSpPr/>
            <p:nvPr/>
          </p:nvGrpSpPr>
          <p:grpSpPr>
            <a:xfrm>
              <a:off x="7427070" y="4309200"/>
              <a:ext cx="231600" cy="834300"/>
              <a:chOff x="7427070" y="4309200"/>
              <a:chExt cx="231600" cy="834300"/>
            </a:xfrm>
          </p:grpSpPr>
          <p:sp>
            <p:nvSpPr>
              <p:cNvPr id="334" name="Google Shape;334;g3f7282457ef_0_418"/>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35" name="Google Shape;335;g3f7282457ef_0_418"/>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36" name="Google Shape;336;g3f7282457ef_0_418"/>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37" name="Google Shape;337;g3f7282457ef_0_418"/>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338" name="Google Shape;338;g3f7282457ef_0_418"/>
            <p:cNvGrpSpPr/>
            <p:nvPr/>
          </p:nvGrpSpPr>
          <p:grpSpPr>
            <a:xfrm>
              <a:off x="8541133" y="4518900"/>
              <a:ext cx="231600" cy="624600"/>
              <a:chOff x="8541133" y="4518900"/>
              <a:chExt cx="231600" cy="624600"/>
            </a:xfrm>
          </p:grpSpPr>
          <p:sp>
            <p:nvSpPr>
              <p:cNvPr id="339" name="Google Shape;339;g3f7282457ef_0_418"/>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40" name="Google Shape;340;g3f7282457ef_0_418"/>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41" name="Google Shape;341;g3f7282457ef_0_418"/>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nvGrpSpPr>
            <p:cNvPr id="342" name="Google Shape;342;g3f7282457ef_0_418"/>
            <p:cNvGrpSpPr/>
            <p:nvPr/>
          </p:nvGrpSpPr>
          <p:grpSpPr>
            <a:xfrm>
              <a:off x="8912488" y="4309200"/>
              <a:ext cx="231600" cy="834300"/>
              <a:chOff x="8912488" y="4309200"/>
              <a:chExt cx="231600" cy="834300"/>
            </a:xfrm>
          </p:grpSpPr>
          <p:sp>
            <p:nvSpPr>
              <p:cNvPr id="343" name="Google Shape;343;g3f7282457ef_0_418"/>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44" name="Google Shape;344;g3f7282457ef_0_418"/>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45" name="Google Shape;345;g3f7282457ef_0_418"/>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46" name="Google Shape;346;g3f7282457ef_0_418"/>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grpSp>
      <p:sp>
        <p:nvSpPr>
          <p:cNvPr id="347" name="Google Shape;347;g3f7282457ef_0_418"/>
          <p:cNvSpPr txBox="1"/>
          <p:nvPr>
            <p:ph hasCustomPrompt="1" type="title"/>
          </p:nvPr>
        </p:nvSpPr>
        <p:spPr>
          <a:xfrm>
            <a:off x="2777250" y="1545450"/>
            <a:ext cx="12733800" cy="3726600"/>
          </a:xfrm>
          <a:prstGeom prst="rect">
            <a:avLst/>
          </a:prstGeom>
          <a:noFill/>
          <a:ln>
            <a:noFill/>
          </a:ln>
        </p:spPr>
        <p:txBody>
          <a:bodyPr anchorCtr="0" anchor="ctr" bIns="182850" lIns="182850" spcFirstLastPara="1" rIns="182850" wrap="square" tIns="182850">
            <a:normAutofit/>
          </a:bodyPr>
          <a:lstStyle>
            <a:lvl1pPr lvl="0" algn="ctr">
              <a:lnSpc>
                <a:spcPct val="100000"/>
              </a:lnSpc>
              <a:spcBef>
                <a:spcPts val="0"/>
              </a:spcBef>
              <a:spcAft>
                <a:spcPts val="0"/>
              </a:spcAft>
              <a:buClr>
                <a:schemeClr val="lt1"/>
              </a:buClr>
              <a:buSzPts val="16000"/>
              <a:buNone/>
              <a:defRPr sz="16000">
                <a:solidFill>
                  <a:schemeClr val="lt1"/>
                </a:solidFill>
              </a:defRPr>
            </a:lvl1pPr>
            <a:lvl2pPr lvl="1" algn="ctr">
              <a:lnSpc>
                <a:spcPct val="100000"/>
              </a:lnSpc>
              <a:spcBef>
                <a:spcPts val="0"/>
              </a:spcBef>
              <a:spcAft>
                <a:spcPts val="0"/>
              </a:spcAft>
              <a:buClr>
                <a:schemeClr val="lt1"/>
              </a:buClr>
              <a:buSzPts val="16000"/>
              <a:buNone/>
              <a:defRPr sz="16000">
                <a:solidFill>
                  <a:schemeClr val="lt1"/>
                </a:solidFill>
              </a:defRPr>
            </a:lvl2pPr>
            <a:lvl3pPr lvl="2" algn="ctr">
              <a:lnSpc>
                <a:spcPct val="100000"/>
              </a:lnSpc>
              <a:spcBef>
                <a:spcPts val="0"/>
              </a:spcBef>
              <a:spcAft>
                <a:spcPts val="0"/>
              </a:spcAft>
              <a:buClr>
                <a:schemeClr val="lt1"/>
              </a:buClr>
              <a:buSzPts val="16000"/>
              <a:buNone/>
              <a:defRPr sz="16000">
                <a:solidFill>
                  <a:schemeClr val="lt1"/>
                </a:solidFill>
              </a:defRPr>
            </a:lvl3pPr>
            <a:lvl4pPr lvl="3" algn="ctr">
              <a:lnSpc>
                <a:spcPct val="100000"/>
              </a:lnSpc>
              <a:spcBef>
                <a:spcPts val="0"/>
              </a:spcBef>
              <a:spcAft>
                <a:spcPts val="0"/>
              </a:spcAft>
              <a:buClr>
                <a:schemeClr val="lt1"/>
              </a:buClr>
              <a:buSzPts val="16000"/>
              <a:buNone/>
              <a:defRPr sz="16000">
                <a:solidFill>
                  <a:schemeClr val="lt1"/>
                </a:solidFill>
              </a:defRPr>
            </a:lvl4pPr>
            <a:lvl5pPr lvl="4" algn="ctr">
              <a:lnSpc>
                <a:spcPct val="100000"/>
              </a:lnSpc>
              <a:spcBef>
                <a:spcPts val="0"/>
              </a:spcBef>
              <a:spcAft>
                <a:spcPts val="0"/>
              </a:spcAft>
              <a:buClr>
                <a:schemeClr val="lt1"/>
              </a:buClr>
              <a:buSzPts val="16000"/>
              <a:buNone/>
              <a:defRPr sz="16000">
                <a:solidFill>
                  <a:schemeClr val="lt1"/>
                </a:solidFill>
              </a:defRPr>
            </a:lvl5pPr>
            <a:lvl6pPr lvl="5" algn="ctr">
              <a:lnSpc>
                <a:spcPct val="100000"/>
              </a:lnSpc>
              <a:spcBef>
                <a:spcPts val="0"/>
              </a:spcBef>
              <a:spcAft>
                <a:spcPts val="0"/>
              </a:spcAft>
              <a:buClr>
                <a:schemeClr val="lt1"/>
              </a:buClr>
              <a:buSzPts val="16000"/>
              <a:buNone/>
              <a:defRPr sz="16000">
                <a:solidFill>
                  <a:schemeClr val="lt1"/>
                </a:solidFill>
              </a:defRPr>
            </a:lvl6pPr>
            <a:lvl7pPr lvl="6" algn="ctr">
              <a:lnSpc>
                <a:spcPct val="100000"/>
              </a:lnSpc>
              <a:spcBef>
                <a:spcPts val="0"/>
              </a:spcBef>
              <a:spcAft>
                <a:spcPts val="0"/>
              </a:spcAft>
              <a:buClr>
                <a:schemeClr val="lt1"/>
              </a:buClr>
              <a:buSzPts val="16000"/>
              <a:buNone/>
              <a:defRPr sz="16000">
                <a:solidFill>
                  <a:schemeClr val="lt1"/>
                </a:solidFill>
              </a:defRPr>
            </a:lvl7pPr>
            <a:lvl8pPr lvl="7" algn="ctr">
              <a:lnSpc>
                <a:spcPct val="100000"/>
              </a:lnSpc>
              <a:spcBef>
                <a:spcPts val="0"/>
              </a:spcBef>
              <a:spcAft>
                <a:spcPts val="0"/>
              </a:spcAft>
              <a:buClr>
                <a:schemeClr val="lt1"/>
              </a:buClr>
              <a:buSzPts val="16000"/>
              <a:buNone/>
              <a:defRPr sz="16000">
                <a:solidFill>
                  <a:schemeClr val="lt1"/>
                </a:solidFill>
              </a:defRPr>
            </a:lvl8pPr>
            <a:lvl9pPr lvl="8" algn="ctr">
              <a:lnSpc>
                <a:spcPct val="100000"/>
              </a:lnSpc>
              <a:spcBef>
                <a:spcPts val="0"/>
              </a:spcBef>
              <a:spcAft>
                <a:spcPts val="0"/>
              </a:spcAft>
              <a:buClr>
                <a:schemeClr val="lt1"/>
              </a:buClr>
              <a:buSzPts val="16000"/>
              <a:buNone/>
              <a:defRPr sz="16000">
                <a:solidFill>
                  <a:schemeClr val="lt1"/>
                </a:solidFill>
              </a:defRPr>
            </a:lvl9pPr>
          </a:lstStyle>
          <a:p>
            <a:r>
              <a:t>xx%</a:t>
            </a:r>
          </a:p>
        </p:txBody>
      </p:sp>
      <p:sp>
        <p:nvSpPr>
          <p:cNvPr id="348" name="Google Shape;348;g3f7282457ef_0_418"/>
          <p:cNvSpPr txBox="1"/>
          <p:nvPr>
            <p:ph idx="1" type="body"/>
          </p:nvPr>
        </p:nvSpPr>
        <p:spPr>
          <a:xfrm>
            <a:off x="2777250" y="5424600"/>
            <a:ext cx="12733800" cy="2222400"/>
          </a:xfrm>
          <a:prstGeom prst="rect">
            <a:avLst/>
          </a:prstGeom>
          <a:noFill/>
          <a:ln>
            <a:noFill/>
          </a:ln>
        </p:spPr>
        <p:txBody>
          <a:bodyPr anchorCtr="0" anchor="t" bIns="182850" lIns="182850" spcFirstLastPara="1" rIns="182850" wrap="square" tIns="182850">
            <a:normAutofit/>
          </a:bodyPr>
          <a:lstStyle>
            <a:lvl1pPr indent="-393700" lvl="0" marL="457200" algn="ctr">
              <a:lnSpc>
                <a:spcPct val="115000"/>
              </a:lnSpc>
              <a:spcBef>
                <a:spcPts val="0"/>
              </a:spcBef>
              <a:spcAft>
                <a:spcPts val="0"/>
              </a:spcAft>
              <a:buClr>
                <a:schemeClr val="lt1"/>
              </a:buClr>
              <a:buSzPts val="2600"/>
              <a:buChar char="●"/>
              <a:defRPr>
                <a:solidFill>
                  <a:schemeClr val="lt1"/>
                </a:solidFill>
              </a:defRPr>
            </a:lvl1pPr>
            <a:lvl2pPr indent="-368300" lvl="1" marL="914400" algn="ctr">
              <a:lnSpc>
                <a:spcPct val="115000"/>
              </a:lnSpc>
              <a:spcBef>
                <a:spcPts val="0"/>
              </a:spcBef>
              <a:spcAft>
                <a:spcPts val="0"/>
              </a:spcAft>
              <a:buClr>
                <a:schemeClr val="lt1"/>
              </a:buClr>
              <a:buSzPts val="2200"/>
              <a:buChar char="○"/>
              <a:defRPr>
                <a:solidFill>
                  <a:schemeClr val="lt1"/>
                </a:solidFill>
              </a:defRPr>
            </a:lvl2pPr>
            <a:lvl3pPr indent="-368300" lvl="2" marL="1371600" algn="ctr">
              <a:lnSpc>
                <a:spcPct val="115000"/>
              </a:lnSpc>
              <a:spcBef>
                <a:spcPts val="0"/>
              </a:spcBef>
              <a:spcAft>
                <a:spcPts val="0"/>
              </a:spcAft>
              <a:buClr>
                <a:schemeClr val="lt1"/>
              </a:buClr>
              <a:buSzPts val="2200"/>
              <a:buChar char="■"/>
              <a:defRPr>
                <a:solidFill>
                  <a:schemeClr val="lt1"/>
                </a:solidFill>
              </a:defRPr>
            </a:lvl3pPr>
            <a:lvl4pPr indent="-368300" lvl="3" marL="1828800" algn="ctr">
              <a:lnSpc>
                <a:spcPct val="115000"/>
              </a:lnSpc>
              <a:spcBef>
                <a:spcPts val="0"/>
              </a:spcBef>
              <a:spcAft>
                <a:spcPts val="0"/>
              </a:spcAft>
              <a:buClr>
                <a:schemeClr val="lt1"/>
              </a:buClr>
              <a:buSzPts val="2200"/>
              <a:buChar char="●"/>
              <a:defRPr>
                <a:solidFill>
                  <a:schemeClr val="lt1"/>
                </a:solidFill>
              </a:defRPr>
            </a:lvl4pPr>
            <a:lvl5pPr indent="-368300" lvl="4" marL="2286000" algn="ctr">
              <a:lnSpc>
                <a:spcPct val="115000"/>
              </a:lnSpc>
              <a:spcBef>
                <a:spcPts val="0"/>
              </a:spcBef>
              <a:spcAft>
                <a:spcPts val="0"/>
              </a:spcAft>
              <a:buClr>
                <a:schemeClr val="lt1"/>
              </a:buClr>
              <a:buSzPts val="2200"/>
              <a:buChar char="○"/>
              <a:defRPr>
                <a:solidFill>
                  <a:schemeClr val="lt1"/>
                </a:solidFill>
              </a:defRPr>
            </a:lvl5pPr>
            <a:lvl6pPr indent="-368300" lvl="5" marL="2743200" algn="ctr">
              <a:lnSpc>
                <a:spcPct val="115000"/>
              </a:lnSpc>
              <a:spcBef>
                <a:spcPts val="0"/>
              </a:spcBef>
              <a:spcAft>
                <a:spcPts val="0"/>
              </a:spcAft>
              <a:buClr>
                <a:schemeClr val="lt1"/>
              </a:buClr>
              <a:buSzPts val="2200"/>
              <a:buChar char="■"/>
              <a:defRPr>
                <a:solidFill>
                  <a:schemeClr val="lt1"/>
                </a:solidFill>
              </a:defRPr>
            </a:lvl6pPr>
            <a:lvl7pPr indent="-368300" lvl="6" marL="3200400" algn="ctr">
              <a:lnSpc>
                <a:spcPct val="115000"/>
              </a:lnSpc>
              <a:spcBef>
                <a:spcPts val="0"/>
              </a:spcBef>
              <a:spcAft>
                <a:spcPts val="0"/>
              </a:spcAft>
              <a:buClr>
                <a:schemeClr val="lt1"/>
              </a:buClr>
              <a:buSzPts val="2200"/>
              <a:buChar char="●"/>
              <a:defRPr>
                <a:solidFill>
                  <a:schemeClr val="lt1"/>
                </a:solidFill>
              </a:defRPr>
            </a:lvl7pPr>
            <a:lvl8pPr indent="-368300" lvl="7" marL="3657600" algn="ctr">
              <a:lnSpc>
                <a:spcPct val="115000"/>
              </a:lnSpc>
              <a:spcBef>
                <a:spcPts val="0"/>
              </a:spcBef>
              <a:spcAft>
                <a:spcPts val="0"/>
              </a:spcAft>
              <a:buClr>
                <a:schemeClr val="lt1"/>
              </a:buClr>
              <a:buSzPts val="2200"/>
              <a:buChar char="○"/>
              <a:defRPr>
                <a:solidFill>
                  <a:schemeClr val="lt1"/>
                </a:solidFill>
              </a:defRPr>
            </a:lvl8pPr>
            <a:lvl9pPr indent="-368300" lvl="8" marL="4114800" algn="ctr">
              <a:lnSpc>
                <a:spcPct val="115000"/>
              </a:lnSpc>
              <a:spcBef>
                <a:spcPts val="0"/>
              </a:spcBef>
              <a:spcAft>
                <a:spcPts val="0"/>
              </a:spcAft>
              <a:buClr>
                <a:schemeClr val="lt1"/>
              </a:buClr>
              <a:buSzPts val="2200"/>
              <a:buChar char="■"/>
              <a:defRPr>
                <a:solidFill>
                  <a:schemeClr val="lt1"/>
                </a:solidFill>
              </a:defRPr>
            </a:lvl9pPr>
          </a:lstStyle>
          <a:p/>
        </p:txBody>
      </p:sp>
      <p:sp>
        <p:nvSpPr>
          <p:cNvPr id="349" name="Google Shape;349;g3f7282457ef_0_418"/>
          <p:cNvSpPr txBox="1"/>
          <p:nvPr>
            <p:ph idx="12" type="sldNum"/>
          </p:nvPr>
        </p:nvSpPr>
        <p:spPr>
          <a:xfrm>
            <a:off x="16902092" y="9473952"/>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50" name="Shape 350"/>
        <p:cNvGrpSpPr/>
        <p:nvPr/>
      </p:nvGrpSpPr>
      <p:grpSpPr>
        <a:xfrm>
          <a:off x="0" y="0"/>
          <a:ext cx="0" cy="0"/>
          <a:chOff x="0" y="0"/>
          <a:chExt cx="0" cy="0"/>
        </a:xfrm>
      </p:grpSpPr>
      <p:sp>
        <p:nvSpPr>
          <p:cNvPr id="351" name="Google Shape;351;g3f7282457ef_0_548"/>
          <p:cNvSpPr txBox="1"/>
          <p:nvPr>
            <p:ph idx="12" type="sldNum"/>
          </p:nvPr>
        </p:nvSpPr>
        <p:spPr>
          <a:xfrm>
            <a:off x="16902092" y="9473952"/>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6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6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6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6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6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84" name="Shape 84"/>
        <p:cNvGrpSpPr/>
        <p:nvPr/>
      </p:nvGrpSpPr>
      <p:grpSpPr>
        <a:xfrm>
          <a:off x="0" y="0"/>
          <a:ext cx="0" cy="0"/>
          <a:chOff x="0" y="0"/>
          <a:chExt cx="0" cy="0"/>
        </a:xfrm>
      </p:grpSpPr>
      <p:sp>
        <p:nvSpPr>
          <p:cNvPr id="85" name="Google Shape;85;g3f7282457ef_0_282"/>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marR="0" algn="l">
              <a:lnSpc>
                <a:spcPct val="100000"/>
              </a:lnSpc>
              <a:spcBef>
                <a:spcPts val="0"/>
              </a:spcBef>
              <a:spcAft>
                <a:spcPts val="0"/>
              </a:spcAft>
              <a:buClr>
                <a:schemeClr val="dk2"/>
              </a:buClr>
              <a:buSzPts val="5600"/>
              <a:buFont typeface="Maven Pro"/>
              <a:buNone/>
              <a:defRPr b="1" i="0" sz="5600" u="none" cap="none" strike="noStrike">
                <a:solidFill>
                  <a:schemeClr val="dk2"/>
                </a:solidFill>
                <a:latin typeface="Maven Pro"/>
                <a:ea typeface="Maven Pro"/>
                <a:cs typeface="Maven Pro"/>
                <a:sym typeface="Maven Pro"/>
              </a:defRPr>
            </a:lvl1pPr>
            <a:lvl2pPr lvl="1" marR="0" algn="l">
              <a:lnSpc>
                <a:spcPct val="100000"/>
              </a:lnSpc>
              <a:spcBef>
                <a:spcPts val="0"/>
              </a:spcBef>
              <a:spcAft>
                <a:spcPts val="0"/>
              </a:spcAft>
              <a:buClr>
                <a:schemeClr val="dk2"/>
              </a:buClr>
              <a:buSzPts val="5600"/>
              <a:buFont typeface="Maven Pro"/>
              <a:buNone/>
              <a:defRPr b="1" i="0" sz="5600" u="none" cap="none" strike="noStrike">
                <a:solidFill>
                  <a:schemeClr val="dk2"/>
                </a:solidFill>
                <a:latin typeface="Maven Pro"/>
                <a:ea typeface="Maven Pro"/>
                <a:cs typeface="Maven Pro"/>
                <a:sym typeface="Maven Pro"/>
              </a:defRPr>
            </a:lvl2pPr>
            <a:lvl3pPr lvl="2" marR="0" algn="l">
              <a:lnSpc>
                <a:spcPct val="100000"/>
              </a:lnSpc>
              <a:spcBef>
                <a:spcPts val="0"/>
              </a:spcBef>
              <a:spcAft>
                <a:spcPts val="0"/>
              </a:spcAft>
              <a:buClr>
                <a:schemeClr val="dk2"/>
              </a:buClr>
              <a:buSzPts val="5600"/>
              <a:buFont typeface="Maven Pro"/>
              <a:buNone/>
              <a:defRPr b="1" i="0" sz="5600" u="none" cap="none" strike="noStrike">
                <a:solidFill>
                  <a:schemeClr val="dk2"/>
                </a:solidFill>
                <a:latin typeface="Maven Pro"/>
                <a:ea typeface="Maven Pro"/>
                <a:cs typeface="Maven Pro"/>
                <a:sym typeface="Maven Pro"/>
              </a:defRPr>
            </a:lvl3pPr>
            <a:lvl4pPr lvl="3" marR="0" algn="l">
              <a:lnSpc>
                <a:spcPct val="100000"/>
              </a:lnSpc>
              <a:spcBef>
                <a:spcPts val="0"/>
              </a:spcBef>
              <a:spcAft>
                <a:spcPts val="0"/>
              </a:spcAft>
              <a:buClr>
                <a:schemeClr val="dk2"/>
              </a:buClr>
              <a:buSzPts val="5600"/>
              <a:buFont typeface="Maven Pro"/>
              <a:buNone/>
              <a:defRPr b="1" i="0" sz="5600" u="none" cap="none" strike="noStrike">
                <a:solidFill>
                  <a:schemeClr val="dk2"/>
                </a:solidFill>
                <a:latin typeface="Maven Pro"/>
                <a:ea typeface="Maven Pro"/>
                <a:cs typeface="Maven Pro"/>
                <a:sym typeface="Maven Pro"/>
              </a:defRPr>
            </a:lvl4pPr>
            <a:lvl5pPr lvl="4" marR="0" algn="l">
              <a:lnSpc>
                <a:spcPct val="100000"/>
              </a:lnSpc>
              <a:spcBef>
                <a:spcPts val="0"/>
              </a:spcBef>
              <a:spcAft>
                <a:spcPts val="0"/>
              </a:spcAft>
              <a:buClr>
                <a:schemeClr val="dk2"/>
              </a:buClr>
              <a:buSzPts val="5600"/>
              <a:buFont typeface="Maven Pro"/>
              <a:buNone/>
              <a:defRPr b="1" i="0" sz="5600" u="none" cap="none" strike="noStrike">
                <a:solidFill>
                  <a:schemeClr val="dk2"/>
                </a:solidFill>
                <a:latin typeface="Maven Pro"/>
                <a:ea typeface="Maven Pro"/>
                <a:cs typeface="Maven Pro"/>
                <a:sym typeface="Maven Pro"/>
              </a:defRPr>
            </a:lvl5pPr>
            <a:lvl6pPr lvl="5" marR="0" algn="l">
              <a:lnSpc>
                <a:spcPct val="100000"/>
              </a:lnSpc>
              <a:spcBef>
                <a:spcPts val="0"/>
              </a:spcBef>
              <a:spcAft>
                <a:spcPts val="0"/>
              </a:spcAft>
              <a:buClr>
                <a:schemeClr val="dk2"/>
              </a:buClr>
              <a:buSzPts val="5600"/>
              <a:buFont typeface="Maven Pro"/>
              <a:buNone/>
              <a:defRPr b="1" i="0" sz="5600" u="none" cap="none" strike="noStrike">
                <a:solidFill>
                  <a:schemeClr val="dk2"/>
                </a:solidFill>
                <a:latin typeface="Maven Pro"/>
                <a:ea typeface="Maven Pro"/>
                <a:cs typeface="Maven Pro"/>
                <a:sym typeface="Maven Pro"/>
              </a:defRPr>
            </a:lvl6pPr>
            <a:lvl7pPr lvl="6" marR="0" algn="l">
              <a:lnSpc>
                <a:spcPct val="100000"/>
              </a:lnSpc>
              <a:spcBef>
                <a:spcPts val="0"/>
              </a:spcBef>
              <a:spcAft>
                <a:spcPts val="0"/>
              </a:spcAft>
              <a:buClr>
                <a:schemeClr val="dk2"/>
              </a:buClr>
              <a:buSzPts val="5600"/>
              <a:buFont typeface="Maven Pro"/>
              <a:buNone/>
              <a:defRPr b="1" i="0" sz="5600" u="none" cap="none" strike="noStrike">
                <a:solidFill>
                  <a:schemeClr val="dk2"/>
                </a:solidFill>
                <a:latin typeface="Maven Pro"/>
                <a:ea typeface="Maven Pro"/>
                <a:cs typeface="Maven Pro"/>
                <a:sym typeface="Maven Pro"/>
              </a:defRPr>
            </a:lvl7pPr>
            <a:lvl8pPr lvl="7" marR="0" algn="l">
              <a:lnSpc>
                <a:spcPct val="100000"/>
              </a:lnSpc>
              <a:spcBef>
                <a:spcPts val="0"/>
              </a:spcBef>
              <a:spcAft>
                <a:spcPts val="0"/>
              </a:spcAft>
              <a:buClr>
                <a:schemeClr val="dk2"/>
              </a:buClr>
              <a:buSzPts val="5600"/>
              <a:buFont typeface="Maven Pro"/>
              <a:buNone/>
              <a:defRPr b="1" i="0" sz="5600" u="none" cap="none" strike="noStrike">
                <a:solidFill>
                  <a:schemeClr val="dk2"/>
                </a:solidFill>
                <a:latin typeface="Maven Pro"/>
                <a:ea typeface="Maven Pro"/>
                <a:cs typeface="Maven Pro"/>
                <a:sym typeface="Maven Pro"/>
              </a:defRPr>
            </a:lvl8pPr>
            <a:lvl9pPr lvl="8" marR="0" algn="l">
              <a:lnSpc>
                <a:spcPct val="100000"/>
              </a:lnSpc>
              <a:spcBef>
                <a:spcPts val="0"/>
              </a:spcBef>
              <a:spcAft>
                <a:spcPts val="0"/>
              </a:spcAft>
              <a:buClr>
                <a:schemeClr val="dk2"/>
              </a:buClr>
              <a:buSzPts val="5600"/>
              <a:buFont typeface="Maven Pro"/>
              <a:buNone/>
              <a:defRPr b="1" i="0" sz="5600" u="none" cap="none" strike="noStrike">
                <a:solidFill>
                  <a:schemeClr val="dk2"/>
                </a:solidFill>
                <a:latin typeface="Maven Pro"/>
                <a:ea typeface="Maven Pro"/>
                <a:cs typeface="Maven Pro"/>
                <a:sym typeface="Maven Pro"/>
              </a:defRPr>
            </a:lvl9pPr>
          </a:lstStyle>
          <a:p/>
        </p:txBody>
      </p:sp>
      <p:sp>
        <p:nvSpPr>
          <p:cNvPr id="86" name="Google Shape;86;g3f7282457ef_0_282"/>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393700" lvl="0" marL="457200" marR="0" algn="l">
              <a:lnSpc>
                <a:spcPct val="115000"/>
              </a:lnSpc>
              <a:spcBef>
                <a:spcPts val="0"/>
              </a:spcBef>
              <a:spcAft>
                <a:spcPts val="0"/>
              </a:spcAft>
              <a:buClr>
                <a:schemeClr val="dk2"/>
              </a:buClr>
              <a:buSzPts val="2600"/>
              <a:buFont typeface="Nunito"/>
              <a:buChar char="●"/>
              <a:defRPr b="0" i="0" sz="2600" u="none" cap="none" strike="noStrike">
                <a:solidFill>
                  <a:schemeClr val="dk2"/>
                </a:solidFill>
                <a:latin typeface="Nunito"/>
                <a:ea typeface="Nunito"/>
                <a:cs typeface="Nunito"/>
                <a:sym typeface="Nunito"/>
              </a:defRPr>
            </a:lvl1pPr>
            <a:lvl2pPr indent="-368300" lvl="1" marL="914400" marR="0" algn="l">
              <a:lnSpc>
                <a:spcPct val="115000"/>
              </a:lnSpc>
              <a:spcBef>
                <a:spcPts val="0"/>
              </a:spcBef>
              <a:spcAft>
                <a:spcPts val="0"/>
              </a:spcAft>
              <a:buClr>
                <a:schemeClr val="dk2"/>
              </a:buClr>
              <a:buSzPts val="2200"/>
              <a:buFont typeface="Nunito"/>
              <a:buChar char="○"/>
              <a:defRPr b="0" i="0" sz="2200" u="none" cap="none" strike="noStrike">
                <a:solidFill>
                  <a:schemeClr val="dk2"/>
                </a:solidFill>
                <a:latin typeface="Nunito"/>
                <a:ea typeface="Nunito"/>
                <a:cs typeface="Nunito"/>
                <a:sym typeface="Nunito"/>
              </a:defRPr>
            </a:lvl2pPr>
            <a:lvl3pPr indent="-368300" lvl="2" marL="1371600" marR="0" algn="l">
              <a:lnSpc>
                <a:spcPct val="115000"/>
              </a:lnSpc>
              <a:spcBef>
                <a:spcPts val="0"/>
              </a:spcBef>
              <a:spcAft>
                <a:spcPts val="0"/>
              </a:spcAft>
              <a:buClr>
                <a:schemeClr val="dk2"/>
              </a:buClr>
              <a:buSzPts val="2200"/>
              <a:buFont typeface="Nunito"/>
              <a:buChar char="■"/>
              <a:defRPr b="0" i="0" sz="2200" u="none" cap="none" strike="noStrike">
                <a:solidFill>
                  <a:schemeClr val="dk2"/>
                </a:solidFill>
                <a:latin typeface="Nunito"/>
                <a:ea typeface="Nunito"/>
                <a:cs typeface="Nunito"/>
                <a:sym typeface="Nunito"/>
              </a:defRPr>
            </a:lvl3pPr>
            <a:lvl4pPr indent="-368300" lvl="3" marL="1828800" marR="0" algn="l">
              <a:lnSpc>
                <a:spcPct val="115000"/>
              </a:lnSpc>
              <a:spcBef>
                <a:spcPts val="0"/>
              </a:spcBef>
              <a:spcAft>
                <a:spcPts val="0"/>
              </a:spcAft>
              <a:buClr>
                <a:schemeClr val="dk2"/>
              </a:buClr>
              <a:buSzPts val="2200"/>
              <a:buFont typeface="Nunito"/>
              <a:buChar char="●"/>
              <a:defRPr b="0" i="0" sz="2200" u="none" cap="none" strike="noStrike">
                <a:solidFill>
                  <a:schemeClr val="dk2"/>
                </a:solidFill>
                <a:latin typeface="Nunito"/>
                <a:ea typeface="Nunito"/>
                <a:cs typeface="Nunito"/>
                <a:sym typeface="Nunito"/>
              </a:defRPr>
            </a:lvl4pPr>
            <a:lvl5pPr indent="-368300" lvl="4" marL="2286000" marR="0" algn="l">
              <a:lnSpc>
                <a:spcPct val="115000"/>
              </a:lnSpc>
              <a:spcBef>
                <a:spcPts val="0"/>
              </a:spcBef>
              <a:spcAft>
                <a:spcPts val="0"/>
              </a:spcAft>
              <a:buClr>
                <a:schemeClr val="dk2"/>
              </a:buClr>
              <a:buSzPts val="2200"/>
              <a:buFont typeface="Nunito"/>
              <a:buChar char="○"/>
              <a:defRPr b="0" i="0" sz="2200" u="none" cap="none" strike="noStrike">
                <a:solidFill>
                  <a:schemeClr val="dk2"/>
                </a:solidFill>
                <a:latin typeface="Nunito"/>
                <a:ea typeface="Nunito"/>
                <a:cs typeface="Nunito"/>
                <a:sym typeface="Nunito"/>
              </a:defRPr>
            </a:lvl5pPr>
            <a:lvl6pPr indent="-368300" lvl="5" marL="2743200" marR="0" algn="l">
              <a:lnSpc>
                <a:spcPct val="115000"/>
              </a:lnSpc>
              <a:spcBef>
                <a:spcPts val="0"/>
              </a:spcBef>
              <a:spcAft>
                <a:spcPts val="0"/>
              </a:spcAft>
              <a:buClr>
                <a:schemeClr val="dk2"/>
              </a:buClr>
              <a:buSzPts val="2200"/>
              <a:buFont typeface="Nunito"/>
              <a:buChar char="■"/>
              <a:defRPr b="0" i="0" sz="2200" u="none" cap="none" strike="noStrike">
                <a:solidFill>
                  <a:schemeClr val="dk2"/>
                </a:solidFill>
                <a:latin typeface="Nunito"/>
                <a:ea typeface="Nunito"/>
                <a:cs typeface="Nunito"/>
                <a:sym typeface="Nunito"/>
              </a:defRPr>
            </a:lvl6pPr>
            <a:lvl7pPr indent="-368300" lvl="6" marL="3200400" marR="0" algn="l">
              <a:lnSpc>
                <a:spcPct val="115000"/>
              </a:lnSpc>
              <a:spcBef>
                <a:spcPts val="0"/>
              </a:spcBef>
              <a:spcAft>
                <a:spcPts val="0"/>
              </a:spcAft>
              <a:buClr>
                <a:schemeClr val="dk2"/>
              </a:buClr>
              <a:buSzPts val="2200"/>
              <a:buFont typeface="Nunito"/>
              <a:buChar char="●"/>
              <a:defRPr b="0" i="0" sz="2200" u="none" cap="none" strike="noStrike">
                <a:solidFill>
                  <a:schemeClr val="dk2"/>
                </a:solidFill>
                <a:latin typeface="Nunito"/>
                <a:ea typeface="Nunito"/>
                <a:cs typeface="Nunito"/>
                <a:sym typeface="Nunito"/>
              </a:defRPr>
            </a:lvl7pPr>
            <a:lvl8pPr indent="-368300" lvl="7" marL="3657600" marR="0" algn="l">
              <a:lnSpc>
                <a:spcPct val="115000"/>
              </a:lnSpc>
              <a:spcBef>
                <a:spcPts val="0"/>
              </a:spcBef>
              <a:spcAft>
                <a:spcPts val="0"/>
              </a:spcAft>
              <a:buClr>
                <a:schemeClr val="dk2"/>
              </a:buClr>
              <a:buSzPts val="2200"/>
              <a:buFont typeface="Nunito"/>
              <a:buChar char="○"/>
              <a:defRPr b="0" i="0" sz="2200" u="none" cap="none" strike="noStrike">
                <a:solidFill>
                  <a:schemeClr val="dk2"/>
                </a:solidFill>
                <a:latin typeface="Nunito"/>
                <a:ea typeface="Nunito"/>
                <a:cs typeface="Nunito"/>
                <a:sym typeface="Nunito"/>
              </a:defRPr>
            </a:lvl8pPr>
            <a:lvl9pPr indent="-368300" lvl="8" marL="4114800" marR="0" algn="l">
              <a:lnSpc>
                <a:spcPct val="115000"/>
              </a:lnSpc>
              <a:spcBef>
                <a:spcPts val="0"/>
              </a:spcBef>
              <a:spcAft>
                <a:spcPts val="0"/>
              </a:spcAft>
              <a:buClr>
                <a:schemeClr val="dk2"/>
              </a:buClr>
              <a:buSzPts val="2200"/>
              <a:buFont typeface="Nunito"/>
              <a:buChar char="■"/>
              <a:defRPr b="0" i="0" sz="2200" u="none" cap="none" strike="noStrike">
                <a:solidFill>
                  <a:schemeClr val="dk2"/>
                </a:solidFill>
                <a:latin typeface="Nunito"/>
                <a:ea typeface="Nunito"/>
                <a:cs typeface="Nunito"/>
                <a:sym typeface="Nunito"/>
              </a:defRPr>
            </a:lvl9pPr>
          </a:lstStyle>
          <a:p/>
        </p:txBody>
      </p:sp>
      <p:sp>
        <p:nvSpPr>
          <p:cNvPr id="87" name="Google Shape;87;g3f7282457ef_0_282"/>
          <p:cNvSpPr txBox="1"/>
          <p:nvPr>
            <p:ph idx="12" type="sldNum"/>
          </p:nvPr>
        </p:nvSpPr>
        <p:spPr>
          <a:xfrm>
            <a:off x="16902092" y="9473952"/>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comments" Target="../comments/comment1.xml"/><Relationship Id="rId4" Type="http://schemas.openxmlformats.org/officeDocument/2006/relationships/image" Target="../media/image46.png"/><Relationship Id="rId5" Type="http://schemas.openxmlformats.org/officeDocument/2006/relationships/image" Target="../media/image30.png"/><Relationship Id="rId6" Type="http://schemas.openxmlformats.org/officeDocument/2006/relationships/image" Target="../media/image2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71.png"/><Relationship Id="rId4" Type="http://schemas.openxmlformats.org/officeDocument/2006/relationships/image" Target="../media/image6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6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74.png"/><Relationship Id="rId4" Type="http://schemas.openxmlformats.org/officeDocument/2006/relationships/image" Target="../media/image6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7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7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7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7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7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7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7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7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7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73.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7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75.png"/><Relationship Id="rId4" Type="http://schemas.openxmlformats.org/officeDocument/2006/relationships/image" Target="../media/image7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7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46.png"/><Relationship Id="rId4" Type="http://schemas.openxmlformats.org/officeDocument/2006/relationships/image" Target="../media/image25.png"/><Relationship Id="rId5" Type="http://schemas.openxmlformats.org/officeDocument/2006/relationships/image" Target="../media/image5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76.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79.png"/><Relationship Id="rId4" Type="http://schemas.openxmlformats.org/officeDocument/2006/relationships/image" Target="../media/image7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26.png"/><Relationship Id="rId4" Type="http://schemas.openxmlformats.org/officeDocument/2006/relationships/image" Target="../media/image45.png"/><Relationship Id="rId5" Type="http://schemas.openxmlformats.org/officeDocument/2006/relationships/image" Target="../media/image24.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image" Target="../media/image81.png"/><Relationship Id="rId4" Type="http://schemas.openxmlformats.org/officeDocument/2006/relationships/image" Target="../media/image80.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3" Type="http://schemas.openxmlformats.org/officeDocument/2006/relationships/image" Target="../media/image82.png"/><Relationship Id="rId4" Type="http://schemas.openxmlformats.org/officeDocument/2006/relationships/image" Target="../media/image93.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image" Target="../media/image82.png"/><Relationship Id="rId4" Type="http://schemas.openxmlformats.org/officeDocument/2006/relationships/image" Target="../media/image93.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 Id="rId3" Type="http://schemas.openxmlformats.org/officeDocument/2006/relationships/image" Target="../media/image88.png"/><Relationship Id="rId4" Type="http://schemas.openxmlformats.org/officeDocument/2006/relationships/image" Target="../media/image86.png"/><Relationship Id="rId5" Type="http://schemas.openxmlformats.org/officeDocument/2006/relationships/image" Target="../media/image83.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 Id="rId3" Type="http://schemas.openxmlformats.org/officeDocument/2006/relationships/image" Target="../media/image88.png"/><Relationship Id="rId4" Type="http://schemas.openxmlformats.org/officeDocument/2006/relationships/image" Target="../media/image86.png"/><Relationship Id="rId5" Type="http://schemas.openxmlformats.org/officeDocument/2006/relationships/image" Target="../media/image8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3" Type="http://schemas.openxmlformats.org/officeDocument/2006/relationships/image" Target="../media/image85.png"/><Relationship Id="rId4" Type="http://schemas.openxmlformats.org/officeDocument/2006/relationships/image" Target="../media/image84.png"/><Relationship Id="rId5" Type="http://schemas.openxmlformats.org/officeDocument/2006/relationships/image" Target="../media/image9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3" Type="http://schemas.openxmlformats.org/officeDocument/2006/relationships/image" Target="../media/image90.png"/><Relationship Id="rId4" Type="http://schemas.openxmlformats.org/officeDocument/2006/relationships/image" Target="../media/image89.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 Id="rId3" Type="http://schemas.openxmlformats.org/officeDocument/2006/relationships/image" Target="../media/image9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 Id="rId3" Type="http://schemas.openxmlformats.org/officeDocument/2006/relationships/image" Target="../media/image87.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 Id="rId3" Type="http://schemas.openxmlformats.org/officeDocument/2006/relationships/hyperlink" Target="https://ellenjmchenry.com/brain-hemisphere-hat/" TargetMode="External"/><Relationship Id="rId4" Type="http://schemas.openxmlformats.org/officeDocument/2006/relationships/hyperlink" Target="https://thecraftyclassroom.com/wp-content/uploads/2015/01/BrainPuzzle.pdf" TargetMode="Externa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AFAFA"/>
        </a:solidFill>
      </p:bgPr>
    </p:bg>
    <p:spTree>
      <p:nvGrpSpPr>
        <p:cNvPr id="1028" name="Shape 1028"/>
        <p:cNvGrpSpPr/>
        <p:nvPr/>
      </p:nvGrpSpPr>
      <p:grpSpPr>
        <a:xfrm>
          <a:off x="0" y="0"/>
          <a:ext cx="0" cy="0"/>
          <a:chOff x="0" y="0"/>
          <a:chExt cx="0" cy="0"/>
        </a:xfrm>
      </p:grpSpPr>
      <p:sp>
        <p:nvSpPr>
          <p:cNvPr id="1029" name="Google Shape;1029;p30"/>
          <p:cNvSpPr txBox="1"/>
          <p:nvPr/>
        </p:nvSpPr>
        <p:spPr>
          <a:xfrm>
            <a:off x="1599892" y="4133088"/>
            <a:ext cx="15367200" cy="2505600"/>
          </a:xfrm>
          <a:prstGeom prst="rect">
            <a:avLst/>
          </a:prstGeom>
          <a:noFill/>
          <a:ln>
            <a:noFill/>
          </a:ln>
        </p:spPr>
        <p:txBody>
          <a:bodyPr anchorCtr="0" anchor="t" bIns="0" lIns="0" spcFirstLastPara="1" rIns="0" wrap="square" tIns="0">
            <a:spAutoFit/>
          </a:bodyPr>
          <a:lstStyle/>
          <a:p>
            <a:pPr indent="0" lvl="0" marL="0" marR="0" rtl="0" algn="ctr">
              <a:lnSpc>
                <a:spcPct val="120002"/>
              </a:lnSpc>
              <a:spcBef>
                <a:spcPts val="0"/>
              </a:spcBef>
              <a:spcAft>
                <a:spcPts val="0"/>
              </a:spcAft>
              <a:buClr>
                <a:srgbClr val="000000"/>
              </a:buClr>
              <a:buSzPts val="7399"/>
              <a:buFont typeface="Arial"/>
              <a:buNone/>
            </a:pPr>
            <a:r>
              <a:rPr b="0" i="0" lang="en-US" sz="7399" u="none" cap="none" strike="noStrike">
                <a:solidFill>
                  <a:srgbClr val="136447"/>
                </a:solidFill>
                <a:latin typeface="Arial"/>
                <a:ea typeface="Arial"/>
                <a:cs typeface="Arial"/>
                <a:sym typeface="Arial"/>
              </a:rPr>
              <a:t>Neurons and Neural Communication</a:t>
            </a:r>
            <a:endParaRPr b="0" i="0" sz="7399" u="none" cap="none" strike="noStrike">
              <a:solidFill>
                <a:srgbClr val="136447"/>
              </a:solidFill>
              <a:latin typeface="Arial"/>
              <a:ea typeface="Arial"/>
              <a:cs typeface="Arial"/>
              <a:sym typeface="Arial"/>
            </a:endParaRPr>
          </a:p>
          <a:p>
            <a:pPr indent="0" lvl="0" marL="0" marR="0" rtl="0" algn="ctr">
              <a:lnSpc>
                <a:spcPct val="120002"/>
              </a:lnSpc>
              <a:spcBef>
                <a:spcPts val="0"/>
              </a:spcBef>
              <a:spcAft>
                <a:spcPts val="0"/>
              </a:spcAft>
              <a:buClr>
                <a:srgbClr val="000000"/>
              </a:buClr>
              <a:buSzPts val="7399"/>
              <a:buFont typeface="Arial"/>
              <a:buNone/>
            </a:pPr>
            <a:r>
              <a:rPr b="0" i="0" lang="en-US" sz="7399" u="none" cap="none" strike="noStrike">
                <a:solidFill>
                  <a:srgbClr val="0000FF"/>
                </a:solidFill>
                <a:latin typeface="Arial"/>
                <a:ea typeface="Arial"/>
                <a:cs typeface="Arial"/>
                <a:sym typeface="Arial"/>
              </a:rPr>
              <a:t>Neuronas y comunicación neuronal</a:t>
            </a:r>
            <a:endParaRPr b="0" i="0" sz="7399" u="none" cap="none" strike="noStrike">
              <a:solidFill>
                <a:srgbClr val="0000FF"/>
              </a:solidFill>
              <a:latin typeface="Arial"/>
              <a:ea typeface="Arial"/>
              <a:cs typeface="Arial"/>
              <a:sym typeface="Arial"/>
            </a:endParaRPr>
          </a:p>
        </p:txBody>
      </p:sp>
      <p:cxnSp>
        <p:nvCxnSpPr>
          <p:cNvPr id="1030" name="Google Shape;1030;p30"/>
          <p:cNvCxnSpPr/>
          <p:nvPr/>
        </p:nvCxnSpPr>
        <p:spPr>
          <a:xfrm>
            <a:off x="1460392" y="7000869"/>
            <a:ext cx="15367200" cy="0"/>
          </a:xfrm>
          <a:prstGeom prst="straightConnector1">
            <a:avLst/>
          </a:prstGeom>
          <a:noFill/>
          <a:ln cap="rnd" cmpd="sng" w="28575">
            <a:solidFill>
              <a:srgbClr val="136447"/>
            </a:solidFill>
            <a:prstDash val="solid"/>
            <a:round/>
            <a:headEnd len="sm" w="sm" type="none"/>
            <a:tailEnd len="sm" w="sm" type="none"/>
          </a:ln>
        </p:spPr>
      </p:cxnSp>
      <p:cxnSp>
        <p:nvCxnSpPr>
          <p:cNvPr id="1031" name="Google Shape;1031;p30"/>
          <p:cNvCxnSpPr/>
          <p:nvPr/>
        </p:nvCxnSpPr>
        <p:spPr>
          <a:xfrm>
            <a:off x="1460392" y="8577683"/>
            <a:ext cx="15367200" cy="0"/>
          </a:xfrm>
          <a:prstGeom prst="straightConnector1">
            <a:avLst/>
          </a:prstGeom>
          <a:noFill/>
          <a:ln cap="rnd" cmpd="sng" w="28575">
            <a:solidFill>
              <a:srgbClr val="136447"/>
            </a:solidFill>
            <a:prstDash val="solid"/>
            <a:round/>
            <a:headEnd len="sm" w="sm" type="none"/>
            <a:tailEnd len="sm" w="sm" type="none"/>
          </a:ln>
        </p:spPr>
      </p:cxnSp>
      <p:sp>
        <p:nvSpPr>
          <p:cNvPr id="1032" name="Google Shape;1032;p30"/>
          <p:cNvSpPr txBox="1"/>
          <p:nvPr/>
        </p:nvSpPr>
        <p:spPr>
          <a:xfrm>
            <a:off x="1599912" y="7188071"/>
            <a:ext cx="15088200" cy="1202400"/>
          </a:xfrm>
          <a:prstGeom prst="rect">
            <a:avLst/>
          </a:prstGeom>
          <a:noFill/>
          <a:ln>
            <a:noFill/>
          </a:ln>
        </p:spPr>
        <p:txBody>
          <a:bodyPr anchorCtr="0" anchor="t" bIns="0" lIns="0" spcFirstLastPara="1" rIns="0" wrap="square" tIns="0">
            <a:spAutoFit/>
          </a:bodyPr>
          <a:lstStyle/>
          <a:p>
            <a:pPr indent="0" lvl="0" marL="0" marR="0" rtl="0" algn="ctr">
              <a:lnSpc>
                <a:spcPct val="130005"/>
              </a:lnSpc>
              <a:spcBef>
                <a:spcPts val="0"/>
              </a:spcBef>
              <a:spcAft>
                <a:spcPts val="0"/>
              </a:spcAft>
              <a:buClr>
                <a:srgbClr val="000000"/>
              </a:buClr>
              <a:buSzPts val="3396"/>
              <a:buFont typeface="Arial"/>
              <a:buNone/>
            </a:pPr>
            <a:r>
              <a:rPr b="1" i="0" lang="en-US" sz="3396" u="none" cap="none" strike="noStrike">
                <a:solidFill>
                  <a:srgbClr val="2D2F3B"/>
                </a:solidFill>
                <a:latin typeface="Poppins Medium"/>
                <a:ea typeface="Poppins Medium"/>
                <a:cs typeface="Poppins Medium"/>
                <a:sym typeface="Poppins Medium"/>
              </a:rPr>
              <a:t>The Building Blocks of the Nervous System</a:t>
            </a:r>
            <a:endParaRPr b="1" i="0" sz="3396" u="none" cap="none" strike="noStrike">
              <a:solidFill>
                <a:srgbClr val="2D2F3B"/>
              </a:solidFill>
              <a:latin typeface="Poppins Medium"/>
              <a:ea typeface="Poppins Medium"/>
              <a:cs typeface="Poppins Medium"/>
              <a:sym typeface="Poppins Medium"/>
            </a:endParaRPr>
          </a:p>
          <a:p>
            <a:pPr indent="0" lvl="0" marL="0" marR="0" rtl="0" algn="ctr">
              <a:lnSpc>
                <a:spcPct val="130005"/>
              </a:lnSpc>
              <a:spcBef>
                <a:spcPts val="0"/>
              </a:spcBef>
              <a:spcAft>
                <a:spcPts val="0"/>
              </a:spcAft>
              <a:buClr>
                <a:srgbClr val="000000"/>
              </a:buClr>
              <a:buSzPts val="3396"/>
              <a:buFont typeface="Arial"/>
              <a:buNone/>
            </a:pPr>
            <a:r>
              <a:rPr b="1" i="0" lang="en-US" sz="3396" u="none" cap="none" strike="noStrike">
                <a:solidFill>
                  <a:srgbClr val="0000FF"/>
                </a:solidFill>
                <a:latin typeface="Poppins Medium"/>
                <a:ea typeface="Poppins Medium"/>
                <a:cs typeface="Poppins Medium"/>
                <a:sym typeface="Poppins Medium"/>
              </a:rPr>
              <a:t>Los componentes básicos del sistema nervioso</a:t>
            </a:r>
            <a:endParaRPr b="1" i="0" sz="3396" u="none" cap="none" strike="noStrike">
              <a:solidFill>
                <a:srgbClr val="0000FF"/>
              </a:solidFill>
              <a:latin typeface="Poppins Medium"/>
              <a:ea typeface="Poppins Medium"/>
              <a:cs typeface="Poppins Medium"/>
              <a:sym typeface="Poppins Medium"/>
            </a:endParaRPr>
          </a:p>
        </p:txBody>
      </p:sp>
      <p:sp>
        <p:nvSpPr>
          <p:cNvPr id="1033" name="Google Shape;1033;p30"/>
          <p:cNvSpPr/>
          <p:nvPr/>
        </p:nvSpPr>
        <p:spPr>
          <a:xfrm rot="10800000">
            <a:off x="2352410" y="-7439934"/>
            <a:ext cx="11718940" cy="10683767"/>
          </a:xfrm>
          <a:custGeom>
            <a:rect b="b" l="l" r="r" t="t"/>
            <a:pathLst>
              <a:path extrusionOk="0" h="10683767" w="11718940">
                <a:moveTo>
                  <a:pt x="0" y="0"/>
                </a:moveTo>
                <a:lnTo>
                  <a:pt x="11718940" y="0"/>
                </a:lnTo>
                <a:lnTo>
                  <a:pt x="11718940" y="10683767"/>
                </a:lnTo>
                <a:lnTo>
                  <a:pt x="0" y="10683767"/>
                </a:lnTo>
                <a:lnTo>
                  <a:pt x="0" y="0"/>
                </a:lnTo>
                <a:close/>
              </a:path>
            </a:pathLst>
          </a:custGeom>
          <a:blipFill rotWithShape="1">
            <a:blip r:embed="rId4">
              <a:alphaModFix amt="20000"/>
            </a:blip>
            <a:stretch>
              <a:fillRect b="0" l="0" r="0" t="0"/>
            </a:stretch>
          </a:blipFill>
          <a:ln>
            <a:noFill/>
          </a:ln>
        </p:spPr>
      </p:sp>
      <p:sp>
        <p:nvSpPr>
          <p:cNvPr id="1034" name="Google Shape;1034;p30"/>
          <p:cNvSpPr/>
          <p:nvPr/>
        </p:nvSpPr>
        <p:spPr>
          <a:xfrm flipH="1" rot="3349534">
            <a:off x="650968" y="-1653407"/>
            <a:ext cx="2360951" cy="5021400"/>
          </a:xfrm>
          <a:custGeom>
            <a:rect b="b" l="l" r="r" t="t"/>
            <a:pathLst>
              <a:path extrusionOk="0" h="4272401" w="2056093">
                <a:moveTo>
                  <a:pt x="2056093" y="0"/>
                </a:moveTo>
                <a:lnTo>
                  <a:pt x="0" y="0"/>
                </a:lnTo>
                <a:lnTo>
                  <a:pt x="0" y="4272401"/>
                </a:lnTo>
                <a:lnTo>
                  <a:pt x="2056093" y="4272401"/>
                </a:lnTo>
                <a:lnTo>
                  <a:pt x="2056093" y="0"/>
                </a:lnTo>
                <a:close/>
              </a:path>
            </a:pathLst>
          </a:custGeom>
          <a:blipFill rotWithShape="1">
            <a:blip r:embed="rId5">
              <a:alphaModFix amt="20000"/>
            </a:blip>
            <a:stretch>
              <a:fillRect b="0" l="0" r="0" t="0"/>
            </a:stretch>
          </a:blipFill>
          <a:ln>
            <a:noFill/>
          </a:ln>
        </p:spPr>
      </p:sp>
      <p:sp>
        <p:nvSpPr>
          <p:cNvPr id="1035" name="Google Shape;1035;p30"/>
          <p:cNvSpPr/>
          <p:nvPr/>
        </p:nvSpPr>
        <p:spPr>
          <a:xfrm>
            <a:off x="12697865" y="-4372785"/>
            <a:ext cx="7089520" cy="7089520"/>
          </a:xfrm>
          <a:custGeom>
            <a:rect b="b" l="l" r="r" t="t"/>
            <a:pathLst>
              <a:path extrusionOk="0" h="7089520" w="7089520">
                <a:moveTo>
                  <a:pt x="0" y="0"/>
                </a:moveTo>
                <a:lnTo>
                  <a:pt x="7089520" y="0"/>
                </a:lnTo>
                <a:lnTo>
                  <a:pt x="7089520" y="7089520"/>
                </a:lnTo>
                <a:lnTo>
                  <a:pt x="0" y="7089520"/>
                </a:lnTo>
                <a:lnTo>
                  <a:pt x="0" y="0"/>
                </a:lnTo>
                <a:close/>
              </a:path>
            </a:pathLst>
          </a:custGeom>
          <a:blipFill rotWithShape="1">
            <a:blip r:embed="rId6">
              <a:alphaModFix amt="20000"/>
            </a:blip>
            <a:stretch>
              <a:fillRect b="0" l="0" r="0" t="0"/>
            </a:stretch>
          </a:blipFill>
          <a:ln>
            <a:noFill/>
          </a:ln>
        </p:spPr>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AFAFA"/>
        </a:solidFill>
      </p:bgPr>
    </p:bg>
    <p:spTree>
      <p:nvGrpSpPr>
        <p:cNvPr id="1039" name="Shape 1039"/>
        <p:cNvGrpSpPr/>
        <p:nvPr/>
      </p:nvGrpSpPr>
      <p:grpSpPr>
        <a:xfrm>
          <a:off x="0" y="0"/>
          <a:ext cx="0" cy="0"/>
          <a:chOff x="0" y="0"/>
          <a:chExt cx="0" cy="0"/>
        </a:xfrm>
      </p:grpSpPr>
      <p:cxnSp>
        <p:nvCxnSpPr>
          <p:cNvPr id="1040" name="Google Shape;1040;p31"/>
          <p:cNvCxnSpPr/>
          <p:nvPr/>
        </p:nvCxnSpPr>
        <p:spPr>
          <a:xfrm flipH="1" rot="10800000">
            <a:off x="1025559" y="2392276"/>
            <a:ext cx="8115300" cy="18900"/>
          </a:xfrm>
          <a:prstGeom prst="straightConnector1">
            <a:avLst/>
          </a:prstGeom>
          <a:noFill/>
          <a:ln cap="rnd" cmpd="sng" w="28575">
            <a:solidFill>
              <a:srgbClr val="136447"/>
            </a:solidFill>
            <a:prstDash val="solid"/>
            <a:round/>
            <a:headEnd len="sm" w="sm" type="none"/>
            <a:tailEnd len="sm" w="sm" type="none"/>
          </a:ln>
        </p:spPr>
      </p:cxnSp>
      <p:sp>
        <p:nvSpPr>
          <p:cNvPr id="1041" name="Google Shape;1041;p31"/>
          <p:cNvSpPr txBox="1"/>
          <p:nvPr/>
        </p:nvSpPr>
        <p:spPr>
          <a:xfrm>
            <a:off x="1028795" y="265275"/>
            <a:ext cx="12930900" cy="1950000"/>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Clr>
                <a:srgbClr val="000000"/>
              </a:buClr>
              <a:buSzPts val="5508"/>
              <a:buFont typeface="Arial"/>
              <a:buNone/>
            </a:pPr>
            <a:r>
              <a:rPr b="1" i="0" lang="en-US" sz="5508" u="none" cap="none" strike="noStrike">
                <a:solidFill>
                  <a:srgbClr val="136447"/>
                </a:solidFill>
                <a:latin typeface="Poppins"/>
                <a:ea typeface="Poppins"/>
                <a:cs typeface="Poppins"/>
                <a:sym typeface="Poppins"/>
              </a:rPr>
              <a:t>What are Neurons?</a:t>
            </a:r>
            <a:endParaRPr b="1" i="0" sz="5508" u="none" cap="none" strike="noStrike">
              <a:solidFill>
                <a:srgbClr val="136447"/>
              </a:solidFill>
              <a:latin typeface="Poppins"/>
              <a:ea typeface="Poppins"/>
              <a:cs typeface="Poppins"/>
              <a:sym typeface="Poppins"/>
            </a:endParaRPr>
          </a:p>
          <a:p>
            <a:pPr indent="0" lvl="0" marL="0" marR="0" rtl="0" algn="l">
              <a:lnSpc>
                <a:spcPct val="130009"/>
              </a:lnSpc>
              <a:spcBef>
                <a:spcPts val="0"/>
              </a:spcBef>
              <a:spcAft>
                <a:spcPts val="0"/>
              </a:spcAft>
              <a:buClr>
                <a:srgbClr val="000000"/>
              </a:buClr>
              <a:buSzPts val="5508"/>
              <a:buFont typeface="Arial"/>
              <a:buNone/>
            </a:pPr>
            <a:r>
              <a:rPr b="1" i="0" lang="en-US" sz="5508" u="none" cap="none" strike="noStrike">
                <a:solidFill>
                  <a:srgbClr val="0000FF"/>
                </a:solidFill>
                <a:latin typeface="Poppins"/>
                <a:ea typeface="Poppins"/>
                <a:cs typeface="Poppins"/>
                <a:sym typeface="Poppins"/>
              </a:rPr>
              <a:t>¿Qué son las neuronas?</a:t>
            </a:r>
            <a:endParaRPr b="1" i="0" sz="5508" u="none" cap="none" strike="noStrike">
              <a:solidFill>
                <a:srgbClr val="0000FF"/>
              </a:solidFill>
              <a:latin typeface="Poppins"/>
              <a:ea typeface="Poppins"/>
              <a:cs typeface="Poppins"/>
              <a:sym typeface="Poppins"/>
            </a:endParaRPr>
          </a:p>
        </p:txBody>
      </p:sp>
      <p:sp>
        <p:nvSpPr>
          <p:cNvPr id="1042" name="Google Shape;1042;p31"/>
          <p:cNvSpPr txBox="1"/>
          <p:nvPr/>
        </p:nvSpPr>
        <p:spPr>
          <a:xfrm>
            <a:off x="531000" y="2588175"/>
            <a:ext cx="9104400" cy="7657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2500"/>
              <a:buFont typeface="Arial"/>
              <a:buNone/>
            </a:pPr>
            <a:r>
              <a:rPr b="1" i="0" lang="en-US" sz="2500" u="none" cap="none" strike="noStrike">
                <a:solidFill>
                  <a:srgbClr val="2D2F3B"/>
                </a:solidFill>
                <a:latin typeface="Poppins Medium"/>
                <a:ea typeface="Poppins Medium"/>
                <a:cs typeface="Poppins Medium"/>
                <a:sym typeface="Poppins Medium"/>
              </a:rPr>
              <a:t>Neurons are the functional units of the nervous system</a:t>
            </a:r>
            <a:endParaRPr b="1" i="0" sz="25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500"/>
              <a:buFont typeface="Arial"/>
              <a:buNone/>
            </a:pPr>
            <a:r>
              <a:rPr b="1" i="0" lang="en-US" sz="2500" u="none" cap="none" strike="noStrike">
                <a:solidFill>
                  <a:srgbClr val="0000FF"/>
                </a:solidFill>
                <a:latin typeface="Poppins Medium"/>
                <a:ea typeface="Poppins Medium"/>
                <a:cs typeface="Poppins Medium"/>
                <a:sym typeface="Poppins Medium"/>
              </a:rPr>
              <a:t>Las neuronas son las unidades funcionales del sistema nervioso</a:t>
            </a:r>
            <a:endParaRPr b="1" i="0" sz="25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500"/>
              <a:buFont typeface="Arial"/>
              <a:buNone/>
            </a:pPr>
            <a:r>
              <a:t/>
            </a:r>
            <a:endParaRPr b="1" i="0" sz="25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500"/>
              <a:buFont typeface="Arial"/>
              <a:buNone/>
            </a:pPr>
            <a:r>
              <a:rPr b="1" i="0" lang="en-US" sz="2500" u="none" cap="none" strike="noStrike">
                <a:solidFill>
                  <a:srgbClr val="2D2F3B"/>
                </a:solidFill>
                <a:latin typeface="Poppins Medium"/>
                <a:ea typeface="Poppins Medium"/>
                <a:cs typeface="Poppins Medium"/>
                <a:sym typeface="Poppins Medium"/>
              </a:rPr>
              <a:t>They are specialized to receive, process, and transmit information</a:t>
            </a:r>
            <a:endParaRPr b="1" i="0" sz="25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500"/>
              <a:buFont typeface="Arial"/>
              <a:buNone/>
            </a:pPr>
            <a:r>
              <a:rPr b="1" i="0" lang="en-US" sz="2500" u="none" cap="none" strike="noStrike">
                <a:solidFill>
                  <a:srgbClr val="0000FF"/>
                </a:solidFill>
                <a:latin typeface="Poppins Medium"/>
                <a:ea typeface="Poppins Medium"/>
                <a:cs typeface="Poppins Medium"/>
                <a:sym typeface="Poppins Medium"/>
              </a:rPr>
              <a:t>Están especializadas en recibir, procesar y transmitir información</a:t>
            </a:r>
            <a:endParaRPr b="1" i="0" sz="25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500"/>
              <a:buFont typeface="Arial"/>
              <a:buNone/>
            </a:pPr>
            <a:r>
              <a:t/>
            </a:r>
            <a:endParaRPr b="1" i="0" sz="25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500"/>
              <a:buFont typeface="Arial"/>
              <a:buNone/>
            </a:pPr>
            <a:r>
              <a:rPr b="1" i="0" lang="en-US" sz="2500" u="none" cap="none" strike="noStrike">
                <a:solidFill>
                  <a:srgbClr val="2D2F3B"/>
                </a:solidFill>
                <a:latin typeface="Poppins Medium"/>
                <a:ea typeface="Poppins Medium"/>
                <a:cs typeface="Poppins Medium"/>
                <a:sym typeface="Poppins Medium"/>
              </a:rPr>
              <a:t>Humans have about 86 BILLION neurons - this means TRILLIONS of connections!</a:t>
            </a:r>
            <a:endParaRPr b="1" i="0" sz="25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500"/>
              <a:buFont typeface="Arial"/>
              <a:buNone/>
            </a:pPr>
            <a:r>
              <a:rPr b="1" i="0" lang="en-US" sz="2500" u="none" cap="none" strike="noStrike">
                <a:solidFill>
                  <a:srgbClr val="0000FF"/>
                </a:solidFill>
                <a:latin typeface="Poppins Medium"/>
                <a:ea typeface="Poppins Medium"/>
                <a:cs typeface="Poppins Medium"/>
                <a:sym typeface="Poppins Medium"/>
              </a:rPr>
              <a:t>Los seres humanos tenemos alrededor de 86 mil millones de neuronas, ¡lo que significa billones de conexiones!</a:t>
            </a:r>
            <a:endParaRPr b="1" i="0" sz="25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500"/>
              <a:buFont typeface="Arial"/>
              <a:buNone/>
            </a:pPr>
            <a:r>
              <a:t/>
            </a:r>
            <a:endParaRPr b="1" i="0" sz="25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500"/>
              <a:buFont typeface="Arial"/>
              <a:buNone/>
            </a:pPr>
            <a:r>
              <a:rPr b="1" i="0" lang="en-US" sz="2500" u="none" cap="none" strike="noStrike">
                <a:solidFill>
                  <a:srgbClr val="2D2F3B"/>
                </a:solidFill>
                <a:latin typeface="Poppins Medium"/>
                <a:ea typeface="Poppins Medium"/>
                <a:cs typeface="Poppins Medium"/>
                <a:sym typeface="Poppins Medium"/>
              </a:rPr>
              <a:t>Come in all shapes and sizes!</a:t>
            </a:r>
            <a:endParaRPr b="1" i="0" sz="25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500"/>
              <a:buFont typeface="Arial"/>
              <a:buNone/>
            </a:pPr>
            <a:r>
              <a:rPr b="1" i="0" lang="en-US" sz="2500" u="none" cap="none" strike="noStrike">
                <a:solidFill>
                  <a:srgbClr val="0000FF"/>
                </a:solidFill>
                <a:latin typeface="Poppins Medium"/>
                <a:ea typeface="Poppins Medium"/>
                <a:cs typeface="Poppins Medium"/>
                <a:sym typeface="Poppins Medium"/>
              </a:rPr>
              <a:t>¡Las hay de todas las formas y tamaños!</a:t>
            </a:r>
            <a:endParaRPr b="1" i="0" sz="25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p:txBody>
      </p:sp>
      <p:pic>
        <p:nvPicPr>
          <p:cNvPr id="1043" name="Google Shape;1043;p31" title="Screenshot 2025-11-13 at 10.12.12 PM.png"/>
          <p:cNvPicPr preferRelativeResize="0"/>
          <p:nvPr/>
        </p:nvPicPr>
        <p:blipFill rotWithShape="1">
          <a:blip r:embed="rId3">
            <a:alphaModFix/>
          </a:blip>
          <a:srcRect b="0" l="5918" r="0" t="0"/>
          <a:stretch/>
        </p:blipFill>
        <p:spPr>
          <a:xfrm>
            <a:off x="10129050" y="798400"/>
            <a:ext cx="7842700" cy="5502450"/>
          </a:xfrm>
          <a:prstGeom prst="rect">
            <a:avLst/>
          </a:prstGeom>
          <a:noFill/>
          <a:ln>
            <a:noFill/>
          </a:ln>
        </p:spPr>
      </p:pic>
      <p:pic>
        <p:nvPicPr>
          <p:cNvPr id="1044" name="Google Shape;1044;p31" title="Screenshot 2025-11-18 at 7.11.43 PM.png"/>
          <p:cNvPicPr preferRelativeResize="0"/>
          <p:nvPr/>
        </p:nvPicPr>
        <p:blipFill rotWithShape="1">
          <a:blip r:embed="rId4">
            <a:alphaModFix/>
          </a:blip>
          <a:srcRect b="0" l="0" r="0" t="0"/>
          <a:stretch/>
        </p:blipFill>
        <p:spPr>
          <a:xfrm>
            <a:off x="9876500" y="6788900"/>
            <a:ext cx="8347798" cy="299011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AFAFA"/>
        </a:solidFill>
      </p:bgPr>
    </p:bg>
    <p:spTree>
      <p:nvGrpSpPr>
        <p:cNvPr id="1048" name="Shape 1048"/>
        <p:cNvGrpSpPr/>
        <p:nvPr/>
      </p:nvGrpSpPr>
      <p:grpSpPr>
        <a:xfrm>
          <a:off x="0" y="0"/>
          <a:ext cx="0" cy="0"/>
          <a:chOff x="0" y="0"/>
          <a:chExt cx="0" cy="0"/>
        </a:xfrm>
      </p:grpSpPr>
      <p:sp>
        <p:nvSpPr>
          <p:cNvPr id="1049" name="Google Shape;1049;p32"/>
          <p:cNvSpPr/>
          <p:nvPr/>
        </p:nvSpPr>
        <p:spPr>
          <a:xfrm>
            <a:off x="3150900" y="9867900"/>
            <a:ext cx="11986200" cy="419100"/>
          </a:xfrm>
          <a:prstGeom prst="rightArrow">
            <a:avLst>
              <a:gd fmla="val 50000" name="adj1"/>
              <a:gd fmla="val 50000" name="adj2"/>
            </a:avLst>
          </a:prstGeom>
          <a:solidFill>
            <a:srgbClr val="13655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id="1050" name="Google Shape;1050;p32" title="Screenshot 2025-11-14 at 1.21.24 PM.png"/>
          <p:cNvPicPr preferRelativeResize="0"/>
          <p:nvPr/>
        </p:nvPicPr>
        <p:blipFill rotWithShape="1">
          <a:blip r:embed="rId3">
            <a:alphaModFix/>
          </a:blip>
          <a:srcRect b="0" l="0" r="0" t="0"/>
          <a:stretch/>
        </p:blipFill>
        <p:spPr>
          <a:xfrm>
            <a:off x="2467965" y="2389425"/>
            <a:ext cx="13352072" cy="7301400"/>
          </a:xfrm>
          <a:prstGeom prst="rect">
            <a:avLst/>
          </a:prstGeom>
          <a:noFill/>
          <a:ln>
            <a:noFill/>
          </a:ln>
        </p:spPr>
      </p:pic>
      <p:sp>
        <p:nvSpPr>
          <p:cNvPr id="1051" name="Google Shape;1051;p32"/>
          <p:cNvSpPr txBox="1"/>
          <p:nvPr/>
        </p:nvSpPr>
        <p:spPr>
          <a:xfrm>
            <a:off x="4547272" y="9243300"/>
            <a:ext cx="10650300" cy="601500"/>
          </a:xfrm>
          <a:prstGeom prst="rect">
            <a:avLst/>
          </a:prstGeom>
          <a:noFill/>
          <a:ln>
            <a:noFill/>
          </a:ln>
        </p:spPr>
        <p:txBody>
          <a:bodyPr anchorCtr="0" anchor="t" bIns="0" lIns="0" spcFirstLastPara="1" rIns="0" wrap="square" tIns="0">
            <a:spAutoFit/>
          </a:bodyPr>
          <a:lstStyle/>
          <a:p>
            <a:pPr indent="0" lvl="0" marL="0" marR="0" rtl="0" algn="ctr">
              <a:lnSpc>
                <a:spcPct val="130009"/>
              </a:lnSpc>
              <a:spcBef>
                <a:spcPts val="0"/>
              </a:spcBef>
              <a:spcAft>
                <a:spcPts val="0"/>
              </a:spcAft>
              <a:buClr>
                <a:srgbClr val="000000"/>
              </a:buClr>
              <a:buSzPts val="3908"/>
              <a:buFont typeface="Arial"/>
              <a:buNone/>
            </a:pPr>
            <a:r>
              <a:rPr b="1" i="0" lang="en-US" sz="3908" u="none" cap="none" strike="noStrike">
                <a:solidFill>
                  <a:srgbClr val="136447"/>
                </a:solidFill>
                <a:latin typeface="Poppins"/>
                <a:ea typeface="Poppins"/>
                <a:cs typeface="Poppins"/>
                <a:sym typeface="Poppins"/>
              </a:rPr>
              <a:t>Direction of Signal | </a:t>
            </a:r>
            <a:r>
              <a:rPr b="1" i="0" lang="en-US" sz="3908" u="none" cap="none" strike="noStrike">
                <a:solidFill>
                  <a:srgbClr val="0000FF"/>
                </a:solidFill>
                <a:latin typeface="Poppins"/>
                <a:ea typeface="Poppins"/>
                <a:cs typeface="Poppins"/>
                <a:sym typeface="Poppins"/>
              </a:rPr>
              <a:t>Dirección de la señal</a:t>
            </a:r>
            <a:endParaRPr b="0" i="0" sz="100" u="none" cap="none" strike="noStrike">
              <a:solidFill>
                <a:srgbClr val="0000FF"/>
              </a:solidFill>
              <a:latin typeface="Arial"/>
              <a:ea typeface="Arial"/>
              <a:cs typeface="Arial"/>
              <a:sym typeface="Arial"/>
            </a:endParaRPr>
          </a:p>
        </p:txBody>
      </p:sp>
      <p:cxnSp>
        <p:nvCxnSpPr>
          <p:cNvPr id="1052" name="Google Shape;1052;p32"/>
          <p:cNvCxnSpPr/>
          <p:nvPr/>
        </p:nvCxnSpPr>
        <p:spPr>
          <a:xfrm flipH="1" rot="10800000">
            <a:off x="1025559" y="2392276"/>
            <a:ext cx="8115300" cy="18900"/>
          </a:xfrm>
          <a:prstGeom prst="straightConnector1">
            <a:avLst/>
          </a:prstGeom>
          <a:noFill/>
          <a:ln cap="rnd" cmpd="sng" w="28575">
            <a:solidFill>
              <a:srgbClr val="136447"/>
            </a:solidFill>
            <a:prstDash val="solid"/>
            <a:round/>
            <a:headEnd len="sm" w="sm" type="none"/>
            <a:tailEnd len="sm" w="sm" type="none"/>
          </a:ln>
        </p:spPr>
      </p:cxnSp>
      <p:sp>
        <p:nvSpPr>
          <p:cNvPr id="1053" name="Google Shape;1053;p32"/>
          <p:cNvSpPr txBox="1"/>
          <p:nvPr/>
        </p:nvSpPr>
        <p:spPr>
          <a:xfrm>
            <a:off x="1028795" y="265275"/>
            <a:ext cx="12930900" cy="1950000"/>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Clr>
                <a:srgbClr val="000000"/>
              </a:buClr>
              <a:buSzPts val="5508"/>
              <a:buFont typeface="Arial"/>
              <a:buNone/>
            </a:pPr>
            <a:r>
              <a:rPr b="1" i="0" lang="en-US" sz="5508" u="none" cap="none" strike="noStrike">
                <a:solidFill>
                  <a:srgbClr val="136447"/>
                </a:solidFill>
                <a:latin typeface="Poppins"/>
                <a:ea typeface="Poppins"/>
                <a:cs typeface="Poppins"/>
                <a:sym typeface="Poppins"/>
              </a:rPr>
              <a:t>What are Neurons?</a:t>
            </a:r>
            <a:endParaRPr b="1" i="0" sz="5508" u="none" cap="none" strike="noStrike">
              <a:solidFill>
                <a:srgbClr val="136447"/>
              </a:solidFill>
              <a:latin typeface="Poppins"/>
              <a:ea typeface="Poppins"/>
              <a:cs typeface="Poppins"/>
              <a:sym typeface="Poppins"/>
            </a:endParaRPr>
          </a:p>
          <a:p>
            <a:pPr indent="0" lvl="0" marL="0" marR="0" rtl="0" algn="l">
              <a:lnSpc>
                <a:spcPct val="130009"/>
              </a:lnSpc>
              <a:spcBef>
                <a:spcPts val="0"/>
              </a:spcBef>
              <a:spcAft>
                <a:spcPts val="0"/>
              </a:spcAft>
              <a:buClr>
                <a:srgbClr val="000000"/>
              </a:buClr>
              <a:buSzPts val="5508"/>
              <a:buFont typeface="Arial"/>
              <a:buNone/>
            </a:pPr>
            <a:r>
              <a:rPr b="1" i="0" lang="en-US" sz="5508" u="none" cap="none" strike="noStrike">
                <a:solidFill>
                  <a:srgbClr val="0000FF"/>
                </a:solidFill>
                <a:latin typeface="Poppins"/>
                <a:ea typeface="Poppins"/>
                <a:cs typeface="Poppins"/>
                <a:sym typeface="Poppins"/>
              </a:rPr>
              <a:t>¿Qué son las neuronas?</a:t>
            </a:r>
            <a:endParaRPr b="1" i="0" sz="5508" u="none" cap="none" strike="noStrike">
              <a:solidFill>
                <a:srgbClr val="0000FF"/>
              </a:solidFill>
              <a:latin typeface="Poppins"/>
              <a:ea typeface="Poppins"/>
              <a:cs typeface="Poppins"/>
              <a:sym typeface="Poppins"/>
            </a:endParaRPr>
          </a:p>
        </p:txBody>
      </p:sp>
      <p:sp>
        <p:nvSpPr>
          <p:cNvPr id="1054" name="Google Shape;1054;p32"/>
          <p:cNvSpPr txBox="1"/>
          <p:nvPr/>
        </p:nvSpPr>
        <p:spPr>
          <a:xfrm>
            <a:off x="5804950" y="2389425"/>
            <a:ext cx="2191800" cy="39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0000FF"/>
                </a:solidFill>
                <a:latin typeface="Poppins"/>
                <a:ea typeface="Poppins"/>
                <a:cs typeface="Poppins"/>
                <a:sym typeface="Poppins"/>
              </a:rPr>
              <a:t>Dendrita</a:t>
            </a:r>
            <a:endParaRPr b="0" i="0" sz="2600" u="none" cap="none" strike="noStrike">
              <a:solidFill>
                <a:srgbClr val="0000FF"/>
              </a:solidFill>
              <a:latin typeface="Poppins"/>
              <a:ea typeface="Poppins"/>
              <a:cs typeface="Poppins"/>
              <a:sym typeface="Poppins"/>
            </a:endParaRPr>
          </a:p>
        </p:txBody>
      </p:sp>
      <p:sp>
        <p:nvSpPr>
          <p:cNvPr id="1055" name="Google Shape;1055;p32"/>
          <p:cNvSpPr txBox="1"/>
          <p:nvPr/>
        </p:nvSpPr>
        <p:spPr>
          <a:xfrm>
            <a:off x="7108075" y="4027925"/>
            <a:ext cx="1737600" cy="296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chemeClr val="dk1"/>
                </a:solidFill>
                <a:latin typeface="Poppins"/>
                <a:ea typeface="Poppins"/>
                <a:cs typeface="Poppins"/>
                <a:sym typeface="Poppins"/>
              </a:rPr>
              <a:t>Soma</a:t>
            </a:r>
            <a:endParaRPr b="0" i="0" sz="2600" u="none" cap="none" strike="noStrike">
              <a:solidFill>
                <a:schemeClr val="dk1"/>
              </a:solidFill>
              <a:latin typeface="Poppins"/>
              <a:ea typeface="Poppins"/>
              <a:cs typeface="Poppins"/>
              <a:sym typeface="Poppins"/>
            </a:endParaRPr>
          </a:p>
        </p:txBody>
      </p:sp>
      <p:sp>
        <p:nvSpPr>
          <p:cNvPr id="1056" name="Google Shape;1056;p32"/>
          <p:cNvSpPr txBox="1"/>
          <p:nvPr/>
        </p:nvSpPr>
        <p:spPr>
          <a:xfrm>
            <a:off x="2922225" y="9465000"/>
            <a:ext cx="1737600" cy="158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0000FF"/>
                </a:solidFill>
                <a:latin typeface="Poppins"/>
                <a:ea typeface="Poppins"/>
                <a:cs typeface="Poppins"/>
                <a:sym typeface="Poppins"/>
              </a:rPr>
              <a:t>Núcleo</a:t>
            </a:r>
            <a:endParaRPr b="0" i="0" sz="2600" u="none" cap="none" strike="noStrike">
              <a:solidFill>
                <a:srgbClr val="0000FF"/>
              </a:solidFill>
              <a:latin typeface="Poppins"/>
              <a:ea typeface="Poppins"/>
              <a:cs typeface="Poppins"/>
              <a:sym typeface="Poppins"/>
            </a:endParaRPr>
          </a:p>
        </p:txBody>
      </p:sp>
      <p:sp>
        <p:nvSpPr>
          <p:cNvPr id="1057" name="Google Shape;1057;p32"/>
          <p:cNvSpPr txBox="1"/>
          <p:nvPr/>
        </p:nvSpPr>
        <p:spPr>
          <a:xfrm>
            <a:off x="8845675" y="5942138"/>
            <a:ext cx="2053500" cy="39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0000FF"/>
                </a:solidFill>
                <a:latin typeface="Poppins"/>
                <a:ea typeface="Poppins"/>
                <a:cs typeface="Poppins"/>
                <a:sym typeface="Poppins"/>
              </a:rPr>
              <a:t>Axón</a:t>
            </a:r>
            <a:endParaRPr b="0" i="0" sz="2600" u="none" cap="none" strike="noStrike">
              <a:solidFill>
                <a:srgbClr val="0000FF"/>
              </a:solidFill>
              <a:latin typeface="Poppins"/>
              <a:ea typeface="Poppins"/>
              <a:cs typeface="Poppins"/>
              <a:sym typeface="Poppins"/>
            </a:endParaRPr>
          </a:p>
        </p:txBody>
      </p:sp>
      <p:sp>
        <p:nvSpPr>
          <p:cNvPr id="1058" name="Google Shape;1058;p32"/>
          <p:cNvSpPr txBox="1"/>
          <p:nvPr/>
        </p:nvSpPr>
        <p:spPr>
          <a:xfrm>
            <a:off x="10267550" y="8332250"/>
            <a:ext cx="4027800" cy="158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0000FF"/>
                </a:solidFill>
                <a:latin typeface="Poppins"/>
                <a:ea typeface="Poppins"/>
                <a:cs typeface="Poppins"/>
                <a:sym typeface="Poppins"/>
              </a:rPr>
              <a:t>Vaina de mielina</a:t>
            </a:r>
            <a:endParaRPr b="0" i="0" sz="2600" u="none" cap="none" strike="noStrike">
              <a:solidFill>
                <a:srgbClr val="0000FF"/>
              </a:solidFill>
              <a:latin typeface="Poppins"/>
              <a:ea typeface="Poppins"/>
              <a:cs typeface="Poppins"/>
              <a:sym typeface="Poppins"/>
            </a:endParaRPr>
          </a:p>
        </p:txBody>
      </p:sp>
      <p:sp>
        <p:nvSpPr>
          <p:cNvPr id="1059" name="Google Shape;1059;p32"/>
          <p:cNvSpPr txBox="1"/>
          <p:nvPr/>
        </p:nvSpPr>
        <p:spPr>
          <a:xfrm>
            <a:off x="10168500" y="2784225"/>
            <a:ext cx="27051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0000FF"/>
                </a:solidFill>
                <a:latin typeface="Poppins"/>
                <a:ea typeface="Poppins"/>
                <a:cs typeface="Poppins"/>
                <a:sym typeface="Poppins"/>
              </a:rPr>
              <a:t>Nódulo de Ranvier</a:t>
            </a:r>
            <a:endParaRPr b="0" i="0" sz="2600" u="none" cap="none" strike="noStrike">
              <a:solidFill>
                <a:srgbClr val="0000FF"/>
              </a:solidFill>
              <a:latin typeface="Poppins"/>
              <a:ea typeface="Poppins"/>
              <a:cs typeface="Poppins"/>
              <a:sym typeface="Poppins"/>
            </a:endParaRPr>
          </a:p>
        </p:txBody>
      </p:sp>
      <p:sp>
        <p:nvSpPr>
          <p:cNvPr id="1060" name="Google Shape;1060;p32"/>
          <p:cNvSpPr txBox="1"/>
          <p:nvPr/>
        </p:nvSpPr>
        <p:spPr>
          <a:xfrm>
            <a:off x="15045350" y="2411175"/>
            <a:ext cx="2527200" cy="82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0000FF"/>
                </a:solidFill>
                <a:latin typeface="Poppins"/>
                <a:ea typeface="Poppins"/>
                <a:cs typeface="Poppins"/>
                <a:sym typeface="Poppins"/>
              </a:rPr>
              <a:t>Terminal axónica</a:t>
            </a:r>
            <a:endParaRPr b="0" i="0" sz="2600" u="none" cap="none" strike="noStrike">
              <a:solidFill>
                <a:srgbClr val="0000FF"/>
              </a:solidFill>
              <a:latin typeface="Poppins"/>
              <a:ea typeface="Poppins"/>
              <a:cs typeface="Poppins"/>
              <a:sym typeface="Poppins"/>
            </a:endParaRPr>
          </a:p>
        </p:txBody>
      </p:sp>
      <p:sp>
        <p:nvSpPr>
          <p:cNvPr id="1061" name="Google Shape;1061;p32"/>
          <p:cNvSpPr txBox="1"/>
          <p:nvPr/>
        </p:nvSpPr>
        <p:spPr>
          <a:xfrm>
            <a:off x="13090750" y="7325300"/>
            <a:ext cx="3731700" cy="45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0000FF"/>
                </a:solidFill>
                <a:latin typeface="Poppins"/>
                <a:ea typeface="Poppins"/>
                <a:cs typeface="Poppins"/>
                <a:sym typeface="Poppins"/>
              </a:rPr>
              <a:t>Célula de Schwann</a:t>
            </a:r>
            <a:endParaRPr b="0" i="0" sz="2600" u="none" cap="none" strike="noStrike">
              <a:solidFill>
                <a:srgbClr val="0000FF"/>
              </a:solidFill>
              <a:latin typeface="Poppins"/>
              <a:ea typeface="Poppins"/>
              <a:cs typeface="Poppins"/>
              <a:sym typeface="Poppins"/>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AFAFA"/>
        </a:solidFill>
      </p:bgPr>
    </p:bg>
    <p:spTree>
      <p:nvGrpSpPr>
        <p:cNvPr id="1065" name="Shape 1065"/>
        <p:cNvGrpSpPr/>
        <p:nvPr/>
      </p:nvGrpSpPr>
      <p:grpSpPr>
        <a:xfrm>
          <a:off x="0" y="0"/>
          <a:ext cx="0" cy="0"/>
          <a:chOff x="0" y="0"/>
          <a:chExt cx="0" cy="0"/>
        </a:xfrm>
      </p:grpSpPr>
      <p:cxnSp>
        <p:nvCxnSpPr>
          <p:cNvPr id="1066" name="Google Shape;1066;p33"/>
          <p:cNvCxnSpPr/>
          <p:nvPr/>
        </p:nvCxnSpPr>
        <p:spPr>
          <a:xfrm flipH="1" rot="10800000">
            <a:off x="9144034" y="2134826"/>
            <a:ext cx="8115300" cy="18900"/>
          </a:xfrm>
          <a:prstGeom prst="straightConnector1">
            <a:avLst/>
          </a:prstGeom>
          <a:noFill/>
          <a:ln cap="rnd" cmpd="sng" w="28575">
            <a:solidFill>
              <a:srgbClr val="136447"/>
            </a:solidFill>
            <a:prstDash val="solid"/>
            <a:round/>
            <a:headEnd len="sm" w="sm" type="none"/>
            <a:tailEnd len="sm" w="sm" type="none"/>
          </a:ln>
        </p:spPr>
      </p:cxnSp>
      <p:sp>
        <p:nvSpPr>
          <p:cNvPr id="1067" name="Google Shape;1067;p33"/>
          <p:cNvSpPr txBox="1"/>
          <p:nvPr/>
        </p:nvSpPr>
        <p:spPr>
          <a:xfrm>
            <a:off x="4106900" y="976175"/>
            <a:ext cx="13784100" cy="863100"/>
          </a:xfrm>
          <a:prstGeom prst="rect">
            <a:avLst/>
          </a:prstGeom>
          <a:noFill/>
          <a:ln>
            <a:noFill/>
          </a:ln>
        </p:spPr>
        <p:txBody>
          <a:bodyPr anchorCtr="0" anchor="t" bIns="0" lIns="0" spcFirstLastPara="1" rIns="0" wrap="square" tIns="0">
            <a:spAutoFit/>
          </a:bodyPr>
          <a:lstStyle/>
          <a:p>
            <a:pPr indent="0" lvl="0" marL="0" marR="0" rtl="0" algn="ctr">
              <a:lnSpc>
                <a:spcPct val="130009"/>
              </a:lnSpc>
              <a:spcBef>
                <a:spcPts val="0"/>
              </a:spcBef>
              <a:spcAft>
                <a:spcPts val="0"/>
              </a:spcAft>
              <a:buClr>
                <a:srgbClr val="000000"/>
              </a:buClr>
              <a:buSzPts val="5608"/>
              <a:buFont typeface="Arial"/>
              <a:buNone/>
            </a:pPr>
            <a:r>
              <a:rPr b="1" i="0" lang="en-US" sz="5608" u="none" cap="none" strike="noStrike">
                <a:solidFill>
                  <a:srgbClr val="136447"/>
                </a:solidFill>
                <a:latin typeface="Poppins"/>
                <a:ea typeface="Poppins"/>
                <a:cs typeface="Poppins"/>
                <a:sym typeface="Poppins"/>
              </a:rPr>
              <a:t>Na+/K+ Pump | </a:t>
            </a:r>
            <a:r>
              <a:rPr b="1" i="0" lang="en-US" sz="5608" u="none" cap="none" strike="noStrike">
                <a:solidFill>
                  <a:srgbClr val="0000FF"/>
                </a:solidFill>
                <a:latin typeface="Poppins"/>
                <a:ea typeface="Poppins"/>
                <a:cs typeface="Poppins"/>
                <a:sym typeface="Poppins"/>
              </a:rPr>
              <a:t>Bomba de Na+/K+</a:t>
            </a:r>
            <a:endParaRPr b="1" i="0" sz="5608" u="none" cap="none" strike="noStrike">
              <a:solidFill>
                <a:srgbClr val="0000FF"/>
              </a:solidFill>
              <a:latin typeface="Poppins"/>
              <a:ea typeface="Poppins"/>
              <a:cs typeface="Poppins"/>
              <a:sym typeface="Poppins"/>
            </a:endParaRPr>
          </a:p>
        </p:txBody>
      </p:sp>
      <p:pic>
        <p:nvPicPr>
          <p:cNvPr id="1068" name="Google Shape;1068;p33" title="Screenshot 2025-11-14 at 2.13.22 PM.png"/>
          <p:cNvPicPr preferRelativeResize="0"/>
          <p:nvPr/>
        </p:nvPicPr>
        <p:blipFill rotWithShape="1">
          <a:blip r:embed="rId3">
            <a:alphaModFix/>
          </a:blip>
          <a:srcRect b="0" l="0" r="0" t="0"/>
          <a:stretch/>
        </p:blipFill>
        <p:spPr>
          <a:xfrm>
            <a:off x="179600" y="2449275"/>
            <a:ext cx="9827624" cy="7674425"/>
          </a:xfrm>
          <a:prstGeom prst="rect">
            <a:avLst/>
          </a:prstGeom>
          <a:noFill/>
          <a:ln>
            <a:noFill/>
          </a:ln>
        </p:spPr>
      </p:pic>
      <p:pic>
        <p:nvPicPr>
          <p:cNvPr id="1069" name="Google Shape;1069;p33" title="Screenshot 2025-11-14 at 2.30.20 PM.png"/>
          <p:cNvPicPr preferRelativeResize="0"/>
          <p:nvPr/>
        </p:nvPicPr>
        <p:blipFill rotWithShape="1">
          <a:blip r:embed="rId4">
            <a:alphaModFix/>
          </a:blip>
          <a:srcRect b="0" l="0" r="0" t="0"/>
          <a:stretch/>
        </p:blipFill>
        <p:spPr>
          <a:xfrm>
            <a:off x="10554574" y="4269726"/>
            <a:ext cx="6610350" cy="5353050"/>
          </a:xfrm>
          <a:prstGeom prst="rect">
            <a:avLst/>
          </a:prstGeom>
          <a:noFill/>
          <a:ln>
            <a:noFill/>
          </a:ln>
        </p:spPr>
      </p:pic>
      <p:sp>
        <p:nvSpPr>
          <p:cNvPr id="1070" name="Google Shape;1070;p33"/>
          <p:cNvSpPr txBox="1"/>
          <p:nvPr/>
        </p:nvSpPr>
        <p:spPr>
          <a:xfrm>
            <a:off x="11714750" y="2449275"/>
            <a:ext cx="4290000" cy="57105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rPr b="1" i="0" lang="en-US" sz="3200" u="none" cap="none" strike="noStrike">
                <a:solidFill>
                  <a:srgbClr val="1C4587"/>
                </a:solidFill>
                <a:latin typeface="Poppins Medium"/>
                <a:ea typeface="Poppins Medium"/>
                <a:cs typeface="Poppins Medium"/>
                <a:sym typeface="Poppins Medium"/>
              </a:rPr>
              <a:t>Pump At Rest</a:t>
            </a:r>
            <a:endParaRPr b="1" i="0" sz="3200" u="none" cap="none" strike="noStrike">
              <a:solidFill>
                <a:srgbClr val="1C4587"/>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rPr b="1" i="0" lang="en-US" sz="3200" u="none" cap="none" strike="noStrike">
                <a:solidFill>
                  <a:srgbClr val="0000FF"/>
                </a:solidFill>
                <a:latin typeface="Poppins Medium"/>
                <a:ea typeface="Poppins Medium"/>
                <a:cs typeface="Poppins Medium"/>
                <a:sym typeface="Poppins Medium"/>
              </a:rPr>
              <a:t>Bomba en reposo</a:t>
            </a:r>
            <a:endParaRPr b="1" i="0" sz="3200" u="none" cap="none" strike="noStrike">
              <a:solidFill>
                <a:srgbClr val="0000FF"/>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1C4587"/>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1C4587"/>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1C4587"/>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p:txBody>
      </p:sp>
      <p:sp>
        <p:nvSpPr>
          <p:cNvPr id="1071" name="Google Shape;1071;p33"/>
          <p:cNvSpPr txBox="1"/>
          <p:nvPr/>
        </p:nvSpPr>
        <p:spPr>
          <a:xfrm>
            <a:off x="14551925" y="4857175"/>
            <a:ext cx="2613000" cy="158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n-US" sz="3000" u="none" cap="none" strike="noStrike">
                <a:solidFill>
                  <a:srgbClr val="0000FF"/>
                </a:solidFill>
                <a:latin typeface="Poppins"/>
                <a:ea typeface="Poppins"/>
                <a:cs typeface="Poppins"/>
                <a:sym typeface="Poppins"/>
              </a:rPr>
              <a:t>Afuera</a:t>
            </a:r>
            <a:endParaRPr b="0" i="0" sz="3000" u="none" cap="none" strike="noStrike">
              <a:solidFill>
                <a:srgbClr val="0000FF"/>
              </a:solidFill>
              <a:latin typeface="Poppins"/>
              <a:ea typeface="Poppins"/>
              <a:cs typeface="Poppins"/>
              <a:sym typeface="Poppins"/>
            </a:endParaRPr>
          </a:p>
        </p:txBody>
      </p:sp>
      <p:sp>
        <p:nvSpPr>
          <p:cNvPr id="1072" name="Google Shape;1072;p33"/>
          <p:cNvSpPr txBox="1"/>
          <p:nvPr/>
        </p:nvSpPr>
        <p:spPr>
          <a:xfrm>
            <a:off x="10800350" y="8549450"/>
            <a:ext cx="1994100" cy="256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900"/>
              <a:buFont typeface="Arial"/>
              <a:buNone/>
            </a:pPr>
            <a:r>
              <a:rPr b="0" i="0" lang="en-US" sz="2900" u="none" cap="none" strike="noStrike">
                <a:solidFill>
                  <a:srgbClr val="0000FF"/>
                </a:solidFill>
                <a:latin typeface="Poppins"/>
                <a:ea typeface="Poppins"/>
                <a:cs typeface="Poppins"/>
                <a:sym typeface="Poppins"/>
              </a:rPr>
              <a:t>Adentro</a:t>
            </a:r>
            <a:endParaRPr b="0" i="0" sz="2900" u="none" cap="none" strike="noStrike">
              <a:solidFill>
                <a:srgbClr val="0000FF"/>
              </a:solidFill>
              <a:latin typeface="Poppins"/>
              <a:ea typeface="Poppins"/>
              <a:cs typeface="Poppins"/>
              <a:sym typeface="Poppins"/>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AFAFA"/>
        </a:solidFill>
      </p:bgPr>
    </p:bg>
    <p:spTree>
      <p:nvGrpSpPr>
        <p:cNvPr id="1076" name="Shape 1076"/>
        <p:cNvGrpSpPr/>
        <p:nvPr/>
      </p:nvGrpSpPr>
      <p:grpSpPr>
        <a:xfrm>
          <a:off x="0" y="0"/>
          <a:ext cx="0" cy="0"/>
          <a:chOff x="0" y="0"/>
          <a:chExt cx="0" cy="0"/>
        </a:xfrm>
      </p:grpSpPr>
      <p:cxnSp>
        <p:nvCxnSpPr>
          <p:cNvPr id="1077" name="Google Shape;1077;p34"/>
          <p:cNvCxnSpPr/>
          <p:nvPr/>
        </p:nvCxnSpPr>
        <p:spPr>
          <a:xfrm flipH="1" rot="10800000">
            <a:off x="1028734" y="2193451"/>
            <a:ext cx="8115300" cy="18900"/>
          </a:xfrm>
          <a:prstGeom prst="straightConnector1">
            <a:avLst/>
          </a:prstGeom>
          <a:noFill/>
          <a:ln cap="rnd" cmpd="sng" w="28575">
            <a:solidFill>
              <a:srgbClr val="136447"/>
            </a:solidFill>
            <a:prstDash val="solid"/>
            <a:round/>
            <a:headEnd len="sm" w="sm" type="none"/>
            <a:tailEnd len="sm" w="sm" type="none"/>
          </a:ln>
        </p:spPr>
      </p:cxnSp>
      <p:sp>
        <p:nvSpPr>
          <p:cNvPr id="1078" name="Google Shape;1078;p34"/>
          <p:cNvSpPr txBox="1"/>
          <p:nvPr/>
        </p:nvSpPr>
        <p:spPr>
          <a:xfrm>
            <a:off x="447250" y="914400"/>
            <a:ext cx="17153700" cy="816900"/>
          </a:xfrm>
          <a:prstGeom prst="rect">
            <a:avLst/>
          </a:prstGeom>
          <a:noFill/>
          <a:ln>
            <a:noFill/>
          </a:ln>
        </p:spPr>
        <p:txBody>
          <a:bodyPr anchorCtr="0" anchor="t" bIns="0" lIns="0" spcFirstLastPara="1" rIns="0" wrap="square" tIns="0">
            <a:spAutoFit/>
          </a:bodyPr>
          <a:lstStyle/>
          <a:p>
            <a:pPr indent="0" lvl="0" marL="0" marR="0" rtl="0" algn="ctr">
              <a:lnSpc>
                <a:spcPct val="130009"/>
              </a:lnSpc>
              <a:spcBef>
                <a:spcPts val="0"/>
              </a:spcBef>
              <a:spcAft>
                <a:spcPts val="0"/>
              </a:spcAft>
              <a:buClr>
                <a:srgbClr val="000000"/>
              </a:buClr>
              <a:buSzPts val="5308"/>
              <a:buFont typeface="Arial"/>
              <a:buNone/>
            </a:pPr>
            <a:r>
              <a:rPr b="1" i="0" lang="en-US" sz="5308" u="none" cap="none" strike="noStrike">
                <a:solidFill>
                  <a:srgbClr val="136447"/>
                </a:solidFill>
                <a:latin typeface="Poppins"/>
                <a:ea typeface="Poppins"/>
                <a:cs typeface="Poppins"/>
                <a:sym typeface="Poppins"/>
              </a:rPr>
              <a:t>How a Neuron Fires | </a:t>
            </a:r>
            <a:r>
              <a:rPr b="1" i="0" lang="en-US" sz="5308" u="none" cap="none" strike="noStrike">
                <a:solidFill>
                  <a:srgbClr val="0000FF"/>
                </a:solidFill>
                <a:latin typeface="Poppins"/>
                <a:ea typeface="Poppins"/>
                <a:cs typeface="Poppins"/>
                <a:sym typeface="Poppins"/>
              </a:rPr>
              <a:t>Cómo se activa una neurona</a:t>
            </a:r>
            <a:endParaRPr b="0" i="0" sz="700" u="none" cap="none" strike="noStrike">
              <a:solidFill>
                <a:srgbClr val="0000FF"/>
              </a:solidFill>
              <a:latin typeface="Arial"/>
              <a:ea typeface="Arial"/>
              <a:cs typeface="Arial"/>
              <a:sym typeface="Arial"/>
            </a:endParaRPr>
          </a:p>
        </p:txBody>
      </p:sp>
      <p:sp>
        <p:nvSpPr>
          <p:cNvPr id="1079" name="Google Shape;1079;p34"/>
          <p:cNvSpPr txBox="1"/>
          <p:nvPr/>
        </p:nvSpPr>
        <p:spPr>
          <a:xfrm>
            <a:off x="447250" y="2566500"/>
            <a:ext cx="8700600" cy="9909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000"/>
              <a:buFont typeface="Arial"/>
              <a:buNone/>
            </a:pPr>
            <a:r>
              <a:rPr b="1" i="0" lang="en-US" sz="3000" u="none" cap="none" strike="noStrike">
                <a:solidFill>
                  <a:srgbClr val="2D2F3B"/>
                </a:solidFill>
                <a:latin typeface="Poppins Medium"/>
                <a:ea typeface="Poppins Medium"/>
                <a:cs typeface="Poppins Medium"/>
                <a:sym typeface="Poppins Medium"/>
              </a:rPr>
              <a:t>Neurons communicate with electrical impulses called action potentials</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rPr b="1" i="0" lang="en-US" sz="3000" u="none" cap="none" strike="noStrike">
                <a:solidFill>
                  <a:srgbClr val="0000FF"/>
                </a:solidFill>
                <a:latin typeface="Poppins Medium"/>
                <a:ea typeface="Poppins Medium"/>
                <a:cs typeface="Poppins Medium"/>
                <a:sym typeface="Poppins Medium"/>
              </a:rPr>
              <a:t>Las neuronas se comunican mediante impulsos eléctricos llamados potenciales de acción</a:t>
            </a:r>
            <a:endParaRPr b="1" i="0" sz="34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431800" lvl="0" marL="457200" marR="0" rtl="0" algn="l">
              <a:lnSpc>
                <a:spcPct val="110000"/>
              </a:lnSpc>
              <a:spcBef>
                <a:spcPts val="0"/>
              </a:spcBef>
              <a:spcAft>
                <a:spcPts val="0"/>
              </a:spcAft>
              <a:buClr>
                <a:srgbClr val="1C4587"/>
              </a:buClr>
              <a:buSzPts val="3200"/>
              <a:buFont typeface="Poppins Medium"/>
              <a:buAutoNum type="arabicParenR"/>
            </a:pPr>
            <a:r>
              <a:rPr b="1" i="0" lang="en-US" sz="3200" u="none" cap="none" strike="noStrike">
                <a:solidFill>
                  <a:srgbClr val="1C4587"/>
                </a:solidFill>
                <a:latin typeface="Poppins Medium"/>
                <a:ea typeface="Poppins Medium"/>
                <a:cs typeface="Poppins Medium"/>
                <a:sym typeface="Poppins Medium"/>
              </a:rPr>
              <a:t>Resting Potential: This is when the neuron is at rest, with a membrane potential of approximately -70 mV</a:t>
            </a:r>
            <a:endParaRPr b="1" i="0" sz="3200" u="none" cap="none" strike="noStrike">
              <a:solidFill>
                <a:srgbClr val="1C4587"/>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351C75"/>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rPr b="1" i="0" lang="en-US" sz="3200" u="none" cap="none" strike="noStrike">
                <a:solidFill>
                  <a:srgbClr val="0000FF"/>
                </a:solidFill>
                <a:latin typeface="Poppins Medium"/>
                <a:ea typeface="Poppins Medium"/>
                <a:cs typeface="Poppins Medium"/>
                <a:sym typeface="Poppins Medium"/>
              </a:rPr>
              <a:t>Potencial de reposo: Este es el estado en el que la neurona está en reposo, con un potencial de membrana de aproximadamente -70 mV</a:t>
            </a:r>
            <a:endParaRPr b="1" i="0" sz="3200" u="none" cap="none" strike="noStrike">
              <a:solidFill>
                <a:srgbClr val="0000FF"/>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1C4587"/>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p:txBody>
      </p:sp>
      <p:pic>
        <p:nvPicPr>
          <p:cNvPr id="1080" name="Google Shape;1080;p34" title="Screenshot 2025-11-14 at 12.12.20 PM.png"/>
          <p:cNvPicPr preferRelativeResize="0"/>
          <p:nvPr/>
        </p:nvPicPr>
        <p:blipFill rotWithShape="1">
          <a:blip r:embed="rId3">
            <a:alphaModFix/>
          </a:blip>
          <a:srcRect b="0" l="0" r="0" t="0"/>
          <a:stretch/>
        </p:blipFill>
        <p:spPr>
          <a:xfrm>
            <a:off x="9715500" y="2566500"/>
            <a:ext cx="7885524" cy="7232450"/>
          </a:xfrm>
          <a:prstGeom prst="rect">
            <a:avLst/>
          </a:prstGeom>
          <a:noFill/>
          <a:ln>
            <a:noFill/>
          </a:ln>
        </p:spPr>
      </p:pic>
      <p:sp>
        <p:nvSpPr>
          <p:cNvPr id="1081" name="Google Shape;1081;p34"/>
          <p:cNvSpPr txBox="1"/>
          <p:nvPr/>
        </p:nvSpPr>
        <p:spPr>
          <a:xfrm rot="-5400000">
            <a:off x="8578375" y="4939600"/>
            <a:ext cx="2012700" cy="881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n-US" sz="3000" u="none" cap="none" strike="noStrike">
                <a:solidFill>
                  <a:srgbClr val="0000FF"/>
                </a:solidFill>
                <a:latin typeface="Poppins"/>
                <a:ea typeface="Poppins"/>
                <a:cs typeface="Poppins"/>
                <a:sym typeface="Poppins"/>
              </a:rPr>
              <a:t>Voltaje</a:t>
            </a:r>
            <a:endParaRPr b="0" i="0" sz="3000" u="none" cap="none" strike="noStrike">
              <a:solidFill>
                <a:srgbClr val="0000FF"/>
              </a:solidFill>
              <a:latin typeface="Poppins"/>
              <a:ea typeface="Poppins"/>
              <a:cs typeface="Poppins"/>
              <a:sym typeface="Poppins"/>
            </a:endParaRPr>
          </a:p>
        </p:txBody>
      </p:sp>
      <p:sp>
        <p:nvSpPr>
          <p:cNvPr id="1082" name="Google Shape;1082;p34"/>
          <p:cNvSpPr txBox="1"/>
          <p:nvPr/>
        </p:nvSpPr>
        <p:spPr>
          <a:xfrm>
            <a:off x="13075800" y="9667400"/>
            <a:ext cx="3472800" cy="251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rgbClr val="0000FF"/>
                </a:solidFill>
                <a:latin typeface="Poppins"/>
                <a:ea typeface="Poppins"/>
                <a:cs typeface="Poppins"/>
                <a:sym typeface="Poppins"/>
              </a:rPr>
              <a:t>tiempo (ms)</a:t>
            </a:r>
            <a:endParaRPr b="0" i="0" sz="2700" u="none" cap="none" strike="noStrike">
              <a:solidFill>
                <a:srgbClr val="0000FF"/>
              </a:solidFill>
              <a:latin typeface="Poppins"/>
              <a:ea typeface="Poppins"/>
              <a:cs typeface="Poppins"/>
              <a:sym typeface="Poppins"/>
            </a:endParaRPr>
          </a:p>
        </p:txBody>
      </p:sp>
      <p:sp>
        <p:nvSpPr>
          <p:cNvPr id="1083" name="Google Shape;1083;p34"/>
          <p:cNvSpPr/>
          <p:nvPr/>
        </p:nvSpPr>
        <p:spPr>
          <a:xfrm rot="-1548975">
            <a:off x="11260471" y="8208556"/>
            <a:ext cx="841817" cy="526236"/>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84" name="Google Shape;1084;p34"/>
          <p:cNvSpPr txBox="1"/>
          <p:nvPr/>
        </p:nvSpPr>
        <p:spPr>
          <a:xfrm>
            <a:off x="10576400" y="2946600"/>
            <a:ext cx="3209700" cy="482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FF"/>
                </a:solidFill>
                <a:latin typeface="Poppins"/>
                <a:ea typeface="Poppins"/>
                <a:cs typeface="Poppins"/>
                <a:sym typeface="Poppins"/>
              </a:rPr>
              <a:t>iones Na+ dentro de la célula</a:t>
            </a:r>
            <a:endParaRPr b="0" i="0" sz="2000" u="none" cap="none" strike="noStrike">
              <a:solidFill>
                <a:srgbClr val="0000FF"/>
              </a:solidFill>
              <a:latin typeface="Poppins"/>
              <a:ea typeface="Poppins"/>
              <a:cs typeface="Poppins"/>
              <a:sym typeface="Poppins"/>
            </a:endParaRPr>
          </a:p>
        </p:txBody>
      </p:sp>
      <p:sp>
        <p:nvSpPr>
          <p:cNvPr id="1085" name="Google Shape;1085;p34"/>
          <p:cNvSpPr txBox="1"/>
          <p:nvPr/>
        </p:nvSpPr>
        <p:spPr>
          <a:xfrm>
            <a:off x="14759625" y="4735050"/>
            <a:ext cx="2551800" cy="816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rgbClr val="0000FF"/>
                </a:solidFill>
                <a:latin typeface="Poppins"/>
                <a:ea typeface="Poppins"/>
                <a:cs typeface="Poppins"/>
                <a:sym typeface="Poppins"/>
              </a:rPr>
              <a:t>iones K+ fuera</a:t>
            </a:r>
            <a:endParaRPr b="0" i="0" sz="2300" u="none" cap="none" strike="noStrike">
              <a:solidFill>
                <a:srgbClr val="0000FF"/>
              </a:solidFill>
              <a:latin typeface="Poppins"/>
              <a:ea typeface="Poppins"/>
              <a:cs typeface="Poppins"/>
              <a:sym typeface="Poppins"/>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AFAFA"/>
        </a:solidFill>
      </p:bgPr>
    </p:bg>
    <p:spTree>
      <p:nvGrpSpPr>
        <p:cNvPr id="1089" name="Shape 1089"/>
        <p:cNvGrpSpPr/>
        <p:nvPr/>
      </p:nvGrpSpPr>
      <p:grpSpPr>
        <a:xfrm>
          <a:off x="0" y="0"/>
          <a:ext cx="0" cy="0"/>
          <a:chOff x="0" y="0"/>
          <a:chExt cx="0" cy="0"/>
        </a:xfrm>
      </p:grpSpPr>
      <p:sp>
        <p:nvSpPr>
          <p:cNvPr id="1090" name="Google Shape;1090;p35"/>
          <p:cNvSpPr txBox="1"/>
          <p:nvPr/>
        </p:nvSpPr>
        <p:spPr>
          <a:xfrm>
            <a:off x="552500" y="2566500"/>
            <a:ext cx="8595300" cy="111627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1C4587"/>
              </a:solidFill>
              <a:latin typeface="Poppins Medium"/>
              <a:ea typeface="Poppins Medium"/>
              <a:cs typeface="Poppins Medium"/>
              <a:sym typeface="Poppins Medium"/>
            </a:endParaRPr>
          </a:p>
          <a:p>
            <a:pPr indent="-431800" lvl="0" marL="457200" marR="0" rtl="0" algn="l">
              <a:lnSpc>
                <a:spcPct val="110000"/>
              </a:lnSpc>
              <a:spcBef>
                <a:spcPts val="0"/>
              </a:spcBef>
              <a:spcAft>
                <a:spcPts val="0"/>
              </a:spcAft>
              <a:buClr>
                <a:srgbClr val="1C4587"/>
              </a:buClr>
              <a:buSzPts val="3200"/>
              <a:buFont typeface="Poppins Medium"/>
              <a:buAutoNum type="arabicParenR" startAt="2"/>
            </a:pPr>
            <a:r>
              <a:rPr b="1" i="0" lang="en-US" sz="3200" u="none" cap="none" strike="noStrike">
                <a:solidFill>
                  <a:srgbClr val="1C4587"/>
                </a:solidFill>
                <a:latin typeface="Poppins Medium"/>
                <a:ea typeface="Poppins Medium"/>
                <a:cs typeface="Poppins Medium"/>
                <a:sym typeface="Poppins Medium"/>
              </a:rPr>
              <a:t>Depolarization: An external stimulus causes the neuron to reach its threshold potential, triggering a rapid rise in membrane potential</a:t>
            </a:r>
            <a:endParaRPr b="1" i="0" sz="3200" u="none" cap="none" strike="noStrike">
              <a:solidFill>
                <a:srgbClr val="1C4587"/>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351C75"/>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rPr b="1" i="0" lang="en-US" sz="3200" u="none" cap="none" strike="noStrike">
                <a:solidFill>
                  <a:srgbClr val="0000FF"/>
                </a:solidFill>
                <a:latin typeface="Poppins Medium"/>
                <a:ea typeface="Poppins Medium"/>
                <a:cs typeface="Poppins Medium"/>
                <a:sym typeface="Poppins Medium"/>
              </a:rPr>
              <a:t>Despolarización: Un estímulo externo provoca que la neurona alcance su potencial umbral, lo que desencadena un rápido aumento del potencial de membrana</a:t>
            </a:r>
            <a:endParaRPr b="1" i="0" sz="3200" u="none" cap="none" strike="noStrike">
              <a:solidFill>
                <a:srgbClr val="0000FF"/>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1C4587"/>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rPr b="1" i="0" lang="en-US" sz="3200" u="none" cap="none" strike="noStrike">
                <a:solidFill>
                  <a:srgbClr val="1C4587"/>
                </a:solidFill>
                <a:latin typeface="Poppins Medium"/>
                <a:ea typeface="Poppins Medium"/>
                <a:cs typeface="Poppins Medium"/>
                <a:sym typeface="Poppins Medium"/>
              </a:rPr>
              <a:t>An all or nothing event | </a:t>
            </a:r>
            <a:r>
              <a:rPr b="1" i="0" lang="en-US" sz="3200" u="none" cap="none" strike="noStrike">
                <a:solidFill>
                  <a:srgbClr val="0000FF"/>
                </a:solidFill>
                <a:latin typeface="Poppins Medium"/>
                <a:ea typeface="Poppins Medium"/>
                <a:cs typeface="Poppins Medium"/>
                <a:sym typeface="Poppins Medium"/>
              </a:rPr>
              <a:t>Un evento de todo o nada</a:t>
            </a:r>
            <a:endParaRPr b="1" i="0" sz="3200" u="none" cap="none" strike="noStrike">
              <a:solidFill>
                <a:srgbClr val="0000FF"/>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1C4587"/>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1C4587"/>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p:txBody>
      </p:sp>
      <p:pic>
        <p:nvPicPr>
          <p:cNvPr id="1091" name="Google Shape;1091;p35" title="Screenshot 2025-11-14 at 12.12.20 PM.png"/>
          <p:cNvPicPr preferRelativeResize="0"/>
          <p:nvPr/>
        </p:nvPicPr>
        <p:blipFill rotWithShape="1">
          <a:blip r:embed="rId3">
            <a:alphaModFix/>
          </a:blip>
          <a:srcRect b="0" l="0" r="0" t="0"/>
          <a:stretch/>
        </p:blipFill>
        <p:spPr>
          <a:xfrm>
            <a:off x="9715500" y="2566500"/>
            <a:ext cx="7885524" cy="7232450"/>
          </a:xfrm>
          <a:prstGeom prst="rect">
            <a:avLst/>
          </a:prstGeom>
          <a:noFill/>
          <a:ln>
            <a:noFill/>
          </a:ln>
        </p:spPr>
      </p:pic>
      <p:cxnSp>
        <p:nvCxnSpPr>
          <p:cNvPr id="1092" name="Google Shape;1092;p35"/>
          <p:cNvCxnSpPr/>
          <p:nvPr/>
        </p:nvCxnSpPr>
        <p:spPr>
          <a:xfrm flipH="1" rot="10800000">
            <a:off x="1028734" y="2193451"/>
            <a:ext cx="8115300" cy="18900"/>
          </a:xfrm>
          <a:prstGeom prst="straightConnector1">
            <a:avLst/>
          </a:prstGeom>
          <a:noFill/>
          <a:ln cap="rnd" cmpd="sng" w="28575">
            <a:solidFill>
              <a:srgbClr val="136447"/>
            </a:solidFill>
            <a:prstDash val="solid"/>
            <a:round/>
            <a:headEnd len="sm" w="sm" type="none"/>
            <a:tailEnd len="sm" w="sm" type="none"/>
          </a:ln>
        </p:spPr>
      </p:cxnSp>
      <p:sp>
        <p:nvSpPr>
          <p:cNvPr id="1093" name="Google Shape;1093;p35"/>
          <p:cNvSpPr txBox="1"/>
          <p:nvPr/>
        </p:nvSpPr>
        <p:spPr>
          <a:xfrm>
            <a:off x="447250" y="914400"/>
            <a:ext cx="17153700" cy="816900"/>
          </a:xfrm>
          <a:prstGeom prst="rect">
            <a:avLst/>
          </a:prstGeom>
          <a:noFill/>
          <a:ln>
            <a:noFill/>
          </a:ln>
        </p:spPr>
        <p:txBody>
          <a:bodyPr anchorCtr="0" anchor="t" bIns="0" lIns="0" spcFirstLastPara="1" rIns="0" wrap="square" tIns="0">
            <a:spAutoFit/>
          </a:bodyPr>
          <a:lstStyle/>
          <a:p>
            <a:pPr indent="0" lvl="0" marL="0" marR="0" rtl="0" algn="ctr">
              <a:lnSpc>
                <a:spcPct val="130009"/>
              </a:lnSpc>
              <a:spcBef>
                <a:spcPts val="0"/>
              </a:spcBef>
              <a:spcAft>
                <a:spcPts val="0"/>
              </a:spcAft>
              <a:buClr>
                <a:srgbClr val="000000"/>
              </a:buClr>
              <a:buSzPts val="5308"/>
              <a:buFont typeface="Arial"/>
              <a:buNone/>
            </a:pPr>
            <a:r>
              <a:rPr b="1" i="0" lang="en-US" sz="5308" u="none" cap="none" strike="noStrike">
                <a:solidFill>
                  <a:srgbClr val="136447"/>
                </a:solidFill>
                <a:latin typeface="Poppins"/>
                <a:ea typeface="Poppins"/>
                <a:cs typeface="Poppins"/>
                <a:sym typeface="Poppins"/>
              </a:rPr>
              <a:t>How a Neuron Fires | </a:t>
            </a:r>
            <a:r>
              <a:rPr b="1" i="0" lang="en-US" sz="5308" u="none" cap="none" strike="noStrike">
                <a:solidFill>
                  <a:srgbClr val="0000FF"/>
                </a:solidFill>
                <a:latin typeface="Poppins"/>
                <a:ea typeface="Poppins"/>
                <a:cs typeface="Poppins"/>
                <a:sym typeface="Poppins"/>
              </a:rPr>
              <a:t>Cómo se activa una neurona</a:t>
            </a:r>
            <a:endParaRPr b="0" i="0" sz="700" u="none" cap="none" strike="noStrike">
              <a:solidFill>
                <a:srgbClr val="0000FF"/>
              </a:solidFill>
              <a:latin typeface="Arial"/>
              <a:ea typeface="Arial"/>
              <a:cs typeface="Arial"/>
              <a:sym typeface="Arial"/>
            </a:endParaRPr>
          </a:p>
        </p:txBody>
      </p:sp>
      <p:sp>
        <p:nvSpPr>
          <p:cNvPr id="1094" name="Google Shape;1094;p35"/>
          <p:cNvSpPr txBox="1"/>
          <p:nvPr/>
        </p:nvSpPr>
        <p:spPr>
          <a:xfrm rot="-5400000">
            <a:off x="8578375" y="4939600"/>
            <a:ext cx="2012700" cy="881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n-US" sz="3000" u="none" cap="none" strike="noStrike">
                <a:solidFill>
                  <a:srgbClr val="0000FF"/>
                </a:solidFill>
                <a:latin typeface="Poppins"/>
                <a:ea typeface="Poppins"/>
                <a:cs typeface="Poppins"/>
                <a:sym typeface="Poppins"/>
              </a:rPr>
              <a:t>Voltaje</a:t>
            </a:r>
            <a:endParaRPr b="0" i="0" sz="3000" u="none" cap="none" strike="noStrike">
              <a:solidFill>
                <a:srgbClr val="0000FF"/>
              </a:solidFill>
              <a:latin typeface="Poppins"/>
              <a:ea typeface="Poppins"/>
              <a:cs typeface="Poppins"/>
              <a:sym typeface="Poppins"/>
            </a:endParaRPr>
          </a:p>
        </p:txBody>
      </p:sp>
      <p:sp>
        <p:nvSpPr>
          <p:cNvPr id="1095" name="Google Shape;1095;p35"/>
          <p:cNvSpPr txBox="1"/>
          <p:nvPr/>
        </p:nvSpPr>
        <p:spPr>
          <a:xfrm>
            <a:off x="13075800" y="9667400"/>
            <a:ext cx="3472800" cy="251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rgbClr val="0000FF"/>
                </a:solidFill>
                <a:latin typeface="Poppins"/>
                <a:ea typeface="Poppins"/>
                <a:cs typeface="Poppins"/>
                <a:sym typeface="Poppins"/>
              </a:rPr>
              <a:t>tiempo (ms)</a:t>
            </a:r>
            <a:endParaRPr b="0" i="0" sz="2700" u="none" cap="none" strike="noStrike">
              <a:solidFill>
                <a:srgbClr val="0000FF"/>
              </a:solidFill>
              <a:latin typeface="Poppins"/>
              <a:ea typeface="Poppins"/>
              <a:cs typeface="Poppins"/>
              <a:sym typeface="Poppins"/>
            </a:endParaRPr>
          </a:p>
        </p:txBody>
      </p:sp>
      <p:sp>
        <p:nvSpPr>
          <p:cNvPr id="1096" name="Google Shape;1096;p35"/>
          <p:cNvSpPr/>
          <p:nvPr/>
        </p:nvSpPr>
        <p:spPr>
          <a:xfrm>
            <a:off x="11286771" y="4498878"/>
            <a:ext cx="841800" cy="526200"/>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97" name="Google Shape;1097;p35"/>
          <p:cNvSpPr txBox="1"/>
          <p:nvPr/>
        </p:nvSpPr>
        <p:spPr>
          <a:xfrm>
            <a:off x="10576400" y="2946600"/>
            <a:ext cx="3209700" cy="482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FF"/>
                </a:solidFill>
                <a:latin typeface="Poppins"/>
                <a:ea typeface="Poppins"/>
                <a:cs typeface="Poppins"/>
                <a:sym typeface="Poppins"/>
              </a:rPr>
              <a:t>iones Na+ dentro de la célula</a:t>
            </a:r>
            <a:endParaRPr b="0" i="0" sz="2000" u="none" cap="none" strike="noStrike">
              <a:solidFill>
                <a:srgbClr val="0000FF"/>
              </a:solidFill>
              <a:latin typeface="Poppins"/>
              <a:ea typeface="Poppins"/>
              <a:cs typeface="Poppins"/>
              <a:sym typeface="Poppins"/>
            </a:endParaRPr>
          </a:p>
        </p:txBody>
      </p:sp>
      <p:sp>
        <p:nvSpPr>
          <p:cNvPr id="1098" name="Google Shape;1098;p35"/>
          <p:cNvSpPr txBox="1"/>
          <p:nvPr/>
        </p:nvSpPr>
        <p:spPr>
          <a:xfrm>
            <a:off x="14759625" y="4735050"/>
            <a:ext cx="2551800" cy="816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rgbClr val="0000FF"/>
                </a:solidFill>
                <a:latin typeface="Poppins"/>
                <a:ea typeface="Poppins"/>
                <a:cs typeface="Poppins"/>
                <a:sym typeface="Poppins"/>
              </a:rPr>
              <a:t>iones K+ fuera</a:t>
            </a:r>
            <a:endParaRPr b="0" i="0" sz="2300" u="none" cap="none" strike="noStrike">
              <a:solidFill>
                <a:srgbClr val="0000FF"/>
              </a:solidFill>
              <a:latin typeface="Poppins"/>
              <a:ea typeface="Poppins"/>
              <a:cs typeface="Poppins"/>
              <a:sym typeface="Poppins"/>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AFAFA"/>
        </a:solidFill>
      </p:bgPr>
    </p:bg>
    <p:spTree>
      <p:nvGrpSpPr>
        <p:cNvPr id="1102" name="Shape 1102"/>
        <p:cNvGrpSpPr/>
        <p:nvPr/>
      </p:nvGrpSpPr>
      <p:grpSpPr>
        <a:xfrm>
          <a:off x="0" y="0"/>
          <a:ext cx="0" cy="0"/>
          <a:chOff x="0" y="0"/>
          <a:chExt cx="0" cy="0"/>
        </a:xfrm>
      </p:grpSpPr>
      <p:sp>
        <p:nvSpPr>
          <p:cNvPr id="1103" name="Google Shape;1103;p36"/>
          <p:cNvSpPr txBox="1"/>
          <p:nvPr/>
        </p:nvSpPr>
        <p:spPr>
          <a:xfrm>
            <a:off x="447250" y="2566500"/>
            <a:ext cx="8907300" cy="1090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2900"/>
              <a:buFont typeface="Arial"/>
              <a:buNone/>
            </a:pPr>
            <a:r>
              <a:t/>
            </a:r>
            <a:endParaRPr b="1" i="0" sz="2900" u="none" cap="none" strike="noStrike">
              <a:solidFill>
                <a:srgbClr val="2D2F3B"/>
              </a:solidFill>
              <a:latin typeface="Poppins Medium"/>
              <a:ea typeface="Poppins Medium"/>
              <a:cs typeface="Poppins Medium"/>
              <a:sym typeface="Poppins Medium"/>
            </a:endParaRPr>
          </a:p>
          <a:p>
            <a:pPr indent="-425450" lvl="0" marL="457200" marR="0" rtl="0" algn="l">
              <a:lnSpc>
                <a:spcPct val="110000"/>
              </a:lnSpc>
              <a:spcBef>
                <a:spcPts val="0"/>
              </a:spcBef>
              <a:spcAft>
                <a:spcPts val="0"/>
              </a:spcAft>
              <a:buClr>
                <a:srgbClr val="1C4587"/>
              </a:buClr>
              <a:buSzPts val="3100"/>
              <a:buFont typeface="Poppins Medium"/>
              <a:buAutoNum type="arabicParenR" startAt="3"/>
            </a:pPr>
            <a:r>
              <a:rPr b="1" i="0" lang="en-US" sz="3100" u="none" cap="none" strike="noStrike">
                <a:solidFill>
                  <a:srgbClr val="1C4587"/>
                </a:solidFill>
                <a:latin typeface="Poppins Medium"/>
                <a:ea typeface="Poppins Medium"/>
                <a:cs typeface="Poppins Medium"/>
                <a:sym typeface="Poppins Medium"/>
              </a:rPr>
              <a:t>Action Potential: Sudden electrical impulses down the axon </a:t>
            </a:r>
            <a:endParaRPr b="1" i="0" sz="3100" u="none" cap="none" strike="noStrike">
              <a:solidFill>
                <a:srgbClr val="1C4587"/>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100"/>
              <a:buFont typeface="Arial"/>
              <a:buNone/>
            </a:pPr>
            <a:r>
              <a:t/>
            </a:r>
            <a:endParaRPr b="1" i="0" sz="3100" u="none" cap="none" strike="noStrike">
              <a:solidFill>
                <a:srgbClr val="1C4587"/>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100"/>
              <a:buFont typeface="Arial"/>
              <a:buNone/>
            </a:pPr>
            <a:r>
              <a:rPr b="1" i="0" lang="en-US" sz="3100" u="none" cap="none" strike="noStrike">
                <a:solidFill>
                  <a:srgbClr val="0000FF"/>
                </a:solidFill>
                <a:latin typeface="Poppins Medium"/>
                <a:ea typeface="Poppins Medium"/>
                <a:cs typeface="Poppins Medium"/>
                <a:sym typeface="Poppins Medium"/>
              </a:rPr>
              <a:t>Potencial de acción: Impulsos eléctricos repentinos a lo largo del axón</a:t>
            </a:r>
            <a:endParaRPr b="1" i="0" sz="3100" u="none" cap="none" strike="noStrike">
              <a:solidFill>
                <a:srgbClr val="0000FF"/>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100"/>
              <a:buFont typeface="Arial"/>
              <a:buNone/>
            </a:pPr>
            <a:r>
              <a:t/>
            </a:r>
            <a:endParaRPr b="1" i="0" sz="3100" u="none" cap="none" strike="noStrike">
              <a:solidFill>
                <a:srgbClr val="1C4587"/>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100"/>
              <a:buFont typeface="Arial"/>
              <a:buNone/>
            </a:pPr>
            <a:r>
              <a:rPr b="1" i="0" lang="en-US" sz="3100" u="none" cap="none" strike="noStrike">
                <a:solidFill>
                  <a:srgbClr val="1C4587"/>
                </a:solidFill>
                <a:latin typeface="Poppins Medium"/>
                <a:ea typeface="Poppins Medium"/>
                <a:cs typeface="Poppins Medium"/>
                <a:sym typeface="Poppins Medium"/>
              </a:rPr>
              <a:t>Peaks around +30 mV</a:t>
            </a:r>
            <a:endParaRPr b="1" i="0" sz="3100" u="none" cap="none" strike="noStrike">
              <a:solidFill>
                <a:srgbClr val="1C4587"/>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100"/>
              <a:buFont typeface="Arial"/>
              <a:buNone/>
            </a:pPr>
            <a:r>
              <a:rPr b="1" i="0" lang="en-US" sz="3100" u="none" cap="none" strike="noStrike">
                <a:solidFill>
                  <a:srgbClr val="0000FF"/>
                </a:solidFill>
                <a:latin typeface="Poppins Medium"/>
                <a:ea typeface="Poppins Medium"/>
                <a:cs typeface="Poppins Medium"/>
                <a:sym typeface="Poppins Medium"/>
              </a:rPr>
              <a:t>Alcanza un pico de aproximadamente +30 mV</a:t>
            </a:r>
            <a:endParaRPr b="1" i="0" sz="3100" u="none" cap="none" strike="noStrike">
              <a:solidFill>
                <a:srgbClr val="0000FF"/>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100"/>
              <a:buFont typeface="Arial"/>
              <a:buNone/>
            </a:pPr>
            <a:r>
              <a:t/>
            </a:r>
            <a:endParaRPr b="1" i="0" sz="3100" u="none" cap="none" strike="noStrike">
              <a:solidFill>
                <a:srgbClr val="1C4587"/>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100"/>
              <a:buFont typeface="Arial"/>
              <a:buNone/>
            </a:pPr>
            <a:r>
              <a:rPr b="1" i="0" lang="en-US" sz="3100" u="none" cap="none" strike="noStrike">
                <a:solidFill>
                  <a:srgbClr val="1C4587"/>
                </a:solidFill>
                <a:latin typeface="Poppins Medium"/>
                <a:ea typeface="Poppins Medium"/>
                <a:cs typeface="Poppins Medium"/>
                <a:sym typeface="Poppins Medium"/>
              </a:rPr>
              <a:t>Membrane begins to repolarize </a:t>
            </a:r>
            <a:endParaRPr b="1" i="0" sz="3100" u="none" cap="none" strike="noStrike">
              <a:solidFill>
                <a:srgbClr val="1C4587"/>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100"/>
              <a:buFont typeface="Arial"/>
              <a:buNone/>
            </a:pPr>
            <a:r>
              <a:rPr b="1" i="0" lang="en-US" sz="3100" u="none" cap="none" strike="noStrike">
                <a:solidFill>
                  <a:srgbClr val="0000FF"/>
                </a:solidFill>
                <a:latin typeface="Poppins Medium"/>
                <a:ea typeface="Poppins Medium"/>
                <a:cs typeface="Poppins Medium"/>
                <a:sym typeface="Poppins Medium"/>
              </a:rPr>
              <a:t>La membrana comienza a repolarizarse</a:t>
            </a:r>
            <a:endParaRPr b="1" i="0" sz="3100" u="none" cap="none" strike="noStrike">
              <a:solidFill>
                <a:srgbClr val="0000FF"/>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1C4587"/>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1C4587"/>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1C4587"/>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p:txBody>
      </p:sp>
      <p:pic>
        <p:nvPicPr>
          <p:cNvPr id="1104" name="Google Shape;1104;p36" title="Screenshot 2025-11-14 at 12.12.20 PM.png"/>
          <p:cNvPicPr preferRelativeResize="0"/>
          <p:nvPr/>
        </p:nvPicPr>
        <p:blipFill rotWithShape="1">
          <a:blip r:embed="rId3">
            <a:alphaModFix/>
          </a:blip>
          <a:srcRect b="0" l="0" r="0" t="0"/>
          <a:stretch/>
        </p:blipFill>
        <p:spPr>
          <a:xfrm>
            <a:off x="9715500" y="2566500"/>
            <a:ext cx="7885524" cy="7232450"/>
          </a:xfrm>
          <a:prstGeom prst="rect">
            <a:avLst/>
          </a:prstGeom>
          <a:noFill/>
          <a:ln>
            <a:noFill/>
          </a:ln>
        </p:spPr>
      </p:pic>
      <p:cxnSp>
        <p:nvCxnSpPr>
          <p:cNvPr id="1105" name="Google Shape;1105;p36"/>
          <p:cNvCxnSpPr/>
          <p:nvPr/>
        </p:nvCxnSpPr>
        <p:spPr>
          <a:xfrm flipH="1" rot="10800000">
            <a:off x="1028734" y="2193451"/>
            <a:ext cx="8115300" cy="18900"/>
          </a:xfrm>
          <a:prstGeom prst="straightConnector1">
            <a:avLst/>
          </a:prstGeom>
          <a:noFill/>
          <a:ln cap="rnd" cmpd="sng" w="28575">
            <a:solidFill>
              <a:srgbClr val="136447"/>
            </a:solidFill>
            <a:prstDash val="solid"/>
            <a:round/>
            <a:headEnd len="sm" w="sm" type="none"/>
            <a:tailEnd len="sm" w="sm" type="none"/>
          </a:ln>
        </p:spPr>
      </p:cxnSp>
      <p:sp>
        <p:nvSpPr>
          <p:cNvPr id="1106" name="Google Shape;1106;p36"/>
          <p:cNvSpPr txBox="1"/>
          <p:nvPr/>
        </p:nvSpPr>
        <p:spPr>
          <a:xfrm>
            <a:off x="447250" y="914400"/>
            <a:ext cx="17153700" cy="816900"/>
          </a:xfrm>
          <a:prstGeom prst="rect">
            <a:avLst/>
          </a:prstGeom>
          <a:noFill/>
          <a:ln>
            <a:noFill/>
          </a:ln>
        </p:spPr>
        <p:txBody>
          <a:bodyPr anchorCtr="0" anchor="t" bIns="0" lIns="0" spcFirstLastPara="1" rIns="0" wrap="square" tIns="0">
            <a:spAutoFit/>
          </a:bodyPr>
          <a:lstStyle/>
          <a:p>
            <a:pPr indent="0" lvl="0" marL="0" marR="0" rtl="0" algn="ctr">
              <a:lnSpc>
                <a:spcPct val="130009"/>
              </a:lnSpc>
              <a:spcBef>
                <a:spcPts val="0"/>
              </a:spcBef>
              <a:spcAft>
                <a:spcPts val="0"/>
              </a:spcAft>
              <a:buClr>
                <a:srgbClr val="000000"/>
              </a:buClr>
              <a:buSzPts val="5308"/>
              <a:buFont typeface="Arial"/>
              <a:buNone/>
            </a:pPr>
            <a:r>
              <a:rPr b="1" i="0" lang="en-US" sz="5308" u="none" cap="none" strike="noStrike">
                <a:solidFill>
                  <a:srgbClr val="136447"/>
                </a:solidFill>
                <a:latin typeface="Poppins"/>
                <a:ea typeface="Poppins"/>
                <a:cs typeface="Poppins"/>
                <a:sym typeface="Poppins"/>
              </a:rPr>
              <a:t>How a Neuron Fires | </a:t>
            </a:r>
            <a:r>
              <a:rPr b="1" i="0" lang="en-US" sz="5308" u="none" cap="none" strike="noStrike">
                <a:solidFill>
                  <a:srgbClr val="0000FF"/>
                </a:solidFill>
                <a:latin typeface="Poppins"/>
                <a:ea typeface="Poppins"/>
                <a:cs typeface="Poppins"/>
                <a:sym typeface="Poppins"/>
              </a:rPr>
              <a:t>Cómo se activa una neurona</a:t>
            </a:r>
            <a:endParaRPr b="0" i="0" sz="700" u="none" cap="none" strike="noStrike">
              <a:solidFill>
                <a:srgbClr val="0000FF"/>
              </a:solidFill>
              <a:latin typeface="Arial"/>
              <a:ea typeface="Arial"/>
              <a:cs typeface="Arial"/>
              <a:sym typeface="Arial"/>
            </a:endParaRPr>
          </a:p>
        </p:txBody>
      </p:sp>
      <p:sp>
        <p:nvSpPr>
          <p:cNvPr id="1107" name="Google Shape;1107;p36"/>
          <p:cNvSpPr txBox="1"/>
          <p:nvPr/>
        </p:nvSpPr>
        <p:spPr>
          <a:xfrm rot="-5400000">
            <a:off x="8578375" y="4939600"/>
            <a:ext cx="2012700" cy="881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n-US" sz="3000" u="none" cap="none" strike="noStrike">
                <a:solidFill>
                  <a:srgbClr val="0000FF"/>
                </a:solidFill>
                <a:latin typeface="Poppins"/>
                <a:ea typeface="Poppins"/>
                <a:cs typeface="Poppins"/>
                <a:sym typeface="Poppins"/>
              </a:rPr>
              <a:t>Voltaje</a:t>
            </a:r>
            <a:endParaRPr b="0" i="0" sz="3000" u="none" cap="none" strike="noStrike">
              <a:solidFill>
                <a:srgbClr val="0000FF"/>
              </a:solidFill>
              <a:latin typeface="Poppins"/>
              <a:ea typeface="Poppins"/>
              <a:cs typeface="Poppins"/>
              <a:sym typeface="Poppins"/>
            </a:endParaRPr>
          </a:p>
        </p:txBody>
      </p:sp>
      <p:sp>
        <p:nvSpPr>
          <p:cNvPr id="1108" name="Google Shape;1108;p36"/>
          <p:cNvSpPr txBox="1"/>
          <p:nvPr/>
        </p:nvSpPr>
        <p:spPr>
          <a:xfrm>
            <a:off x="13075800" y="9667400"/>
            <a:ext cx="3472800" cy="251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rgbClr val="0000FF"/>
                </a:solidFill>
                <a:latin typeface="Poppins"/>
                <a:ea typeface="Poppins"/>
                <a:cs typeface="Poppins"/>
                <a:sym typeface="Poppins"/>
              </a:rPr>
              <a:t>tiempo (ms)</a:t>
            </a:r>
            <a:endParaRPr b="0" i="0" sz="2700" u="none" cap="none" strike="noStrike">
              <a:solidFill>
                <a:srgbClr val="0000FF"/>
              </a:solidFill>
              <a:latin typeface="Poppins"/>
              <a:ea typeface="Poppins"/>
              <a:cs typeface="Poppins"/>
              <a:sym typeface="Poppins"/>
            </a:endParaRPr>
          </a:p>
        </p:txBody>
      </p:sp>
      <p:sp>
        <p:nvSpPr>
          <p:cNvPr id="1109" name="Google Shape;1109;p36"/>
          <p:cNvSpPr/>
          <p:nvPr/>
        </p:nvSpPr>
        <p:spPr>
          <a:xfrm rot="10085608">
            <a:off x="15338362" y="2999303"/>
            <a:ext cx="841913" cy="526130"/>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10" name="Google Shape;1110;p36"/>
          <p:cNvSpPr txBox="1"/>
          <p:nvPr/>
        </p:nvSpPr>
        <p:spPr>
          <a:xfrm>
            <a:off x="10576400" y="2946600"/>
            <a:ext cx="3209700" cy="482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FF"/>
                </a:solidFill>
                <a:latin typeface="Poppins"/>
                <a:ea typeface="Poppins"/>
                <a:cs typeface="Poppins"/>
                <a:sym typeface="Poppins"/>
              </a:rPr>
              <a:t>iones Na+ dentro de la célula</a:t>
            </a:r>
            <a:endParaRPr b="0" i="0" sz="2000" u="none" cap="none" strike="noStrike">
              <a:solidFill>
                <a:srgbClr val="0000FF"/>
              </a:solidFill>
              <a:latin typeface="Poppins"/>
              <a:ea typeface="Poppins"/>
              <a:cs typeface="Poppins"/>
              <a:sym typeface="Poppins"/>
            </a:endParaRPr>
          </a:p>
        </p:txBody>
      </p:sp>
      <p:sp>
        <p:nvSpPr>
          <p:cNvPr id="1111" name="Google Shape;1111;p36"/>
          <p:cNvSpPr txBox="1"/>
          <p:nvPr/>
        </p:nvSpPr>
        <p:spPr>
          <a:xfrm>
            <a:off x="14759625" y="4735050"/>
            <a:ext cx="2551800" cy="816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rgbClr val="0000FF"/>
                </a:solidFill>
                <a:latin typeface="Poppins"/>
                <a:ea typeface="Poppins"/>
                <a:cs typeface="Poppins"/>
                <a:sym typeface="Poppins"/>
              </a:rPr>
              <a:t>iones K+ fuera</a:t>
            </a:r>
            <a:endParaRPr b="0" i="0" sz="2300" u="none" cap="none" strike="noStrike">
              <a:solidFill>
                <a:srgbClr val="0000FF"/>
              </a:solidFill>
              <a:latin typeface="Poppins"/>
              <a:ea typeface="Poppins"/>
              <a:cs typeface="Poppins"/>
              <a:sym typeface="Poppins"/>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AFAFA"/>
        </a:solidFill>
      </p:bgPr>
    </p:bg>
    <p:spTree>
      <p:nvGrpSpPr>
        <p:cNvPr id="1115" name="Shape 1115"/>
        <p:cNvGrpSpPr/>
        <p:nvPr/>
      </p:nvGrpSpPr>
      <p:grpSpPr>
        <a:xfrm>
          <a:off x="0" y="0"/>
          <a:ext cx="0" cy="0"/>
          <a:chOff x="0" y="0"/>
          <a:chExt cx="0" cy="0"/>
        </a:xfrm>
      </p:grpSpPr>
      <p:sp>
        <p:nvSpPr>
          <p:cNvPr id="1116" name="Google Shape;1116;p37"/>
          <p:cNvSpPr txBox="1"/>
          <p:nvPr/>
        </p:nvSpPr>
        <p:spPr>
          <a:xfrm>
            <a:off x="627625" y="2382350"/>
            <a:ext cx="8516400" cy="113997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2700"/>
              <a:buFont typeface="Arial"/>
              <a:buNone/>
            </a:pPr>
            <a:r>
              <a:t/>
            </a:r>
            <a:endParaRPr b="1" i="0" sz="2700" u="none" cap="none" strike="noStrike">
              <a:solidFill>
                <a:srgbClr val="2D2F3B"/>
              </a:solidFill>
              <a:latin typeface="Poppins Medium"/>
              <a:ea typeface="Poppins Medium"/>
              <a:cs typeface="Poppins Medium"/>
              <a:sym typeface="Poppins Medium"/>
            </a:endParaRPr>
          </a:p>
          <a:p>
            <a:pPr indent="-412750" lvl="0" marL="457200" marR="0" rtl="0" algn="l">
              <a:lnSpc>
                <a:spcPct val="110000"/>
              </a:lnSpc>
              <a:spcBef>
                <a:spcPts val="0"/>
              </a:spcBef>
              <a:spcAft>
                <a:spcPts val="0"/>
              </a:spcAft>
              <a:buClr>
                <a:srgbClr val="1C4587"/>
              </a:buClr>
              <a:buSzPts val="2900"/>
              <a:buFont typeface="Poppins Medium"/>
              <a:buAutoNum type="arabicParenR" startAt="4"/>
            </a:pPr>
            <a:r>
              <a:rPr b="1" i="0" lang="en-US" sz="2900" u="none" cap="none" strike="noStrike">
                <a:solidFill>
                  <a:srgbClr val="1C4587"/>
                </a:solidFill>
                <a:latin typeface="Poppins Medium"/>
                <a:ea typeface="Poppins Medium"/>
                <a:cs typeface="Poppins Medium"/>
                <a:sym typeface="Poppins Medium"/>
              </a:rPr>
              <a:t>Hyperpolarization: The membrane potential drops briefly below the resting potential</a:t>
            </a:r>
            <a:endParaRPr b="1" i="0" sz="2900" u="none" cap="none" strike="noStrike">
              <a:solidFill>
                <a:srgbClr val="1C4587"/>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2900"/>
              <a:buFont typeface="Arial"/>
              <a:buNone/>
            </a:pPr>
            <a:r>
              <a:t/>
            </a:r>
            <a:endParaRPr b="1" i="0" sz="2900" u="none" cap="none" strike="noStrike">
              <a:solidFill>
                <a:srgbClr val="1C4587"/>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2900"/>
              <a:buFont typeface="Arial"/>
              <a:buNone/>
            </a:pPr>
            <a:r>
              <a:rPr b="1" i="0" lang="en-US" sz="2900" u="none" cap="none" strike="noStrike">
                <a:solidFill>
                  <a:srgbClr val="0000FF"/>
                </a:solidFill>
                <a:latin typeface="Poppins Medium"/>
                <a:ea typeface="Poppins Medium"/>
                <a:cs typeface="Poppins Medium"/>
                <a:sym typeface="Poppins Medium"/>
              </a:rPr>
              <a:t>Hiperpolarización: El potencial de membrana cae brevemente por debajo del potencial de reposo</a:t>
            </a:r>
            <a:endParaRPr b="1" i="0" sz="29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900"/>
              <a:buFont typeface="Arial"/>
              <a:buNone/>
            </a:pPr>
            <a:r>
              <a:t/>
            </a:r>
            <a:endParaRPr b="1" i="0" sz="2900" u="none" cap="none" strike="noStrike">
              <a:solidFill>
                <a:srgbClr val="1C4587"/>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2900"/>
              <a:buFont typeface="Arial"/>
              <a:buNone/>
            </a:pPr>
            <a:r>
              <a:rPr b="1" i="0" lang="en-US" sz="2900" u="none" cap="none" strike="noStrike">
                <a:solidFill>
                  <a:srgbClr val="1C4587"/>
                </a:solidFill>
                <a:latin typeface="Poppins Medium"/>
                <a:ea typeface="Poppins Medium"/>
                <a:cs typeface="Poppins Medium"/>
                <a:sym typeface="Poppins Medium"/>
              </a:rPr>
              <a:t>Short reset time after firing so neurons cannot fire again immediately</a:t>
            </a:r>
            <a:endParaRPr b="1" i="0" sz="2900" u="none" cap="none" strike="noStrike">
              <a:solidFill>
                <a:srgbClr val="1C4587"/>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2900"/>
              <a:buFont typeface="Arial"/>
              <a:buNone/>
            </a:pPr>
            <a:r>
              <a:t/>
            </a:r>
            <a:endParaRPr b="1" i="0" sz="2900" u="none" cap="none" strike="noStrike">
              <a:solidFill>
                <a:srgbClr val="1C4587"/>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2900"/>
              <a:buFont typeface="Arial"/>
              <a:buNone/>
            </a:pPr>
            <a:r>
              <a:rPr b="1" i="0" lang="en-US" sz="2900" u="none" cap="none" strike="noStrike">
                <a:solidFill>
                  <a:srgbClr val="0000FF"/>
                </a:solidFill>
                <a:latin typeface="Poppins Medium"/>
                <a:ea typeface="Poppins Medium"/>
                <a:cs typeface="Poppins Medium"/>
                <a:sym typeface="Poppins Medium"/>
              </a:rPr>
              <a:t>El tiempo de recuperación tras la activación es corto, por lo que las neuronas no pueden activarse de nuevo inmediatamente</a:t>
            </a:r>
            <a:endParaRPr b="1" i="0" sz="2900" u="none" cap="none" strike="noStrike">
              <a:solidFill>
                <a:srgbClr val="0000FF"/>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1C4587"/>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1C4587"/>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p:txBody>
      </p:sp>
      <p:pic>
        <p:nvPicPr>
          <p:cNvPr id="1117" name="Google Shape;1117;p37" title="Screenshot 2025-11-14 at 12.12.20 PM.png"/>
          <p:cNvPicPr preferRelativeResize="0"/>
          <p:nvPr/>
        </p:nvPicPr>
        <p:blipFill rotWithShape="1">
          <a:blip r:embed="rId3">
            <a:alphaModFix/>
          </a:blip>
          <a:srcRect b="0" l="0" r="0" t="0"/>
          <a:stretch/>
        </p:blipFill>
        <p:spPr>
          <a:xfrm>
            <a:off x="9715500" y="2566500"/>
            <a:ext cx="7885524" cy="7232450"/>
          </a:xfrm>
          <a:prstGeom prst="rect">
            <a:avLst/>
          </a:prstGeom>
          <a:noFill/>
          <a:ln>
            <a:noFill/>
          </a:ln>
        </p:spPr>
      </p:pic>
      <p:cxnSp>
        <p:nvCxnSpPr>
          <p:cNvPr id="1118" name="Google Shape;1118;p37"/>
          <p:cNvCxnSpPr/>
          <p:nvPr/>
        </p:nvCxnSpPr>
        <p:spPr>
          <a:xfrm flipH="1" rot="10800000">
            <a:off x="1028734" y="2193451"/>
            <a:ext cx="8115300" cy="18900"/>
          </a:xfrm>
          <a:prstGeom prst="straightConnector1">
            <a:avLst/>
          </a:prstGeom>
          <a:noFill/>
          <a:ln cap="rnd" cmpd="sng" w="28575">
            <a:solidFill>
              <a:srgbClr val="136447"/>
            </a:solidFill>
            <a:prstDash val="solid"/>
            <a:round/>
            <a:headEnd len="sm" w="sm" type="none"/>
            <a:tailEnd len="sm" w="sm" type="none"/>
          </a:ln>
        </p:spPr>
      </p:cxnSp>
      <p:sp>
        <p:nvSpPr>
          <p:cNvPr id="1119" name="Google Shape;1119;p37"/>
          <p:cNvSpPr txBox="1"/>
          <p:nvPr/>
        </p:nvSpPr>
        <p:spPr>
          <a:xfrm>
            <a:off x="447250" y="914400"/>
            <a:ext cx="17153700" cy="816900"/>
          </a:xfrm>
          <a:prstGeom prst="rect">
            <a:avLst/>
          </a:prstGeom>
          <a:noFill/>
          <a:ln>
            <a:noFill/>
          </a:ln>
        </p:spPr>
        <p:txBody>
          <a:bodyPr anchorCtr="0" anchor="t" bIns="0" lIns="0" spcFirstLastPara="1" rIns="0" wrap="square" tIns="0">
            <a:spAutoFit/>
          </a:bodyPr>
          <a:lstStyle/>
          <a:p>
            <a:pPr indent="0" lvl="0" marL="0" marR="0" rtl="0" algn="ctr">
              <a:lnSpc>
                <a:spcPct val="130009"/>
              </a:lnSpc>
              <a:spcBef>
                <a:spcPts val="0"/>
              </a:spcBef>
              <a:spcAft>
                <a:spcPts val="0"/>
              </a:spcAft>
              <a:buClr>
                <a:srgbClr val="000000"/>
              </a:buClr>
              <a:buSzPts val="5308"/>
              <a:buFont typeface="Arial"/>
              <a:buNone/>
            </a:pPr>
            <a:r>
              <a:rPr b="1" i="0" lang="en-US" sz="5308" u="none" cap="none" strike="noStrike">
                <a:solidFill>
                  <a:srgbClr val="136447"/>
                </a:solidFill>
                <a:latin typeface="Poppins"/>
                <a:ea typeface="Poppins"/>
                <a:cs typeface="Poppins"/>
                <a:sym typeface="Poppins"/>
              </a:rPr>
              <a:t>How a Neuron Fires | </a:t>
            </a:r>
            <a:r>
              <a:rPr b="1" i="0" lang="en-US" sz="5308" u="none" cap="none" strike="noStrike">
                <a:solidFill>
                  <a:srgbClr val="0000FF"/>
                </a:solidFill>
                <a:latin typeface="Poppins"/>
                <a:ea typeface="Poppins"/>
                <a:cs typeface="Poppins"/>
                <a:sym typeface="Poppins"/>
              </a:rPr>
              <a:t>Cómo se activa una neurona</a:t>
            </a:r>
            <a:endParaRPr b="0" i="0" sz="700" u="none" cap="none" strike="noStrike">
              <a:solidFill>
                <a:srgbClr val="0000FF"/>
              </a:solidFill>
              <a:latin typeface="Arial"/>
              <a:ea typeface="Arial"/>
              <a:cs typeface="Arial"/>
              <a:sym typeface="Arial"/>
            </a:endParaRPr>
          </a:p>
        </p:txBody>
      </p:sp>
      <p:sp>
        <p:nvSpPr>
          <p:cNvPr id="1120" name="Google Shape;1120;p37"/>
          <p:cNvSpPr txBox="1"/>
          <p:nvPr/>
        </p:nvSpPr>
        <p:spPr>
          <a:xfrm rot="-5400000">
            <a:off x="8578375" y="4939600"/>
            <a:ext cx="2012700" cy="881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n-US" sz="3000" u="none" cap="none" strike="noStrike">
                <a:solidFill>
                  <a:srgbClr val="0000FF"/>
                </a:solidFill>
                <a:latin typeface="Poppins"/>
                <a:ea typeface="Poppins"/>
                <a:cs typeface="Poppins"/>
                <a:sym typeface="Poppins"/>
              </a:rPr>
              <a:t>Voltaje</a:t>
            </a:r>
            <a:endParaRPr b="0" i="0" sz="3000" u="none" cap="none" strike="noStrike">
              <a:solidFill>
                <a:srgbClr val="0000FF"/>
              </a:solidFill>
              <a:latin typeface="Poppins"/>
              <a:ea typeface="Poppins"/>
              <a:cs typeface="Poppins"/>
              <a:sym typeface="Poppins"/>
            </a:endParaRPr>
          </a:p>
        </p:txBody>
      </p:sp>
      <p:sp>
        <p:nvSpPr>
          <p:cNvPr id="1121" name="Google Shape;1121;p37"/>
          <p:cNvSpPr txBox="1"/>
          <p:nvPr/>
        </p:nvSpPr>
        <p:spPr>
          <a:xfrm>
            <a:off x="13075800" y="9667400"/>
            <a:ext cx="3472800" cy="251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rgbClr val="0000FF"/>
                </a:solidFill>
                <a:latin typeface="Poppins"/>
                <a:ea typeface="Poppins"/>
                <a:cs typeface="Poppins"/>
                <a:sym typeface="Poppins"/>
              </a:rPr>
              <a:t>tiempo (ms)</a:t>
            </a:r>
            <a:endParaRPr b="0" i="0" sz="2700" u="none" cap="none" strike="noStrike">
              <a:solidFill>
                <a:srgbClr val="0000FF"/>
              </a:solidFill>
              <a:latin typeface="Poppins"/>
              <a:ea typeface="Poppins"/>
              <a:cs typeface="Poppins"/>
              <a:sym typeface="Poppins"/>
            </a:endParaRPr>
          </a:p>
        </p:txBody>
      </p:sp>
      <p:sp>
        <p:nvSpPr>
          <p:cNvPr id="1122" name="Google Shape;1122;p37"/>
          <p:cNvSpPr/>
          <p:nvPr/>
        </p:nvSpPr>
        <p:spPr>
          <a:xfrm rot="10800000">
            <a:off x="17206413" y="8029619"/>
            <a:ext cx="841800" cy="526200"/>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23" name="Google Shape;1123;p37"/>
          <p:cNvSpPr txBox="1"/>
          <p:nvPr/>
        </p:nvSpPr>
        <p:spPr>
          <a:xfrm>
            <a:off x="10576400" y="2946600"/>
            <a:ext cx="3209700" cy="482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FF"/>
                </a:solidFill>
                <a:latin typeface="Poppins"/>
                <a:ea typeface="Poppins"/>
                <a:cs typeface="Poppins"/>
                <a:sym typeface="Poppins"/>
              </a:rPr>
              <a:t>iones Na+ dentro de la célula</a:t>
            </a:r>
            <a:endParaRPr b="0" i="0" sz="2000" u="none" cap="none" strike="noStrike">
              <a:solidFill>
                <a:srgbClr val="0000FF"/>
              </a:solidFill>
              <a:latin typeface="Poppins"/>
              <a:ea typeface="Poppins"/>
              <a:cs typeface="Poppins"/>
              <a:sym typeface="Poppins"/>
            </a:endParaRPr>
          </a:p>
        </p:txBody>
      </p:sp>
      <p:sp>
        <p:nvSpPr>
          <p:cNvPr id="1124" name="Google Shape;1124;p37"/>
          <p:cNvSpPr txBox="1"/>
          <p:nvPr/>
        </p:nvSpPr>
        <p:spPr>
          <a:xfrm>
            <a:off x="14759625" y="4735050"/>
            <a:ext cx="2551800" cy="816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rgbClr val="0000FF"/>
                </a:solidFill>
                <a:latin typeface="Poppins"/>
                <a:ea typeface="Poppins"/>
                <a:cs typeface="Poppins"/>
                <a:sym typeface="Poppins"/>
              </a:rPr>
              <a:t>iones K+ fuera</a:t>
            </a:r>
            <a:endParaRPr b="0" i="0" sz="2300" u="none" cap="none" strike="noStrike">
              <a:solidFill>
                <a:srgbClr val="0000FF"/>
              </a:solidFill>
              <a:latin typeface="Poppins"/>
              <a:ea typeface="Poppins"/>
              <a:cs typeface="Poppins"/>
              <a:sym typeface="Poppins"/>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AFAFA"/>
        </a:solidFill>
      </p:bgPr>
    </p:bg>
    <p:spTree>
      <p:nvGrpSpPr>
        <p:cNvPr id="1128" name="Shape 1128"/>
        <p:cNvGrpSpPr/>
        <p:nvPr/>
      </p:nvGrpSpPr>
      <p:grpSpPr>
        <a:xfrm>
          <a:off x="0" y="0"/>
          <a:ext cx="0" cy="0"/>
          <a:chOff x="0" y="0"/>
          <a:chExt cx="0" cy="0"/>
        </a:xfrm>
      </p:grpSpPr>
      <p:sp>
        <p:nvSpPr>
          <p:cNvPr id="1129" name="Google Shape;1129;p38"/>
          <p:cNvSpPr txBox="1"/>
          <p:nvPr/>
        </p:nvSpPr>
        <p:spPr>
          <a:xfrm>
            <a:off x="1262400" y="2566500"/>
            <a:ext cx="7462500" cy="10587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431800" lvl="0" marL="457200" marR="0" rtl="0" algn="l">
              <a:lnSpc>
                <a:spcPct val="110000"/>
              </a:lnSpc>
              <a:spcBef>
                <a:spcPts val="0"/>
              </a:spcBef>
              <a:spcAft>
                <a:spcPts val="0"/>
              </a:spcAft>
              <a:buClr>
                <a:srgbClr val="1C4587"/>
              </a:buClr>
              <a:buSzPts val="3200"/>
              <a:buFont typeface="Poppins Medium"/>
              <a:buAutoNum type="arabicParenR" startAt="5"/>
            </a:pPr>
            <a:r>
              <a:rPr b="1" i="0" lang="en-US" sz="3200" u="none" cap="none" strike="noStrike">
                <a:solidFill>
                  <a:srgbClr val="1C4587"/>
                </a:solidFill>
                <a:latin typeface="Poppins Medium"/>
                <a:ea typeface="Poppins Medium"/>
                <a:cs typeface="Poppins Medium"/>
                <a:sym typeface="Poppins Medium"/>
              </a:rPr>
              <a:t>Resting State: The membrane potential returns back to the resting membrane potential and is ready to fire again</a:t>
            </a:r>
            <a:endParaRPr b="1" i="0" sz="3200" u="none" cap="none" strike="noStrike">
              <a:solidFill>
                <a:srgbClr val="1C4587"/>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1C4587"/>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rPr b="1" i="0" lang="en-US" sz="3200" u="none" cap="none" strike="noStrike">
                <a:solidFill>
                  <a:srgbClr val="0000FF"/>
                </a:solidFill>
                <a:latin typeface="Poppins Medium"/>
                <a:ea typeface="Poppins Medium"/>
                <a:cs typeface="Poppins Medium"/>
                <a:sym typeface="Poppins Medium"/>
              </a:rPr>
              <a:t>Estado de reposo: El potencial de membrana vuelve a su estado de reposo y está listo para volver a activarse</a:t>
            </a:r>
            <a:endParaRPr b="1" i="0" sz="32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1C4587"/>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1C4587"/>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1C4587"/>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1C4587"/>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1C4587"/>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p:txBody>
      </p:sp>
      <p:pic>
        <p:nvPicPr>
          <p:cNvPr id="1130" name="Google Shape;1130;p38" title="Screenshot 2025-11-14 at 12.12.20 PM.png"/>
          <p:cNvPicPr preferRelativeResize="0"/>
          <p:nvPr/>
        </p:nvPicPr>
        <p:blipFill rotWithShape="1">
          <a:blip r:embed="rId3">
            <a:alphaModFix/>
          </a:blip>
          <a:srcRect b="0" l="0" r="0" t="0"/>
          <a:stretch/>
        </p:blipFill>
        <p:spPr>
          <a:xfrm>
            <a:off x="9715500" y="2566500"/>
            <a:ext cx="7885524" cy="7232450"/>
          </a:xfrm>
          <a:prstGeom prst="rect">
            <a:avLst/>
          </a:prstGeom>
          <a:noFill/>
          <a:ln>
            <a:noFill/>
          </a:ln>
        </p:spPr>
      </p:pic>
      <p:cxnSp>
        <p:nvCxnSpPr>
          <p:cNvPr id="1131" name="Google Shape;1131;p38"/>
          <p:cNvCxnSpPr/>
          <p:nvPr/>
        </p:nvCxnSpPr>
        <p:spPr>
          <a:xfrm flipH="1" rot="10800000">
            <a:off x="1028734" y="2193451"/>
            <a:ext cx="8115300" cy="18900"/>
          </a:xfrm>
          <a:prstGeom prst="straightConnector1">
            <a:avLst/>
          </a:prstGeom>
          <a:noFill/>
          <a:ln cap="rnd" cmpd="sng" w="28575">
            <a:solidFill>
              <a:srgbClr val="136447"/>
            </a:solidFill>
            <a:prstDash val="solid"/>
            <a:round/>
            <a:headEnd len="sm" w="sm" type="none"/>
            <a:tailEnd len="sm" w="sm" type="none"/>
          </a:ln>
        </p:spPr>
      </p:cxnSp>
      <p:sp>
        <p:nvSpPr>
          <p:cNvPr id="1132" name="Google Shape;1132;p38"/>
          <p:cNvSpPr txBox="1"/>
          <p:nvPr/>
        </p:nvSpPr>
        <p:spPr>
          <a:xfrm>
            <a:off x="447250" y="914400"/>
            <a:ext cx="17153700" cy="816900"/>
          </a:xfrm>
          <a:prstGeom prst="rect">
            <a:avLst/>
          </a:prstGeom>
          <a:noFill/>
          <a:ln>
            <a:noFill/>
          </a:ln>
        </p:spPr>
        <p:txBody>
          <a:bodyPr anchorCtr="0" anchor="t" bIns="0" lIns="0" spcFirstLastPara="1" rIns="0" wrap="square" tIns="0">
            <a:spAutoFit/>
          </a:bodyPr>
          <a:lstStyle/>
          <a:p>
            <a:pPr indent="0" lvl="0" marL="0" marR="0" rtl="0" algn="ctr">
              <a:lnSpc>
                <a:spcPct val="130009"/>
              </a:lnSpc>
              <a:spcBef>
                <a:spcPts val="0"/>
              </a:spcBef>
              <a:spcAft>
                <a:spcPts val="0"/>
              </a:spcAft>
              <a:buClr>
                <a:srgbClr val="000000"/>
              </a:buClr>
              <a:buSzPts val="5308"/>
              <a:buFont typeface="Arial"/>
              <a:buNone/>
            </a:pPr>
            <a:r>
              <a:rPr b="1" i="0" lang="en-US" sz="5308" u="none" cap="none" strike="noStrike">
                <a:solidFill>
                  <a:srgbClr val="136447"/>
                </a:solidFill>
                <a:latin typeface="Poppins"/>
                <a:ea typeface="Poppins"/>
                <a:cs typeface="Poppins"/>
                <a:sym typeface="Poppins"/>
              </a:rPr>
              <a:t>How a Neuron Fires | </a:t>
            </a:r>
            <a:r>
              <a:rPr b="1" i="0" lang="en-US" sz="5308" u="none" cap="none" strike="noStrike">
                <a:solidFill>
                  <a:srgbClr val="0000FF"/>
                </a:solidFill>
                <a:latin typeface="Poppins"/>
                <a:ea typeface="Poppins"/>
                <a:cs typeface="Poppins"/>
                <a:sym typeface="Poppins"/>
              </a:rPr>
              <a:t>Cómo se activa una neurona</a:t>
            </a:r>
            <a:endParaRPr b="0" i="0" sz="700" u="none" cap="none" strike="noStrike">
              <a:solidFill>
                <a:srgbClr val="0000FF"/>
              </a:solidFill>
              <a:latin typeface="Arial"/>
              <a:ea typeface="Arial"/>
              <a:cs typeface="Arial"/>
              <a:sym typeface="Arial"/>
            </a:endParaRPr>
          </a:p>
        </p:txBody>
      </p:sp>
      <p:sp>
        <p:nvSpPr>
          <p:cNvPr id="1133" name="Google Shape;1133;p38"/>
          <p:cNvSpPr txBox="1"/>
          <p:nvPr/>
        </p:nvSpPr>
        <p:spPr>
          <a:xfrm rot="-5400000">
            <a:off x="8578375" y="4939600"/>
            <a:ext cx="2012700" cy="881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n-US" sz="3000" u="none" cap="none" strike="noStrike">
                <a:solidFill>
                  <a:srgbClr val="0000FF"/>
                </a:solidFill>
                <a:latin typeface="Poppins"/>
                <a:ea typeface="Poppins"/>
                <a:cs typeface="Poppins"/>
                <a:sym typeface="Poppins"/>
              </a:rPr>
              <a:t>Voltaje</a:t>
            </a:r>
            <a:endParaRPr b="0" i="0" sz="3000" u="none" cap="none" strike="noStrike">
              <a:solidFill>
                <a:srgbClr val="0000FF"/>
              </a:solidFill>
              <a:latin typeface="Poppins"/>
              <a:ea typeface="Poppins"/>
              <a:cs typeface="Poppins"/>
              <a:sym typeface="Poppins"/>
            </a:endParaRPr>
          </a:p>
        </p:txBody>
      </p:sp>
      <p:sp>
        <p:nvSpPr>
          <p:cNvPr id="1134" name="Google Shape;1134;p38"/>
          <p:cNvSpPr txBox="1"/>
          <p:nvPr/>
        </p:nvSpPr>
        <p:spPr>
          <a:xfrm>
            <a:off x="13075800" y="9667400"/>
            <a:ext cx="3472800" cy="251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rgbClr val="0000FF"/>
                </a:solidFill>
                <a:latin typeface="Poppins"/>
                <a:ea typeface="Poppins"/>
                <a:cs typeface="Poppins"/>
                <a:sym typeface="Poppins"/>
              </a:rPr>
              <a:t>tiempo (ms)</a:t>
            </a:r>
            <a:endParaRPr b="0" i="0" sz="2700" u="none" cap="none" strike="noStrike">
              <a:solidFill>
                <a:srgbClr val="0000FF"/>
              </a:solidFill>
              <a:latin typeface="Poppins"/>
              <a:ea typeface="Poppins"/>
              <a:cs typeface="Poppins"/>
              <a:sym typeface="Poppins"/>
            </a:endParaRPr>
          </a:p>
        </p:txBody>
      </p:sp>
      <p:sp>
        <p:nvSpPr>
          <p:cNvPr id="1135" name="Google Shape;1135;p38"/>
          <p:cNvSpPr/>
          <p:nvPr/>
        </p:nvSpPr>
        <p:spPr>
          <a:xfrm rot="1199091">
            <a:off x="16101503" y="5919700"/>
            <a:ext cx="841790" cy="526045"/>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36" name="Google Shape;1136;p38"/>
          <p:cNvSpPr txBox="1"/>
          <p:nvPr/>
        </p:nvSpPr>
        <p:spPr>
          <a:xfrm>
            <a:off x="10576400" y="2946600"/>
            <a:ext cx="3209700" cy="482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FF"/>
                </a:solidFill>
                <a:latin typeface="Poppins"/>
                <a:ea typeface="Poppins"/>
                <a:cs typeface="Poppins"/>
                <a:sym typeface="Poppins"/>
              </a:rPr>
              <a:t>iones Na+ dentro de la célula</a:t>
            </a:r>
            <a:endParaRPr b="0" i="0" sz="2000" u="none" cap="none" strike="noStrike">
              <a:solidFill>
                <a:srgbClr val="0000FF"/>
              </a:solidFill>
              <a:latin typeface="Poppins"/>
              <a:ea typeface="Poppins"/>
              <a:cs typeface="Poppins"/>
              <a:sym typeface="Poppins"/>
            </a:endParaRPr>
          </a:p>
        </p:txBody>
      </p:sp>
      <p:sp>
        <p:nvSpPr>
          <p:cNvPr id="1137" name="Google Shape;1137;p38"/>
          <p:cNvSpPr txBox="1"/>
          <p:nvPr/>
        </p:nvSpPr>
        <p:spPr>
          <a:xfrm>
            <a:off x="14759625" y="4735050"/>
            <a:ext cx="2551800" cy="816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rgbClr val="0000FF"/>
                </a:solidFill>
                <a:latin typeface="Poppins"/>
                <a:ea typeface="Poppins"/>
                <a:cs typeface="Poppins"/>
                <a:sym typeface="Poppins"/>
              </a:rPr>
              <a:t>iones K+ fuera</a:t>
            </a:r>
            <a:endParaRPr b="0" i="0" sz="2300" u="none" cap="none" strike="noStrike">
              <a:solidFill>
                <a:srgbClr val="0000FF"/>
              </a:solidFill>
              <a:latin typeface="Poppins"/>
              <a:ea typeface="Poppins"/>
              <a:cs typeface="Poppins"/>
              <a:sym typeface="Poppins"/>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AFAFA"/>
        </a:solidFill>
      </p:bgPr>
    </p:bg>
    <p:spTree>
      <p:nvGrpSpPr>
        <p:cNvPr id="1141" name="Shape 1141"/>
        <p:cNvGrpSpPr/>
        <p:nvPr/>
      </p:nvGrpSpPr>
      <p:grpSpPr>
        <a:xfrm>
          <a:off x="0" y="0"/>
          <a:ext cx="0" cy="0"/>
          <a:chOff x="0" y="0"/>
          <a:chExt cx="0" cy="0"/>
        </a:xfrm>
      </p:grpSpPr>
      <p:cxnSp>
        <p:nvCxnSpPr>
          <p:cNvPr id="1142" name="Google Shape;1142;p39"/>
          <p:cNvCxnSpPr/>
          <p:nvPr/>
        </p:nvCxnSpPr>
        <p:spPr>
          <a:xfrm flipH="1" rot="10800000">
            <a:off x="936009" y="2693351"/>
            <a:ext cx="8115300" cy="18900"/>
          </a:xfrm>
          <a:prstGeom prst="straightConnector1">
            <a:avLst/>
          </a:prstGeom>
          <a:noFill/>
          <a:ln cap="rnd" cmpd="sng" w="28575">
            <a:solidFill>
              <a:srgbClr val="136447"/>
            </a:solidFill>
            <a:prstDash val="solid"/>
            <a:round/>
            <a:headEnd len="sm" w="sm" type="none"/>
            <a:tailEnd len="sm" w="sm" type="none"/>
          </a:ln>
        </p:spPr>
      </p:cxnSp>
      <p:sp>
        <p:nvSpPr>
          <p:cNvPr id="1143" name="Google Shape;1143;p39"/>
          <p:cNvSpPr txBox="1"/>
          <p:nvPr/>
        </p:nvSpPr>
        <p:spPr>
          <a:xfrm>
            <a:off x="490202" y="428550"/>
            <a:ext cx="17307600" cy="1936200"/>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Clr>
                <a:srgbClr val="000000"/>
              </a:buClr>
              <a:buSzPts val="5208"/>
              <a:buFont typeface="Arial"/>
              <a:buNone/>
            </a:pPr>
            <a:r>
              <a:rPr b="1" i="0" lang="en-US" sz="5208" u="none" cap="none" strike="noStrike">
                <a:solidFill>
                  <a:srgbClr val="136447"/>
                </a:solidFill>
                <a:latin typeface="Poppins"/>
                <a:ea typeface="Poppins"/>
                <a:cs typeface="Poppins"/>
                <a:sym typeface="Poppins"/>
              </a:rPr>
              <a:t>Chemical Communication Between Neurons</a:t>
            </a:r>
            <a:endParaRPr b="1" i="0" sz="5208" u="none" cap="none" strike="noStrike">
              <a:solidFill>
                <a:srgbClr val="136447"/>
              </a:solidFill>
              <a:latin typeface="Poppins"/>
              <a:ea typeface="Poppins"/>
              <a:cs typeface="Poppins"/>
              <a:sym typeface="Poppins"/>
            </a:endParaRPr>
          </a:p>
          <a:p>
            <a:pPr indent="0" lvl="0" marL="0" marR="0" rtl="0" algn="l">
              <a:lnSpc>
                <a:spcPct val="130009"/>
              </a:lnSpc>
              <a:spcBef>
                <a:spcPts val="0"/>
              </a:spcBef>
              <a:spcAft>
                <a:spcPts val="0"/>
              </a:spcAft>
              <a:buClr>
                <a:srgbClr val="000000"/>
              </a:buClr>
              <a:buSzPts val="5208"/>
              <a:buFont typeface="Arial"/>
              <a:buNone/>
            </a:pPr>
            <a:r>
              <a:rPr b="1" i="0" lang="en-US" sz="5208" u="none" cap="none" strike="noStrike">
                <a:solidFill>
                  <a:srgbClr val="0000FF"/>
                </a:solidFill>
                <a:latin typeface="Poppins"/>
                <a:ea typeface="Poppins"/>
                <a:cs typeface="Poppins"/>
                <a:sym typeface="Poppins"/>
              </a:rPr>
              <a:t>Comunicación química entre neurona</a:t>
            </a:r>
            <a:r>
              <a:rPr b="1" i="0" lang="en-US" sz="5808" u="none" cap="none" strike="noStrike">
                <a:solidFill>
                  <a:srgbClr val="0000FF"/>
                </a:solidFill>
                <a:latin typeface="Poppins"/>
                <a:ea typeface="Poppins"/>
                <a:cs typeface="Poppins"/>
                <a:sym typeface="Poppins"/>
              </a:rPr>
              <a:t>s</a:t>
            </a:r>
            <a:endParaRPr b="1" i="0" sz="5808" u="none" cap="none" strike="noStrike">
              <a:solidFill>
                <a:srgbClr val="0000FF"/>
              </a:solidFill>
              <a:latin typeface="Poppins"/>
              <a:ea typeface="Poppins"/>
              <a:cs typeface="Poppins"/>
              <a:sym typeface="Poppins"/>
            </a:endParaRPr>
          </a:p>
        </p:txBody>
      </p:sp>
      <p:sp>
        <p:nvSpPr>
          <p:cNvPr id="1144" name="Google Shape;1144;p39"/>
          <p:cNvSpPr txBox="1"/>
          <p:nvPr/>
        </p:nvSpPr>
        <p:spPr>
          <a:xfrm>
            <a:off x="1262400" y="2535463"/>
            <a:ext cx="7462500" cy="78777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431800" lvl="0" marL="457200" marR="0" rtl="0" algn="l">
              <a:lnSpc>
                <a:spcPct val="110000"/>
              </a:lnSpc>
              <a:spcBef>
                <a:spcPts val="0"/>
              </a:spcBef>
              <a:spcAft>
                <a:spcPts val="0"/>
              </a:spcAft>
              <a:buClr>
                <a:srgbClr val="4C1130"/>
              </a:buClr>
              <a:buSzPts val="3200"/>
              <a:buFont typeface="Poppins Medium"/>
              <a:buAutoNum type="arabicParenR"/>
            </a:pPr>
            <a:r>
              <a:rPr b="1" i="0" lang="en-US" sz="3200" u="none" cap="none" strike="noStrike">
                <a:solidFill>
                  <a:srgbClr val="4C1130"/>
                </a:solidFill>
                <a:latin typeface="Poppins Medium"/>
                <a:ea typeface="Poppins Medium"/>
                <a:cs typeface="Poppins Medium"/>
                <a:sym typeface="Poppins Medium"/>
              </a:rPr>
              <a:t>Neurotransmitters are synthesized and stored in vesicles </a:t>
            </a:r>
            <a:endParaRPr b="1" i="0" sz="3200" u="none" cap="none" strike="noStrike">
              <a:solidFill>
                <a:srgbClr val="4C1130"/>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4C1130"/>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rPr b="1" i="0" lang="en-US" sz="3200" u="none" cap="none" strike="noStrike">
                <a:solidFill>
                  <a:srgbClr val="0000FF"/>
                </a:solidFill>
                <a:latin typeface="Poppins Medium"/>
                <a:ea typeface="Poppins Medium"/>
                <a:cs typeface="Poppins Medium"/>
                <a:sym typeface="Poppins Medium"/>
              </a:rPr>
              <a:t>Los neurotransmisores se sintetizan y almacenan en vesículas</a:t>
            </a:r>
            <a:endParaRPr b="1" i="0" sz="3200" u="none" cap="none" strike="noStrike">
              <a:solidFill>
                <a:srgbClr val="0000FF"/>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1C4587"/>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1C4587"/>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p:txBody>
      </p:sp>
      <p:pic>
        <p:nvPicPr>
          <p:cNvPr id="1145" name="Google Shape;1145;p39" title="Screenshot 2025-11-14 at 4.12.49 PM.png"/>
          <p:cNvPicPr preferRelativeResize="0"/>
          <p:nvPr/>
        </p:nvPicPr>
        <p:blipFill rotWithShape="1">
          <a:blip r:embed="rId3">
            <a:alphaModFix/>
          </a:blip>
          <a:srcRect b="0" l="0" r="0" t="0"/>
          <a:stretch/>
        </p:blipFill>
        <p:spPr>
          <a:xfrm>
            <a:off x="9324875" y="2920350"/>
            <a:ext cx="8810726" cy="6965424"/>
          </a:xfrm>
          <a:prstGeom prst="rect">
            <a:avLst/>
          </a:prstGeom>
          <a:noFill/>
          <a:ln>
            <a:noFill/>
          </a:ln>
        </p:spPr>
      </p:pic>
      <p:sp>
        <p:nvSpPr>
          <p:cNvPr id="1146" name="Google Shape;1146;p39"/>
          <p:cNvSpPr/>
          <p:nvPr/>
        </p:nvSpPr>
        <p:spPr>
          <a:xfrm>
            <a:off x="9956875" y="4199875"/>
            <a:ext cx="3010800" cy="766800"/>
          </a:xfrm>
          <a:prstGeom prst="rect">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47" name="Google Shape;1147;p39"/>
          <p:cNvSpPr txBox="1"/>
          <p:nvPr/>
        </p:nvSpPr>
        <p:spPr>
          <a:xfrm>
            <a:off x="9339850" y="2578325"/>
            <a:ext cx="4077900" cy="526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FF"/>
                </a:solidFill>
                <a:latin typeface="Poppins"/>
                <a:ea typeface="Poppins"/>
                <a:cs typeface="Poppins"/>
                <a:sym typeface="Poppins"/>
              </a:rPr>
              <a:t>Sinapsis química</a:t>
            </a:r>
            <a:endParaRPr b="0" i="0" sz="2800" u="none" cap="none" strike="noStrike">
              <a:solidFill>
                <a:srgbClr val="0000FF"/>
              </a:solidFill>
              <a:latin typeface="Poppins"/>
              <a:ea typeface="Poppins"/>
              <a:cs typeface="Poppins"/>
              <a:sym typeface="Poppins"/>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AFAFA"/>
        </a:solidFill>
      </p:bgPr>
    </p:bg>
    <p:spTree>
      <p:nvGrpSpPr>
        <p:cNvPr id="1151" name="Shape 1151"/>
        <p:cNvGrpSpPr/>
        <p:nvPr/>
      </p:nvGrpSpPr>
      <p:grpSpPr>
        <a:xfrm>
          <a:off x="0" y="0"/>
          <a:ext cx="0" cy="0"/>
          <a:chOff x="0" y="0"/>
          <a:chExt cx="0" cy="0"/>
        </a:xfrm>
      </p:grpSpPr>
      <p:sp>
        <p:nvSpPr>
          <p:cNvPr id="1152" name="Google Shape;1152;p40"/>
          <p:cNvSpPr txBox="1"/>
          <p:nvPr/>
        </p:nvSpPr>
        <p:spPr>
          <a:xfrm>
            <a:off x="1262400" y="2566500"/>
            <a:ext cx="7462500" cy="6794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431800" lvl="0" marL="457200" marR="0" rtl="0" algn="l">
              <a:lnSpc>
                <a:spcPct val="110000"/>
              </a:lnSpc>
              <a:spcBef>
                <a:spcPts val="0"/>
              </a:spcBef>
              <a:spcAft>
                <a:spcPts val="0"/>
              </a:spcAft>
              <a:buClr>
                <a:srgbClr val="4C1130"/>
              </a:buClr>
              <a:buSzPts val="3200"/>
              <a:buFont typeface="Poppins Medium"/>
              <a:buAutoNum type="arabicParenR" startAt="2"/>
            </a:pPr>
            <a:r>
              <a:rPr b="1" i="0" lang="en-US" sz="3200" u="none" cap="none" strike="noStrike">
                <a:solidFill>
                  <a:srgbClr val="4C1130"/>
                </a:solidFill>
                <a:latin typeface="Poppins Medium"/>
                <a:ea typeface="Poppins Medium"/>
                <a:cs typeface="Poppins Medium"/>
                <a:sym typeface="Poppins Medium"/>
              </a:rPr>
              <a:t>Action potential arrives at the presynaptic terminal</a:t>
            </a:r>
            <a:endParaRPr b="1" i="0" sz="3200" u="none" cap="none" strike="noStrike">
              <a:solidFill>
                <a:srgbClr val="4C1130"/>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4C1130"/>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rPr b="1" i="0" lang="en-US" sz="3200" u="none" cap="none" strike="noStrike">
                <a:solidFill>
                  <a:srgbClr val="0000FF"/>
                </a:solidFill>
                <a:latin typeface="Poppins Medium"/>
                <a:ea typeface="Poppins Medium"/>
                <a:cs typeface="Poppins Medium"/>
                <a:sym typeface="Poppins Medium"/>
              </a:rPr>
              <a:t>El potencial de acción llega a la terminal presináptica</a:t>
            </a:r>
            <a:endParaRPr b="1" i="0" sz="3200" u="none" cap="none" strike="noStrike">
              <a:solidFill>
                <a:srgbClr val="0000FF"/>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1C4587"/>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1C4587"/>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p:txBody>
      </p:sp>
      <p:cxnSp>
        <p:nvCxnSpPr>
          <p:cNvPr id="1153" name="Google Shape;1153;p40"/>
          <p:cNvCxnSpPr/>
          <p:nvPr/>
        </p:nvCxnSpPr>
        <p:spPr>
          <a:xfrm flipH="1" rot="10800000">
            <a:off x="936009" y="2693351"/>
            <a:ext cx="8115300" cy="18900"/>
          </a:xfrm>
          <a:prstGeom prst="straightConnector1">
            <a:avLst/>
          </a:prstGeom>
          <a:noFill/>
          <a:ln cap="rnd" cmpd="sng" w="28575">
            <a:solidFill>
              <a:srgbClr val="136447"/>
            </a:solidFill>
            <a:prstDash val="solid"/>
            <a:round/>
            <a:headEnd len="sm" w="sm" type="none"/>
            <a:tailEnd len="sm" w="sm" type="none"/>
          </a:ln>
        </p:spPr>
      </p:cxnSp>
      <p:sp>
        <p:nvSpPr>
          <p:cNvPr id="1154" name="Google Shape;1154;p40"/>
          <p:cNvSpPr txBox="1"/>
          <p:nvPr/>
        </p:nvSpPr>
        <p:spPr>
          <a:xfrm>
            <a:off x="490202" y="428550"/>
            <a:ext cx="17307600" cy="1936200"/>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Clr>
                <a:srgbClr val="000000"/>
              </a:buClr>
              <a:buSzPts val="5208"/>
              <a:buFont typeface="Arial"/>
              <a:buNone/>
            </a:pPr>
            <a:r>
              <a:rPr b="1" i="0" lang="en-US" sz="5208" u="none" cap="none" strike="noStrike">
                <a:solidFill>
                  <a:srgbClr val="136447"/>
                </a:solidFill>
                <a:latin typeface="Poppins"/>
                <a:ea typeface="Poppins"/>
                <a:cs typeface="Poppins"/>
                <a:sym typeface="Poppins"/>
              </a:rPr>
              <a:t>Chemical Communication Between Neurons</a:t>
            </a:r>
            <a:endParaRPr b="1" i="0" sz="5208" u="none" cap="none" strike="noStrike">
              <a:solidFill>
                <a:srgbClr val="136447"/>
              </a:solidFill>
              <a:latin typeface="Poppins"/>
              <a:ea typeface="Poppins"/>
              <a:cs typeface="Poppins"/>
              <a:sym typeface="Poppins"/>
            </a:endParaRPr>
          </a:p>
          <a:p>
            <a:pPr indent="0" lvl="0" marL="0" marR="0" rtl="0" algn="l">
              <a:lnSpc>
                <a:spcPct val="130009"/>
              </a:lnSpc>
              <a:spcBef>
                <a:spcPts val="0"/>
              </a:spcBef>
              <a:spcAft>
                <a:spcPts val="0"/>
              </a:spcAft>
              <a:buClr>
                <a:srgbClr val="000000"/>
              </a:buClr>
              <a:buSzPts val="5208"/>
              <a:buFont typeface="Arial"/>
              <a:buNone/>
            </a:pPr>
            <a:r>
              <a:rPr b="1" i="0" lang="en-US" sz="5208" u="none" cap="none" strike="noStrike">
                <a:solidFill>
                  <a:srgbClr val="0000FF"/>
                </a:solidFill>
                <a:latin typeface="Poppins"/>
                <a:ea typeface="Poppins"/>
                <a:cs typeface="Poppins"/>
                <a:sym typeface="Poppins"/>
              </a:rPr>
              <a:t>Comunicación química entre neurona</a:t>
            </a:r>
            <a:r>
              <a:rPr b="1" i="0" lang="en-US" sz="5808" u="none" cap="none" strike="noStrike">
                <a:solidFill>
                  <a:srgbClr val="0000FF"/>
                </a:solidFill>
                <a:latin typeface="Poppins"/>
                <a:ea typeface="Poppins"/>
                <a:cs typeface="Poppins"/>
                <a:sym typeface="Poppins"/>
              </a:rPr>
              <a:t>s</a:t>
            </a:r>
            <a:endParaRPr b="1" i="0" sz="5808" u="none" cap="none" strike="noStrike">
              <a:solidFill>
                <a:srgbClr val="0000FF"/>
              </a:solidFill>
              <a:latin typeface="Poppins"/>
              <a:ea typeface="Poppins"/>
              <a:cs typeface="Poppins"/>
              <a:sym typeface="Poppins"/>
            </a:endParaRPr>
          </a:p>
        </p:txBody>
      </p:sp>
      <p:pic>
        <p:nvPicPr>
          <p:cNvPr id="1155" name="Google Shape;1155;p40" title="Screenshot 2025-11-14 at 4.12.49 PM.png"/>
          <p:cNvPicPr preferRelativeResize="0"/>
          <p:nvPr/>
        </p:nvPicPr>
        <p:blipFill rotWithShape="1">
          <a:blip r:embed="rId3">
            <a:alphaModFix/>
          </a:blip>
          <a:srcRect b="0" l="0" r="0" t="0"/>
          <a:stretch/>
        </p:blipFill>
        <p:spPr>
          <a:xfrm>
            <a:off x="9324875" y="2920350"/>
            <a:ext cx="8810726" cy="6965424"/>
          </a:xfrm>
          <a:prstGeom prst="rect">
            <a:avLst/>
          </a:prstGeom>
          <a:noFill/>
          <a:ln>
            <a:noFill/>
          </a:ln>
        </p:spPr>
      </p:pic>
      <p:sp>
        <p:nvSpPr>
          <p:cNvPr id="1156" name="Google Shape;1156;p40"/>
          <p:cNvSpPr/>
          <p:nvPr/>
        </p:nvSpPr>
        <p:spPr>
          <a:xfrm>
            <a:off x="9719525" y="5144613"/>
            <a:ext cx="2653200" cy="464700"/>
          </a:xfrm>
          <a:prstGeom prst="rect">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57" name="Google Shape;1157;p40"/>
          <p:cNvSpPr txBox="1"/>
          <p:nvPr/>
        </p:nvSpPr>
        <p:spPr>
          <a:xfrm>
            <a:off x="9339850" y="2578325"/>
            <a:ext cx="4077900" cy="526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FF"/>
                </a:solidFill>
                <a:latin typeface="Poppins"/>
                <a:ea typeface="Poppins"/>
                <a:cs typeface="Poppins"/>
                <a:sym typeface="Poppins"/>
              </a:rPr>
              <a:t>Sinapsis química</a:t>
            </a:r>
            <a:endParaRPr b="0" i="0" sz="2800" u="none" cap="none" strike="noStrike">
              <a:solidFill>
                <a:srgbClr val="0000FF"/>
              </a:solidFill>
              <a:latin typeface="Poppins"/>
              <a:ea typeface="Poppins"/>
              <a:cs typeface="Poppins"/>
              <a:sym typeface="Poppins"/>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AFAFA"/>
        </a:solidFill>
      </p:bgPr>
    </p:bg>
    <p:spTree>
      <p:nvGrpSpPr>
        <p:cNvPr id="1161" name="Shape 1161"/>
        <p:cNvGrpSpPr/>
        <p:nvPr/>
      </p:nvGrpSpPr>
      <p:grpSpPr>
        <a:xfrm>
          <a:off x="0" y="0"/>
          <a:ext cx="0" cy="0"/>
          <a:chOff x="0" y="0"/>
          <a:chExt cx="0" cy="0"/>
        </a:xfrm>
      </p:grpSpPr>
      <p:sp>
        <p:nvSpPr>
          <p:cNvPr id="1162" name="Google Shape;1162;p41"/>
          <p:cNvSpPr txBox="1"/>
          <p:nvPr/>
        </p:nvSpPr>
        <p:spPr>
          <a:xfrm>
            <a:off x="1262400" y="2566500"/>
            <a:ext cx="7462500" cy="84195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431800" lvl="0" marL="457200" marR="0" rtl="0" algn="l">
              <a:lnSpc>
                <a:spcPct val="110000"/>
              </a:lnSpc>
              <a:spcBef>
                <a:spcPts val="0"/>
              </a:spcBef>
              <a:spcAft>
                <a:spcPts val="0"/>
              </a:spcAft>
              <a:buClr>
                <a:srgbClr val="4C1130"/>
              </a:buClr>
              <a:buSzPts val="3200"/>
              <a:buFont typeface="Poppins Medium"/>
              <a:buAutoNum type="arabicParenR" startAt="3"/>
            </a:pPr>
            <a:r>
              <a:rPr b="1" i="0" lang="en-US" sz="3200" u="none" cap="none" strike="noStrike">
                <a:solidFill>
                  <a:srgbClr val="4C1130"/>
                </a:solidFill>
                <a:latin typeface="Poppins Medium"/>
                <a:ea typeface="Poppins Medium"/>
                <a:cs typeface="Poppins Medium"/>
                <a:sym typeface="Poppins Medium"/>
              </a:rPr>
              <a:t>Voltage-gated calcium (Ca2+) channels open, allowing influx of Ca2+</a:t>
            </a:r>
            <a:endParaRPr b="1" i="0" sz="3200" u="none" cap="none" strike="noStrike">
              <a:solidFill>
                <a:srgbClr val="4C1130"/>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4C1130"/>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rPr b="1" i="0" lang="en-US" sz="3200" u="none" cap="none" strike="noStrike">
                <a:solidFill>
                  <a:srgbClr val="0000FF"/>
                </a:solidFill>
                <a:latin typeface="Poppins Medium"/>
                <a:ea typeface="Poppins Medium"/>
                <a:cs typeface="Poppins Medium"/>
                <a:sym typeface="Poppins Medium"/>
              </a:rPr>
              <a:t>Los canales de calcio (Ca2+) dependientes de voltaje se abren, permitiendo la entrada de Ca2+</a:t>
            </a:r>
            <a:endParaRPr b="1" i="0" sz="3200" u="none" cap="none" strike="noStrike">
              <a:solidFill>
                <a:srgbClr val="0000FF"/>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1C4587"/>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1C4587"/>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p:txBody>
      </p:sp>
      <p:cxnSp>
        <p:nvCxnSpPr>
          <p:cNvPr id="1163" name="Google Shape;1163;p41"/>
          <p:cNvCxnSpPr/>
          <p:nvPr/>
        </p:nvCxnSpPr>
        <p:spPr>
          <a:xfrm flipH="1" rot="10800000">
            <a:off x="936009" y="2693351"/>
            <a:ext cx="8115300" cy="18900"/>
          </a:xfrm>
          <a:prstGeom prst="straightConnector1">
            <a:avLst/>
          </a:prstGeom>
          <a:noFill/>
          <a:ln cap="rnd" cmpd="sng" w="28575">
            <a:solidFill>
              <a:srgbClr val="136447"/>
            </a:solidFill>
            <a:prstDash val="solid"/>
            <a:round/>
            <a:headEnd len="sm" w="sm" type="none"/>
            <a:tailEnd len="sm" w="sm" type="none"/>
          </a:ln>
        </p:spPr>
      </p:cxnSp>
      <p:sp>
        <p:nvSpPr>
          <p:cNvPr id="1164" name="Google Shape;1164;p41"/>
          <p:cNvSpPr txBox="1"/>
          <p:nvPr/>
        </p:nvSpPr>
        <p:spPr>
          <a:xfrm>
            <a:off x="490202" y="428550"/>
            <a:ext cx="17307600" cy="1936200"/>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Clr>
                <a:srgbClr val="000000"/>
              </a:buClr>
              <a:buSzPts val="5208"/>
              <a:buFont typeface="Arial"/>
              <a:buNone/>
            </a:pPr>
            <a:r>
              <a:rPr b="1" i="0" lang="en-US" sz="5208" u="none" cap="none" strike="noStrike">
                <a:solidFill>
                  <a:srgbClr val="136447"/>
                </a:solidFill>
                <a:latin typeface="Poppins"/>
                <a:ea typeface="Poppins"/>
                <a:cs typeface="Poppins"/>
                <a:sym typeface="Poppins"/>
              </a:rPr>
              <a:t>Chemical Communication Between Neurons</a:t>
            </a:r>
            <a:endParaRPr b="1" i="0" sz="5208" u="none" cap="none" strike="noStrike">
              <a:solidFill>
                <a:srgbClr val="136447"/>
              </a:solidFill>
              <a:latin typeface="Poppins"/>
              <a:ea typeface="Poppins"/>
              <a:cs typeface="Poppins"/>
              <a:sym typeface="Poppins"/>
            </a:endParaRPr>
          </a:p>
          <a:p>
            <a:pPr indent="0" lvl="0" marL="0" marR="0" rtl="0" algn="l">
              <a:lnSpc>
                <a:spcPct val="130009"/>
              </a:lnSpc>
              <a:spcBef>
                <a:spcPts val="0"/>
              </a:spcBef>
              <a:spcAft>
                <a:spcPts val="0"/>
              </a:spcAft>
              <a:buClr>
                <a:srgbClr val="000000"/>
              </a:buClr>
              <a:buSzPts val="5208"/>
              <a:buFont typeface="Arial"/>
              <a:buNone/>
            </a:pPr>
            <a:r>
              <a:rPr b="1" i="0" lang="en-US" sz="5208" u="none" cap="none" strike="noStrike">
                <a:solidFill>
                  <a:srgbClr val="0000FF"/>
                </a:solidFill>
                <a:latin typeface="Poppins"/>
                <a:ea typeface="Poppins"/>
                <a:cs typeface="Poppins"/>
                <a:sym typeface="Poppins"/>
              </a:rPr>
              <a:t>Comunicación química entre neurona</a:t>
            </a:r>
            <a:r>
              <a:rPr b="1" i="0" lang="en-US" sz="5808" u="none" cap="none" strike="noStrike">
                <a:solidFill>
                  <a:srgbClr val="0000FF"/>
                </a:solidFill>
                <a:latin typeface="Poppins"/>
                <a:ea typeface="Poppins"/>
                <a:cs typeface="Poppins"/>
                <a:sym typeface="Poppins"/>
              </a:rPr>
              <a:t>s</a:t>
            </a:r>
            <a:endParaRPr b="1" i="0" sz="5808" u="none" cap="none" strike="noStrike">
              <a:solidFill>
                <a:srgbClr val="0000FF"/>
              </a:solidFill>
              <a:latin typeface="Poppins"/>
              <a:ea typeface="Poppins"/>
              <a:cs typeface="Poppins"/>
              <a:sym typeface="Poppins"/>
            </a:endParaRPr>
          </a:p>
        </p:txBody>
      </p:sp>
      <p:pic>
        <p:nvPicPr>
          <p:cNvPr id="1165" name="Google Shape;1165;p41" title="Screenshot 2025-11-14 at 4.12.49 PM.png"/>
          <p:cNvPicPr preferRelativeResize="0"/>
          <p:nvPr/>
        </p:nvPicPr>
        <p:blipFill rotWithShape="1">
          <a:blip r:embed="rId3">
            <a:alphaModFix/>
          </a:blip>
          <a:srcRect b="0" l="0" r="0" t="0"/>
          <a:stretch/>
        </p:blipFill>
        <p:spPr>
          <a:xfrm>
            <a:off x="9324875" y="2920350"/>
            <a:ext cx="8810726" cy="6965424"/>
          </a:xfrm>
          <a:prstGeom prst="rect">
            <a:avLst/>
          </a:prstGeom>
          <a:noFill/>
          <a:ln>
            <a:noFill/>
          </a:ln>
        </p:spPr>
      </p:pic>
      <p:sp>
        <p:nvSpPr>
          <p:cNvPr id="1166" name="Google Shape;1166;p41"/>
          <p:cNvSpPr/>
          <p:nvPr/>
        </p:nvSpPr>
        <p:spPr>
          <a:xfrm>
            <a:off x="9324875" y="5923775"/>
            <a:ext cx="2116500" cy="604200"/>
          </a:xfrm>
          <a:prstGeom prst="rect">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67" name="Google Shape;1167;p41"/>
          <p:cNvSpPr txBox="1"/>
          <p:nvPr/>
        </p:nvSpPr>
        <p:spPr>
          <a:xfrm>
            <a:off x="9339850" y="2578325"/>
            <a:ext cx="4077900" cy="526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FF"/>
                </a:solidFill>
                <a:latin typeface="Poppins"/>
                <a:ea typeface="Poppins"/>
                <a:cs typeface="Poppins"/>
                <a:sym typeface="Poppins"/>
              </a:rPr>
              <a:t>Sinapsis química</a:t>
            </a:r>
            <a:endParaRPr b="0" i="0" sz="2800" u="none" cap="none" strike="noStrike">
              <a:solidFill>
                <a:srgbClr val="0000FF"/>
              </a:solidFill>
              <a:latin typeface="Poppins"/>
              <a:ea typeface="Poppins"/>
              <a:cs typeface="Poppins"/>
              <a:sym typeface="Poppins"/>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AFAFA"/>
        </a:solidFill>
      </p:bgPr>
    </p:bg>
    <p:spTree>
      <p:nvGrpSpPr>
        <p:cNvPr id="1171" name="Shape 1171"/>
        <p:cNvGrpSpPr/>
        <p:nvPr/>
      </p:nvGrpSpPr>
      <p:grpSpPr>
        <a:xfrm>
          <a:off x="0" y="0"/>
          <a:ext cx="0" cy="0"/>
          <a:chOff x="0" y="0"/>
          <a:chExt cx="0" cy="0"/>
        </a:xfrm>
      </p:grpSpPr>
      <p:sp>
        <p:nvSpPr>
          <p:cNvPr id="1172" name="Google Shape;1172;p42"/>
          <p:cNvSpPr txBox="1"/>
          <p:nvPr/>
        </p:nvSpPr>
        <p:spPr>
          <a:xfrm>
            <a:off x="1262400" y="2566500"/>
            <a:ext cx="7462500" cy="7335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431800" lvl="0" marL="457200" marR="0" rtl="0" algn="l">
              <a:lnSpc>
                <a:spcPct val="110000"/>
              </a:lnSpc>
              <a:spcBef>
                <a:spcPts val="0"/>
              </a:spcBef>
              <a:spcAft>
                <a:spcPts val="0"/>
              </a:spcAft>
              <a:buClr>
                <a:srgbClr val="4C1130"/>
              </a:buClr>
              <a:buSzPts val="3200"/>
              <a:buFont typeface="Poppins Medium"/>
              <a:buAutoNum type="arabicParenR" startAt="4"/>
            </a:pPr>
            <a:r>
              <a:rPr b="1" i="0" lang="en-US" sz="3200" u="none" cap="none" strike="noStrike">
                <a:solidFill>
                  <a:srgbClr val="4C1130"/>
                </a:solidFill>
                <a:latin typeface="Poppins Medium"/>
                <a:ea typeface="Poppins Medium"/>
                <a:cs typeface="Poppins Medium"/>
                <a:sym typeface="Poppins Medium"/>
              </a:rPr>
              <a:t>Calcium allows vesicle docking and neurotransmitter release</a:t>
            </a:r>
            <a:endParaRPr b="1" i="0" sz="3200" u="none" cap="none" strike="noStrike">
              <a:solidFill>
                <a:srgbClr val="4C1130"/>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4C1130"/>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rPr b="1" i="0" lang="en-US" sz="3200" u="none" cap="none" strike="noStrike">
                <a:solidFill>
                  <a:srgbClr val="0000FF"/>
                </a:solidFill>
                <a:latin typeface="Poppins Medium"/>
                <a:ea typeface="Poppins Medium"/>
                <a:cs typeface="Poppins Medium"/>
                <a:sym typeface="Poppins Medium"/>
              </a:rPr>
              <a:t>El calcio permite el acoplamiento de las vesículas y la liberación de neurotransmisores</a:t>
            </a:r>
            <a:endParaRPr b="1" i="0" sz="3200" u="none" cap="none" strike="noStrike">
              <a:solidFill>
                <a:srgbClr val="0000FF"/>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1C4587"/>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1C4587"/>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p:txBody>
      </p:sp>
      <p:cxnSp>
        <p:nvCxnSpPr>
          <p:cNvPr id="1173" name="Google Shape;1173;p42"/>
          <p:cNvCxnSpPr/>
          <p:nvPr/>
        </p:nvCxnSpPr>
        <p:spPr>
          <a:xfrm flipH="1" rot="10800000">
            <a:off x="936009" y="2693351"/>
            <a:ext cx="8115300" cy="18900"/>
          </a:xfrm>
          <a:prstGeom prst="straightConnector1">
            <a:avLst/>
          </a:prstGeom>
          <a:noFill/>
          <a:ln cap="rnd" cmpd="sng" w="28575">
            <a:solidFill>
              <a:srgbClr val="136447"/>
            </a:solidFill>
            <a:prstDash val="solid"/>
            <a:round/>
            <a:headEnd len="sm" w="sm" type="none"/>
            <a:tailEnd len="sm" w="sm" type="none"/>
          </a:ln>
        </p:spPr>
      </p:cxnSp>
      <p:sp>
        <p:nvSpPr>
          <p:cNvPr id="1174" name="Google Shape;1174;p42"/>
          <p:cNvSpPr txBox="1"/>
          <p:nvPr/>
        </p:nvSpPr>
        <p:spPr>
          <a:xfrm>
            <a:off x="490202" y="428550"/>
            <a:ext cx="17307600" cy="1936200"/>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Clr>
                <a:srgbClr val="000000"/>
              </a:buClr>
              <a:buSzPts val="5208"/>
              <a:buFont typeface="Arial"/>
              <a:buNone/>
            </a:pPr>
            <a:r>
              <a:rPr b="1" i="0" lang="en-US" sz="5208" u="none" cap="none" strike="noStrike">
                <a:solidFill>
                  <a:srgbClr val="136447"/>
                </a:solidFill>
                <a:latin typeface="Poppins"/>
                <a:ea typeface="Poppins"/>
                <a:cs typeface="Poppins"/>
                <a:sym typeface="Poppins"/>
              </a:rPr>
              <a:t>Chemical Communication Between Neurons</a:t>
            </a:r>
            <a:endParaRPr b="1" i="0" sz="5208" u="none" cap="none" strike="noStrike">
              <a:solidFill>
                <a:srgbClr val="136447"/>
              </a:solidFill>
              <a:latin typeface="Poppins"/>
              <a:ea typeface="Poppins"/>
              <a:cs typeface="Poppins"/>
              <a:sym typeface="Poppins"/>
            </a:endParaRPr>
          </a:p>
          <a:p>
            <a:pPr indent="0" lvl="0" marL="0" marR="0" rtl="0" algn="l">
              <a:lnSpc>
                <a:spcPct val="130009"/>
              </a:lnSpc>
              <a:spcBef>
                <a:spcPts val="0"/>
              </a:spcBef>
              <a:spcAft>
                <a:spcPts val="0"/>
              </a:spcAft>
              <a:buClr>
                <a:srgbClr val="000000"/>
              </a:buClr>
              <a:buSzPts val="5208"/>
              <a:buFont typeface="Arial"/>
              <a:buNone/>
            </a:pPr>
            <a:r>
              <a:rPr b="1" i="0" lang="en-US" sz="5208" u="none" cap="none" strike="noStrike">
                <a:solidFill>
                  <a:srgbClr val="0000FF"/>
                </a:solidFill>
                <a:latin typeface="Poppins"/>
                <a:ea typeface="Poppins"/>
                <a:cs typeface="Poppins"/>
                <a:sym typeface="Poppins"/>
              </a:rPr>
              <a:t>Comunicación química entre neurona</a:t>
            </a:r>
            <a:r>
              <a:rPr b="1" i="0" lang="en-US" sz="5808" u="none" cap="none" strike="noStrike">
                <a:solidFill>
                  <a:srgbClr val="0000FF"/>
                </a:solidFill>
                <a:latin typeface="Poppins"/>
                <a:ea typeface="Poppins"/>
                <a:cs typeface="Poppins"/>
                <a:sym typeface="Poppins"/>
              </a:rPr>
              <a:t>s</a:t>
            </a:r>
            <a:endParaRPr b="1" i="0" sz="5808" u="none" cap="none" strike="noStrike">
              <a:solidFill>
                <a:srgbClr val="0000FF"/>
              </a:solidFill>
              <a:latin typeface="Poppins"/>
              <a:ea typeface="Poppins"/>
              <a:cs typeface="Poppins"/>
              <a:sym typeface="Poppins"/>
            </a:endParaRPr>
          </a:p>
        </p:txBody>
      </p:sp>
      <p:pic>
        <p:nvPicPr>
          <p:cNvPr id="1175" name="Google Shape;1175;p42" title="Screenshot 2025-11-14 at 4.12.49 PM.png"/>
          <p:cNvPicPr preferRelativeResize="0"/>
          <p:nvPr/>
        </p:nvPicPr>
        <p:blipFill rotWithShape="1">
          <a:blip r:embed="rId3">
            <a:alphaModFix/>
          </a:blip>
          <a:srcRect b="0" l="0" r="0" t="0"/>
          <a:stretch/>
        </p:blipFill>
        <p:spPr>
          <a:xfrm>
            <a:off x="9324875" y="2920350"/>
            <a:ext cx="8810726" cy="6965424"/>
          </a:xfrm>
          <a:prstGeom prst="rect">
            <a:avLst/>
          </a:prstGeom>
          <a:noFill/>
          <a:ln>
            <a:noFill/>
          </a:ln>
        </p:spPr>
      </p:pic>
      <p:sp>
        <p:nvSpPr>
          <p:cNvPr id="1176" name="Google Shape;1176;p42"/>
          <p:cNvSpPr/>
          <p:nvPr/>
        </p:nvSpPr>
        <p:spPr>
          <a:xfrm>
            <a:off x="9324875" y="7026625"/>
            <a:ext cx="2390100" cy="604200"/>
          </a:xfrm>
          <a:prstGeom prst="rect">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77" name="Google Shape;1177;p42"/>
          <p:cNvSpPr txBox="1"/>
          <p:nvPr/>
        </p:nvSpPr>
        <p:spPr>
          <a:xfrm>
            <a:off x="9339850" y="2578325"/>
            <a:ext cx="4077900" cy="526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FF"/>
                </a:solidFill>
                <a:latin typeface="Poppins"/>
                <a:ea typeface="Poppins"/>
                <a:cs typeface="Poppins"/>
                <a:sym typeface="Poppins"/>
              </a:rPr>
              <a:t>Sinapsis química</a:t>
            </a:r>
            <a:endParaRPr b="0" i="0" sz="2800" u="none" cap="none" strike="noStrike">
              <a:solidFill>
                <a:srgbClr val="0000FF"/>
              </a:solidFill>
              <a:latin typeface="Poppins"/>
              <a:ea typeface="Poppins"/>
              <a:cs typeface="Poppins"/>
              <a:sym typeface="Poppins"/>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AFAFA"/>
        </a:solidFill>
      </p:bgPr>
    </p:bg>
    <p:spTree>
      <p:nvGrpSpPr>
        <p:cNvPr id="1181" name="Shape 1181"/>
        <p:cNvGrpSpPr/>
        <p:nvPr/>
      </p:nvGrpSpPr>
      <p:grpSpPr>
        <a:xfrm>
          <a:off x="0" y="0"/>
          <a:ext cx="0" cy="0"/>
          <a:chOff x="0" y="0"/>
          <a:chExt cx="0" cy="0"/>
        </a:xfrm>
      </p:grpSpPr>
      <p:sp>
        <p:nvSpPr>
          <p:cNvPr id="1182" name="Google Shape;1182;p43"/>
          <p:cNvSpPr txBox="1"/>
          <p:nvPr/>
        </p:nvSpPr>
        <p:spPr>
          <a:xfrm>
            <a:off x="1262400" y="2566500"/>
            <a:ext cx="7462500" cy="7335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431800" lvl="0" marL="457200" marR="0" rtl="0" algn="l">
              <a:lnSpc>
                <a:spcPct val="110000"/>
              </a:lnSpc>
              <a:spcBef>
                <a:spcPts val="0"/>
              </a:spcBef>
              <a:spcAft>
                <a:spcPts val="0"/>
              </a:spcAft>
              <a:buClr>
                <a:srgbClr val="4C1130"/>
              </a:buClr>
              <a:buSzPts val="3200"/>
              <a:buFont typeface="Poppins Medium"/>
              <a:buAutoNum type="arabicParenR" startAt="5"/>
            </a:pPr>
            <a:r>
              <a:rPr b="1" i="0" lang="en-US" sz="3200" u="none" cap="none" strike="noStrike">
                <a:solidFill>
                  <a:srgbClr val="4C1130"/>
                </a:solidFill>
                <a:latin typeface="Poppins Medium"/>
                <a:ea typeface="Poppins Medium"/>
                <a:cs typeface="Poppins Medium"/>
                <a:sym typeface="Poppins Medium"/>
              </a:rPr>
              <a:t>Neurotransmitter binds to receptors, causing the channel to open (or close)</a:t>
            </a:r>
            <a:endParaRPr b="1" i="0" sz="3200" u="none" cap="none" strike="noStrike">
              <a:solidFill>
                <a:srgbClr val="4C1130"/>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1C4587"/>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rPr b="1" i="0" lang="en-US" sz="3200" u="none" cap="none" strike="noStrike">
                <a:solidFill>
                  <a:srgbClr val="0000FF"/>
                </a:solidFill>
                <a:latin typeface="Poppins Medium"/>
                <a:ea typeface="Poppins Medium"/>
                <a:cs typeface="Poppins Medium"/>
                <a:sym typeface="Poppins Medium"/>
              </a:rPr>
              <a:t>El neurotransmisor se une a los receptores, provocando que el canal se abra (o se cierre)</a:t>
            </a:r>
            <a:endParaRPr b="1" i="0" sz="3200" u="none" cap="none" strike="noStrike">
              <a:solidFill>
                <a:srgbClr val="0000FF"/>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1C4587"/>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p:txBody>
      </p:sp>
      <p:cxnSp>
        <p:nvCxnSpPr>
          <p:cNvPr id="1183" name="Google Shape;1183;p43"/>
          <p:cNvCxnSpPr/>
          <p:nvPr/>
        </p:nvCxnSpPr>
        <p:spPr>
          <a:xfrm flipH="1" rot="10800000">
            <a:off x="936009" y="2693351"/>
            <a:ext cx="8115300" cy="18900"/>
          </a:xfrm>
          <a:prstGeom prst="straightConnector1">
            <a:avLst/>
          </a:prstGeom>
          <a:noFill/>
          <a:ln cap="rnd" cmpd="sng" w="28575">
            <a:solidFill>
              <a:srgbClr val="136447"/>
            </a:solidFill>
            <a:prstDash val="solid"/>
            <a:round/>
            <a:headEnd len="sm" w="sm" type="none"/>
            <a:tailEnd len="sm" w="sm" type="none"/>
          </a:ln>
        </p:spPr>
      </p:cxnSp>
      <p:sp>
        <p:nvSpPr>
          <p:cNvPr id="1184" name="Google Shape;1184;p43"/>
          <p:cNvSpPr txBox="1"/>
          <p:nvPr/>
        </p:nvSpPr>
        <p:spPr>
          <a:xfrm>
            <a:off x="490202" y="428550"/>
            <a:ext cx="17307600" cy="1936200"/>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Clr>
                <a:srgbClr val="000000"/>
              </a:buClr>
              <a:buSzPts val="5208"/>
              <a:buFont typeface="Arial"/>
              <a:buNone/>
            </a:pPr>
            <a:r>
              <a:rPr b="1" i="0" lang="en-US" sz="5208" u="none" cap="none" strike="noStrike">
                <a:solidFill>
                  <a:srgbClr val="136447"/>
                </a:solidFill>
                <a:latin typeface="Poppins"/>
                <a:ea typeface="Poppins"/>
                <a:cs typeface="Poppins"/>
                <a:sym typeface="Poppins"/>
              </a:rPr>
              <a:t>Chemical Communication Between Neurons</a:t>
            </a:r>
            <a:endParaRPr b="1" i="0" sz="5208" u="none" cap="none" strike="noStrike">
              <a:solidFill>
                <a:srgbClr val="136447"/>
              </a:solidFill>
              <a:latin typeface="Poppins"/>
              <a:ea typeface="Poppins"/>
              <a:cs typeface="Poppins"/>
              <a:sym typeface="Poppins"/>
            </a:endParaRPr>
          </a:p>
          <a:p>
            <a:pPr indent="0" lvl="0" marL="0" marR="0" rtl="0" algn="l">
              <a:lnSpc>
                <a:spcPct val="130009"/>
              </a:lnSpc>
              <a:spcBef>
                <a:spcPts val="0"/>
              </a:spcBef>
              <a:spcAft>
                <a:spcPts val="0"/>
              </a:spcAft>
              <a:buClr>
                <a:srgbClr val="000000"/>
              </a:buClr>
              <a:buSzPts val="5208"/>
              <a:buFont typeface="Arial"/>
              <a:buNone/>
            </a:pPr>
            <a:r>
              <a:rPr b="1" i="0" lang="en-US" sz="5208" u="none" cap="none" strike="noStrike">
                <a:solidFill>
                  <a:srgbClr val="0000FF"/>
                </a:solidFill>
                <a:latin typeface="Poppins"/>
                <a:ea typeface="Poppins"/>
                <a:cs typeface="Poppins"/>
                <a:sym typeface="Poppins"/>
              </a:rPr>
              <a:t>Comunicación química entre neurona</a:t>
            </a:r>
            <a:r>
              <a:rPr b="1" i="0" lang="en-US" sz="5808" u="none" cap="none" strike="noStrike">
                <a:solidFill>
                  <a:srgbClr val="0000FF"/>
                </a:solidFill>
                <a:latin typeface="Poppins"/>
                <a:ea typeface="Poppins"/>
                <a:cs typeface="Poppins"/>
                <a:sym typeface="Poppins"/>
              </a:rPr>
              <a:t>s</a:t>
            </a:r>
            <a:endParaRPr b="1" i="0" sz="5808" u="none" cap="none" strike="noStrike">
              <a:solidFill>
                <a:srgbClr val="0000FF"/>
              </a:solidFill>
              <a:latin typeface="Poppins"/>
              <a:ea typeface="Poppins"/>
              <a:cs typeface="Poppins"/>
              <a:sym typeface="Poppins"/>
            </a:endParaRPr>
          </a:p>
        </p:txBody>
      </p:sp>
      <p:pic>
        <p:nvPicPr>
          <p:cNvPr id="1185" name="Google Shape;1185;p43" title="Screenshot 2025-11-14 at 4.12.49 PM.png"/>
          <p:cNvPicPr preferRelativeResize="0"/>
          <p:nvPr/>
        </p:nvPicPr>
        <p:blipFill rotWithShape="1">
          <a:blip r:embed="rId3">
            <a:alphaModFix/>
          </a:blip>
          <a:srcRect b="0" l="0" r="0" t="0"/>
          <a:stretch/>
        </p:blipFill>
        <p:spPr>
          <a:xfrm>
            <a:off x="9324875" y="2920350"/>
            <a:ext cx="8810726" cy="6965424"/>
          </a:xfrm>
          <a:prstGeom prst="rect">
            <a:avLst/>
          </a:prstGeom>
          <a:noFill/>
          <a:ln>
            <a:noFill/>
          </a:ln>
        </p:spPr>
      </p:pic>
      <p:sp>
        <p:nvSpPr>
          <p:cNvPr id="1186" name="Google Shape;1186;p43"/>
          <p:cNvSpPr/>
          <p:nvPr/>
        </p:nvSpPr>
        <p:spPr>
          <a:xfrm>
            <a:off x="9459775" y="8178950"/>
            <a:ext cx="2286000" cy="789900"/>
          </a:xfrm>
          <a:prstGeom prst="rect">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87" name="Google Shape;1187;p43"/>
          <p:cNvSpPr txBox="1"/>
          <p:nvPr/>
        </p:nvSpPr>
        <p:spPr>
          <a:xfrm>
            <a:off x="9339850" y="2578325"/>
            <a:ext cx="4077900" cy="526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FF"/>
                </a:solidFill>
                <a:latin typeface="Poppins"/>
                <a:ea typeface="Poppins"/>
                <a:cs typeface="Poppins"/>
                <a:sym typeface="Poppins"/>
              </a:rPr>
              <a:t>Sinapsis química</a:t>
            </a:r>
            <a:endParaRPr b="0" i="0" sz="2800" u="none" cap="none" strike="noStrike">
              <a:solidFill>
                <a:srgbClr val="0000FF"/>
              </a:solidFill>
              <a:latin typeface="Poppins"/>
              <a:ea typeface="Poppins"/>
              <a:cs typeface="Poppins"/>
              <a:sym typeface="Poppins"/>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AFAFA"/>
        </a:solidFill>
      </p:bgPr>
    </p:bg>
    <p:spTree>
      <p:nvGrpSpPr>
        <p:cNvPr id="1191" name="Shape 1191"/>
        <p:cNvGrpSpPr/>
        <p:nvPr/>
      </p:nvGrpSpPr>
      <p:grpSpPr>
        <a:xfrm>
          <a:off x="0" y="0"/>
          <a:ext cx="0" cy="0"/>
          <a:chOff x="0" y="0"/>
          <a:chExt cx="0" cy="0"/>
        </a:xfrm>
      </p:grpSpPr>
      <p:sp>
        <p:nvSpPr>
          <p:cNvPr id="1192" name="Google Shape;1192;p44"/>
          <p:cNvSpPr txBox="1"/>
          <p:nvPr/>
        </p:nvSpPr>
        <p:spPr>
          <a:xfrm>
            <a:off x="1262400" y="2566500"/>
            <a:ext cx="7462500" cy="7335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431800" lvl="0" marL="457200" marR="0" rtl="0" algn="l">
              <a:lnSpc>
                <a:spcPct val="110000"/>
              </a:lnSpc>
              <a:spcBef>
                <a:spcPts val="0"/>
              </a:spcBef>
              <a:spcAft>
                <a:spcPts val="0"/>
              </a:spcAft>
              <a:buClr>
                <a:srgbClr val="4C1130"/>
              </a:buClr>
              <a:buSzPts val="3200"/>
              <a:buFont typeface="Poppins Medium"/>
              <a:buAutoNum type="arabicParenR" startAt="6"/>
            </a:pPr>
            <a:r>
              <a:rPr b="1" i="0" lang="en-US" sz="3200" u="none" cap="none" strike="noStrike">
                <a:solidFill>
                  <a:srgbClr val="4C1130"/>
                </a:solidFill>
                <a:latin typeface="Poppins Medium"/>
                <a:ea typeface="Poppins Medium"/>
                <a:cs typeface="Poppins Medium"/>
                <a:sym typeface="Poppins Medium"/>
              </a:rPr>
              <a:t>Excitatory (or inhibitory) postsynaptic potential is generated</a:t>
            </a:r>
            <a:endParaRPr b="1" i="0" sz="3200" u="none" cap="none" strike="noStrike">
              <a:solidFill>
                <a:srgbClr val="4C1130"/>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1C4587"/>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rPr b="1" i="0" lang="en-US" sz="3200" u="none" cap="none" strike="noStrike">
                <a:solidFill>
                  <a:srgbClr val="0000FF"/>
                </a:solidFill>
                <a:latin typeface="Poppins Medium"/>
                <a:ea typeface="Poppins Medium"/>
                <a:cs typeface="Poppins Medium"/>
                <a:sym typeface="Poppins Medium"/>
              </a:rPr>
              <a:t>Se genera un potencial postsináptico excitatorio (o inhibitorio)</a:t>
            </a:r>
            <a:endParaRPr b="1" i="0" sz="3200" u="none" cap="none" strike="noStrike">
              <a:solidFill>
                <a:srgbClr val="0000FF"/>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1C4587"/>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p:txBody>
      </p:sp>
      <p:cxnSp>
        <p:nvCxnSpPr>
          <p:cNvPr id="1193" name="Google Shape;1193;p44"/>
          <p:cNvCxnSpPr/>
          <p:nvPr/>
        </p:nvCxnSpPr>
        <p:spPr>
          <a:xfrm flipH="1" rot="10800000">
            <a:off x="936009" y="2693351"/>
            <a:ext cx="8115300" cy="18900"/>
          </a:xfrm>
          <a:prstGeom prst="straightConnector1">
            <a:avLst/>
          </a:prstGeom>
          <a:noFill/>
          <a:ln cap="rnd" cmpd="sng" w="28575">
            <a:solidFill>
              <a:srgbClr val="136447"/>
            </a:solidFill>
            <a:prstDash val="solid"/>
            <a:round/>
            <a:headEnd len="sm" w="sm" type="none"/>
            <a:tailEnd len="sm" w="sm" type="none"/>
          </a:ln>
        </p:spPr>
      </p:cxnSp>
      <p:sp>
        <p:nvSpPr>
          <p:cNvPr id="1194" name="Google Shape;1194;p44"/>
          <p:cNvSpPr txBox="1"/>
          <p:nvPr/>
        </p:nvSpPr>
        <p:spPr>
          <a:xfrm>
            <a:off x="490202" y="428550"/>
            <a:ext cx="17307600" cy="1936200"/>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Clr>
                <a:srgbClr val="000000"/>
              </a:buClr>
              <a:buSzPts val="5208"/>
              <a:buFont typeface="Arial"/>
              <a:buNone/>
            </a:pPr>
            <a:r>
              <a:rPr b="1" i="0" lang="en-US" sz="5208" u="none" cap="none" strike="noStrike">
                <a:solidFill>
                  <a:srgbClr val="136447"/>
                </a:solidFill>
                <a:latin typeface="Poppins"/>
                <a:ea typeface="Poppins"/>
                <a:cs typeface="Poppins"/>
                <a:sym typeface="Poppins"/>
              </a:rPr>
              <a:t>Chemical Communication Between Neurons</a:t>
            </a:r>
            <a:endParaRPr b="1" i="0" sz="5208" u="none" cap="none" strike="noStrike">
              <a:solidFill>
                <a:srgbClr val="136447"/>
              </a:solidFill>
              <a:latin typeface="Poppins"/>
              <a:ea typeface="Poppins"/>
              <a:cs typeface="Poppins"/>
              <a:sym typeface="Poppins"/>
            </a:endParaRPr>
          </a:p>
          <a:p>
            <a:pPr indent="0" lvl="0" marL="0" marR="0" rtl="0" algn="l">
              <a:lnSpc>
                <a:spcPct val="130009"/>
              </a:lnSpc>
              <a:spcBef>
                <a:spcPts val="0"/>
              </a:spcBef>
              <a:spcAft>
                <a:spcPts val="0"/>
              </a:spcAft>
              <a:buClr>
                <a:srgbClr val="000000"/>
              </a:buClr>
              <a:buSzPts val="5208"/>
              <a:buFont typeface="Arial"/>
              <a:buNone/>
            </a:pPr>
            <a:r>
              <a:rPr b="1" i="0" lang="en-US" sz="5208" u="none" cap="none" strike="noStrike">
                <a:solidFill>
                  <a:srgbClr val="0000FF"/>
                </a:solidFill>
                <a:latin typeface="Poppins"/>
                <a:ea typeface="Poppins"/>
                <a:cs typeface="Poppins"/>
                <a:sym typeface="Poppins"/>
              </a:rPr>
              <a:t>Comunicación química entre neurona</a:t>
            </a:r>
            <a:r>
              <a:rPr b="1" i="0" lang="en-US" sz="5808" u="none" cap="none" strike="noStrike">
                <a:solidFill>
                  <a:srgbClr val="0000FF"/>
                </a:solidFill>
                <a:latin typeface="Poppins"/>
                <a:ea typeface="Poppins"/>
                <a:cs typeface="Poppins"/>
                <a:sym typeface="Poppins"/>
              </a:rPr>
              <a:t>s</a:t>
            </a:r>
            <a:endParaRPr b="1" i="0" sz="5808" u="none" cap="none" strike="noStrike">
              <a:solidFill>
                <a:srgbClr val="0000FF"/>
              </a:solidFill>
              <a:latin typeface="Poppins"/>
              <a:ea typeface="Poppins"/>
              <a:cs typeface="Poppins"/>
              <a:sym typeface="Poppins"/>
            </a:endParaRPr>
          </a:p>
        </p:txBody>
      </p:sp>
      <p:pic>
        <p:nvPicPr>
          <p:cNvPr id="1195" name="Google Shape;1195;p44" title="Screenshot 2025-11-14 at 4.12.49 PM.png"/>
          <p:cNvPicPr preferRelativeResize="0"/>
          <p:nvPr/>
        </p:nvPicPr>
        <p:blipFill rotWithShape="1">
          <a:blip r:embed="rId3">
            <a:alphaModFix/>
          </a:blip>
          <a:srcRect b="0" l="0" r="0" t="0"/>
          <a:stretch/>
        </p:blipFill>
        <p:spPr>
          <a:xfrm>
            <a:off x="9324875" y="2920350"/>
            <a:ext cx="8810726" cy="6965424"/>
          </a:xfrm>
          <a:prstGeom prst="rect">
            <a:avLst/>
          </a:prstGeom>
          <a:noFill/>
          <a:ln>
            <a:noFill/>
          </a:ln>
        </p:spPr>
      </p:pic>
      <p:sp>
        <p:nvSpPr>
          <p:cNvPr id="1196" name="Google Shape;1196;p44"/>
          <p:cNvSpPr/>
          <p:nvPr/>
        </p:nvSpPr>
        <p:spPr>
          <a:xfrm>
            <a:off x="12894975" y="9285475"/>
            <a:ext cx="2959800" cy="600300"/>
          </a:xfrm>
          <a:prstGeom prst="rect">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97" name="Google Shape;1197;p44"/>
          <p:cNvSpPr txBox="1"/>
          <p:nvPr/>
        </p:nvSpPr>
        <p:spPr>
          <a:xfrm>
            <a:off x="9339850" y="2578325"/>
            <a:ext cx="4077900" cy="526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FF"/>
                </a:solidFill>
                <a:latin typeface="Poppins"/>
                <a:ea typeface="Poppins"/>
                <a:cs typeface="Poppins"/>
                <a:sym typeface="Poppins"/>
              </a:rPr>
              <a:t>Sinapsis química</a:t>
            </a:r>
            <a:endParaRPr b="0" i="0" sz="2800" u="none" cap="none" strike="noStrike">
              <a:solidFill>
                <a:srgbClr val="0000FF"/>
              </a:solidFill>
              <a:latin typeface="Poppins"/>
              <a:ea typeface="Poppins"/>
              <a:cs typeface="Poppins"/>
              <a:sym typeface="Poppins"/>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AFAFA"/>
        </a:solidFill>
      </p:bgPr>
    </p:bg>
    <p:spTree>
      <p:nvGrpSpPr>
        <p:cNvPr id="1201" name="Shape 1201"/>
        <p:cNvGrpSpPr/>
        <p:nvPr/>
      </p:nvGrpSpPr>
      <p:grpSpPr>
        <a:xfrm>
          <a:off x="0" y="0"/>
          <a:ext cx="0" cy="0"/>
          <a:chOff x="0" y="0"/>
          <a:chExt cx="0" cy="0"/>
        </a:xfrm>
      </p:grpSpPr>
      <p:sp>
        <p:nvSpPr>
          <p:cNvPr id="1202" name="Google Shape;1202;p45"/>
          <p:cNvSpPr txBox="1"/>
          <p:nvPr/>
        </p:nvSpPr>
        <p:spPr>
          <a:xfrm>
            <a:off x="1262400" y="2566500"/>
            <a:ext cx="7462500" cy="7335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431800" lvl="0" marL="457200" marR="0" rtl="0" algn="l">
              <a:lnSpc>
                <a:spcPct val="110000"/>
              </a:lnSpc>
              <a:spcBef>
                <a:spcPts val="0"/>
              </a:spcBef>
              <a:spcAft>
                <a:spcPts val="0"/>
              </a:spcAft>
              <a:buClr>
                <a:srgbClr val="4C1130"/>
              </a:buClr>
              <a:buSzPts val="3200"/>
              <a:buFont typeface="Poppins Medium"/>
              <a:buAutoNum type="arabicParenR" startAt="7"/>
            </a:pPr>
            <a:r>
              <a:rPr b="1" i="0" lang="en-US" sz="3200" u="none" cap="none" strike="noStrike">
                <a:solidFill>
                  <a:srgbClr val="4C1130"/>
                </a:solidFill>
                <a:latin typeface="Poppins Medium"/>
                <a:ea typeface="Poppins Medium"/>
                <a:cs typeface="Poppins Medium"/>
                <a:sym typeface="Poppins Medium"/>
              </a:rPr>
              <a:t>Neurotransmitter is removed by glial uptake (or enzymatic degradation)</a:t>
            </a:r>
            <a:endParaRPr b="1" i="0" sz="3200" u="none" cap="none" strike="noStrike">
              <a:solidFill>
                <a:srgbClr val="4C1130"/>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4C1130"/>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rPr b="1" i="0" lang="en-US" sz="3200" u="none" cap="none" strike="noStrike">
                <a:solidFill>
                  <a:srgbClr val="0000FF"/>
                </a:solidFill>
                <a:latin typeface="Poppins Medium"/>
                <a:ea typeface="Poppins Medium"/>
                <a:cs typeface="Poppins Medium"/>
                <a:sym typeface="Poppins Medium"/>
              </a:rPr>
              <a:t>El neurotransmisor se elimina mediante captación glial (o degradación enzimática)</a:t>
            </a:r>
            <a:endParaRPr b="1" i="0" sz="3200" u="none" cap="none" strike="noStrike">
              <a:solidFill>
                <a:srgbClr val="0000FF"/>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1C4587"/>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p:txBody>
      </p:sp>
      <p:pic>
        <p:nvPicPr>
          <p:cNvPr id="1203" name="Google Shape;1203;p45" title="Screenshot 2025-11-14 at 4.41.50 PM.png"/>
          <p:cNvPicPr preferRelativeResize="0"/>
          <p:nvPr/>
        </p:nvPicPr>
        <p:blipFill rotWithShape="1">
          <a:blip r:embed="rId3">
            <a:alphaModFix/>
          </a:blip>
          <a:srcRect b="0" l="0" r="0" t="0"/>
          <a:stretch/>
        </p:blipFill>
        <p:spPr>
          <a:xfrm>
            <a:off x="14600250" y="4899400"/>
            <a:ext cx="1876600" cy="488175"/>
          </a:xfrm>
          <a:prstGeom prst="rect">
            <a:avLst/>
          </a:prstGeom>
          <a:noFill/>
          <a:ln>
            <a:noFill/>
          </a:ln>
        </p:spPr>
      </p:pic>
      <p:pic>
        <p:nvPicPr>
          <p:cNvPr id="1204" name="Google Shape;1204;p45" title="Screenshot 2025-11-14 at 4.41.50 PM.png"/>
          <p:cNvPicPr preferRelativeResize="0"/>
          <p:nvPr/>
        </p:nvPicPr>
        <p:blipFill rotWithShape="1">
          <a:blip r:embed="rId3">
            <a:alphaModFix/>
          </a:blip>
          <a:srcRect b="0" l="0" r="0" t="0"/>
          <a:stretch/>
        </p:blipFill>
        <p:spPr>
          <a:xfrm>
            <a:off x="14914767" y="5177663"/>
            <a:ext cx="1247559" cy="488175"/>
          </a:xfrm>
          <a:prstGeom prst="rect">
            <a:avLst/>
          </a:prstGeom>
          <a:noFill/>
          <a:ln>
            <a:noFill/>
          </a:ln>
        </p:spPr>
      </p:pic>
      <p:cxnSp>
        <p:nvCxnSpPr>
          <p:cNvPr id="1205" name="Google Shape;1205;p45"/>
          <p:cNvCxnSpPr/>
          <p:nvPr/>
        </p:nvCxnSpPr>
        <p:spPr>
          <a:xfrm flipH="1" rot="10800000">
            <a:off x="936009" y="2693351"/>
            <a:ext cx="8115300" cy="18900"/>
          </a:xfrm>
          <a:prstGeom prst="straightConnector1">
            <a:avLst/>
          </a:prstGeom>
          <a:noFill/>
          <a:ln cap="rnd" cmpd="sng" w="28575">
            <a:solidFill>
              <a:srgbClr val="136447"/>
            </a:solidFill>
            <a:prstDash val="solid"/>
            <a:round/>
            <a:headEnd len="sm" w="sm" type="none"/>
            <a:tailEnd len="sm" w="sm" type="none"/>
          </a:ln>
        </p:spPr>
      </p:cxnSp>
      <p:sp>
        <p:nvSpPr>
          <p:cNvPr id="1206" name="Google Shape;1206;p45"/>
          <p:cNvSpPr txBox="1"/>
          <p:nvPr/>
        </p:nvSpPr>
        <p:spPr>
          <a:xfrm>
            <a:off x="490202" y="428550"/>
            <a:ext cx="17307600" cy="1936200"/>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Clr>
                <a:srgbClr val="000000"/>
              </a:buClr>
              <a:buSzPts val="5208"/>
              <a:buFont typeface="Arial"/>
              <a:buNone/>
            </a:pPr>
            <a:r>
              <a:rPr b="1" i="0" lang="en-US" sz="5208" u="none" cap="none" strike="noStrike">
                <a:solidFill>
                  <a:srgbClr val="136447"/>
                </a:solidFill>
                <a:latin typeface="Poppins"/>
                <a:ea typeface="Poppins"/>
                <a:cs typeface="Poppins"/>
                <a:sym typeface="Poppins"/>
              </a:rPr>
              <a:t>Chemical Communication Between Neurons</a:t>
            </a:r>
            <a:endParaRPr b="1" i="0" sz="5208" u="none" cap="none" strike="noStrike">
              <a:solidFill>
                <a:srgbClr val="136447"/>
              </a:solidFill>
              <a:latin typeface="Poppins"/>
              <a:ea typeface="Poppins"/>
              <a:cs typeface="Poppins"/>
              <a:sym typeface="Poppins"/>
            </a:endParaRPr>
          </a:p>
          <a:p>
            <a:pPr indent="0" lvl="0" marL="0" marR="0" rtl="0" algn="l">
              <a:lnSpc>
                <a:spcPct val="130009"/>
              </a:lnSpc>
              <a:spcBef>
                <a:spcPts val="0"/>
              </a:spcBef>
              <a:spcAft>
                <a:spcPts val="0"/>
              </a:spcAft>
              <a:buClr>
                <a:srgbClr val="000000"/>
              </a:buClr>
              <a:buSzPts val="5208"/>
              <a:buFont typeface="Arial"/>
              <a:buNone/>
            </a:pPr>
            <a:r>
              <a:rPr b="1" i="0" lang="en-US" sz="5208" u="none" cap="none" strike="noStrike">
                <a:solidFill>
                  <a:srgbClr val="0000FF"/>
                </a:solidFill>
                <a:latin typeface="Poppins"/>
                <a:ea typeface="Poppins"/>
                <a:cs typeface="Poppins"/>
                <a:sym typeface="Poppins"/>
              </a:rPr>
              <a:t>Comunicación química entre neurona</a:t>
            </a:r>
            <a:r>
              <a:rPr b="1" i="0" lang="en-US" sz="5808" u="none" cap="none" strike="noStrike">
                <a:solidFill>
                  <a:srgbClr val="0000FF"/>
                </a:solidFill>
                <a:latin typeface="Poppins"/>
                <a:ea typeface="Poppins"/>
                <a:cs typeface="Poppins"/>
                <a:sym typeface="Poppins"/>
              </a:rPr>
              <a:t>s</a:t>
            </a:r>
            <a:endParaRPr b="1" i="0" sz="5808" u="none" cap="none" strike="noStrike">
              <a:solidFill>
                <a:srgbClr val="0000FF"/>
              </a:solidFill>
              <a:latin typeface="Poppins"/>
              <a:ea typeface="Poppins"/>
              <a:cs typeface="Poppins"/>
              <a:sym typeface="Poppins"/>
            </a:endParaRPr>
          </a:p>
        </p:txBody>
      </p:sp>
      <p:pic>
        <p:nvPicPr>
          <p:cNvPr id="1207" name="Google Shape;1207;p45" title="Screenshot 2025-11-14 at 4.12.49 PM.png"/>
          <p:cNvPicPr preferRelativeResize="0"/>
          <p:nvPr/>
        </p:nvPicPr>
        <p:blipFill rotWithShape="1">
          <a:blip r:embed="rId4">
            <a:alphaModFix/>
          </a:blip>
          <a:srcRect b="0" l="0" r="0" t="0"/>
          <a:stretch/>
        </p:blipFill>
        <p:spPr>
          <a:xfrm>
            <a:off x="9324875" y="2920350"/>
            <a:ext cx="8810726" cy="6965424"/>
          </a:xfrm>
          <a:prstGeom prst="rect">
            <a:avLst/>
          </a:prstGeom>
          <a:noFill/>
          <a:ln>
            <a:noFill/>
          </a:ln>
        </p:spPr>
      </p:pic>
      <p:sp>
        <p:nvSpPr>
          <p:cNvPr id="1208" name="Google Shape;1208;p45"/>
          <p:cNvSpPr/>
          <p:nvPr/>
        </p:nvSpPr>
        <p:spPr>
          <a:xfrm>
            <a:off x="16066200" y="7079250"/>
            <a:ext cx="2221800" cy="693300"/>
          </a:xfrm>
          <a:prstGeom prst="rect">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209" name="Google Shape;1209;p45"/>
          <p:cNvSpPr txBox="1"/>
          <p:nvPr/>
        </p:nvSpPr>
        <p:spPr>
          <a:xfrm>
            <a:off x="9339850" y="2578325"/>
            <a:ext cx="4077900" cy="526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FF"/>
                </a:solidFill>
                <a:latin typeface="Poppins"/>
                <a:ea typeface="Poppins"/>
                <a:cs typeface="Poppins"/>
                <a:sym typeface="Poppins"/>
              </a:rPr>
              <a:t>Sinapsis química</a:t>
            </a:r>
            <a:endParaRPr b="0" i="0" sz="2800" u="none" cap="none" strike="noStrike">
              <a:solidFill>
                <a:srgbClr val="0000FF"/>
              </a:solidFill>
              <a:latin typeface="Poppins"/>
              <a:ea typeface="Poppins"/>
              <a:cs typeface="Poppins"/>
              <a:sym typeface="Poppins"/>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AFAFA"/>
        </a:solidFill>
      </p:bgPr>
    </p:bg>
    <p:spTree>
      <p:nvGrpSpPr>
        <p:cNvPr id="1213" name="Shape 1213"/>
        <p:cNvGrpSpPr/>
        <p:nvPr/>
      </p:nvGrpSpPr>
      <p:grpSpPr>
        <a:xfrm>
          <a:off x="0" y="0"/>
          <a:ext cx="0" cy="0"/>
          <a:chOff x="0" y="0"/>
          <a:chExt cx="0" cy="0"/>
        </a:xfrm>
      </p:grpSpPr>
      <p:cxnSp>
        <p:nvCxnSpPr>
          <p:cNvPr id="1214" name="Google Shape;1214;p46"/>
          <p:cNvCxnSpPr/>
          <p:nvPr/>
        </p:nvCxnSpPr>
        <p:spPr>
          <a:xfrm flipH="1" rot="10800000">
            <a:off x="1028734" y="3009076"/>
            <a:ext cx="8115300" cy="18900"/>
          </a:xfrm>
          <a:prstGeom prst="straightConnector1">
            <a:avLst/>
          </a:prstGeom>
          <a:noFill/>
          <a:ln cap="rnd" cmpd="sng" w="28575">
            <a:solidFill>
              <a:srgbClr val="136447"/>
            </a:solidFill>
            <a:prstDash val="solid"/>
            <a:round/>
            <a:headEnd len="sm" w="sm" type="none"/>
            <a:tailEnd len="sm" w="sm" type="none"/>
          </a:ln>
        </p:spPr>
      </p:cxnSp>
      <p:sp>
        <p:nvSpPr>
          <p:cNvPr id="1215" name="Google Shape;1215;p46"/>
          <p:cNvSpPr txBox="1"/>
          <p:nvPr/>
        </p:nvSpPr>
        <p:spPr>
          <a:xfrm>
            <a:off x="408550" y="945300"/>
            <a:ext cx="17348700" cy="1773000"/>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Clr>
                <a:srgbClr val="000000"/>
              </a:buClr>
              <a:buSzPts val="5008"/>
              <a:buFont typeface="Arial"/>
              <a:buNone/>
            </a:pPr>
            <a:r>
              <a:rPr b="1" i="0" lang="en-US" sz="5008" u="none" cap="none" strike="noStrike">
                <a:solidFill>
                  <a:srgbClr val="136447"/>
                </a:solidFill>
                <a:latin typeface="Poppins"/>
                <a:ea typeface="Poppins"/>
                <a:cs typeface="Poppins"/>
                <a:sym typeface="Poppins"/>
              </a:rPr>
              <a:t>Neural Networks: How Everything Connects</a:t>
            </a:r>
            <a:endParaRPr b="1" i="0" sz="5008" u="none" cap="none" strike="noStrike">
              <a:solidFill>
                <a:srgbClr val="136447"/>
              </a:solidFill>
              <a:latin typeface="Poppins"/>
              <a:ea typeface="Poppins"/>
              <a:cs typeface="Poppins"/>
              <a:sym typeface="Poppins"/>
            </a:endParaRPr>
          </a:p>
          <a:p>
            <a:pPr indent="0" lvl="0" marL="0" marR="0" rtl="0" algn="l">
              <a:lnSpc>
                <a:spcPct val="130009"/>
              </a:lnSpc>
              <a:spcBef>
                <a:spcPts val="0"/>
              </a:spcBef>
              <a:spcAft>
                <a:spcPts val="0"/>
              </a:spcAft>
              <a:buClr>
                <a:srgbClr val="000000"/>
              </a:buClr>
              <a:buSzPts val="5008"/>
              <a:buFont typeface="Arial"/>
              <a:buNone/>
            </a:pPr>
            <a:r>
              <a:rPr b="1" i="0" lang="en-US" sz="5008" u="none" cap="none" strike="noStrike">
                <a:solidFill>
                  <a:srgbClr val="0000FF"/>
                </a:solidFill>
                <a:latin typeface="Poppins"/>
                <a:ea typeface="Poppins"/>
                <a:cs typeface="Poppins"/>
                <a:sym typeface="Poppins"/>
              </a:rPr>
              <a:t>Redes neuronales: Cómo todo está conectado</a:t>
            </a:r>
            <a:endParaRPr b="1" i="0" sz="5008" u="none" cap="none" strike="noStrike">
              <a:solidFill>
                <a:srgbClr val="0000FF"/>
              </a:solidFill>
              <a:latin typeface="Poppins"/>
              <a:ea typeface="Poppins"/>
              <a:cs typeface="Poppins"/>
              <a:sym typeface="Poppins"/>
            </a:endParaRPr>
          </a:p>
        </p:txBody>
      </p:sp>
      <p:sp>
        <p:nvSpPr>
          <p:cNvPr id="1216" name="Google Shape;1216;p46"/>
          <p:cNvSpPr txBox="1"/>
          <p:nvPr/>
        </p:nvSpPr>
        <p:spPr>
          <a:xfrm>
            <a:off x="631425" y="3429000"/>
            <a:ext cx="16838100" cy="9452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2500"/>
              <a:buFont typeface="Arial"/>
              <a:buNone/>
            </a:pPr>
            <a:r>
              <a:rPr b="1" i="0" lang="en-US" sz="2500" u="none" cap="none" strike="noStrike">
                <a:solidFill>
                  <a:srgbClr val="2D2F3B"/>
                </a:solidFill>
                <a:latin typeface="Poppins Medium"/>
                <a:ea typeface="Poppins Medium"/>
                <a:cs typeface="Poppins Medium"/>
                <a:sym typeface="Poppins Medium"/>
              </a:rPr>
              <a:t>Neurons RARELY work alone </a:t>
            </a:r>
            <a:endParaRPr b="1" i="0" sz="25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500"/>
              <a:buFont typeface="Arial"/>
              <a:buNone/>
            </a:pPr>
            <a:r>
              <a:rPr b="1" i="0" lang="en-US" sz="2500" u="none" cap="none" strike="noStrike">
                <a:solidFill>
                  <a:srgbClr val="0000FF"/>
                </a:solidFill>
                <a:latin typeface="Poppins Medium"/>
                <a:ea typeface="Poppins Medium"/>
                <a:cs typeface="Poppins Medium"/>
                <a:sym typeface="Poppins Medium"/>
              </a:rPr>
              <a:t>Las neuronas rara vez trabajan solas</a:t>
            </a:r>
            <a:endParaRPr b="1" i="0" sz="25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500"/>
              <a:buFont typeface="Arial"/>
              <a:buNone/>
            </a:pPr>
            <a:r>
              <a:t/>
            </a:r>
            <a:endParaRPr b="1" i="0" sz="25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500"/>
              <a:buFont typeface="Arial"/>
              <a:buNone/>
            </a:pPr>
            <a:r>
              <a:rPr b="1" i="0" lang="en-US" sz="2500" u="none" cap="none" strike="noStrike">
                <a:solidFill>
                  <a:srgbClr val="2D2F3B"/>
                </a:solidFill>
                <a:latin typeface="Poppins Medium"/>
                <a:ea typeface="Poppins Medium"/>
                <a:cs typeface="Poppins Medium"/>
                <a:sym typeface="Poppins Medium"/>
              </a:rPr>
              <a:t>They form circuits and networks for complex tasks </a:t>
            </a:r>
            <a:endParaRPr b="1" i="0" sz="25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500"/>
              <a:buFont typeface="Arial"/>
              <a:buNone/>
            </a:pPr>
            <a:r>
              <a:rPr b="1" i="0" lang="en-US" sz="2500" u="none" cap="none" strike="noStrike">
                <a:solidFill>
                  <a:srgbClr val="0000FF"/>
                </a:solidFill>
                <a:latin typeface="Poppins Medium"/>
                <a:ea typeface="Poppins Medium"/>
                <a:cs typeface="Poppins Medium"/>
                <a:sym typeface="Poppins Medium"/>
              </a:rPr>
              <a:t>Forman circuitos y redes para realizar tareas complejas</a:t>
            </a:r>
            <a:endParaRPr b="1" i="0" sz="25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500"/>
              <a:buFont typeface="Arial"/>
              <a:buNone/>
            </a:pPr>
            <a:r>
              <a:t/>
            </a:r>
            <a:endParaRPr b="1" i="0" sz="25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500"/>
              <a:buFont typeface="Arial"/>
              <a:buNone/>
            </a:pPr>
            <a:r>
              <a:rPr b="1" i="0" lang="en-US" sz="2500" u="none" cap="none" strike="noStrike">
                <a:solidFill>
                  <a:srgbClr val="2D2F3B"/>
                </a:solidFill>
                <a:latin typeface="Poppins Medium"/>
                <a:ea typeface="Poppins Medium"/>
                <a:cs typeface="Poppins Medium"/>
                <a:sym typeface="Poppins Medium"/>
              </a:rPr>
              <a:t>Repeated activity strengthens connections between neurons → neural plasticity </a:t>
            </a:r>
            <a:endParaRPr b="1" i="0" sz="25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500"/>
              <a:buFont typeface="Arial"/>
              <a:buNone/>
            </a:pPr>
            <a:r>
              <a:rPr b="1" i="0" lang="en-US" sz="2500" u="none" cap="none" strike="noStrike">
                <a:solidFill>
                  <a:srgbClr val="0000FF"/>
                </a:solidFill>
                <a:latin typeface="Poppins Medium"/>
                <a:ea typeface="Poppins Medium"/>
                <a:cs typeface="Poppins Medium"/>
                <a:sym typeface="Poppins Medium"/>
              </a:rPr>
              <a:t>La actividad repetida fortalece las conexiones entre las neuronas → plasticidad neuronal</a:t>
            </a:r>
            <a:endParaRPr b="1" i="0" sz="25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400"/>
              <a:buFont typeface="Arial"/>
              <a:buNone/>
            </a:pPr>
            <a:r>
              <a:t/>
            </a:r>
            <a:endParaRPr b="1" i="0" sz="2400" u="none" cap="none" strike="noStrike">
              <a:solidFill>
                <a:srgbClr val="351C75"/>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400"/>
              <a:buFont typeface="Arial"/>
              <a:buNone/>
            </a:pPr>
            <a:r>
              <a:rPr b="1" i="0" lang="en-US" sz="2400" u="none" cap="none" strike="noStrike">
                <a:solidFill>
                  <a:srgbClr val="674EA7"/>
                </a:solidFill>
                <a:latin typeface="Poppins Medium"/>
                <a:ea typeface="Poppins Medium"/>
                <a:cs typeface="Poppins Medium"/>
                <a:sym typeface="Poppins Medium"/>
              </a:rPr>
              <a:t>Ex: Motor learning (how to play an instrument) | </a:t>
            </a:r>
            <a:r>
              <a:rPr b="1" i="0" lang="en-US" sz="2400" u="none" cap="none" strike="noStrike">
                <a:solidFill>
                  <a:srgbClr val="0000FF"/>
                </a:solidFill>
                <a:latin typeface="Poppins Medium"/>
                <a:ea typeface="Poppins Medium"/>
                <a:cs typeface="Poppins Medium"/>
                <a:sym typeface="Poppins Medium"/>
              </a:rPr>
              <a:t>Ej.: Aprendizaje motor (cómo tocar un instrumento)</a:t>
            </a:r>
            <a:endParaRPr b="1" i="0" sz="24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400"/>
              <a:buFont typeface="Arial"/>
              <a:buNone/>
            </a:pPr>
            <a:r>
              <a:t/>
            </a:r>
            <a:endParaRPr b="1" i="0" sz="24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400"/>
              <a:buFont typeface="Arial"/>
              <a:buNone/>
            </a:pPr>
            <a:r>
              <a:rPr b="1" i="0" lang="en-US" sz="2400" u="none" cap="none" strike="noStrike">
                <a:solidFill>
                  <a:srgbClr val="674EA7"/>
                </a:solidFill>
                <a:latin typeface="Poppins Medium"/>
                <a:ea typeface="Poppins Medium"/>
                <a:cs typeface="Poppins Medium"/>
                <a:sym typeface="Poppins Medium"/>
              </a:rPr>
              <a:t>Ex: Habit formation  | </a:t>
            </a:r>
            <a:r>
              <a:rPr b="1" i="0" lang="en-US" sz="2400" u="none" cap="none" strike="noStrike">
                <a:solidFill>
                  <a:srgbClr val="0000FF"/>
                </a:solidFill>
                <a:latin typeface="Poppins Medium"/>
                <a:ea typeface="Poppins Medium"/>
                <a:cs typeface="Poppins Medium"/>
                <a:sym typeface="Poppins Medium"/>
              </a:rPr>
              <a:t>Ej.: Formación de hábitos</a:t>
            </a:r>
            <a:endParaRPr b="1" i="0" sz="24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300"/>
              <a:buFont typeface="Arial"/>
              <a:buNone/>
            </a:pPr>
            <a:r>
              <a:t/>
            </a:r>
            <a:endParaRPr b="1" i="0" sz="3300" u="none" cap="none" strike="noStrike">
              <a:solidFill>
                <a:srgbClr val="674EA7"/>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500"/>
              <a:buFont typeface="Arial"/>
              <a:buNone/>
            </a:pPr>
            <a:r>
              <a:rPr b="1" i="0" lang="en-US" sz="2500" u="none" cap="none" strike="noStrike">
                <a:solidFill>
                  <a:srgbClr val="FF00FF"/>
                </a:solidFill>
                <a:latin typeface="Poppins Medium"/>
                <a:ea typeface="Poppins Medium"/>
                <a:cs typeface="Poppins Medium"/>
                <a:sym typeface="Poppins Medium"/>
              </a:rPr>
              <a:t>What do you think is more important, the individual neurons or the connections between them? Why?</a:t>
            </a:r>
            <a:endParaRPr b="1" i="0" sz="2500" u="none" cap="none" strike="noStrike">
              <a:solidFill>
                <a:srgbClr val="FF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500"/>
              <a:buFont typeface="Arial"/>
              <a:buNone/>
            </a:pPr>
            <a:r>
              <a:rPr b="1" i="0" lang="en-US" sz="2500" u="none" cap="none" strike="noStrike">
                <a:solidFill>
                  <a:srgbClr val="0000FF"/>
                </a:solidFill>
                <a:latin typeface="Poppins Medium"/>
                <a:ea typeface="Poppins Medium"/>
                <a:cs typeface="Poppins Medium"/>
                <a:sym typeface="Poppins Medium"/>
              </a:rPr>
              <a:t>¿Qué crees que es más importante, las neuronas individuales o las conexiones entre ellas? ¿Por qué?</a:t>
            </a:r>
            <a:endParaRPr b="1" i="0" sz="2500" u="none" cap="none" strike="noStrike">
              <a:solidFill>
                <a:srgbClr val="0000FF"/>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1C4587"/>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p:txBody>
      </p:sp>
      <p:pic>
        <p:nvPicPr>
          <p:cNvPr id="1217" name="Google Shape;1217;p46" title="Screenshot 2025-11-15 at 12.59.15 PM.png"/>
          <p:cNvPicPr preferRelativeResize="0"/>
          <p:nvPr/>
        </p:nvPicPr>
        <p:blipFill rotWithShape="1">
          <a:blip r:embed="rId3">
            <a:alphaModFix/>
          </a:blip>
          <a:srcRect b="0" l="0" r="0" t="0"/>
          <a:stretch/>
        </p:blipFill>
        <p:spPr>
          <a:xfrm>
            <a:off x="13890725" y="2898150"/>
            <a:ext cx="4226424" cy="3442425"/>
          </a:xfrm>
          <a:prstGeom prst="rect">
            <a:avLst/>
          </a:prstGeom>
          <a:noFill/>
          <a:ln>
            <a:noFill/>
          </a:ln>
        </p:spPr>
      </p:pic>
      <p:sp>
        <p:nvSpPr>
          <p:cNvPr id="1218" name="Google Shape;1218;p46"/>
          <p:cNvSpPr txBox="1"/>
          <p:nvPr/>
        </p:nvSpPr>
        <p:spPr>
          <a:xfrm>
            <a:off x="10602725" y="2994900"/>
            <a:ext cx="3472800" cy="868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FF"/>
                </a:solidFill>
                <a:latin typeface="Poppins"/>
                <a:ea typeface="Poppins"/>
                <a:cs typeface="Poppins"/>
                <a:sym typeface="Poppins"/>
              </a:rPr>
              <a:t>Las neuronas que se activan juntas se conectan entre sí</a:t>
            </a:r>
            <a:endParaRPr b="0" i="0" sz="2200" u="none" cap="none" strike="noStrike">
              <a:solidFill>
                <a:srgbClr val="0000FF"/>
              </a:solidFill>
              <a:latin typeface="Poppins"/>
              <a:ea typeface="Poppins"/>
              <a:cs typeface="Poppins"/>
              <a:sym typeface="Poppins"/>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222" name="Shape 1222"/>
        <p:cNvGrpSpPr/>
        <p:nvPr/>
      </p:nvGrpSpPr>
      <p:grpSpPr>
        <a:xfrm>
          <a:off x="0" y="0"/>
          <a:ext cx="0" cy="0"/>
          <a:chOff x="0" y="0"/>
          <a:chExt cx="0" cy="0"/>
        </a:xfrm>
      </p:grpSpPr>
      <p:sp>
        <p:nvSpPr>
          <p:cNvPr id="1223" name="Google Shape;1223;p47"/>
          <p:cNvSpPr txBox="1"/>
          <p:nvPr/>
        </p:nvSpPr>
        <p:spPr>
          <a:xfrm>
            <a:off x="1599892" y="3692838"/>
            <a:ext cx="15367200" cy="2742600"/>
          </a:xfrm>
          <a:prstGeom prst="rect">
            <a:avLst/>
          </a:prstGeom>
          <a:noFill/>
          <a:ln>
            <a:noFill/>
          </a:ln>
        </p:spPr>
        <p:txBody>
          <a:bodyPr anchorCtr="0" anchor="t" bIns="0" lIns="0" spcFirstLastPara="1" rIns="0" wrap="square" tIns="0">
            <a:spAutoFit/>
          </a:bodyPr>
          <a:lstStyle/>
          <a:p>
            <a:pPr indent="0" lvl="0" marL="0" marR="0" rtl="0" algn="ctr">
              <a:lnSpc>
                <a:spcPct val="120002"/>
              </a:lnSpc>
              <a:spcBef>
                <a:spcPts val="0"/>
              </a:spcBef>
              <a:spcAft>
                <a:spcPts val="0"/>
              </a:spcAft>
              <a:buClr>
                <a:srgbClr val="000000"/>
              </a:buClr>
              <a:buSzPts val="8099"/>
              <a:buFont typeface="Arial"/>
              <a:buNone/>
            </a:pPr>
            <a:r>
              <a:rPr b="0" i="0" lang="en-US" sz="8099" u="none" cap="none" strike="noStrike">
                <a:solidFill>
                  <a:srgbClr val="136447"/>
                </a:solidFill>
                <a:latin typeface="Arial"/>
                <a:ea typeface="Arial"/>
                <a:cs typeface="Arial"/>
                <a:sym typeface="Arial"/>
              </a:rPr>
              <a:t>Neurotransmitters and Hormones </a:t>
            </a:r>
            <a:endParaRPr b="0" i="0" sz="8099" u="none" cap="none" strike="noStrike">
              <a:solidFill>
                <a:srgbClr val="351C75"/>
              </a:solidFill>
              <a:latin typeface="Arial"/>
              <a:ea typeface="Arial"/>
              <a:cs typeface="Arial"/>
              <a:sym typeface="Arial"/>
            </a:endParaRPr>
          </a:p>
          <a:p>
            <a:pPr indent="0" lvl="0" marL="0" marR="0" rtl="0" algn="ctr">
              <a:lnSpc>
                <a:spcPct val="120002"/>
              </a:lnSpc>
              <a:spcBef>
                <a:spcPts val="0"/>
              </a:spcBef>
              <a:spcAft>
                <a:spcPts val="0"/>
              </a:spcAft>
              <a:buClr>
                <a:srgbClr val="000000"/>
              </a:buClr>
              <a:buSzPts val="8099"/>
              <a:buFont typeface="Arial"/>
              <a:buNone/>
            </a:pPr>
            <a:r>
              <a:rPr b="0" i="0" lang="en-US" sz="8099" u="none" cap="none" strike="noStrike">
                <a:solidFill>
                  <a:srgbClr val="0000FF"/>
                </a:solidFill>
                <a:latin typeface="Arial"/>
                <a:ea typeface="Arial"/>
                <a:cs typeface="Arial"/>
                <a:sym typeface="Arial"/>
              </a:rPr>
              <a:t>Neurotransmisores y hormonas</a:t>
            </a:r>
            <a:endParaRPr b="0" i="0" sz="8099" u="none" cap="none" strike="noStrike">
              <a:solidFill>
                <a:srgbClr val="0000FF"/>
              </a:solidFill>
              <a:latin typeface="Arial"/>
              <a:ea typeface="Arial"/>
              <a:cs typeface="Arial"/>
              <a:sym typeface="Arial"/>
            </a:endParaRPr>
          </a:p>
        </p:txBody>
      </p:sp>
      <p:cxnSp>
        <p:nvCxnSpPr>
          <p:cNvPr id="1224" name="Google Shape;1224;p47"/>
          <p:cNvCxnSpPr/>
          <p:nvPr/>
        </p:nvCxnSpPr>
        <p:spPr>
          <a:xfrm>
            <a:off x="1460392" y="7000869"/>
            <a:ext cx="15367200" cy="0"/>
          </a:xfrm>
          <a:prstGeom prst="straightConnector1">
            <a:avLst/>
          </a:prstGeom>
          <a:noFill/>
          <a:ln cap="rnd" cmpd="sng" w="28575">
            <a:solidFill>
              <a:srgbClr val="136447"/>
            </a:solidFill>
            <a:prstDash val="solid"/>
            <a:round/>
            <a:headEnd len="sm" w="sm" type="none"/>
            <a:tailEnd len="sm" w="sm" type="none"/>
          </a:ln>
        </p:spPr>
      </p:cxnSp>
      <p:cxnSp>
        <p:nvCxnSpPr>
          <p:cNvPr id="1225" name="Google Shape;1225;p47"/>
          <p:cNvCxnSpPr/>
          <p:nvPr/>
        </p:nvCxnSpPr>
        <p:spPr>
          <a:xfrm>
            <a:off x="1460392" y="8577683"/>
            <a:ext cx="15367200" cy="0"/>
          </a:xfrm>
          <a:prstGeom prst="straightConnector1">
            <a:avLst/>
          </a:prstGeom>
          <a:noFill/>
          <a:ln cap="rnd" cmpd="sng" w="28575">
            <a:solidFill>
              <a:srgbClr val="136447"/>
            </a:solidFill>
            <a:prstDash val="solid"/>
            <a:round/>
            <a:headEnd len="sm" w="sm" type="none"/>
            <a:tailEnd len="sm" w="sm" type="none"/>
          </a:ln>
        </p:spPr>
      </p:cxnSp>
      <p:sp>
        <p:nvSpPr>
          <p:cNvPr id="1226" name="Google Shape;1226;p47"/>
          <p:cNvSpPr txBox="1"/>
          <p:nvPr/>
        </p:nvSpPr>
        <p:spPr>
          <a:xfrm>
            <a:off x="1599912" y="7188071"/>
            <a:ext cx="15088200" cy="1202400"/>
          </a:xfrm>
          <a:prstGeom prst="rect">
            <a:avLst/>
          </a:prstGeom>
          <a:noFill/>
          <a:ln>
            <a:noFill/>
          </a:ln>
        </p:spPr>
        <p:txBody>
          <a:bodyPr anchorCtr="0" anchor="t" bIns="0" lIns="0" spcFirstLastPara="1" rIns="0" wrap="square" tIns="0">
            <a:spAutoFit/>
          </a:bodyPr>
          <a:lstStyle/>
          <a:p>
            <a:pPr indent="0" lvl="0" marL="0" marR="0" rtl="0" algn="ctr">
              <a:lnSpc>
                <a:spcPct val="130005"/>
              </a:lnSpc>
              <a:spcBef>
                <a:spcPts val="0"/>
              </a:spcBef>
              <a:spcAft>
                <a:spcPts val="0"/>
              </a:spcAft>
              <a:buClr>
                <a:srgbClr val="000000"/>
              </a:buClr>
              <a:buSzPts val="3396"/>
              <a:buFont typeface="Arial"/>
              <a:buNone/>
            </a:pPr>
            <a:r>
              <a:rPr b="1" i="0" lang="en-US" sz="3396" u="none" cap="none" strike="noStrike">
                <a:solidFill>
                  <a:srgbClr val="2D2F3B"/>
                </a:solidFill>
                <a:latin typeface="Poppins Medium"/>
                <a:ea typeface="Poppins Medium"/>
                <a:cs typeface="Poppins Medium"/>
                <a:sym typeface="Poppins Medium"/>
              </a:rPr>
              <a:t>Chemical Messengers of the Body</a:t>
            </a:r>
            <a:endParaRPr b="1" i="0" sz="3396" u="none" cap="none" strike="noStrike">
              <a:solidFill>
                <a:srgbClr val="2D2F3B"/>
              </a:solidFill>
              <a:latin typeface="Poppins Medium"/>
              <a:ea typeface="Poppins Medium"/>
              <a:cs typeface="Poppins Medium"/>
              <a:sym typeface="Poppins Medium"/>
            </a:endParaRPr>
          </a:p>
          <a:p>
            <a:pPr indent="0" lvl="0" marL="0" marR="0" rtl="0" algn="ctr">
              <a:lnSpc>
                <a:spcPct val="130005"/>
              </a:lnSpc>
              <a:spcBef>
                <a:spcPts val="0"/>
              </a:spcBef>
              <a:spcAft>
                <a:spcPts val="0"/>
              </a:spcAft>
              <a:buClr>
                <a:srgbClr val="000000"/>
              </a:buClr>
              <a:buSzPts val="3396"/>
              <a:buFont typeface="Arial"/>
              <a:buNone/>
            </a:pPr>
            <a:r>
              <a:rPr b="1" i="0" lang="en-US" sz="3396" u="none" cap="none" strike="noStrike">
                <a:solidFill>
                  <a:srgbClr val="0000FF"/>
                </a:solidFill>
                <a:latin typeface="Poppins Medium"/>
                <a:ea typeface="Poppins Medium"/>
                <a:cs typeface="Poppins Medium"/>
                <a:sym typeface="Poppins Medium"/>
              </a:rPr>
              <a:t>Mensajeros químicos del cuerpo</a:t>
            </a:r>
            <a:endParaRPr b="1" i="0" sz="3396" u="none" cap="none" strike="noStrike">
              <a:solidFill>
                <a:srgbClr val="0000FF"/>
              </a:solidFill>
              <a:latin typeface="Poppins Medium"/>
              <a:ea typeface="Poppins Medium"/>
              <a:cs typeface="Poppins Medium"/>
              <a:sym typeface="Poppins Medium"/>
            </a:endParaRPr>
          </a:p>
        </p:txBody>
      </p:sp>
      <p:sp>
        <p:nvSpPr>
          <p:cNvPr id="1227" name="Google Shape;1227;p47"/>
          <p:cNvSpPr/>
          <p:nvPr/>
        </p:nvSpPr>
        <p:spPr>
          <a:xfrm rot="10800000">
            <a:off x="-4088315" y="-7598684"/>
            <a:ext cx="11718940" cy="10683767"/>
          </a:xfrm>
          <a:custGeom>
            <a:rect b="b" l="l" r="r" t="t"/>
            <a:pathLst>
              <a:path extrusionOk="0" h="10683767" w="11718940">
                <a:moveTo>
                  <a:pt x="0" y="0"/>
                </a:moveTo>
                <a:lnTo>
                  <a:pt x="11718940" y="0"/>
                </a:lnTo>
                <a:lnTo>
                  <a:pt x="11718940" y="10683767"/>
                </a:lnTo>
                <a:lnTo>
                  <a:pt x="0" y="10683767"/>
                </a:lnTo>
                <a:lnTo>
                  <a:pt x="0" y="0"/>
                </a:lnTo>
                <a:close/>
              </a:path>
            </a:pathLst>
          </a:custGeom>
          <a:blipFill rotWithShape="1">
            <a:blip r:embed="rId3">
              <a:alphaModFix amt="20000"/>
            </a:blip>
            <a:stretch>
              <a:fillRect b="0" l="0" r="0" t="0"/>
            </a:stretch>
          </a:blipFill>
          <a:ln>
            <a:noFill/>
          </a:ln>
        </p:spPr>
      </p:sp>
      <p:sp>
        <p:nvSpPr>
          <p:cNvPr id="1228" name="Google Shape;1228;p47"/>
          <p:cNvSpPr/>
          <p:nvPr/>
        </p:nvSpPr>
        <p:spPr>
          <a:xfrm>
            <a:off x="12380365" y="-4236710"/>
            <a:ext cx="7089520" cy="7089520"/>
          </a:xfrm>
          <a:custGeom>
            <a:rect b="b" l="l" r="r" t="t"/>
            <a:pathLst>
              <a:path extrusionOk="0" h="7089520" w="7089520">
                <a:moveTo>
                  <a:pt x="0" y="0"/>
                </a:moveTo>
                <a:lnTo>
                  <a:pt x="7089520" y="0"/>
                </a:lnTo>
                <a:lnTo>
                  <a:pt x="7089520" y="7089520"/>
                </a:lnTo>
                <a:lnTo>
                  <a:pt x="0" y="7089520"/>
                </a:lnTo>
                <a:lnTo>
                  <a:pt x="0" y="0"/>
                </a:lnTo>
                <a:close/>
              </a:path>
            </a:pathLst>
          </a:custGeom>
          <a:blipFill rotWithShape="1">
            <a:blip r:embed="rId4">
              <a:alphaModFix amt="20000"/>
            </a:blip>
            <a:stretch>
              <a:fillRect b="0" l="0" r="0" t="0"/>
            </a:stretch>
          </a:blipFill>
          <a:ln>
            <a:noFill/>
          </a:ln>
        </p:spPr>
      </p:sp>
      <p:sp>
        <p:nvSpPr>
          <p:cNvPr id="1229" name="Google Shape;1229;p47"/>
          <p:cNvSpPr/>
          <p:nvPr/>
        </p:nvSpPr>
        <p:spPr>
          <a:xfrm flipH="1" rot="5400000">
            <a:off x="6701493" y="-3726936"/>
            <a:ext cx="4885007" cy="7458026"/>
          </a:xfrm>
          <a:custGeom>
            <a:rect b="b" l="l" r="r" t="t"/>
            <a:pathLst>
              <a:path extrusionOk="0" h="7476718" w="4897250">
                <a:moveTo>
                  <a:pt x="4897250" y="0"/>
                </a:moveTo>
                <a:lnTo>
                  <a:pt x="0" y="0"/>
                </a:lnTo>
                <a:lnTo>
                  <a:pt x="0" y="7476718"/>
                </a:lnTo>
                <a:lnTo>
                  <a:pt x="4897250" y="7476718"/>
                </a:lnTo>
                <a:lnTo>
                  <a:pt x="4897250" y="0"/>
                </a:lnTo>
                <a:close/>
              </a:path>
            </a:pathLst>
          </a:custGeom>
          <a:blipFill rotWithShape="1">
            <a:blip r:embed="rId5">
              <a:alphaModFix amt="20000"/>
            </a:blip>
            <a:stretch>
              <a:fillRect b="0" l="0" r="0" t="0"/>
            </a:stretch>
          </a:blipFill>
          <a:ln>
            <a:noFill/>
          </a:ln>
        </p:spPr>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233" name="Shape 1233"/>
        <p:cNvGrpSpPr/>
        <p:nvPr/>
      </p:nvGrpSpPr>
      <p:grpSpPr>
        <a:xfrm>
          <a:off x="0" y="0"/>
          <a:ext cx="0" cy="0"/>
          <a:chOff x="0" y="0"/>
          <a:chExt cx="0" cy="0"/>
        </a:xfrm>
      </p:grpSpPr>
      <p:sp>
        <p:nvSpPr>
          <p:cNvPr id="1234" name="Google Shape;1234;p48"/>
          <p:cNvSpPr txBox="1"/>
          <p:nvPr/>
        </p:nvSpPr>
        <p:spPr>
          <a:xfrm>
            <a:off x="453125" y="822225"/>
            <a:ext cx="17674200" cy="1525200"/>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Clr>
                <a:srgbClr val="000000"/>
              </a:buClr>
              <a:buSzPts val="4308"/>
              <a:buFont typeface="Arial"/>
              <a:buNone/>
            </a:pPr>
            <a:r>
              <a:rPr b="1" i="0" lang="en-US" sz="4308" u="none" cap="none" strike="noStrike">
                <a:solidFill>
                  <a:srgbClr val="136447"/>
                </a:solidFill>
                <a:latin typeface="Poppins"/>
                <a:ea typeface="Poppins"/>
                <a:cs typeface="Poppins"/>
                <a:sym typeface="Poppins"/>
              </a:rPr>
              <a:t>Neurotransmitters and Hormones: The Body’s Two Languages</a:t>
            </a:r>
            <a:endParaRPr b="1" i="0" sz="4308" u="none" cap="none" strike="noStrike">
              <a:solidFill>
                <a:srgbClr val="136447"/>
              </a:solidFill>
              <a:latin typeface="Poppins"/>
              <a:ea typeface="Poppins"/>
              <a:cs typeface="Poppins"/>
              <a:sym typeface="Poppins"/>
            </a:endParaRPr>
          </a:p>
          <a:p>
            <a:pPr indent="0" lvl="0" marL="0" marR="0" rtl="0" algn="l">
              <a:lnSpc>
                <a:spcPct val="130009"/>
              </a:lnSpc>
              <a:spcBef>
                <a:spcPts val="0"/>
              </a:spcBef>
              <a:spcAft>
                <a:spcPts val="0"/>
              </a:spcAft>
              <a:buClr>
                <a:srgbClr val="000000"/>
              </a:buClr>
              <a:buSzPts val="4308"/>
              <a:buFont typeface="Arial"/>
              <a:buNone/>
            </a:pPr>
            <a:r>
              <a:rPr b="1" i="0" lang="en-US" sz="4308" u="none" cap="none" strike="noStrike">
                <a:solidFill>
                  <a:srgbClr val="0000FF"/>
                </a:solidFill>
                <a:latin typeface="Poppins"/>
                <a:ea typeface="Poppins"/>
                <a:cs typeface="Poppins"/>
                <a:sym typeface="Poppins"/>
              </a:rPr>
              <a:t>Neurotransmisores y hormonas: los dos lenguajes del cuerpo</a:t>
            </a:r>
            <a:endParaRPr b="1" i="0" sz="4308" u="none" cap="none" strike="noStrike">
              <a:solidFill>
                <a:srgbClr val="0000FF"/>
              </a:solidFill>
              <a:latin typeface="Poppins"/>
              <a:ea typeface="Poppins"/>
              <a:cs typeface="Poppins"/>
              <a:sym typeface="Poppins"/>
            </a:endParaRPr>
          </a:p>
        </p:txBody>
      </p:sp>
      <p:sp>
        <p:nvSpPr>
          <p:cNvPr id="1235" name="Google Shape;1235;p48"/>
          <p:cNvSpPr txBox="1"/>
          <p:nvPr/>
        </p:nvSpPr>
        <p:spPr>
          <a:xfrm>
            <a:off x="1664825" y="2803850"/>
            <a:ext cx="15250800" cy="2798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600"/>
              <a:buFont typeface="Arial"/>
              <a:buNone/>
            </a:pPr>
            <a:r>
              <a:rPr b="1" i="0" lang="en-US" sz="3600" u="none" cap="none" strike="noStrike">
                <a:solidFill>
                  <a:srgbClr val="2D2F3B"/>
                </a:solidFill>
                <a:latin typeface="Poppins Medium"/>
                <a:ea typeface="Poppins Medium"/>
                <a:cs typeface="Poppins Medium"/>
                <a:sym typeface="Poppins Medium"/>
              </a:rPr>
              <a:t>Both affect behavior, but in different ways </a:t>
            </a:r>
            <a:endParaRPr b="1" i="0" sz="36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600"/>
              <a:buFont typeface="Arial"/>
              <a:buNone/>
            </a:pPr>
            <a:r>
              <a:rPr b="1" i="0" lang="en-US" sz="3600" u="none" cap="none" strike="noStrike">
                <a:solidFill>
                  <a:srgbClr val="0000FF"/>
                </a:solidFill>
                <a:latin typeface="Poppins Medium"/>
                <a:ea typeface="Poppins Medium"/>
                <a:cs typeface="Poppins Medium"/>
                <a:sym typeface="Poppins Medium"/>
              </a:rPr>
              <a:t>Ambos afectan el comportamiento, pero de maneras diferentes.</a:t>
            </a:r>
            <a:endParaRPr b="1" i="0" sz="36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600"/>
              <a:buFont typeface="Arial"/>
              <a:buNone/>
            </a:pPr>
            <a:r>
              <a:t/>
            </a:r>
            <a:endParaRPr b="1" i="0" sz="36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666666"/>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666666"/>
              </a:solidFill>
              <a:latin typeface="Poppins Medium"/>
              <a:ea typeface="Poppins Medium"/>
              <a:cs typeface="Poppins Medium"/>
              <a:sym typeface="Poppins Medium"/>
            </a:endParaRPr>
          </a:p>
        </p:txBody>
      </p:sp>
      <p:grpSp>
        <p:nvGrpSpPr>
          <p:cNvPr id="1236" name="Google Shape;1236;p48"/>
          <p:cNvGrpSpPr/>
          <p:nvPr/>
        </p:nvGrpSpPr>
        <p:grpSpPr>
          <a:xfrm>
            <a:off x="2181100" y="4132214"/>
            <a:ext cx="4781806" cy="5236075"/>
            <a:chOff x="0" y="-57150"/>
            <a:chExt cx="700036" cy="766539"/>
          </a:xfrm>
        </p:grpSpPr>
        <p:sp>
          <p:nvSpPr>
            <p:cNvPr id="1237" name="Google Shape;1237;p48"/>
            <p:cNvSpPr/>
            <p:nvPr/>
          </p:nvSpPr>
          <p:spPr>
            <a:xfrm>
              <a:off x="0" y="0"/>
              <a:ext cx="700036" cy="709389"/>
            </a:xfrm>
            <a:custGeom>
              <a:rect b="b" l="l" r="r" t="t"/>
              <a:pathLst>
                <a:path extrusionOk="0" h="709389" w="700036">
                  <a:moveTo>
                    <a:pt x="76025" y="0"/>
                  </a:moveTo>
                  <a:lnTo>
                    <a:pt x="624011" y="0"/>
                  </a:lnTo>
                  <a:cubicBezTo>
                    <a:pt x="644174" y="0"/>
                    <a:pt x="663511" y="8010"/>
                    <a:pt x="677769" y="22267"/>
                  </a:cubicBezTo>
                  <a:cubicBezTo>
                    <a:pt x="692026" y="36525"/>
                    <a:pt x="700036" y="55862"/>
                    <a:pt x="700036" y="76025"/>
                  </a:cubicBezTo>
                  <a:lnTo>
                    <a:pt x="700036" y="633364"/>
                  </a:lnTo>
                  <a:cubicBezTo>
                    <a:pt x="700036" y="653527"/>
                    <a:pt x="692026" y="672864"/>
                    <a:pt x="677769" y="687122"/>
                  </a:cubicBezTo>
                  <a:cubicBezTo>
                    <a:pt x="663511" y="701379"/>
                    <a:pt x="644174" y="709389"/>
                    <a:pt x="624011" y="709389"/>
                  </a:cubicBezTo>
                  <a:lnTo>
                    <a:pt x="76025" y="709389"/>
                  </a:lnTo>
                  <a:cubicBezTo>
                    <a:pt x="34037" y="709389"/>
                    <a:pt x="0" y="675351"/>
                    <a:pt x="0" y="633364"/>
                  </a:cubicBezTo>
                  <a:lnTo>
                    <a:pt x="0" y="76025"/>
                  </a:lnTo>
                  <a:cubicBezTo>
                    <a:pt x="0" y="55862"/>
                    <a:pt x="8010" y="36525"/>
                    <a:pt x="22267" y="22267"/>
                  </a:cubicBezTo>
                  <a:cubicBezTo>
                    <a:pt x="36525" y="8010"/>
                    <a:pt x="55862" y="0"/>
                    <a:pt x="76025" y="0"/>
                  </a:cubicBezTo>
                  <a:close/>
                </a:path>
              </a:pathLst>
            </a:custGeom>
            <a:solidFill>
              <a:srgbClr val="F0F5DB"/>
            </a:solidFill>
            <a:ln>
              <a:noFill/>
            </a:ln>
          </p:spPr>
          <p:txBody>
            <a:bodyPr anchorCtr="0" anchor="ctr" bIns="143100" lIns="143100" spcFirstLastPara="1" rIns="143100" wrap="square" tIns="1431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8" name="Google Shape;1238;p48"/>
            <p:cNvSpPr txBox="1"/>
            <p:nvPr/>
          </p:nvSpPr>
          <p:spPr>
            <a:xfrm>
              <a:off x="0" y="-57150"/>
              <a:ext cx="699900" cy="766500"/>
            </a:xfrm>
            <a:prstGeom prst="rect">
              <a:avLst/>
            </a:prstGeom>
            <a:noFill/>
            <a:ln>
              <a:noFill/>
            </a:ln>
          </p:spPr>
          <p:txBody>
            <a:bodyPr anchorCtr="0" anchor="ctr" bIns="79500" lIns="79500" spcFirstLastPara="1" rIns="79500" wrap="square" tIns="79500">
              <a:noAutofit/>
            </a:bodyPr>
            <a:lstStyle/>
            <a:p>
              <a:pPr indent="0" lvl="0" marL="0" marR="0" rtl="0" algn="ctr">
                <a:lnSpc>
                  <a:spcPct val="147722"/>
                </a:lnSpc>
                <a:spcBef>
                  <a:spcPts val="0"/>
                </a:spcBef>
                <a:spcAft>
                  <a:spcPts val="0"/>
                </a:spcAft>
                <a:buClr>
                  <a:srgbClr val="000000"/>
                </a:buClr>
                <a:buSzPts val="2817"/>
                <a:buFont typeface="Arial"/>
                <a:buNone/>
              </a:pPr>
              <a:r>
                <a:t/>
              </a:r>
              <a:endParaRPr b="0" i="0" sz="2817" u="none" cap="none" strike="noStrike">
                <a:solidFill>
                  <a:schemeClr val="dk1"/>
                </a:solidFill>
                <a:latin typeface="Calibri"/>
                <a:ea typeface="Calibri"/>
                <a:cs typeface="Calibri"/>
                <a:sym typeface="Calibri"/>
              </a:endParaRPr>
            </a:p>
          </p:txBody>
        </p:sp>
      </p:grpSp>
      <p:sp>
        <p:nvSpPr>
          <p:cNvPr id="1239" name="Google Shape;1239;p48"/>
          <p:cNvSpPr txBox="1"/>
          <p:nvPr/>
        </p:nvSpPr>
        <p:spPr>
          <a:xfrm>
            <a:off x="2717100" y="4822700"/>
            <a:ext cx="3709800" cy="9819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2900"/>
              <a:buFont typeface="Arial"/>
              <a:buNone/>
            </a:pPr>
            <a:r>
              <a:rPr b="1" i="0" lang="en-US" sz="2900" u="none" cap="none" strike="noStrike">
                <a:solidFill>
                  <a:srgbClr val="13655A"/>
                </a:solidFill>
                <a:latin typeface="Poppins"/>
                <a:ea typeface="Poppins"/>
                <a:cs typeface="Poppins"/>
                <a:sym typeface="Poppins"/>
              </a:rPr>
              <a:t>Neurotransmitters</a:t>
            </a:r>
            <a:endParaRPr b="1" i="0" sz="2900" u="none" cap="none" strike="noStrike">
              <a:solidFill>
                <a:srgbClr val="13655A"/>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900"/>
              <a:buFont typeface="Arial"/>
              <a:buNone/>
            </a:pPr>
            <a:r>
              <a:rPr b="1" i="0" lang="en-US" sz="2900" u="none" cap="none" strike="noStrike">
                <a:solidFill>
                  <a:srgbClr val="0000FF"/>
                </a:solidFill>
                <a:latin typeface="Poppins"/>
                <a:ea typeface="Poppins"/>
                <a:cs typeface="Poppins"/>
                <a:sym typeface="Poppins"/>
              </a:rPr>
              <a:t>Neurotransmisores</a:t>
            </a:r>
            <a:endParaRPr b="1" i="0" sz="2900" u="none" cap="none" strike="noStrike">
              <a:solidFill>
                <a:srgbClr val="0000FF"/>
              </a:solidFill>
              <a:latin typeface="Poppins"/>
              <a:ea typeface="Poppins"/>
              <a:cs typeface="Poppins"/>
              <a:sym typeface="Poppins"/>
            </a:endParaRPr>
          </a:p>
        </p:txBody>
      </p:sp>
      <p:grpSp>
        <p:nvGrpSpPr>
          <p:cNvPr id="1240" name="Google Shape;1240;p48"/>
          <p:cNvGrpSpPr/>
          <p:nvPr/>
        </p:nvGrpSpPr>
        <p:grpSpPr>
          <a:xfrm>
            <a:off x="10531200" y="4132201"/>
            <a:ext cx="4781806" cy="5236075"/>
            <a:chOff x="0" y="-57150"/>
            <a:chExt cx="700036" cy="766539"/>
          </a:xfrm>
        </p:grpSpPr>
        <p:sp>
          <p:nvSpPr>
            <p:cNvPr id="1241" name="Google Shape;1241;p48"/>
            <p:cNvSpPr/>
            <p:nvPr/>
          </p:nvSpPr>
          <p:spPr>
            <a:xfrm>
              <a:off x="0" y="0"/>
              <a:ext cx="700036" cy="709389"/>
            </a:xfrm>
            <a:custGeom>
              <a:rect b="b" l="l" r="r" t="t"/>
              <a:pathLst>
                <a:path extrusionOk="0" h="709389" w="700036">
                  <a:moveTo>
                    <a:pt x="76025" y="0"/>
                  </a:moveTo>
                  <a:lnTo>
                    <a:pt x="624011" y="0"/>
                  </a:lnTo>
                  <a:cubicBezTo>
                    <a:pt x="644174" y="0"/>
                    <a:pt x="663511" y="8010"/>
                    <a:pt x="677769" y="22267"/>
                  </a:cubicBezTo>
                  <a:cubicBezTo>
                    <a:pt x="692026" y="36525"/>
                    <a:pt x="700036" y="55862"/>
                    <a:pt x="700036" y="76025"/>
                  </a:cubicBezTo>
                  <a:lnTo>
                    <a:pt x="700036" y="633364"/>
                  </a:lnTo>
                  <a:cubicBezTo>
                    <a:pt x="700036" y="653527"/>
                    <a:pt x="692026" y="672864"/>
                    <a:pt x="677769" y="687122"/>
                  </a:cubicBezTo>
                  <a:cubicBezTo>
                    <a:pt x="663511" y="701379"/>
                    <a:pt x="644174" y="709389"/>
                    <a:pt x="624011" y="709389"/>
                  </a:cubicBezTo>
                  <a:lnTo>
                    <a:pt x="76025" y="709389"/>
                  </a:lnTo>
                  <a:cubicBezTo>
                    <a:pt x="34037" y="709389"/>
                    <a:pt x="0" y="675351"/>
                    <a:pt x="0" y="633364"/>
                  </a:cubicBezTo>
                  <a:lnTo>
                    <a:pt x="0" y="76025"/>
                  </a:lnTo>
                  <a:cubicBezTo>
                    <a:pt x="0" y="55862"/>
                    <a:pt x="8010" y="36525"/>
                    <a:pt x="22267" y="22267"/>
                  </a:cubicBezTo>
                  <a:cubicBezTo>
                    <a:pt x="36525" y="8010"/>
                    <a:pt x="55862" y="0"/>
                    <a:pt x="76025" y="0"/>
                  </a:cubicBezTo>
                  <a:close/>
                </a:path>
              </a:pathLst>
            </a:custGeom>
            <a:solidFill>
              <a:srgbClr val="F0F5DB"/>
            </a:solidFill>
            <a:ln>
              <a:noFill/>
            </a:ln>
          </p:spPr>
          <p:txBody>
            <a:bodyPr anchorCtr="0" anchor="ctr" bIns="143100" lIns="143100" spcFirstLastPara="1" rIns="143100" wrap="square" tIns="1431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2" name="Google Shape;1242;p48"/>
            <p:cNvSpPr txBox="1"/>
            <p:nvPr/>
          </p:nvSpPr>
          <p:spPr>
            <a:xfrm>
              <a:off x="0" y="-57150"/>
              <a:ext cx="699900" cy="766500"/>
            </a:xfrm>
            <a:prstGeom prst="rect">
              <a:avLst/>
            </a:prstGeom>
            <a:noFill/>
            <a:ln>
              <a:noFill/>
            </a:ln>
          </p:spPr>
          <p:txBody>
            <a:bodyPr anchorCtr="0" anchor="ctr" bIns="79500" lIns="79500" spcFirstLastPara="1" rIns="79500" wrap="square" tIns="79500">
              <a:noAutofit/>
            </a:bodyPr>
            <a:lstStyle/>
            <a:p>
              <a:pPr indent="0" lvl="0" marL="0" marR="0" rtl="0" algn="ctr">
                <a:lnSpc>
                  <a:spcPct val="147722"/>
                </a:lnSpc>
                <a:spcBef>
                  <a:spcPts val="0"/>
                </a:spcBef>
                <a:spcAft>
                  <a:spcPts val="0"/>
                </a:spcAft>
                <a:buClr>
                  <a:srgbClr val="000000"/>
                </a:buClr>
                <a:buSzPts val="2817"/>
                <a:buFont typeface="Arial"/>
                <a:buNone/>
              </a:pPr>
              <a:r>
                <a:t/>
              </a:r>
              <a:endParaRPr b="0" i="0" sz="2817" u="none" cap="none" strike="noStrike">
                <a:solidFill>
                  <a:schemeClr val="dk1"/>
                </a:solidFill>
                <a:latin typeface="Calibri"/>
                <a:ea typeface="Calibri"/>
                <a:cs typeface="Calibri"/>
                <a:sym typeface="Calibri"/>
              </a:endParaRPr>
            </a:p>
          </p:txBody>
        </p:sp>
      </p:grpSp>
      <p:sp>
        <p:nvSpPr>
          <p:cNvPr id="1243" name="Google Shape;1243;p48"/>
          <p:cNvSpPr txBox="1"/>
          <p:nvPr/>
        </p:nvSpPr>
        <p:spPr>
          <a:xfrm>
            <a:off x="11176402" y="4822701"/>
            <a:ext cx="3491400" cy="9819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2900"/>
              <a:buFont typeface="Arial"/>
              <a:buNone/>
            </a:pPr>
            <a:r>
              <a:rPr b="1" i="0" lang="en-US" sz="2900" u="none" cap="none" strike="noStrike">
                <a:solidFill>
                  <a:srgbClr val="13655A"/>
                </a:solidFill>
                <a:latin typeface="Poppins"/>
                <a:ea typeface="Poppins"/>
                <a:cs typeface="Poppins"/>
                <a:sym typeface="Poppins"/>
              </a:rPr>
              <a:t>Hormones</a:t>
            </a:r>
            <a:endParaRPr b="1" i="0" sz="2900" u="none" cap="none" strike="noStrike">
              <a:solidFill>
                <a:srgbClr val="13655A"/>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900"/>
              <a:buFont typeface="Arial"/>
              <a:buNone/>
            </a:pPr>
            <a:r>
              <a:rPr b="1" i="0" lang="en-US" sz="2900" u="none" cap="none" strike="noStrike">
                <a:solidFill>
                  <a:srgbClr val="0000FF"/>
                </a:solidFill>
                <a:latin typeface="Poppins"/>
                <a:ea typeface="Poppins"/>
                <a:cs typeface="Poppins"/>
                <a:sym typeface="Poppins"/>
              </a:rPr>
              <a:t>Hormonas</a:t>
            </a:r>
            <a:endParaRPr b="1" i="0" sz="2900" u="none" cap="none" strike="noStrike">
              <a:solidFill>
                <a:srgbClr val="0000FF"/>
              </a:solidFill>
              <a:latin typeface="Poppins"/>
              <a:ea typeface="Poppins"/>
              <a:cs typeface="Poppins"/>
              <a:sym typeface="Poppins"/>
            </a:endParaRPr>
          </a:p>
        </p:txBody>
      </p:sp>
      <p:sp>
        <p:nvSpPr>
          <p:cNvPr id="1244" name="Google Shape;1244;p48"/>
          <p:cNvSpPr txBox="1"/>
          <p:nvPr/>
        </p:nvSpPr>
        <p:spPr>
          <a:xfrm>
            <a:off x="2414700" y="5804600"/>
            <a:ext cx="4314600" cy="35340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2800"/>
              <a:buFont typeface="Arial"/>
              <a:buNone/>
            </a:pPr>
            <a:r>
              <a:rPr b="0" i="0" lang="en-US" sz="2800" u="none" cap="none" strike="noStrike">
                <a:solidFill>
                  <a:srgbClr val="13655A"/>
                </a:solidFill>
                <a:latin typeface="Poppins"/>
                <a:ea typeface="Poppins"/>
                <a:cs typeface="Poppins"/>
                <a:sym typeface="Poppins"/>
              </a:rPr>
              <a:t>Fast, Targeted messages in the nervous system</a:t>
            </a:r>
            <a:endParaRPr b="0" i="0" sz="2800" u="none" cap="none" strike="noStrike">
              <a:solidFill>
                <a:srgbClr val="13655A"/>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800"/>
              <a:buFont typeface="Arial"/>
              <a:buNone/>
            </a:pPr>
            <a:r>
              <a:t/>
            </a:r>
            <a:endParaRPr b="0" i="0" sz="2800" u="none" cap="none" strike="noStrike">
              <a:solidFill>
                <a:srgbClr val="13655A"/>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800"/>
              <a:buFont typeface="Arial"/>
              <a:buNone/>
            </a:pPr>
            <a:r>
              <a:rPr b="0" i="0" lang="en-US" sz="2800" u="none" cap="none" strike="noStrike">
                <a:solidFill>
                  <a:srgbClr val="0000FF"/>
                </a:solidFill>
                <a:latin typeface="Poppins"/>
                <a:ea typeface="Poppins"/>
                <a:cs typeface="Poppins"/>
                <a:sym typeface="Poppins"/>
              </a:rPr>
              <a:t>Mensajes, rápidos y específicos en el sistema nervioso</a:t>
            </a:r>
            <a:endParaRPr b="0" i="0" sz="2800" u="none" cap="none" strike="noStrike">
              <a:solidFill>
                <a:srgbClr val="0000FF"/>
              </a:solidFill>
              <a:latin typeface="Poppins"/>
              <a:ea typeface="Poppins"/>
              <a:cs typeface="Poppins"/>
              <a:sym typeface="Poppins"/>
            </a:endParaRPr>
          </a:p>
        </p:txBody>
      </p:sp>
      <p:sp>
        <p:nvSpPr>
          <p:cNvPr id="1245" name="Google Shape;1245;p48"/>
          <p:cNvSpPr txBox="1"/>
          <p:nvPr/>
        </p:nvSpPr>
        <p:spPr>
          <a:xfrm>
            <a:off x="10764800" y="5867600"/>
            <a:ext cx="4314600" cy="34080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2700"/>
              <a:buFont typeface="Arial"/>
              <a:buNone/>
            </a:pPr>
            <a:r>
              <a:rPr b="0" i="0" lang="en-US" sz="2700" u="none" cap="none" strike="noStrike">
                <a:solidFill>
                  <a:srgbClr val="13655A"/>
                </a:solidFill>
                <a:latin typeface="Poppins"/>
                <a:ea typeface="Poppins"/>
                <a:cs typeface="Poppins"/>
                <a:sym typeface="Poppins"/>
              </a:rPr>
              <a:t>Slow, Widespread messages in the endocrine system</a:t>
            </a:r>
            <a:endParaRPr b="0" i="0" sz="2700" u="none" cap="none" strike="noStrike">
              <a:solidFill>
                <a:srgbClr val="13655A"/>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700"/>
              <a:buFont typeface="Arial"/>
              <a:buNone/>
            </a:pPr>
            <a:r>
              <a:t/>
            </a:r>
            <a:endParaRPr b="0" i="0" sz="2700" u="none" cap="none" strike="noStrike">
              <a:solidFill>
                <a:srgbClr val="13655A"/>
              </a:solidFill>
              <a:latin typeface="Poppins"/>
              <a:ea typeface="Poppins"/>
              <a:cs typeface="Poppins"/>
              <a:sym typeface="Poppins"/>
            </a:endParaRPr>
          </a:p>
          <a:p>
            <a:pPr indent="0" lvl="0" marL="0" marR="0" rtl="0" algn="ctr">
              <a:lnSpc>
                <a:spcPct val="120000"/>
              </a:lnSpc>
              <a:spcBef>
                <a:spcPts val="0"/>
              </a:spcBef>
              <a:spcAft>
                <a:spcPts val="0"/>
              </a:spcAft>
              <a:buClr>
                <a:srgbClr val="000000"/>
              </a:buClr>
              <a:buSzPts val="2700"/>
              <a:buFont typeface="Arial"/>
              <a:buNone/>
            </a:pPr>
            <a:r>
              <a:rPr b="0" i="0" lang="en-US" sz="2700" u="none" cap="none" strike="noStrike">
                <a:solidFill>
                  <a:srgbClr val="0000FF"/>
                </a:solidFill>
                <a:latin typeface="Poppins"/>
                <a:ea typeface="Poppins"/>
                <a:cs typeface="Poppins"/>
                <a:sym typeface="Poppins"/>
              </a:rPr>
              <a:t>Mensajes, lentos y generalizados en el sistema endocrino</a:t>
            </a:r>
            <a:endParaRPr b="0" i="0" sz="2700" u="none" cap="none" strike="noStrike">
              <a:solidFill>
                <a:srgbClr val="0000FF"/>
              </a:solidFill>
              <a:latin typeface="Poppins"/>
              <a:ea typeface="Poppins"/>
              <a:cs typeface="Poppins"/>
              <a:sym typeface="Poppins"/>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249" name="Shape 1249"/>
        <p:cNvGrpSpPr/>
        <p:nvPr/>
      </p:nvGrpSpPr>
      <p:grpSpPr>
        <a:xfrm>
          <a:off x="0" y="0"/>
          <a:ext cx="0" cy="0"/>
          <a:chOff x="0" y="0"/>
          <a:chExt cx="0" cy="0"/>
        </a:xfrm>
      </p:grpSpPr>
      <p:sp>
        <p:nvSpPr>
          <p:cNvPr id="1250" name="Google Shape;1250;p49"/>
          <p:cNvSpPr txBox="1"/>
          <p:nvPr/>
        </p:nvSpPr>
        <p:spPr>
          <a:xfrm>
            <a:off x="909300" y="3264400"/>
            <a:ext cx="8877900" cy="71835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700"/>
              <a:buFont typeface="Arial"/>
              <a:buNone/>
            </a:pPr>
            <a:r>
              <a:rPr b="1" i="0" lang="en-US" sz="3700" u="none" cap="none" strike="noStrike">
                <a:solidFill>
                  <a:srgbClr val="2D2F3B"/>
                </a:solidFill>
                <a:latin typeface="Poppins Medium"/>
                <a:ea typeface="Poppins Medium"/>
                <a:cs typeface="Poppins Medium"/>
                <a:sym typeface="Poppins Medium"/>
              </a:rPr>
              <a:t>What are they? | </a:t>
            </a:r>
            <a:r>
              <a:rPr b="1" i="0" lang="en-US" sz="3700" u="none" cap="none" strike="noStrike">
                <a:solidFill>
                  <a:srgbClr val="0000FF"/>
                </a:solidFill>
                <a:latin typeface="Poppins Medium"/>
                <a:ea typeface="Poppins Medium"/>
                <a:cs typeface="Poppins Medium"/>
                <a:sym typeface="Poppins Medium"/>
              </a:rPr>
              <a:t>¿Qué son?</a:t>
            </a:r>
            <a:endParaRPr b="1" i="0" sz="37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rPr b="1" i="0" lang="en-US" sz="3000" u="none" cap="none" strike="noStrike">
                <a:solidFill>
                  <a:srgbClr val="2D2F3B"/>
                </a:solidFill>
                <a:latin typeface="Poppins Medium"/>
                <a:ea typeface="Poppins Medium"/>
                <a:cs typeface="Poppins Medium"/>
                <a:sym typeface="Poppins Medium"/>
              </a:rPr>
              <a:t>Chemicals released by neurons at the synapse that influence the next cell.</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rPr b="1" i="0" lang="en-US" sz="3000" u="none" cap="none" strike="noStrike">
                <a:solidFill>
                  <a:srgbClr val="2D2F3B"/>
                </a:solidFill>
                <a:latin typeface="Poppins Medium"/>
                <a:ea typeface="Poppins Medium"/>
                <a:cs typeface="Poppins Medium"/>
                <a:sym typeface="Poppins Medium"/>
              </a:rPr>
              <a:t>They can excite (activate) or inhibit (reduce activity) other neurons.</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chemeClr val="dk1"/>
              </a:buClr>
              <a:buSzPts val="1100"/>
              <a:buFont typeface="Arial"/>
              <a:buNone/>
            </a:pPr>
            <a:r>
              <a:rPr b="1" i="0" lang="en-US" sz="3000" u="none" cap="none" strike="noStrike">
                <a:solidFill>
                  <a:srgbClr val="0000FF"/>
                </a:solidFill>
                <a:latin typeface="Poppins Medium"/>
                <a:ea typeface="Poppins Medium"/>
                <a:cs typeface="Poppins Medium"/>
                <a:sym typeface="Poppins Medium"/>
              </a:rPr>
              <a:t>Son sustancias químicas liberadas por las neuronas en la sinapsis que influyen en la célula vecina.</a:t>
            </a:r>
            <a:endParaRPr b="1" i="0" sz="30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chemeClr val="dk1"/>
              </a:buClr>
              <a:buSzPts val="1100"/>
              <a:buFont typeface="Arial"/>
              <a:buNone/>
            </a:pPr>
            <a:r>
              <a:rPr b="1" i="0" lang="en-US" sz="3000" u="none" cap="none" strike="noStrike">
                <a:solidFill>
                  <a:srgbClr val="0000FF"/>
                </a:solidFill>
                <a:latin typeface="Poppins Medium"/>
                <a:ea typeface="Poppins Medium"/>
                <a:cs typeface="Poppins Medium"/>
                <a:sym typeface="Poppins Medium"/>
              </a:rPr>
              <a:t>Pueden excitar (activar) o inhibir (reducir la actividad) otras neuronas.</a:t>
            </a:r>
            <a:endParaRPr b="1" i="0" sz="30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351C75"/>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351C75"/>
              </a:solidFill>
              <a:latin typeface="Poppins Medium"/>
              <a:ea typeface="Poppins Medium"/>
              <a:cs typeface="Poppins Medium"/>
              <a:sym typeface="Poppins Medium"/>
            </a:endParaRPr>
          </a:p>
        </p:txBody>
      </p:sp>
      <p:cxnSp>
        <p:nvCxnSpPr>
          <p:cNvPr id="1251" name="Google Shape;1251;p49"/>
          <p:cNvCxnSpPr/>
          <p:nvPr/>
        </p:nvCxnSpPr>
        <p:spPr>
          <a:xfrm flipH="1" rot="10800000">
            <a:off x="1184334" y="2727964"/>
            <a:ext cx="8115300" cy="18900"/>
          </a:xfrm>
          <a:prstGeom prst="straightConnector1">
            <a:avLst/>
          </a:prstGeom>
          <a:noFill/>
          <a:ln cap="rnd" cmpd="sng" w="28575">
            <a:solidFill>
              <a:srgbClr val="136447"/>
            </a:solidFill>
            <a:prstDash val="solid"/>
            <a:round/>
            <a:headEnd len="sm" w="sm" type="none"/>
            <a:tailEnd len="sm" w="sm" type="none"/>
          </a:ln>
        </p:spPr>
      </p:cxnSp>
      <p:sp>
        <p:nvSpPr>
          <p:cNvPr id="1252" name="Google Shape;1252;p49"/>
          <p:cNvSpPr txBox="1"/>
          <p:nvPr/>
        </p:nvSpPr>
        <p:spPr>
          <a:xfrm>
            <a:off x="469650" y="645825"/>
            <a:ext cx="17348700" cy="1843800"/>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Clr>
                <a:srgbClr val="000000"/>
              </a:buClr>
              <a:buSzPts val="5208"/>
              <a:buFont typeface="Arial"/>
              <a:buNone/>
            </a:pPr>
            <a:r>
              <a:rPr b="1" i="0" lang="en-US" sz="5208" u="none" cap="none" strike="noStrike">
                <a:solidFill>
                  <a:srgbClr val="136447"/>
                </a:solidFill>
                <a:latin typeface="Poppins"/>
                <a:ea typeface="Poppins"/>
                <a:cs typeface="Poppins"/>
                <a:sym typeface="Poppins"/>
              </a:rPr>
              <a:t>Understanding Neurotransmitters</a:t>
            </a:r>
            <a:endParaRPr b="1" i="0" sz="5208" u="none" cap="none" strike="noStrike">
              <a:solidFill>
                <a:srgbClr val="136447"/>
              </a:solidFill>
              <a:latin typeface="Poppins"/>
              <a:ea typeface="Poppins"/>
              <a:cs typeface="Poppins"/>
              <a:sym typeface="Poppins"/>
            </a:endParaRPr>
          </a:p>
          <a:p>
            <a:pPr indent="0" lvl="0" marL="0" marR="0" rtl="0" algn="l">
              <a:lnSpc>
                <a:spcPct val="130009"/>
              </a:lnSpc>
              <a:spcBef>
                <a:spcPts val="0"/>
              </a:spcBef>
              <a:spcAft>
                <a:spcPts val="0"/>
              </a:spcAft>
              <a:buClr>
                <a:srgbClr val="000000"/>
              </a:buClr>
              <a:buSzPts val="5208"/>
              <a:buFont typeface="Arial"/>
              <a:buNone/>
            </a:pPr>
            <a:r>
              <a:rPr b="1" i="0" lang="en-US" sz="5208" u="none" cap="none" strike="noStrike">
                <a:solidFill>
                  <a:srgbClr val="0000FF"/>
                </a:solidFill>
                <a:latin typeface="Poppins"/>
                <a:ea typeface="Poppins"/>
                <a:cs typeface="Poppins"/>
                <a:sym typeface="Poppins"/>
              </a:rPr>
              <a:t>Comprender los neurotransmisores</a:t>
            </a:r>
            <a:endParaRPr b="1" i="0" sz="5208" u="none" cap="none" strike="noStrike">
              <a:solidFill>
                <a:srgbClr val="0000FF"/>
              </a:solidFill>
              <a:latin typeface="Poppins"/>
              <a:ea typeface="Poppins"/>
              <a:cs typeface="Poppins"/>
              <a:sym typeface="Poppins"/>
            </a:endParaRPr>
          </a:p>
        </p:txBody>
      </p:sp>
      <p:pic>
        <p:nvPicPr>
          <p:cNvPr id="1253" name="Google Shape;1253;p49" title="Screenshot 2025-11-19 at 3.31.13 PM.png"/>
          <p:cNvPicPr preferRelativeResize="0"/>
          <p:nvPr/>
        </p:nvPicPr>
        <p:blipFill rotWithShape="1">
          <a:blip r:embed="rId3">
            <a:alphaModFix/>
          </a:blip>
          <a:srcRect b="0" l="0" r="0" t="0"/>
          <a:stretch/>
        </p:blipFill>
        <p:spPr>
          <a:xfrm>
            <a:off x="9902450" y="3709625"/>
            <a:ext cx="7915900" cy="4889225"/>
          </a:xfrm>
          <a:prstGeom prst="rect">
            <a:avLst/>
          </a:prstGeom>
          <a:noFill/>
          <a:ln>
            <a:noFill/>
          </a:ln>
        </p:spPr>
      </p:pic>
      <p:sp>
        <p:nvSpPr>
          <p:cNvPr id="1254" name="Google Shape;1254;p49"/>
          <p:cNvSpPr txBox="1"/>
          <p:nvPr/>
        </p:nvSpPr>
        <p:spPr>
          <a:xfrm>
            <a:off x="10550225" y="4455075"/>
            <a:ext cx="2183700" cy="552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rgbClr val="0000FF"/>
                </a:solidFill>
                <a:latin typeface="Poppins"/>
                <a:ea typeface="Poppins"/>
                <a:cs typeface="Poppins"/>
                <a:sym typeface="Poppins"/>
              </a:rPr>
              <a:t>Vesículas</a:t>
            </a:r>
            <a:endParaRPr b="0" i="0" sz="2700" u="none" cap="none" strike="noStrike">
              <a:solidFill>
                <a:srgbClr val="0000FF"/>
              </a:solidFill>
              <a:latin typeface="Poppins"/>
              <a:ea typeface="Poppins"/>
              <a:cs typeface="Poppins"/>
              <a:sym typeface="Poppins"/>
            </a:endParaRPr>
          </a:p>
        </p:txBody>
      </p:sp>
      <p:sp>
        <p:nvSpPr>
          <p:cNvPr id="1255" name="Google Shape;1255;p49"/>
          <p:cNvSpPr txBox="1"/>
          <p:nvPr/>
        </p:nvSpPr>
        <p:spPr>
          <a:xfrm>
            <a:off x="13575675" y="3315000"/>
            <a:ext cx="3841200" cy="552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FF"/>
                </a:solidFill>
                <a:latin typeface="Poppins"/>
                <a:ea typeface="Poppins"/>
                <a:cs typeface="Poppins"/>
                <a:sym typeface="Poppins"/>
              </a:rPr>
              <a:t>Neurotransmisor</a:t>
            </a:r>
            <a:endParaRPr b="0" i="0" sz="2800" u="none" cap="none" strike="noStrike">
              <a:solidFill>
                <a:srgbClr val="0000FF"/>
              </a:solidFill>
              <a:latin typeface="Poppins"/>
              <a:ea typeface="Poppins"/>
              <a:cs typeface="Poppins"/>
              <a:sym typeface="Poppins"/>
            </a:endParaRPr>
          </a:p>
        </p:txBody>
      </p:sp>
      <p:sp>
        <p:nvSpPr>
          <p:cNvPr id="1256" name="Google Shape;1256;p49"/>
          <p:cNvSpPr txBox="1"/>
          <p:nvPr/>
        </p:nvSpPr>
        <p:spPr>
          <a:xfrm>
            <a:off x="15634650" y="5288225"/>
            <a:ext cx="2183700" cy="684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100"/>
              <a:buFont typeface="Arial"/>
              <a:buNone/>
            </a:pPr>
            <a:r>
              <a:rPr b="0" i="0" lang="en-US" sz="3100" u="none" cap="none" strike="noStrike">
                <a:solidFill>
                  <a:srgbClr val="0000FF"/>
                </a:solidFill>
                <a:latin typeface="Poppins"/>
                <a:ea typeface="Poppins"/>
                <a:cs typeface="Poppins"/>
                <a:sym typeface="Poppins"/>
              </a:rPr>
              <a:t>Receptor</a:t>
            </a:r>
            <a:endParaRPr b="0" i="0" sz="3100" u="none" cap="none" strike="noStrike">
              <a:solidFill>
                <a:srgbClr val="0000FF"/>
              </a:solidFill>
              <a:latin typeface="Poppins"/>
              <a:ea typeface="Poppins"/>
              <a:cs typeface="Poppins"/>
              <a:sym typeface="Poppins"/>
            </a:endParaRPr>
          </a:p>
        </p:txBody>
      </p:sp>
      <p:sp>
        <p:nvSpPr>
          <p:cNvPr id="1257" name="Google Shape;1257;p49"/>
          <p:cNvSpPr txBox="1"/>
          <p:nvPr/>
        </p:nvSpPr>
        <p:spPr>
          <a:xfrm>
            <a:off x="14443900" y="7261400"/>
            <a:ext cx="2499300" cy="684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900"/>
              <a:buFont typeface="Arial"/>
              <a:buNone/>
            </a:pPr>
            <a:r>
              <a:rPr b="0" i="0" lang="en-US" sz="2900" u="none" cap="none" strike="noStrike">
                <a:solidFill>
                  <a:srgbClr val="0000FF"/>
                </a:solidFill>
                <a:latin typeface="Poppins"/>
                <a:ea typeface="Poppins"/>
                <a:cs typeface="Poppins"/>
                <a:sym typeface="Poppins"/>
              </a:rPr>
              <a:t>Sinapsis</a:t>
            </a:r>
            <a:endParaRPr b="0" i="0" sz="2900" u="none" cap="none" strike="noStrike">
              <a:solidFill>
                <a:srgbClr val="0000FF"/>
              </a:solidFill>
              <a:latin typeface="Poppins"/>
              <a:ea typeface="Poppins"/>
              <a:cs typeface="Poppins"/>
              <a:sym typeface="Poppins"/>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261" name="Shape 1261"/>
        <p:cNvGrpSpPr/>
        <p:nvPr/>
      </p:nvGrpSpPr>
      <p:grpSpPr>
        <a:xfrm>
          <a:off x="0" y="0"/>
          <a:ext cx="0" cy="0"/>
          <a:chOff x="0" y="0"/>
          <a:chExt cx="0" cy="0"/>
        </a:xfrm>
      </p:grpSpPr>
      <p:cxnSp>
        <p:nvCxnSpPr>
          <p:cNvPr id="1262" name="Google Shape;1262;p50"/>
          <p:cNvCxnSpPr/>
          <p:nvPr/>
        </p:nvCxnSpPr>
        <p:spPr>
          <a:xfrm flipH="1" rot="10800000">
            <a:off x="1184334" y="2727964"/>
            <a:ext cx="8115300" cy="18900"/>
          </a:xfrm>
          <a:prstGeom prst="straightConnector1">
            <a:avLst/>
          </a:prstGeom>
          <a:noFill/>
          <a:ln cap="rnd" cmpd="sng" w="28575">
            <a:solidFill>
              <a:srgbClr val="136447"/>
            </a:solidFill>
            <a:prstDash val="solid"/>
            <a:round/>
            <a:headEnd len="sm" w="sm" type="none"/>
            <a:tailEnd len="sm" w="sm" type="none"/>
          </a:ln>
        </p:spPr>
      </p:cxnSp>
      <p:sp>
        <p:nvSpPr>
          <p:cNvPr id="1263" name="Google Shape;1263;p50"/>
          <p:cNvSpPr txBox="1"/>
          <p:nvPr/>
        </p:nvSpPr>
        <p:spPr>
          <a:xfrm>
            <a:off x="469650" y="645825"/>
            <a:ext cx="17348700" cy="1843800"/>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Clr>
                <a:srgbClr val="000000"/>
              </a:buClr>
              <a:buSzPts val="5208"/>
              <a:buFont typeface="Arial"/>
              <a:buNone/>
            </a:pPr>
            <a:r>
              <a:rPr b="1" i="0" lang="en-US" sz="5208" u="none" cap="none" strike="noStrike">
                <a:solidFill>
                  <a:srgbClr val="136447"/>
                </a:solidFill>
                <a:latin typeface="Poppins"/>
                <a:ea typeface="Poppins"/>
                <a:cs typeface="Poppins"/>
                <a:sym typeface="Poppins"/>
              </a:rPr>
              <a:t>Understanding Neurotransmitters</a:t>
            </a:r>
            <a:endParaRPr b="1" i="0" sz="5208" u="none" cap="none" strike="noStrike">
              <a:solidFill>
                <a:srgbClr val="136447"/>
              </a:solidFill>
              <a:latin typeface="Poppins"/>
              <a:ea typeface="Poppins"/>
              <a:cs typeface="Poppins"/>
              <a:sym typeface="Poppins"/>
            </a:endParaRPr>
          </a:p>
          <a:p>
            <a:pPr indent="0" lvl="0" marL="0" marR="0" rtl="0" algn="l">
              <a:lnSpc>
                <a:spcPct val="130009"/>
              </a:lnSpc>
              <a:spcBef>
                <a:spcPts val="0"/>
              </a:spcBef>
              <a:spcAft>
                <a:spcPts val="0"/>
              </a:spcAft>
              <a:buClr>
                <a:srgbClr val="000000"/>
              </a:buClr>
              <a:buSzPts val="5208"/>
              <a:buFont typeface="Arial"/>
              <a:buNone/>
            </a:pPr>
            <a:r>
              <a:rPr b="1" i="0" lang="en-US" sz="5208" u="none" cap="none" strike="noStrike">
                <a:solidFill>
                  <a:srgbClr val="0000FF"/>
                </a:solidFill>
                <a:latin typeface="Poppins"/>
                <a:ea typeface="Poppins"/>
                <a:cs typeface="Poppins"/>
                <a:sym typeface="Poppins"/>
              </a:rPr>
              <a:t>Comprender los neurotransmisores</a:t>
            </a:r>
            <a:endParaRPr b="1" i="0" sz="5208" u="none" cap="none" strike="noStrike">
              <a:solidFill>
                <a:srgbClr val="0000FF"/>
              </a:solidFill>
              <a:latin typeface="Poppins"/>
              <a:ea typeface="Poppins"/>
              <a:cs typeface="Poppins"/>
              <a:sym typeface="Poppins"/>
            </a:endParaRPr>
          </a:p>
        </p:txBody>
      </p:sp>
      <p:grpSp>
        <p:nvGrpSpPr>
          <p:cNvPr id="1264" name="Google Shape;1264;p50"/>
          <p:cNvGrpSpPr/>
          <p:nvPr/>
        </p:nvGrpSpPr>
        <p:grpSpPr>
          <a:xfrm>
            <a:off x="9448775" y="6473251"/>
            <a:ext cx="7782233" cy="2175615"/>
            <a:chOff x="0" y="-57150"/>
            <a:chExt cx="1793100" cy="390000"/>
          </a:xfrm>
        </p:grpSpPr>
        <p:sp>
          <p:nvSpPr>
            <p:cNvPr id="1265" name="Google Shape;1265;p50"/>
            <p:cNvSpPr/>
            <p:nvPr/>
          </p:nvSpPr>
          <p:spPr>
            <a:xfrm>
              <a:off x="0" y="0"/>
              <a:ext cx="1792967" cy="332724"/>
            </a:xfrm>
            <a:custGeom>
              <a:rect b="b" l="l" r="r" t="t"/>
              <a:pathLst>
                <a:path extrusionOk="0" h="332724" w="1792967">
                  <a:moveTo>
                    <a:pt x="22745" y="0"/>
                  </a:moveTo>
                  <a:lnTo>
                    <a:pt x="1770222" y="0"/>
                  </a:lnTo>
                  <a:cubicBezTo>
                    <a:pt x="1782784" y="0"/>
                    <a:pt x="1792967" y="10183"/>
                    <a:pt x="1792967" y="22745"/>
                  </a:cubicBezTo>
                  <a:lnTo>
                    <a:pt x="1792967" y="309979"/>
                  </a:lnTo>
                  <a:cubicBezTo>
                    <a:pt x="1792967" y="316012"/>
                    <a:pt x="1790571" y="321797"/>
                    <a:pt x="1786305" y="326062"/>
                  </a:cubicBezTo>
                  <a:cubicBezTo>
                    <a:pt x="1782040" y="330328"/>
                    <a:pt x="1776255" y="332724"/>
                    <a:pt x="1770222" y="332724"/>
                  </a:cubicBezTo>
                  <a:lnTo>
                    <a:pt x="22745" y="332724"/>
                  </a:lnTo>
                  <a:cubicBezTo>
                    <a:pt x="10183" y="332724"/>
                    <a:pt x="0" y="322541"/>
                    <a:pt x="0" y="309979"/>
                  </a:cubicBezTo>
                  <a:lnTo>
                    <a:pt x="0" y="22745"/>
                  </a:lnTo>
                  <a:cubicBezTo>
                    <a:pt x="0" y="16712"/>
                    <a:pt x="2396" y="10927"/>
                    <a:pt x="6662" y="6662"/>
                  </a:cubicBezTo>
                  <a:cubicBezTo>
                    <a:pt x="10927" y="2396"/>
                    <a:pt x="16712" y="0"/>
                    <a:pt x="22745" y="0"/>
                  </a:cubicBezTo>
                  <a:close/>
                </a:path>
              </a:pathLst>
            </a:custGeom>
            <a:solidFill>
              <a:srgbClr val="EAD1DC"/>
            </a:solidFill>
            <a:ln>
              <a:noFill/>
            </a:ln>
          </p:spPr>
          <p:txBody>
            <a:bodyPr anchorCtr="0" anchor="ctr" bIns="104500" lIns="104500" spcFirstLastPara="1" rIns="104500" wrap="square" tIns="1045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6" name="Google Shape;1266;p50"/>
            <p:cNvSpPr txBox="1"/>
            <p:nvPr/>
          </p:nvSpPr>
          <p:spPr>
            <a:xfrm>
              <a:off x="0" y="-57150"/>
              <a:ext cx="1793100" cy="390000"/>
            </a:xfrm>
            <a:prstGeom prst="rect">
              <a:avLst/>
            </a:prstGeom>
            <a:solidFill>
              <a:srgbClr val="EAD1DC"/>
            </a:solidFill>
            <a:ln>
              <a:noFill/>
            </a:ln>
          </p:spPr>
          <p:txBody>
            <a:bodyPr anchorCtr="0" anchor="ctr" bIns="58075" lIns="58075" spcFirstLastPara="1" rIns="58075" wrap="square" tIns="58075">
              <a:noAutofit/>
            </a:bodyPr>
            <a:lstStyle/>
            <a:p>
              <a:pPr indent="0" lvl="0" marL="0" marR="0" rtl="0" algn="ctr">
                <a:lnSpc>
                  <a:spcPct val="147722"/>
                </a:lnSpc>
                <a:spcBef>
                  <a:spcPts val="0"/>
                </a:spcBef>
                <a:spcAft>
                  <a:spcPts val="0"/>
                </a:spcAft>
                <a:buClr>
                  <a:srgbClr val="000000"/>
                </a:buClr>
                <a:buSzPts val="2058"/>
                <a:buFont typeface="Arial"/>
                <a:buNone/>
              </a:pPr>
              <a:r>
                <a:t/>
              </a:r>
              <a:endParaRPr b="0" i="0" sz="2058" u="none" cap="none" strike="noStrike">
                <a:solidFill>
                  <a:schemeClr val="dk1"/>
                </a:solidFill>
                <a:latin typeface="Calibri"/>
                <a:ea typeface="Calibri"/>
                <a:cs typeface="Calibri"/>
                <a:sym typeface="Calibri"/>
              </a:endParaRPr>
            </a:p>
          </p:txBody>
        </p:sp>
      </p:grpSp>
      <p:grpSp>
        <p:nvGrpSpPr>
          <p:cNvPr id="1267" name="Google Shape;1267;p50"/>
          <p:cNvGrpSpPr/>
          <p:nvPr/>
        </p:nvGrpSpPr>
        <p:grpSpPr>
          <a:xfrm>
            <a:off x="1057000" y="3157624"/>
            <a:ext cx="7782233" cy="2084316"/>
            <a:chOff x="0" y="-57150"/>
            <a:chExt cx="1793100" cy="390000"/>
          </a:xfrm>
        </p:grpSpPr>
        <p:sp>
          <p:nvSpPr>
            <p:cNvPr id="1268" name="Google Shape;1268;p50"/>
            <p:cNvSpPr/>
            <p:nvPr/>
          </p:nvSpPr>
          <p:spPr>
            <a:xfrm>
              <a:off x="0" y="0"/>
              <a:ext cx="1792967" cy="332724"/>
            </a:xfrm>
            <a:custGeom>
              <a:rect b="b" l="l" r="r" t="t"/>
              <a:pathLst>
                <a:path extrusionOk="0" h="332724" w="1792967">
                  <a:moveTo>
                    <a:pt x="22745" y="0"/>
                  </a:moveTo>
                  <a:lnTo>
                    <a:pt x="1770222" y="0"/>
                  </a:lnTo>
                  <a:cubicBezTo>
                    <a:pt x="1782784" y="0"/>
                    <a:pt x="1792967" y="10183"/>
                    <a:pt x="1792967" y="22745"/>
                  </a:cubicBezTo>
                  <a:lnTo>
                    <a:pt x="1792967" y="309979"/>
                  </a:lnTo>
                  <a:cubicBezTo>
                    <a:pt x="1792967" y="316012"/>
                    <a:pt x="1790571" y="321797"/>
                    <a:pt x="1786305" y="326062"/>
                  </a:cubicBezTo>
                  <a:cubicBezTo>
                    <a:pt x="1782040" y="330328"/>
                    <a:pt x="1776255" y="332724"/>
                    <a:pt x="1770222" y="332724"/>
                  </a:cubicBezTo>
                  <a:lnTo>
                    <a:pt x="22745" y="332724"/>
                  </a:lnTo>
                  <a:cubicBezTo>
                    <a:pt x="10183" y="332724"/>
                    <a:pt x="0" y="322541"/>
                    <a:pt x="0" y="309979"/>
                  </a:cubicBezTo>
                  <a:lnTo>
                    <a:pt x="0" y="22745"/>
                  </a:lnTo>
                  <a:cubicBezTo>
                    <a:pt x="0" y="16712"/>
                    <a:pt x="2396" y="10927"/>
                    <a:pt x="6662" y="6662"/>
                  </a:cubicBezTo>
                  <a:cubicBezTo>
                    <a:pt x="10927" y="2396"/>
                    <a:pt x="16712" y="0"/>
                    <a:pt x="22745" y="0"/>
                  </a:cubicBezTo>
                  <a:close/>
                </a:path>
              </a:pathLst>
            </a:custGeom>
            <a:solidFill>
              <a:srgbClr val="D9EAD3"/>
            </a:solidFill>
            <a:ln>
              <a:noFill/>
            </a:ln>
          </p:spPr>
          <p:txBody>
            <a:bodyPr anchorCtr="0" anchor="ctr" bIns="104500" lIns="104500" spcFirstLastPara="1" rIns="104500" wrap="square" tIns="1045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9" name="Google Shape;1269;p50"/>
            <p:cNvSpPr txBox="1"/>
            <p:nvPr/>
          </p:nvSpPr>
          <p:spPr>
            <a:xfrm>
              <a:off x="0" y="-57150"/>
              <a:ext cx="1793100" cy="390000"/>
            </a:xfrm>
            <a:prstGeom prst="rect">
              <a:avLst/>
            </a:prstGeom>
            <a:solidFill>
              <a:srgbClr val="D9EAD3"/>
            </a:solidFill>
            <a:ln>
              <a:noFill/>
            </a:ln>
          </p:spPr>
          <p:txBody>
            <a:bodyPr anchorCtr="0" anchor="ctr" bIns="58075" lIns="58075" spcFirstLastPara="1" rIns="58075" wrap="square" tIns="58075">
              <a:noAutofit/>
            </a:bodyPr>
            <a:lstStyle/>
            <a:p>
              <a:pPr indent="0" lvl="0" marL="0" marR="0" rtl="0" algn="ctr">
                <a:lnSpc>
                  <a:spcPct val="147722"/>
                </a:lnSpc>
                <a:spcBef>
                  <a:spcPts val="0"/>
                </a:spcBef>
                <a:spcAft>
                  <a:spcPts val="0"/>
                </a:spcAft>
                <a:buClr>
                  <a:srgbClr val="000000"/>
                </a:buClr>
                <a:buSzPts val="2058"/>
                <a:buFont typeface="Arial"/>
                <a:buNone/>
              </a:pPr>
              <a:r>
                <a:t/>
              </a:r>
              <a:endParaRPr b="0" i="0" sz="2058" u="none" cap="none" strike="noStrike">
                <a:solidFill>
                  <a:schemeClr val="dk1"/>
                </a:solidFill>
                <a:latin typeface="Calibri"/>
                <a:ea typeface="Calibri"/>
                <a:cs typeface="Calibri"/>
                <a:sym typeface="Calibri"/>
              </a:endParaRPr>
            </a:p>
          </p:txBody>
        </p:sp>
      </p:grpSp>
      <p:sp>
        <p:nvSpPr>
          <p:cNvPr id="1270" name="Google Shape;1270;p50"/>
          <p:cNvSpPr txBox="1"/>
          <p:nvPr/>
        </p:nvSpPr>
        <p:spPr>
          <a:xfrm>
            <a:off x="1216925" y="3796150"/>
            <a:ext cx="7462500" cy="1214100"/>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Clr>
                <a:srgbClr val="000000"/>
              </a:buClr>
              <a:buSzPts val="1715"/>
              <a:buFont typeface="Arial"/>
              <a:buNone/>
            </a:pPr>
            <a:r>
              <a:rPr b="0" i="0" lang="en-US" sz="1715" u="none" cap="none" strike="noStrike">
                <a:solidFill>
                  <a:srgbClr val="136447"/>
                </a:solidFill>
                <a:latin typeface="Poppins"/>
                <a:ea typeface="Poppins"/>
                <a:cs typeface="Poppins"/>
                <a:sym typeface="Poppins"/>
              </a:rPr>
              <a:t>Motivation, reward, movement , Involved in pleasure and habit learning</a:t>
            </a:r>
            <a:endParaRPr b="0" i="0" sz="1715" u="none" cap="none" strike="noStrike">
              <a:solidFill>
                <a:srgbClr val="136447"/>
              </a:solidFill>
              <a:latin typeface="Poppins"/>
              <a:ea typeface="Poppins"/>
              <a:cs typeface="Poppins"/>
              <a:sym typeface="Poppins"/>
            </a:endParaRPr>
          </a:p>
          <a:p>
            <a:pPr indent="0" lvl="0" marL="0" marR="0" rtl="0" algn="ctr">
              <a:lnSpc>
                <a:spcPct val="120010"/>
              </a:lnSpc>
              <a:spcBef>
                <a:spcPts val="0"/>
              </a:spcBef>
              <a:spcAft>
                <a:spcPts val="0"/>
              </a:spcAft>
              <a:buClr>
                <a:srgbClr val="000000"/>
              </a:buClr>
              <a:buSzPts val="1715"/>
              <a:buFont typeface="Arial"/>
              <a:buNone/>
            </a:pPr>
            <a:r>
              <a:rPr b="0" i="0" lang="en-US" sz="1715" u="none" cap="none" strike="noStrike">
                <a:solidFill>
                  <a:srgbClr val="0000FF"/>
                </a:solidFill>
                <a:latin typeface="Poppins"/>
                <a:ea typeface="Poppins"/>
                <a:cs typeface="Poppins"/>
                <a:sym typeface="Poppins"/>
              </a:rPr>
              <a:t>Motivación, recompensa, movimiento, Implicado en el placer y el aprendizaje de hábitos</a:t>
            </a:r>
            <a:endParaRPr b="0" i="0" sz="1715" u="none" cap="none" strike="noStrike">
              <a:solidFill>
                <a:srgbClr val="0000FF"/>
              </a:solidFill>
              <a:latin typeface="Poppins"/>
              <a:ea typeface="Poppins"/>
              <a:cs typeface="Poppins"/>
              <a:sym typeface="Poppins"/>
            </a:endParaRPr>
          </a:p>
        </p:txBody>
      </p:sp>
      <p:sp>
        <p:nvSpPr>
          <p:cNvPr id="1271" name="Google Shape;1271;p50"/>
          <p:cNvSpPr txBox="1"/>
          <p:nvPr/>
        </p:nvSpPr>
        <p:spPr>
          <a:xfrm>
            <a:off x="2781268" y="3314882"/>
            <a:ext cx="4333800" cy="334200"/>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Clr>
                <a:srgbClr val="000000"/>
              </a:buClr>
              <a:buSzPts val="2171"/>
              <a:buFont typeface="Arial"/>
              <a:buNone/>
            </a:pPr>
            <a:r>
              <a:rPr b="1" i="0" lang="en-US" sz="2171" u="none" cap="none" strike="noStrike">
                <a:solidFill>
                  <a:srgbClr val="136447"/>
                </a:solidFill>
                <a:latin typeface="Poppins"/>
                <a:ea typeface="Poppins"/>
                <a:cs typeface="Poppins"/>
                <a:sym typeface="Poppins"/>
              </a:rPr>
              <a:t>Dopamine | </a:t>
            </a:r>
            <a:r>
              <a:rPr b="1" i="0" lang="en-US" sz="2171" u="none" cap="none" strike="noStrike">
                <a:solidFill>
                  <a:srgbClr val="0000FF"/>
                </a:solidFill>
                <a:latin typeface="Poppins"/>
                <a:ea typeface="Poppins"/>
                <a:cs typeface="Poppins"/>
                <a:sym typeface="Poppins"/>
              </a:rPr>
              <a:t>Dopamina</a:t>
            </a:r>
            <a:endParaRPr b="0" i="0" sz="1600" u="none" cap="none" strike="noStrike">
              <a:solidFill>
                <a:srgbClr val="0000FF"/>
              </a:solidFill>
              <a:latin typeface="Arial"/>
              <a:ea typeface="Arial"/>
              <a:cs typeface="Arial"/>
              <a:sym typeface="Arial"/>
            </a:endParaRPr>
          </a:p>
        </p:txBody>
      </p:sp>
      <p:sp>
        <p:nvSpPr>
          <p:cNvPr id="1272" name="Google Shape;1272;p50"/>
          <p:cNvSpPr txBox="1"/>
          <p:nvPr/>
        </p:nvSpPr>
        <p:spPr>
          <a:xfrm>
            <a:off x="10037243" y="6992553"/>
            <a:ext cx="6605400" cy="2526600"/>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Clr>
                <a:srgbClr val="000000"/>
              </a:buClr>
              <a:buSzPts val="2015"/>
              <a:buFont typeface="Arial"/>
              <a:buNone/>
            </a:pPr>
            <a:r>
              <a:rPr b="0" i="0" lang="en-US" sz="2015" u="none" cap="none" strike="noStrike">
                <a:solidFill>
                  <a:srgbClr val="136447"/>
                </a:solidFill>
                <a:latin typeface="Poppins"/>
                <a:ea typeface="Poppins"/>
                <a:cs typeface="Poppins"/>
                <a:sym typeface="Poppins"/>
              </a:rPr>
              <a:t>Main inhibitory neurotransmitter, Calms the nervous system</a:t>
            </a:r>
            <a:endParaRPr b="0" i="0" sz="2015" u="none" cap="none" strike="noStrike">
              <a:solidFill>
                <a:srgbClr val="136447"/>
              </a:solidFill>
              <a:latin typeface="Poppins"/>
              <a:ea typeface="Poppins"/>
              <a:cs typeface="Poppins"/>
              <a:sym typeface="Poppins"/>
            </a:endParaRPr>
          </a:p>
          <a:p>
            <a:pPr indent="0" lvl="0" marL="0" marR="0" rtl="0" algn="ctr">
              <a:lnSpc>
                <a:spcPct val="140021"/>
              </a:lnSpc>
              <a:spcBef>
                <a:spcPts val="0"/>
              </a:spcBef>
              <a:spcAft>
                <a:spcPts val="0"/>
              </a:spcAft>
              <a:buClr>
                <a:srgbClr val="000000"/>
              </a:buClr>
              <a:buSzPts val="1100"/>
              <a:buFont typeface="Arial"/>
              <a:buNone/>
            </a:pPr>
            <a:r>
              <a:rPr b="0" i="0" lang="en-US" sz="2015" u="none" cap="none" strike="noStrike">
                <a:solidFill>
                  <a:srgbClr val="0000FF"/>
                </a:solidFill>
                <a:latin typeface="Poppins"/>
                <a:ea typeface="Poppins"/>
                <a:cs typeface="Poppins"/>
                <a:sym typeface="Poppins"/>
              </a:rPr>
              <a:t>Principal neurotransmisor inhibidor, Calma el sistema nervioso</a:t>
            </a:r>
            <a:endParaRPr b="0" i="0" sz="2015" u="none" cap="none" strike="noStrike">
              <a:solidFill>
                <a:srgbClr val="0000FF"/>
              </a:solidFill>
              <a:latin typeface="Poppins"/>
              <a:ea typeface="Poppins"/>
              <a:cs typeface="Poppins"/>
              <a:sym typeface="Poppins"/>
            </a:endParaRPr>
          </a:p>
          <a:p>
            <a:pPr indent="0" lvl="0" marL="0" marR="0" rtl="0" algn="ctr">
              <a:lnSpc>
                <a:spcPct val="140021"/>
              </a:lnSpc>
              <a:spcBef>
                <a:spcPts val="0"/>
              </a:spcBef>
              <a:spcAft>
                <a:spcPts val="0"/>
              </a:spcAft>
              <a:buClr>
                <a:srgbClr val="000000"/>
              </a:buClr>
              <a:buSzPts val="2115"/>
              <a:buFont typeface="Arial"/>
              <a:buNone/>
            </a:pPr>
            <a:r>
              <a:t/>
            </a:r>
            <a:endParaRPr b="0" i="0" sz="2115" u="none" cap="none" strike="noStrike">
              <a:solidFill>
                <a:srgbClr val="136447"/>
              </a:solidFill>
              <a:latin typeface="Poppins"/>
              <a:ea typeface="Poppins"/>
              <a:cs typeface="Poppins"/>
              <a:sym typeface="Poppins"/>
            </a:endParaRPr>
          </a:p>
          <a:p>
            <a:pPr indent="0" lvl="0" marL="0" marR="0" rtl="0" algn="ctr">
              <a:lnSpc>
                <a:spcPct val="120010"/>
              </a:lnSpc>
              <a:spcBef>
                <a:spcPts val="0"/>
              </a:spcBef>
              <a:spcAft>
                <a:spcPts val="0"/>
              </a:spcAft>
              <a:buClr>
                <a:srgbClr val="000000"/>
              </a:buClr>
              <a:buSzPts val="2171"/>
              <a:buFont typeface="Arial"/>
              <a:buNone/>
            </a:pPr>
            <a:r>
              <a:t/>
            </a:r>
            <a:endParaRPr b="0" i="0" sz="2171" u="none" cap="none" strike="noStrike">
              <a:solidFill>
                <a:srgbClr val="136447"/>
              </a:solidFill>
              <a:latin typeface="Poppins"/>
              <a:ea typeface="Poppins"/>
              <a:cs typeface="Poppins"/>
              <a:sym typeface="Poppins"/>
            </a:endParaRPr>
          </a:p>
        </p:txBody>
      </p:sp>
      <p:sp>
        <p:nvSpPr>
          <p:cNvPr id="1273" name="Google Shape;1273;p50"/>
          <p:cNvSpPr txBox="1"/>
          <p:nvPr/>
        </p:nvSpPr>
        <p:spPr>
          <a:xfrm>
            <a:off x="10306342" y="6658347"/>
            <a:ext cx="6067200" cy="334200"/>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Clr>
                <a:srgbClr val="000000"/>
              </a:buClr>
              <a:buSzPts val="2171"/>
              <a:buFont typeface="Arial"/>
              <a:buNone/>
            </a:pPr>
            <a:r>
              <a:rPr b="1" i="0" lang="en-US" sz="2171" u="none" cap="none" strike="noStrike">
                <a:solidFill>
                  <a:srgbClr val="136447"/>
                </a:solidFill>
                <a:latin typeface="Poppins"/>
                <a:ea typeface="Poppins"/>
                <a:cs typeface="Poppins"/>
                <a:sym typeface="Poppins"/>
              </a:rPr>
              <a:t>GABA</a:t>
            </a:r>
            <a:endParaRPr b="0" i="0" sz="1600" u="none" cap="none" strike="noStrike">
              <a:solidFill>
                <a:srgbClr val="000000"/>
              </a:solidFill>
              <a:latin typeface="Arial"/>
              <a:ea typeface="Arial"/>
              <a:cs typeface="Arial"/>
              <a:sym typeface="Arial"/>
            </a:endParaRPr>
          </a:p>
        </p:txBody>
      </p:sp>
      <p:grpSp>
        <p:nvGrpSpPr>
          <p:cNvPr id="1274" name="Google Shape;1274;p50"/>
          <p:cNvGrpSpPr/>
          <p:nvPr/>
        </p:nvGrpSpPr>
        <p:grpSpPr>
          <a:xfrm>
            <a:off x="9448775" y="3796148"/>
            <a:ext cx="7782233" cy="2175615"/>
            <a:chOff x="0" y="-57150"/>
            <a:chExt cx="1793100" cy="390000"/>
          </a:xfrm>
        </p:grpSpPr>
        <p:sp>
          <p:nvSpPr>
            <p:cNvPr id="1275" name="Google Shape;1275;p50"/>
            <p:cNvSpPr/>
            <p:nvPr/>
          </p:nvSpPr>
          <p:spPr>
            <a:xfrm>
              <a:off x="0" y="0"/>
              <a:ext cx="1792967" cy="332724"/>
            </a:xfrm>
            <a:custGeom>
              <a:rect b="b" l="l" r="r" t="t"/>
              <a:pathLst>
                <a:path extrusionOk="0" h="332724" w="1792967">
                  <a:moveTo>
                    <a:pt x="22745" y="0"/>
                  </a:moveTo>
                  <a:lnTo>
                    <a:pt x="1770222" y="0"/>
                  </a:lnTo>
                  <a:cubicBezTo>
                    <a:pt x="1782784" y="0"/>
                    <a:pt x="1792967" y="10183"/>
                    <a:pt x="1792967" y="22745"/>
                  </a:cubicBezTo>
                  <a:lnTo>
                    <a:pt x="1792967" y="309979"/>
                  </a:lnTo>
                  <a:cubicBezTo>
                    <a:pt x="1792967" y="316012"/>
                    <a:pt x="1790571" y="321797"/>
                    <a:pt x="1786305" y="326062"/>
                  </a:cubicBezTo>
                  <a:cubicBezTo>
                    <a:pt x="1782040" y="330328"/>
                    <a:pt x="1776255" y="332724"/>
                    <a:pt x="1770222" y="332724"/>
                  </a:cubicBezTo>
                  <a:lnTo>
                    <a:pt x="22745" y="332724"/>
                  </a:lnTo>
                  <a:cubicBezTo>
                    <a:pt x="10183" y="332724"/>
                    <a:pt x="0" y="322541"/>
                    <a:pt x="0" y="309979"/>
                  </a:cubicBezTo>
                  <a:lnTo>
                    <a:pt x="0" y="22745"/>
                  </a:lnTo>
                  <a:cubicBezTo>
                    <a:pt x="0" y="16712"/>
                    <a:pt x="2396" y="10927"/>
                    <a:pt x="6662" y="6662"/>
                  </a:cubicBezTo>
                  <a:cubicBezTo>
                    <a:pt x="10927" y="2396"/>
                    <a:pt x="16712" y="0"/>
                    <a:pt x="22745" y="0"/>
                  </a:cubicBezTo>
                  <a:close/>
                </a:path>
              </a:pathLst>
            </a:custGeom>
            <a:solidFill>
              <a:srgbClr val="EAD1DC"/>
            </a:solidFill>
            <a:ln>
              <a:noFill/>
            </a:ln>
          </p:spPr>
          <p:txBody>
            <a:bodyPr anchorCtr="0" anchor="ctr" bIns="104500" lIns="104500" spcFirstLastPara="1" rIns="104500" wrap="square" tIns="1045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6" name="Google Shape;1276;p50"/>
            <p:cNvSpPr txBox="1"/>
            <p:nvPr/>
          </p:nvSpPr>
          <p:spPr>
            <a:xfrm>
              <a:off x="0" y="-57150"/>
              <a:ext cx="1793100" cy="390000"/>
            </a:xfrm>
            <a:prstGeom prst="rect">
              <a:avLst/>
            </a:prstGeom>
            <a:solidFill>
              <a:srgbClr val="EAD1DC"/>
            </a:solidFill>
            <a:ln>
              <a:noFill/>
            </a:ln>
          </p:spPr>
          <p:txBody>
            <a:bodyPr anchorCtr="0" anchor="ctr" bIns="58075" lIns="58075" spcFirstLastPara="1" rIns="58075" wrap="square" tIns="58075">
              <a:noAutofit/>
            </a:bodyPr>
            <a:lstStyle/>
            <a:p>
              <a:pPr indent="0" lvl="0" marL="0" marR="0" rtl="0" algn="ctr">
                <a:lnSpc>
                  <a:spcPct val="147722"/>
                </a:lnSpc>
                <a:spcBef>
                  <a:spcPts val="0"/>
                </a:spcBef>
                <a:spcAft>
                  <a:spcPts val="0"/>
                </a:spcAft>
                <a:buClr>
                  <a:srgbClr val="000000"/>
                </a:buClr>
                <a:buSzPts val="2058"/>
                <a:buFont typeface="Arial"/>
                <a:buNone/>
              </a:pPr>
              <a:r>
                <a:t/>
              </a:r>
              <a:endParaRPr b="0" i="0" sz="2058" u="none" cap="none" strike="noStrike">
                <a:solidFill>
                  <a:schemeClr val="dk1"/>
                </a:solidFill>
                <a:latin typeface="Calibri"/>
                <a:ea typeface="Calibri"/>
                <a:cs typeface="Calibri"/>
                <a:sym typeface="Calibri"/>
              </a:endParaRPr>
            </a:p>
          </p:txBody>
        </p:sp>
      </p:grpSp>
      <p:sp>
        <p:nvSpPr>
          <p:cNvPr id="1277" name="Google Shape;1277;p50"/>
          <p:cNvSpPr txBox="1"/>
          <p:nvPr/>
        </p:nvSpPr>
        <p:spPr>
          <a:xfrm>
            <a:off x="9761850" y="4510763"/>
            <a:ext cx="7156200" cy="1818600"/>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Clr>
                <a:schemeClr val="dk1"/>
              </a:buClr>
              <a:buSzPts val="1970"/>
              <a:buFont typeface="Arial"/>
              <a:buNone/>
            </a:pPr>
            <a:r>
              <a:rPr b="0" i="0" lang="en-US" sz="1971" u="none" cap="none" strike="noStrike">
                <a:solidFill>
                  <a:srgbClr val="136447"/>
                </a:solidFill>
                <a:latin typeface="Poppins"/>
                <a:ea typeface="Poppins"/>
                <a:cs typeface="Poppins"/>
                <a:sym typeface="Poppins"/>
              </a:rPr>
              <a:t>Main excitatory neurotransmitter, Learning and memory</a:t>
            </a:r>
            <a:endParaRPr b="0" i="0" sz="1971" u="none" cap="none" strike="noStrike">
              <a:solidFill>
                <a:srgbClr val="136447"/>
              </a:solidFill>
              <a:latin typeface="Poppins"/>
              <a:ea typeface="Poppins"/>
              <a:cs typeface="Poppins"/>
              <a:sym typeface="Poppins"/>
            </a:endParaRPr>
          </a:p>
          <a:p>
            <a:pPr indent="0" lvl="0" marL="0" marR="0" rtl="0" algn="ctr">
              <a:lnSpc>
                <a:spcPct val="120010"/>
              </a:lnSpc>
              <a:spcBef>
                <a:spcPts val="0"/>
              </a:spcBef>
              <a:spcAft>
                <a:spcPts val="0"/>
              </a:spcAft>
              <a:buClr>
                <a:schemeClr val="dk1"/>
              </a:buClr>
              <a:buSzPts val="1100"/>
              <a:buFont typeface="Arial"/>
              <a:buNone/>
            </a:pPr>
            <a:r>
              <a:rPr b="0" i="0" lang="en-US" sz="1971" u="none" cap="none" strike="noStrike">
                <a:solidFill>
                  <a:srgbClr val="0000FF"/>
                </a:solidFill>
                <a:latin typeface="Poppins"/>
                <a:ea typeface="Poppins"/>
                <a:cs typeface="Poppins"/>
                <a:sym typeface="Poppins"/>
              </a:rPr>
              <a:t>Neurotransmisor excitatorio principal, Aprendizaje y memoria</a:t>
            </a:r>
            <a:endParaRPr b="0" i="0" sz="1971" u="none" cap="none" strike="noStrike">
              <a:solidFill>
                <a:srgbClr val="0000FF"/>
              </a:solidFill>
              <a:latin typeface="Poppins"/>
              <a:ea typeface="Poppins"/>
              <a:cs typeface="Poppins"/>
              <a:sym typeface="Poppins"/>
            </a:endParaRPr>
          </a:p>
          <a:p>
            <a:pPr indent="0" lvl="0" marL="0" marR="0" rtl="0" algn="ctr">
              <a:lnSpc>
                <a:spcPct val="120010"/>
              </a:lnSpc>
              <a:spcBef>
                <a:spcPts val="0"/>
              </a:spcBef>
              <a:spcAft>
                <a:spcPts val="0"/>
              </a:spcAft>
              <a:buClr>
                <a:schemeClr val="dk1"/>
              </a:buClr>
              <a:buSzPts val="2171"/>
              <a:buFont typeface="Arial"/>
              <a:buNone/>
            </a:pPr>
            <a:r>
              <a:t/>
            </a:r>
            <a:endParaRPr b="0" i="0" sz="2171" u="none" cap="none" strike="noStrike">
              <a:solidFill>
                <a:srgbClr val="136447"/>
              </a:solidFill>
              <a:latin typeface="Poppins"/>
              <a:ea typeface="Poppins"/>
              <a:cs typeface="Poppins"/>
              <a:sym typeface="Poppins"/>
            </a:endParaRPr>
          </a:p>
          <a:p>
            <a:pPr indent="0" lvl="0" marL="0" marR="0" rtl="0" algn="ctr">
              <a:lnSpc>
                <a:spcPct val="120010"/>
              </a:lnSpc>
              <a:spcBef>
                <a:spcPts val="0"/>
              </a:spcBef>
              <a:spcAft>
                <a:spcPts val="0"/>
              </a:spcAft>
              <a:buClr>
                <a:srgbClr val="000000"/>
              </a:buClr>
              <a:buSzPts val="2115"/>
              <a:buFont typeface="Arial"/>
              <a:buNone/>
            </a:pPr>
            <a:r>
              <a:t/>
            </a:r>
            <a:endParaRPr b="0" i="0" sz="2115" u="none" cap="none" strike="noStrike">
              <a:solidFill>
                <a:srgbClr val="136447"/>
              </a:solidFill>
              <a:latin typeface="Poppins"/>
              <a:ea typeface="Poppins"/>
              <a:cs typeface="Poppins"/>
              <a:sym typeface="Poppins"/>
            </a:endParaRPr>
          </a:p>
        </p:txBody>
      </p:sp>
      <p:sp>
        <p:nvSpPr>
          <p:cNvPr id="1278" name="Google Shape;1278;p50"/>
          <p:cNvSpPr txBox="1"/>
          <p:nvPr/>
        </p:nvSpPr>
        <p:spPr>
          <a:xfrm>
            <a:off x="11173045" y="4032682"/>
            <a:ext cx="4333800" cy="334200"/>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Clr>
                <a:srgbClr val="000000"/>
              </a:buClr>
              <a:buSzPts val="2171"/>
              <a:buFont typeface="Arial"/>
              <a:buNone/>
            </a:pPr>
            <a:r>
              <a:rPr b="1" i="0" lang="en-US" sz="2171" u="none" cap="none" strike="noStrike">
                <a:solidFill>
                  <a:srgbClr val="136447"/>
                </a:solidFill>
                <a:latin typeface="Poppins"/>
                <a:ea typeface="Poppins"/>
                <a:cs typeface="Poppins"/>
                <a:sym typeface="Poppins"/>
              </a:rPr>
              <a:t>Glutamate | </a:t>
            </a:r>
            <a:r>
              <a:rPr b="1" i="0" lang="en-US" sz="2171" u="none" cap="none" strike="noStrike">
                <a:solidFill>
                  <a:srgbClr val="0000FF"/>
                </a:solidFill>
                <a:latin typeface="Poppins"/>
                <a:ea typeface="Poppins"/>
                <a:cs typeface="Poppins"/>
                <a:sym typeface="Poppins"/>
              </a:rPr>
              <a:t>Glutamato</a:t>
            </a:r>
            <a:endParaRPr b="0" i="0" sz="1600" u="none" cap="none" strike="noStrike">
              <a:solidFill>
                <a:srgbClr val="0000FF"/>
              </a:solidFill>
              <a:latin typeface="Arial"/>
              <a:ea typeface="Arial"/>
              <a:cs typeface="Arial"/>
              <a:sym typeface="Arial"/>
            </a:endParaRPr>
          </a:p>
        </p:txBody>
      </p:sp>
      <p:grpSp>
        <p:nvGrpSpPr>
          <p:cNvPr id="1279" name="Google Shape;1279;p50"/>
          <p:cNvGrpSpPr/>
          <p:nvPr/>
        </p:nvGrpSpPr>
        <p:grpSpPr>
          <a:xfrm>
            <a:off x="1056950" y="7862402"/>
            <a:ext cx="7782233" cy="1964001"/>
            <a:chOff x="0" y="-57150"/>
            <a:chExt cx="1793100" cy="390000"/>
          </a:xfrm>
        </p:grpSpPr>
        <p:sp>
          <p:nvSpPr>
            <p:cNvPr id="1280" name="Google Shape;1280;p50"/>
            <p:cNvSpPr/>
            <p:nvPr/>
          </p:nvSpPr>
          <p:spPr>
            <a:xfrm>
              <a:off x="0" y="0"/>
              <a:ext cx="1792967" cy="332724"/>
            </a:xfrm>
            <a:custGeom>
              <a:rect b="b" l="l" r="r" t="t"/>
              <a:pathLst>
                <a:path extrusionOk="0" h="332724" w="1792967">
                  <a:moveTo>
                    <a:pt x="22745" y="0"/>
                  </a:moveTo>
                  <a:lnTo>
                    <a:pt x="1770222" y="0"/>
                  </a:lnTo>
                  <a:cubicBezTo>
                    <a:pt x="1782784" y="0"/>
                    <a:pt x="1792967" y="10183"/>
                    <a:pt x="1792967" y="22745"/>
                  </a:cubicBezTo>
                  <a:lnTo>
                    <a:pt x="1792967" y="309979"/>
                  </a:lnTo>
                  <a:cubicBezTo>
                    <a:pt x="1792967" y="316012"/>
                    <a:pt x="1790571" y="321797"/>
                    <a:pt x="1786305" y="326062"/>
                  </a:cubicBezTo>
                  <a:cubicBezTo>
                    <a:pt x="1782040" y="330328"/>
                    <a:pt x="1776255" y="332724"/>
                    <a:pt x="1770222" y="332724"/>
                  </a:cubicBezTo>
                  <a:lnTo>
                    <a:pt x="22745" y="332724"/>
                  </a:lnTo>
                  <a:cubicBezTo>
                    <a:pt x="10183" y="332724"/>
                    <a:pt x="0" y="322541"/>
                    <a:pt x="0" y="309979"/>
                  </a:cubicBezTo>
                  <a:lnTo>
                    <a:pt x="0" y="22745"/>
                  </a:lnTo>
                  <a:cubicBezTo>
                    <a:pt x="0" y="16712"/>
                    <a:pt x="2396" y="10927"/>
                    <a:pt x="6662" y="6662"/>
                  </a:cubicBezTo>
                  <a:cubicBezTo>
                    <a:pt x="10927" y="2396"/>
                    <a:pt x="16712" y="0"/>
                    <a:pt x="22745" y="0"/>
                  </a:cubicBezTo>
                  <a:close/>
                </a:path>
              </a:pathLst>
            </a:custGeom>
            <a:solidFill>
              <a:srgbClr val="D9EAD3"/>
            </a:solidFill>
            <a:ln>
              <a:noFill/>
            </a:ln>
          </p:spPr>
          <p:txBody>
            <a:bodyPr anchorCtr="0" anchor="ctr" bIns="104500" lIns="104500" spcFirstLastPara="1" rIns="104500" wrap="square" tIns="1045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1" name="Google Shape;1281;p50"/>
            <p:cNvSpPr txBox="1"/>
            <p:nvPr/>
          </p:nvSpPr>
          <p:spPr>
            <a:xfrm>
              <a:off x="0" y="-57150"/>
              <a:ext cx="1793100" cy="390000"/>
            </a:xfrm>
            <a:prstGeom prst="rect">
              <a:avLst/>
            </a:prstGeom>
            <a:solidFill>
              <a:srgbClr val="D9EAD3"/>
            </a:solidFill>
            <a:ln>
              <a:noFill/>
            </a:ln>
          </p:spPr>
          <p:txBody>
            <a:bodyPr anchorCtr="0" anchor="ctr" bIns="58075" lIns="58075" spcFirstLastPara="1" rIns="58075" wrap="square" tIns="58075">
              <a:noAutofit/>
            </a:bodyPr>
            <a:lstStyle/>
            <a:p>
              <a:pPr indent="0" lvl="0" marL="0" marR="0" rtl="0" algn="ctr">
                <a:lnSpc>
                  <a:spcPct val="147722"/>
                </a:lnSpc>
                <a:spcBef>
                  <a:spcPts val="0"/>
                </a:spcBef>
                <a:spcAft>
                  <a:spcPts val="0"/>
                </a:spcAft>
                <a:buClr>
                  <a:srgbClr val="000000"/>
                </a:buClr>
                <a:buSzPts val="2058"/>
                <a:buFont typeface="Arial"/>
                <a:buNone/>
              </a:pPr>
              <a:r>
                <a:t/>
              </a:r>
              <a:endParaRPr b="0" i="0" sz="2058" u="none" cap="none" strike="noStrike">
                <a:solidFill>
                  <a:schemeClr val="dk1"/>
                </a:solidFill>
                <a:latin typeface="Calibri"/>
                <a:ea typeface="Calibri"/>
                <a:cs typeface="Calibri"/>
                <a:sym typeface="Calibri"/>
              </a:endParaRPr>
            </a:p>
          </p:txBody>
        </p:sp>
      </p:grpSp>
      <p:sp>
        <p:nvSpPr>
          <p:cNvPr id="1282" name="Google Shape;1282;p50"/>
          <p:cNvSpPr txBox="1"/>
          <p:nvPr/>
        </p:nvSpPr>
        <p:spPr>
          <a:xfrm>
            <a:off x="1567362" y="8531075"/>
            <a:ext cx="6761400" cy="1528500"/>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Clr>
                <a:srgbClr val="000000"/>
              </a:buClr>
              <a:buSzPts val="2171"/>
              <a:buFont typeface="Arial"/>
              <a:buNone/>
            </a:pPr>
            <a:r>
              <a:rPr b="0" i="0" lang="en-US" sz="2171" u="none" cap="none" strike="noStrike">
                <a:solidFill>
                  <a:srgbClr val="136447"/>
                </a:solidFill>
                <a:latin typeface="Poppins"/>
                <a:ea typeface="Poppins"/>
                <a:cs typeface="Poppins"/>
                <a:sym typeface="Poppins"/>
              </a:rPr>
              <a:t>Learning and memory, Muscle movement</a:t>
            </a:r>
            <a:endParaRPr b="0" i="0" sz="2171" u="none" cap="none" strike="noStrike">
              <a:solidFill>
                <a:srgbClr val="136447"/>
              </a:solidFill>
              <a:latin typeface="Poppins"/>
              <a:ea typeface="Poppins"/>
              <a:cs typeface="Poppins"/>
              <a:sym typeface="Poppins"/>
            </a:endParaRPr>
          </a:p>
          <a:p>
            <a:pPr indent="0" lvl="0" marL="0" marR="0" rtl="0" algn="ctr">
              <a:lnSpc>
                <a:spcPct val="120010"/>
              </a:lnSpc>
              <a:spcBef>
                <a:spcPts val="0"/>
              </a:spcBef>
              <a:spcAft>
                <a:spcPts val="0"/>
              </a:spcAft>
              <a:buClr>
                <a:schemeClr val="dk1"/>
              </a:buClr>
              <a:buSzPts val="1100"/>
              <a:buFont typeface="Arial"/>
              <a:buNone/>
            </a:pPr>
            <a:r>
              <a:rPr b="0" i="0" lang="en-US" sz="2171" u="none" cap="none" strike="noStrike">
                <a:solidFill>
                  <a:srgbClr val="0000FF"/>
                </a:solidFill>
                <a:latin typeface="Poppins"/>
                <a:ea typeface="Poppins"/>
                <a:cs typeface="Poppins"/>
                <a:sym typeface="Poppins"/>
              </a:rPr>
              <a:t>Aprendizaje y memoria, Movimiento muscular</a:t>
            </a:r>
            <a:endParaRPr b="0" i="0" sz="2171" u="none" cap="none" strike="noStrike">
              <a:solidFill>
                <a:srgbClr val="0000FF"/>
              </a:solidFill>
              <a:latin typeface="Poppins"/>
              <a:ea typeface="Poppins"/>
              <a:cs typeface="Poppins"/>
              <a:sym typeface="Poppins"/>
            </a:endParaRPr>
          </a:p>
          <a:p>
            <a:pPr indent="0" lvl="0" marL="0" marR="0" rtl="0" algn="ctr">
              <a:lnSpc>
                <a:spcPct val="120010"/>
              </a:lnSpc>
              <a:spcBef>
                <a:spcPts val="0"/>
              </a:spcBef>
              <a:spcAft>
                <a:spcPts val="0"/>
              </a:spcAft>
              <a:buClr>
                <a:srgbClr val="000000"/>
              </a:buClr>
              <a:buSzPts val="2171"/>
              <a:buFont typeface="Arial"/>
              <a:buNone/>
            </a:pPr>
            <a:r>
              <a:t/>
            </a:r>
            <a:endParaRPr b="0" i="0" sz="2171" u="none" cap="none" strike="noStrike">
              <a:solidFill>
                <a:srgbClr val="136447"/>
              </a:solidFill>
              <a:latin typeface="Poppins"/>
              <a:ea typeface="Poppins"/>
              <a:cs typeface="Poppins"/>
              <a:sym typeface="Poppins"/>
            </a:endParaRPr>
          </a:p>
          <a:p>
            <a:pPr indent="0" lvl="0" marL="0" marR="0" rtl="0" algn="ctr">
              <a:lnSpc>
                <a:spcPct val="120010"/>
              </a:lnSpc>
              <a:spcBef>
                <a:spcPts val="0"/>
              </a:spcBef>
              <a:spcAft>
                <a:spcPts val="0"/>
              </a:spcAft>
              <a:buClr>
                <a:srgbClr val="000000"/>
              </a:buClr>
              <a:buSzPts val="2115"/>
              <a:buFont typeface="Arial"/>
              <a:buNone/>
            </a:pPr>
            <a:r>
              <a:t/>
            </a:r>
            <a:endParaRPr b="0" i="0" sz="2115" u="none" cap="none" strike="noStrike">
              <a:solidFill>
                <a:srgbClr val="136447"/>
              </a:solidFill>
              <a:latin typeface="Poppins"/>
              <a:ea typeface="Poppins"/>
              <a:cs typeface="Poppins"/>
              <a:sym typeface="Poppins"/>
            </a:endParaRPr>
          </a:p>
        </p:txBody>
      </p:sp>
      <p:sp>
        <p:nvSpPr>
          <p:cNvPr id="1283" name="Google Shape;1283;p50"/>
          <p:cNvSpPr txBox="1"/>
          <p:nvPr/>
        </p:nvSpPr>
        <p:spPr>
          <a:xfrm>
            <a:off x="2078919" y="7904079"/>
            <a:ext cx="5738400" cy="334200"/>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Clr>
                <a:srgbClr val="000000"/>
              </a:buClr>
              <a:buSzPts val="2171"/>
              <a:buFont typeface="Arial"/>
              <a:buNone/>
            </a:pPr>
            <a:r>
              <a:rPr b="1" i="0" lang="en-US" sz="2171" u="none" cap="none" strike="noStrike">
                <a:solidFill>
                  <a:srgbClr val="136447"/>
                </a:solidFill>
                <a:latin typeface="Poppins"/>
                <a:ea typeface="Poppins"/>
                <a:cs typeface="Poppins"/>
                <a:sym typeface="Poppins"/>
              </a:rPr>
              <a:t>Acetylcholine (ACh) | </a:t>
            </a:r>
            <a:r>
              <a:rPr b="1" i="0" lang="en-US" sz="2171" u="none" cap="none" strike="noStrike">
                <a:solidFill>
                  <a:srgbClr val="0000FF"/>
                </a:solidFill>
                <a:latin typeface="Poppins"/>
                <a:ea typeface="Poppins"/>
                <a:cs typeface="Poppins"/>
                <a:sym typeface="Poppins"/>
              </a:rPr>
              <a:t>Acetilcolina</a:t>
            </a:r>
            <a:endParaRPr b="0" i="0" sz="1600" u="none" cap="none" strike="noStrike">
              <a:solidFill>
                <a:srgbClr val="0000FF"/>
              </a:solidFill>
              <a:latin typeface="Arial"/>
              <a:ea typeface="Arial"/>
              <a:cs typeface="Arial"/>
              <a:sym typeface="Arial"/>
            </a:endParaRPr>
          </a:p>
        </p:txBody>
      </p:sp>
      <p:grpSp>
        <p:nvGrpSpPr>
          <p:cNvPr id="1284" name="Google Shape;1284;p50"/>
          <p:cNvGrpSpPr/>
          <p:nvPr/>
        </p:nvGrpSpPr>
        <p:grpSpPr>
          <a:xfrm>
            <a:off x="1056938" y="5454327"/>
            <a:ext cx="7782233" cy="1964001"/>
            <a:chOff x="0" y="-57150"/>
            <a:chExt cx="1793100" cy="390000"/>
          </a:xfrm>
        </p:grpSpPr>
        <p:sp>
          <p:nvSpPr>
            <p:cNvPr id="1285" name="Google Shape;1285;p50"/>
            <p:cNvSpPr/>
            <p:nvPr/>
          </p:nvSpPr>
          <p:spPr>
            <a:xfrm>
              <a:off x="0" y="0"/>
              <a:ext cx="1792967" cy="332724"/>
            </a:xfrm>
            <a:custGeom>
              <a:rect b="b" l="l" r="r" t="t"/>
              <a:pathLst>
                <a:path extrusionOk="0" h="332724" w="1792967">
                  <a:moveTo>
                    <a:pt x="22745" y="0"/>
                  </a:moveTo>
                  <a:lnTo>
                    <a:pt x="1770222" y="0"/>
                  </a:lnTo>
                  <a:cubicBezTo>
                    <a:pt x="1782784" y="0"/>
                    <a:pt x="1792967" y="10183"/>
                    <a:pt x="1792967" y="22745"/>
                  </a:cubicBezTo>
                  <a:lnTo>
                    <a:pt x="1792967" y="309979"/>
                  </a:lnTo>
                  <a:cubicBezTo>
                    <a:pt x="1792967" y="316012"/>
                    <a:pt x="1790571" y="321797"/>
                    <a:pt x="1786305" y="326062"/>
                  </a:cubicBezTo>
                  <a:cubicBezTo>
                    <a:pt x="1782040" y="330328"/>
                    <a:pt x="1776255" y="332724"/>
                    <a:pt x="1770222" y="332724"/>
                  </a:cubicBezTo>
                  <a:lnTo>
                    <a:pt x="22745" y="332724"/>
                  </a:lnTo>
                  <a:cubicBezTo>
                    <a:pt x="10183" y="332724"/>
                    <a:pt x="0" y="322541"/>
                    <a:pt x="0" y="309979"/>
                  </a:cubicBezTo>
                  <a:lnTo>
                    <a:pt x="0" y="22745"/>
                  </a:lnTo>
                  <a:cubicBezTo>
                    <a:pt x="0" y="16712"/>
                    <a:pt x="2396" y="10927"/>
                    <a:pt x="6662" y="6662"/>
                  </a:cubicBezTo>
                  <a:cubicBezTo>
                    <a:pt x="10927" y="2396"/>
                    <a:pt x="16712" y="0"/>
                    <a:pt x="22745" y="0"/>
                  </a:cubicBezTo>
                  <a:close/>
                </a:path>
              </a:pathLst>
            </a:custGeom>
            <a:solidFill>
              <a:srgbClr val="D9EAD3"/>
            </a:solidFill>
            <a:ln>
              <a:noFill/>
            </a:ln>
          </p:spPr>
          <p:txBody>
            <a:bodyPr anchorCtr="0" anchor="ctr" bIns="104500" lIns="104500" spcFirstLastPara="1" rIns="104500" wrap="square" tIns="1045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6" name="Google Shape;1286;p50"/>
            <p:cNvSpPr txBox="1"/>
            <p:nvPr/>
          </p:nvSpPr>
          <p:spPr>
            <a:xfrm>
              <a:off x="0" y="-57150"/>
              <a:ext cx="1793100" cy="390000"/>
            </a:xfrm>
            <a:prstGeom prst="rect">
              <a:avLst/>
            </a:prstGeom>
            <a:solidFill>
              <a:srgbClr val="D9EAD3"/>
            </a:solidFill>
            <a:ln>
              <a:noFill/>
            </a:ln>
          </p:spPr>
          <p:txBody>
            <a:bodyPr anchorCtr="0" anchor="ctr" bIns="58075" lIns="58075" spcFirstLastPara="1" rIns="58075" wrap="square" tIns="58075">
              <a:noAutofit/>
            </a:bodyPr>
            <a:lstStyle/>
            <a:p>
              <a:pPr indent="0" lvl="0" marL="0" marR="0" rtl="0" algn="ctr">
                <a:lnSpc>
                  <a:spcPct val="147722"/>
                </a:lnSpc>
                <a:spcBef>
                  <a:spcPts val="0"/>
                </a:spcBef>
                <a:spcAft>
                  <a:spcPts val="0"/>
                </a:spcAft>
                <a:buClr>
                  <a:srgbClr val="000000"/>
                </a:buClr>
                <a:buSzPts val="2058"/>
                <a:buFont typeface="Arial"/>
                <a:buNone/>
              </a:pPr>
              <a:r>
                <a:t/>
              </a:r>
              <a:endParaRPr b="0" i="0" sz="2058" u="none" cap="none" strike="noStrike">
                <a:solidFill>
                  <a:schemeClr val="dk1"/>
                </a:solidFill>
                <a:latin typeface="Calibri"/>
                <a:ea typeface="Calibri"/>
                <a:cs typeface="Calibri"/>
                <a:sym typeface="Calibri"/>
              </a:endParaRPr>
            </a:p>
          </p:txBody>
        </p:sp>
      </p:grpSp>
      <p:sp>
        <p:nvSpPr>
          <p:cNvPr id="1287" name="Google Shape;1287;p50"/>
          <p:cNvSpPr txBox="1"/>
          <p:nvPr/>
        </p:nvSpPr>
        <p:spPr>
          <a:xfrm>
            <a:off x="2781283" y="5553796"/>
            <a:ext cx="4333800" cy="334200"/>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Clr>
                <a:srgbClr val="000000"/>
              </a:buClr>
              <a:buSzPts val="2171"/>
              <a:buFont typeface="Arial"/>
              <a:buNone/>
            </a:pPr>
            <a:r>
              <a:rPr b="1" i="0" lang="en-US" sz="2171" u="none" cap="none" strike="noStrike">
                <a:solidFill>
                  <a:srgbClr val="136447"/>
                </a:solidFill>
                <a:latin typeface="Poppins"/>
                <a:ea typeface="Poppins"/>
                <a:cs typeface="Poppins"/>
                <a:sym typeface="Poppins"/>
              </a:rPr>
              <a:t>Serotonin | </a:t>
            </a:r>
            <a:r>
              <a:rPr b="1" i="0" lang="en-US" sz="2171" u="none" cap="none" strike="noStrike">
                <a:solidFill>
                  <a:srgbClr val="0000FF"/>
                </a:solidFill>
                <a:latin typeface="Poppins"/>
                <a:ea typeface="Poppins"/>
                <a:cs typeface="Poppins"/>
                <a:sym typeface="Poppins"/>
              </a:rPr>
              <a:t>Serotonina</a:t>
            </a:r>
            <a:endParaRPr b="0" i="0" sz="1600" u="none" cap="none" strike="noStrike">
              <a:solidFill>
                <a:srgbClr val="0000FF"/>
              </a:solidFill>
              <a:latin typeface="Arial"/>
              <a:ea typeface="Arial"/>
              <a:cs typeface="Arial"/>
              <a:sym typeface="Arial"/>
            </a:endParaRPr>
          </a:p>
        </p:txBody>
      </p:sp>
      <p:sp>
        <p:nvSpPr>
          <p:cNvPr id="1288" name="Google Shape;1288;p50"/>
          <p:cNvSpPr txBox="1"/>
          <p:nvPr/>
        </p:nvSpPr>
        <p:spPr>
          <a:xfrm>
            <a:off x="1056925" y="5971773"/>
            <a:ext cx="7782300" cy="1639500"/>
          </a:xfrm>
          <a:prstGeom prst="rect">
            <a:avLst/>
          </a:prstGeom>
          <a:solidFill>
            <a:srgbClr val="D9EAD3"/>
          </a:solid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Clr>
                <a:srgbClr val="000000"/>
              </a:buClr>
              <a:buSzPts val="1870"/>
              <a:buFont typeface="Arial"/>
              <a:buNone/>
            </a:pPr>
            <a:r>
              <a:rPr b="0" i="0" lang="en-US" sz="1871" u="none" cap="none" strike="noStrike">
                <a:solidFill>
                  <a:srgbClr val="136447"/>
                </a:solidFill>
                <a:latin typeface="Poppins"/>
                <a:ea typeface="Poppins"/>
                <a:cs typeface="Poppins"/>
                <a:sym typeface="Poppins"/>
              </a:rPr>
              <a:t>Mood, sleep, appetite, emotional stability, Low levels associated with depression</a:t>
            </a:r>
            <a:endParaRPr b="0" i="0" sz="1871" u="none" cap="none" strike="noStrike">
              <a:solidFill>
                <a:srgbClr val="136447"/>
              </a:solidFill>
              <a:latin typeface="Poppins"/>
              <a:ea typeface="Poppins"/>
              <a:cs typeface="Poppins"/>
              <a:sym typeface="Poppins"/>
            </a:endParaRPr>
          </a:p>
          <a:p>
            <a:pPr indent="0" lvl="0" marL="0" marR="0" rtl="0" algn="ctr">
              <a:lnSpc>
                <a:spcPct val="120010"/>
              </a:lnSpc>
              <a:spcBef>
                <a:spcPts val="0"/>
              </a:spcBef>
              <a:spcAft>
                <a:spcPts val="0"/>
              </a:spcAft>
              <a:buClr>
                <a:schemeClr val="dk1"/>
              </a:buClr>
              <a:buSzPts val="1100"/>
              <a:buFont typeface="Arial"/>
              <a:buNone/>
            </a:pPr>
            <a:r>
              <a:rPr b="0" i="0" lang="en-US" sz="1871" u="none" cap="none" strike="noStrike">
                <a:solidFill>
                  <a:srgbClr val="0000FF"/>
                </a:solidFill>
                <a:latin typeface="Poppins"/>
                <a:ea typeface="Poppins"/>
                <a:cs typeface="Poppins"/>
                <a:sym typeface="Poppins"/>
              </a:rPr>
              <a:t>Estado de ánimo, sueño, apetito, estabilidad emocional, Los niveles bajos se asocian con la depresión</a:t>
            </a:r>
            <a:endParaRPr b="0" i="0" sz="1871" u="none" cap="none" strike="noStrike">
              <a:solidFill>
                <a:srgbClr val="0000FF"/>
              </a:solidFill>
              <a:latin typeface="Poppins"/>
              <a:ea typeface="Poppins"/>
              <a:cs typeface="Poppins"/>
              <a:sym typeface="Poppins"/>
            </a:endParaRPr>
          </a:p>
          <a:p>
            <a:pPr indent="0" lvl="0" marL="0" marR="0" rtl="0" algn="ctr">
              <a:lnSpc>
                <a:spcPct val="120010"/>
              </a:lnSpc>
              <a:spcBef>
                <a:spcPts val="0"/>
              </a:spcBef>
              <a:spcAft>
                <a:spcPts val="0"/>
              </a:spcAft>
              <a:buClr>
                <a:srgbClr val="000000"/>
              </a:buClr>
              <a:buSzPts val="1671"/>
              <a:buFont typeface="Arial"/>
              <a:buNone/>
            </a:pPr>
            <a:r>
              <a:t/>
            </a:r>
            <a:endParaRPr b="0" i="0" sz="1671" u="none" cap="none" strike="noStrike">
              <a:solidFill>
                <a:srgbClr val="136447"/>
              </a:solidFill>
              <a:latin typeface="Poppins"/>
              <a:ea typeface="Poppins"/>
              <a:cs typeface="Poppins"/>
              <a:sym typeface="Poppins"/>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292" name="Shape 1292"/>
        <p:cNvGrpSpPr/>
        <p:nvPr/>
      </p:nvGrpSpPr>
      <p:grpSpPr>
        <a:xfrm>
          <a:off x="0" y="0"/>
          <a:ext cx="0" cy="0"/>
          <a:chOff x="0" y="0"/>
          <a:chExt cx="0" cy="0"/>
        </a:xfrm>
      </p:grpSpPr>
      <p:cxnSp>
        <p:nvCxnSpPr>
          <p:cNvPr id="1293" name="Google Shape;1293;p51"/>
          <p:cNvCxnSpPr/>
          <p:nvPr/>
        </p:nvCxnSpPr>
        <p:spPr>
          <a:xfrm flipH="1" rot="10800000">
            <a:off x="1184334" y="2718889"/>
            <a:ext cx="8115300" cy="18900"/>
          </a:xfrm>
          <a:prstGeom prst="straightConnector1">
            <a:avLst/>
          </a:prstGeom>
          <a:noFill/>
          <a:ln cap="rnd" cmpd="sng" w="28575">
            <a:solidFill>
              <a:srgbClr val="136447"/>
            </a:solidFill>
            <a:prstDash val="solid"/>
            <a:round/>
            <a:headEnd len="sm" w="sm" type="none"/>
            <a:tailEnd len="sm" w="sm" type="none"/>
          </a:ln>
        </p:spPr>
      </p:cxnSp>
      <p:sp>
        <p:nvSpPr>
          <p:cNvPr id="1294" name="Google Shape;1294;p51"/>
          <p:cNvSpPr txBox="1"/>
          <p:nvPr/>
        </p:nvSpPr>
        <p:spPr>
          <a:xfrm>
            <a:off x="469650" y="319700"/>
            <a:ext cx="17348700" cy="2056200"/>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Clr>
                <a:srgbClr val="000000"/>
              </a:buClr>
              <a:buSzPts val="5808"/>
              <a:buFont typeface="Arial"/>
              <a:buNone/>
            </a:pPr>
            <a:r>
              <a:rPr b="1" i="0" lang="en-US" sz="5808" u="none" cap="none" strike="noStrike">
                <a:solidFill>
                  <a:srgbClr val="136447"/>
                </a:solidFill>
                <a:latin typeface="Poppins"/>
                <a:ea typeface="Poppins"/>
                <a:cs typeface="Poppins"/>
                <a:sym typeface="Poppins"/>
              </a:rPr>
              <a:t>Understanding Hormones</a:t>
            </a:r>
            <a:endParaRPr b="1" i="0" sz="5808" u="none" cap="none" strike="noStrike">
              <a:solidFill>
                <a:srgbClr val="136447"/>
              </a:solidFill>
              <a:latin typeface="Poppins"/>
              <a:ea typeface="Poppins"/>
              <a:cs typeface="Poppins"/>
              <a:sym typeface="Poppins"/>
            </a:endParaRPr>
          </a:p>
          <a:p>
            <a:pPr indent="0" lvl="0" marL="0" marR="0" rtl="0" algn="l">
              <a:lnSpc>
                <a:spcPct val="130009"/>
              </a:lnSpc>
              <a:spcBef>
                <a:spcPts val="0"/>
              </a:spcBef>
              <a:spcAft>
                <a:spcPts val="0"/>
              </a:spcAft>
              <a:buClr>
                <a:srgbClr val="000000"/>
              </a:buClr>
              <a:buSzPts val="5808"/>
              <a:buFont typeface="Arial"/>
              <a:buNone/>
            </a:pPr>
            <a:r>
              <a:rPr b="1" i="0" lang="en-US" sz="5808" u="none" cap="none" strike="noStrike">
                <a:solidFill>
                  <a:srgbClr val="0000FF"/>
                </a:solidFill>
                <a:latin typeface="Poppins"/>
                <a:ea typeface="Poppins"/>
                <a:cs typeface="Poppins"/>
                <a:sym typeface="Poppins"/>
              </a:rPr>
              <a:t>Comprender las hormonas</a:t>
            </a:r>
            <a:endParaRPr b="1" i="0" sz="5808" u="none" cap="none" strike="noStrike">
              <a:solidFill>
                <a:srgbClr val="0000FF"/>
              </a:solidFill>
              <a:latin typeface="Poppins"/>
              <a:ea typeface="Poppins"/>
              <a:cs typeface="Poppins"/>
              <a:sym typeface="Poppins"/>
            </a:endParaRPr>
          </a:p>
        </p:txBody>
      </p:sp>
      <p:sp>
        <p:nvSpPr>
          <p:cNvPr id="1295" name="Google Shape;1295;p51"/>
          <p:cNvSpPr txBox="1"/>
          <p:nvPr/>
        </p:nvSpPr>
        <p:spPr>
          <a:xfrm>
            <a:off x="1052775" y="3428988"/>
            <a:ext cx="15519900" cy="59985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700"/>
              <a:buFont typeface="Arial"/>
              <a:buNone/>
            </a:pPr>
            <a:r>
              <a:rPr b="1" i="0" lang="en-US" sz="3700" u="none" cap="none" strike="noStrike">
                <a:solidFill>
                  <a:srgbClr val="2D2F3B"/>
                </a:solidFill>
                <a:latin typeface="Poppins Medium"/>
                <a:ea typeface="Poppins Medium"/>
                <a:cs typeface="Poppins Medium"/>
                <a:sym typeface="Poppins Medium"/>
              </a:rPr>
              <a:t>What are they? | </a:t>
            </a:r>
            <a:r>
              <a:rPr b="1" i="0" lang="en-US" sz="3700" u="none" cap="none" strike="noStrike">
                <a:solidFill>
                  <a:srgbClr val="0000FF"/>
                </a:solidFill>
                <a:latin typeface="Poppins Medium"/>
                <a:ea typeface="Poppins Medium"/>
                <a:cs typeface="Poppins Medium"/>
                <a:sym typeface="Poppins Medium"/>
              </a:rPr>
              <a:t>¿Qué son?</a:t>
            </a:r>
            <a:endParaRPr b="1" i="0" sz="37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900"/>
              <a:buFont typeface="Arial"/>
              <a:buNone/>
            </a:pPr>
            <a:r>
              <a:t/>
            </a:r>
            <a:endParaRPr b="1" i="0" sz="29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900"/>
              <a:buFont typeface="Arial"/>
              <a:buNone/>
            </a:pPr>
            <a:r>
              <a:rPr b="1" i="0" lang="en-US" sz="2900" u="none" cap="none" strike="noStrike">
                <a:solidFill>
                  <a:srgbClr val="2D2F3B"/>
                </a:solidFill>
                <a:latin typeface="Poppins Medium"/>
                <a:ea typeface="Poppins Medium"/>
                <a:cs typeface="Poppins Medium"/>
                <a:sym typeface="Poppins Medium"/>
              </a:rPr>
              <a:t>Chemical messengers that are released by glands in the endocrine system into the bloodstream.</a:t>
            </a:r>
            <a:endParaRPr b="1" i="0" sz="29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900"/>
              <a:buFont typeface="Arial"/>
              <a:buNone/>
            </a:pPr>
            <a:r>
              <a:rPr b="1" i="0" lang="en-US" sz="2900" u="none" cap="none" strike="noStrike">
                <a:solidFill>
                  <a:srgbClr val="2D2F3B"/>
                </a:solidFill>
                <a:latin typeface="Poppins Medium"/>
                <a:ea typeface="Poppins Medium"/>
                <a:cs typeface="Poppins Medium"/>
                <a:sym typeface="Poppins Medium"/>
              </a:rPr>
              <a:t>Influence mood, growth, metabolism, stress, reproduction, and more</a:t>
            </a:r>
            <a:endParaRPr b="1" i="0" sz="29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900"/>
              <a:buFont typeface="Arial"/>
              <a:buNone/>
            </a:pPr>
            <a:r>
              <a:t/>
            </a:r>
            <a:endParaRPr b="1" i="0" sz="29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chemeClr val="dk1"/>
              </a:buClr>
              <a:buSzPts val="1100"/>
              <a:buFont typeface="Arial"/>
              <a:buNone/>
            </a:pPr>
            <a:r>
              <a:rPr b="1" i="0" lang="en-US" sz="2900" u="none" cap="none" strike="noStrike">
                <a:solidFill>
                  <a:srgbClr val="0000FF"/>
                </a:solidFill>
                <a:latin typeface="Poppins Medium"/>
                <a:ea typeface="Poppins Medium"/>
                <a:cs typeface="Poppins Medium"/>
                <a:sym typeface="Poppins Medium"/>
              </a:rPr>
              <a:t>Son mensajeros químicos liberados por las glándulas del sistema endocrino al torrente sanguíneo.</a:t>
            </a:r>
            <a:endParaRPr b="1" i="0" sz="29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chemeClr val="dk1"/>
              </a:buClr>
              <a:buSzPts val="1100"/>
              <a:buFont typeface="Arial"/>
              <a:buNone/>
            </a:pPr>
            <a:r>
              <a:rPr b="1" i="0" lang="en-US" sz="2900" u="none" cap="none" strike="noStrike">
                <a:solidFill>
                  <a:srgbClr val="0000FF"/>
                </a:solidFill>
                <a:latin typeface="Poppins Medium"/>
                <a:ea typeface="Poppins Medium"/>
                <a:cs typeface="Poppins Medium"/>
                <a:sym typeface="Poppins Medium"/>
              </a:rPr>
              <a:t>Influyen en el estado de ánimo, el crecimiento, el metabolismo, el estrés, la reproducción y mucho más.</a:t>
            </a:r>
            <a:endParaRPr b="1" i="0" sz="29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900"/>
              <a:buFont typeface="Arial"/>
              <a:buNone/>
            </a:pPr>
            <a:r>
              <a:t/>
            </a:r>
            <a:endParaRPr b="1" i="0" sz="29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2D2F3B"/>
              </a:solidFill>
              <a:latin typeface="Poppins Medium"/>
              <a:ea typeface="Poppins Medium"/>
              <a:cs typeface="Poppins Medium"/>
              <a:sym typeface="Poppins Medium"/>
            </a:endParaRPr>
          </a:p>
        </p:txBody>
      </p:sp>
      <p:pic>
        <p:nvPicPr>
          <p:cNvPr id="1296" name="Google Shape;1296;p51" title="Screenshot 2025-11-19 at 3.57.16 PM.png"/>
          <p:cNvPicPr preferRelativeResize="0"/>
          <p:nvPr/>
        </p:nvPicPr>
        <p:blipFill rotWithShape="1">
          <a:blip r:embed="rId3">
            <a:alphaModFix/>
          </a:blip>
          <a:srcRect b="0" l="0" r="0" t="0"/>
          <a:stretch/>
        </p:blipFill>
        <p:spPr>
          <a:xfrm>
            <a:off x="11038975" y="447275"/>
            <a:ext cx="6930374" cy="3590726"/>
          </a:xfrm>
          <a:prstGeom prst="rect">
            <a:avLst/>
          </a:prstGeom>
          <a:noFill/>
          <a:ln>
            <a:noFill/>
          </a:ln>
        </p:spPr>
      </p:pic>
      <p:pic>
        <p:nvPicPr>
          <p:cNvPr id="1297" name="Google Shape;1297;p51" title="Screenshot 2025-11-19 at 3.57.32 PM.png"/>
          <p:cNvPicPr preferRelativeResize="0"/>
          <p:nvPr/>
        </p:nvPicPr>
        <p:blipFill rotWithShape="1">
          <a:blip r:embed="rId4">
            <a:alphaModFix/>
          </a:blip>
          <a:srcRect b="0" l="0" r="0" t="0"/>
          <a:stretch/>
        </p:blipFill>
        <p:spPr>
          <a:xfrm>
            <a:off x="16882950" y="3637900"/>
            <a:ext cx="1086400" cy="400100"/>
          </a:xfrm>
          <a:prstGeom prst="rect">
            <a:avLst/>
          </a:prstGeom>
          <a:noFill/>
          <a:ln>
            <a:noFill/>
          </a:ln>
        </p:spPr>
      </p:pic>
      <p:pic>
        <p:nvPicPr>
          <p:cNvPr id="1298" name="Google Shape;1298;p51" title="Screenshot 2025-11-19 at 3.57.32 PM.png"/>
          <p:cNvPicPr preferRelativeResize="0"/>
          <p:nvPr/>
        </p:nvPicPr>
        <p:blipFill rotWithShape="1">
          <a:blip r:embed="rId4">
            <a:alphaModFix/>
          </a:blip>
          <a:srcRect b="0" l="0" r="0" t="0"/>
          <a:stretch/>
        </p:blipFill>
        <p:spPr>
          <a:xfrm>
            <a:off x="11038975" y="3429000"/>
            <a:ext cx="466625" cy="609000"/>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302" name="Shape 1302"/>
        <p:cNvGrpSpPr/>
        <p:nvPr/>
      </p:nvGrpSpPr>
      <p:grpSpPr>
        <a:xfrm>
          <a:off x="0" y="0"/>
          <a:ext cx="0" cy="0"/>
          <a:chOff x="0" y="0"/>
          <a:chExt cx="0" cy="0"/>
        </a:xfrm>
      </p:grpSpPr>
      <p:grpSp>
        <p:nvGrpSpPr>
          <p:cNvPr id="1303" name="Google Shape;1303;p52"/>
          <p:cNvGrpSpPr/>
          <p:nvPr/>
        </p:nvGrpSpPr>
        <p:grpSpPr>
          <a:xfrm>
            <a:off x="9495597" y="7102377"/>
            <a:ext cx="8026274" cy="2271945"/>
            <a:chOff x="0" y="-57150"/>
            <a:chExt cx="1793100" cy="390000"/>
          </a:xfrm>
        </p:grpSpPr>
        <p:sp>
          <p:nvSpPr>
            <p:cNvPr id="1304" name="Google Shape;1304;p52"/>
            <p:cNvSpPr/>
            <p:nvPr/>
          </p:nvSpPr>
          <p:spPr>
            <a:xfrm>
              <a:off x="0" y="0"/>
              <a:ext cx="1792967" cy="332724"/>
            </a:xfrm>
            <a:custGeom>
              <a:rect b="b" l="l" r="r" t="t"/>
              <a:pathLst>
                <a:path extrusionOk="0" h="332724" w="1792967">
                  <a:moveTo>
                    <a:pt x="22745" y="0"/>
                  </a:moveTo>
                  <a:lnTo>
                    <a:pt x="1770222" y="0"/>
                  </a:lnTo>
                  <a:cubicBezTo>
                    <a:pt x="1782784" y="0"/>
                    <a:pt x="1792967" y="10183"/>
                    <a:pt x="1792967" y="22745"/>
                  </a:cubicBezTo>
                  <a:lnTo>
                    <a:pt x="1792967" y="309979"/>
                  </a:lnTo>
                  <a:cubicBezTo>
                    <a:pt x="1792967" y="316012"/>
                    <a:pt x="1790571" y="321797"/>
                    <a:pt x="1786305" y="326062"/>
                  </a:cubicBezTo>
                  <a:cubicBezTo>
                    <a:pt x="1782040" y="330328"/>
                    <a:pt x="1776255" y="332724"/>
                    <a:pt x="1770222" y="332724"/>
                  </a:cubicBezTo>
                  <a:lnTo>
                    <a:pt x="22745" y="332724"/>
                  </a:lnTo>
                  <a:cubicBezTo>
                    <a:pt x="10183" y="332724"/>
                    <a:pt x="0" y="322541"/>
                    <a:pt x="0" y="309979"/>
                  </a:cubicBezTo>
                  <a:lnTo>
                    <a:pt x="0" y="22745"/>
                  </a:lnTo>
                  <a:cubicBezTo>
                    <a:pt x="0" y="16712"/>
                    <a:pt x="2396" y="10927"/>
                    <a:pt x="6662" y="6662"/>
                  </a:cubicBezTo>
                  <a:cubicBezTo>
                    <a:pt x="10927" y="2396"/>
                    <a:pt x="16712" y="0"/>
                    <a:pt x="22745" y="0"/>
                  </a:cubicBezTo>
                  <a:close/>
                </a:path>
              </a:pathLst>
            </a:custGeom>
            <a:solidFill>
              <a:srgbClr val="C9DAF8"/>
            </a:solidFill>
            <a:ln>
              <a:noFill/>
            </a:ln>
          </p:spPr>
          <p:txBody>
            <a:bodyPr anchorCtr="0" anchor="ctr" bIns="107775" lIns="107775" spcFirstLastPara="1" rIns="107775" wrap="square" tIns="1077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5" name="Google Shape;1305;p52"/>
            <p:cNvSpPr txBox="1"/>
            <p:nvPr/>
          </p:nvSpPr>
          <p:spPr>
            <a:xfrm>
              <a:off x="0" y="-57150"/>
              <a:ext cx="1793100" cy="390000"/>
            </a:xfrm>
            <a:prstGeom prst="rect">
              <a:avLst/>
            </a:prstGeom>
            <a:solidFill>
              <a:srgbClr val="C9DAF8"/>
            </a:solidFill>
            <a:ln>
              <a:noFill/>
            </a:ln>
          </p:spPr>
          <p:txBody>
            <a:bodyPr anchorCtr="0" anchor="ctr" bIns="59900" lIns="59900" spcFirstLastPara="1" rIns="59900" wrap="square" tIns="59900">
              <a:noAutofit/>
            </a:bodyPr>
            <a:lstStyle/>
            <a:p>
              <a:pPr indent="0" lvl="0" marL="0" marR="0" rtl="0" algn="ctr">
                <a:lnSpc>
                  <a:spcPct val="147722"/>
                </a:lnSpc>
                <a:spcBef>
                  <a:spcPts val="0"/>
                </a:spcBef>
                <a:spcAft>
                  <a:spcPts val="0"/>
                </a:spcAft>
                <a:buClr>
                  <a:srgbClr val="000000"/>
                </a:buClr>
                <a:buSzPts val="2122"/>
                <a:buFont typeface="Arial"/>
                <a:buNone/>
              </a:pPr>
              <a:r>
                <a:t/>
              </a:r>
              <a:endParaRPr b="0" i="0" sz="2122" u="none" cap="none" strike="noStrike">
                <a:solidFill>
                  <a:schemeClr val="dk1"/>
                </a:solidFill>
                <a:latin typeface="Calibri"/>
                <a:ea typeface="Calibri"/>
                <a:cs typeface="Calibri"/>
                <a:sym typeface="Calibri"/>
              </a:endParaRPr>
            </a:p>
          </p:txBody>
        </p:sp>
      </p:grpSp>
      <p:grpSp>
        <p:nvGrpSpPr>
          <p:cNvPr id="1306" name="Google Shape;1306;p52"/>
          <p:cNvGrpSpPr/>
          <p:nvPr/>
        </p:nvGrpSpPr>
        <p:grpSpPr>
          <a:xfrm>
            <a:off x="766025" y="3118526"/>
            <a:ext cx="8026274" cy="2056197"/>
            <a:chOff x="0" y="-57150"/>
            <a:chExt cx="1793100" cy="390000"/>
          </a:xfrm>
        </p:grpSpPr>
        <p:sp>
          <p:nvSpPr>
            <p:cNvPr id="1307" name="Google Shape;1307;p52"/>
            <p:cNvSpPr/>
            <p:nvPr/>
          </p:nvSpPr>
          <p:spPr>
            <a:xfrm>
              <a:off x="0" y="0"/>
              <a:ext cx="1792967" cy="332724"/>
            </a:xfrm>
            <a:custGeom>
              <a:rect b="b" l="l" r="r" t="t"/>
              <a:pathLst>
                <a:path extrusionOk="0" h="332724" w="1792967">
                  <a:moveTo>
                    <a:pt x="22745" y="0"/>
                  </a:moveTo>
                  <a:lnTo>
                    <a:pt x="1770222" y="0"/>
                  </a:lnTo>
                  <a:cubicBezTo>
                    <a:pt x="1782784" y="0"/>
                    <a:pt x="1792967" y="10183"/>
                    <a:pt x="1792967" y="22745"/>
                  </a:cubicBezTo>
                  <a:lnTo>
                    <a:pt x="1792967" y="309979"/>
                  </a:lnTo>
                  <a:cubicBezTo>
                    <a:pt x="1792967" y="316012"/>
                    <a:pt x="1790571" y="321797"/>
                    <a:pt x="1786305" y="326062"/>
                  </a:cubicBezTo>
                  <a:cubicBezTo>
                    <a:pt x="1782040" y="330328"/>
                    <a:pt x="1776255" y="332724"/>
                    <a:pt x="1770222" y="332724"/>
                  </a:cubicBezTo>
                  <a:lnTo>
                    <a:pt x="22745" y="332724"/>
                  </a:lnTo>
                  <a:cubicBezTo>
                    <a:pt x="10183" y="332724"/>
                    <a:pt x="0" y="322541"/>
                    <a:pt x="0" y="309979"/>
                  </a:cubicBezTo>
                  <a:lnTo>
                    <a:pt x="0" y="22745"/>
                  </a:lnTo>
                  <a:cubicBezTo>
                    <a:pt x="0" y="16712"/>
                    <a:pt x="2396" y="10927"/>
                    <a:pt x="6662" y="6662"/>
                  </a:cubicBezTo>
                  <a:cubicBezTo>
                    <a:pt x="10927" y="2396"/>
                    <a:pt x="16712" y="0"/>
                    <a:pt x="22745" y="0"/>
                  </a:cubicBezTo>
                  <a:close/>
                </a:path>
              </a:pathLst>
            </a:custGeom>
            <a:solidFill>
              <a:srgbClr val="D9D2E9"/>
            </a:solidFill>
            <a:ln>
              <a:noFill/>
            </a:ln>
          </p:spPr>
          <p:txBody>
            <a:bodyPr anchorCtr="0" anchor="ctr" bIns="107775" lIns="107775" spcFirstLastPara="1" rIns="107775" wrap="square" tIns="1077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8" name="Google Shape;1308;p52"/>
            <p:cNvSpPr txBox="1"/>
            <p:nvPr/>
          </p:nvSpPr>
          <p:spPr>
            <a:xfrm>
              <a:off x="0" y="-57150"/>
              <a:ext cx="1793100" cy="390000"/>
            </a:xfrm>
            <a:prstGeom prst="rect">
              <a:avLst/>
            </a:prstGeom>
            <a:solidFill>
              <a:srgbClr val="D9D2E9"/>
            </a:solidFill>
            <a:ln>
              <a:noFill/>
            </a:ln>
          </p:spPr>
          <p:txBody>
            <a:bodyPr anchorCtr="0" anchor="ctr" bIns="59900" lIns="59900" spcFirstLastPara="1" rIns="59900" wrap="square" tIns="59900">
              <a:noAutofit/>
            </a:bodyPr>
            <a:lstStyle/>
            <a:p>
              <a:pPr indent="0" lvl="0" marL="0" marR="0" rtl="0" algn="ctr">
                <a:lnSpc>
                  <a:spcPct val="147722"/>
                </a:lnSpc>
                <a:spcBef>
                  <a:spcPts val="0"/>
                </a:spcBef>
                <a:spcAft>
                  <a:spcPts val="0"/>
                </a:spcAft>
                <a:buClr>
                  <a:srgbClr val="000000"/>
                </a:buClr>
                <a:buSzPts val="2122"/>
                <a:buFont typeface="Arial"/>
                <a:buNone/>
              </a:pPr>
              <a:r>
                <a:t/>
              </a:r>
              <a:endParaRPr b="0" i="0" sz="2122" u="none" cap="none" strike="noStrike">
                <a:solidFill>
                  <a:schemeClr val="dk1"/>
                </a:solidFill>
                <a:latin typeface="Calibri"/>
                <a:ea typeface="Calibri"/>
                <a:cs typeface="Calibri"/>
                <a:sym typeface="Calibri"/>
              </a:endParaRPr>
            </a:p>
          </p:txBody>
        </p:sp>
      </p:grpSp>
      <p:grpSp>
        <p:nvGrpSpPr>
          <p:cNvPr id="1309" name="Google Shape;1309;p52"/>
          <p:cNvGrpSpPr/>
          <p:nvPr/>
        </p:nvGrpSpPr>
        <p:grpSpPr>
          <a:xfrm>
            <a:off x="765938" y="5323851"/>
            <a:ext cx="8026274" cy="2056197"/>
            <a:chOff x="0" y="-57150"/>
            <a:chExt cx="1793100" cy="390000"/>
          </a:xfrm>
        </p:grpSpPr>
        <p:sp>
          <p:nvSpPr>
            <p:cNvPr id="1310" name="Google Shape;1310;p52"/>
            <p:cNvSpPr/>
            <p:nvPr/>
          </p:nvSpPr>
          <p:spPr>
            <a:xfrm>
              <a:off x="0" y="0"/>
              <a:ext cx="1792967" cy="332724"/>
            </a:xfrm>
            <a:custGeom>
              <a:rect b="b" l="l" r="r" t="t"/>
              <a:pathLst>
                <a:path extrusionOk="0" h="332724" w="1792967">
                  <a:moveTo>
                    <a:pt x="22745" y="0"/>
                  </a:moveTo>
                  <a:lnTo>
                    <a:pt x="1770222" y="0"/>
                  </a:lnTo>
                  <a:cubicBezTo>
                    <a:pt x="1782784" y="0"/>
                    <a:pt x="1792967" y="10183"/>
                    <a:pt x="1792967" y="22745"/>
                  </a:cubicBezTo>
                  <a:lnTo>
                    <a:pt x="1792967" y="309979"/>
                  </a:lnTo>
                  <a:cubicBezTo>
                    <a:pt x="1792967" y="316012"/>
                    <a:pt x="1790571" y="321797"/>
                    <a:pt x="1786305" y="326062"/>
                  </a:cubicBezTo>
                  <a:cubicBezTo>
                    <a:pt x="1782040" y="330328"/>
                    <a:pt x="1776255" y="332724"/>
                    <a:pt x="1770222" y="332724"/>
                  </a:cubicBezTo>
                  <a:lnTo>
                    <a:pt x="22745" y="332724"/>
                  </a:lnTo>
                  <a:cubicBezTo>
                    <a:pt x="10183" y="332724"/>
                    <a:pt x="0" y="322541"/>
                    <a:pt x="0" y="309979"/>
                  </a:cubicBezTo>
                  <a:lnTo>
                    <a:pt x="0" y="22745"/>
                  </a:lnTo>
                  <a:cubicBezTo>
                    <a:pt x="0" y="16712"/>
                    <a:pt x="2396" y="10927"/>
                    <a:pt x="6662" y="6662"/>
                  </a:cubicBezTo>
                  <a:cubicBezTo>
                    <a:pt x="10927" y="2396"/>
                    <a:pt x="16712" y="0"/>
                    <a:pt x="22745" y="0"/>
                  </a:cubicBezTo>
                  <a:close/>
                </a:path>
              </a:pathLst>
            </a:custGeom>
            <a:solidFill>
              <a:srgbClr val="D9D2E9"/>
            </a:solidFill>
            <a:ln>
              <a:noFill/>
            </a:ln>
          </p:spPr>
          <p:txBody>
            <a:bodyPr anchorCtr="0" anchor="ctr" bIns="107775" lIns="107775" spcFirstLastPara="1" rIns="107775" wrap="square" tIns="1077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1" name="Google Shape;1311;p52"/>
            <p:cNvSpPr txBox="1"/>
            <p:nvPr/>
          </p:nvSpPr>
          <p:spPr>
            <a:xfrm>
              <a:off x="0" y="-57150"/>
              <a:ext cx="1793100" cy="390000"/>
            </a:xfrm>
            <a:prstGeom prst="rect">
              <a:avLst/>
            </a:prstGeom>
            <a:solidFill>
              <a:srgbClr val="D9D2E9"/>
            </a:solidFill>
            <a:ln>
              <a:noFill/>
            </a:ln>
          </p:spPr>
          <p:txBody>
            <a:bodyPr anchorCtr="0" anchor="ctr" bIns="59900" lIns="59900" spcFirstLastPara="1" rIns="59900" wrap="square" tIns="59900">
              <a:noAutofit/>
            </a:bodyPr>
            <a:lstStyle/>
            <a:p>
              <a:pPr indent="0" lvl="0" marL="0" marR="0" rtl="0" algn="ctr">
                <a:lnSpc>
                  <a:spcPct val="147722"/>
                </a:lnSpc>
                <a:spcBef>
                  <a:spcPts val="0"/>
                </a:spcBef>
                <a:spcAft>
                  <a:spcPts val="0"/>
                </a:spcAft>
                <a:buClr>
                  <a:srgbClr val="000000"/>
                </a:buClr>
                <a:buSzPts val="2122"/>
                <a:buFont typeface="Arial"/>
                <a:buNone/>
              </a:pPr>
              <a:r>
                <a:t/>
              </a:r>
              <a:endParaRPr b="0" i="0" sz="2122" u="none" cap="none" strike="noStrike">
                <a:solidFill>
                  <a:schemeClr val="dk1"/>
                </a:solidFill>
                <a:latin typeface="Calibri"/>
                <a:ea typeface="Calibri"/>
                <a:cs typeface="Calibri"/>
                <a:sym typeface="Calibri"/>
              </a:endParaRPr>
            </a:p>
          </p:txBody>
        </p:sp>
      </p:grpSp>
      <p:sp>
        <p:nvSpPr>
          <p:cNvPr id="1312" name="Google Shape;1312;p52"/>
          <p:cNvSpPr txBox="1"/>
          <p:nvPr/>
        </p:nvSpPr>
        <p:spPr>
          <a:xfrm>
            <a:off x="930825" y="3824800"/>
            <a:ext cx="7696500" cy="1261200"/>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Clr>
                <a:srgbClr val="000000"/>
              </a:buClr>
              <a:buSzPts val="1781"/>
              <a:buFont typeface="Arial"/>
              <a:buNone/>
            </a:pPr>
            <a:r>
              <a:rPr b="0" i="0" lang="en-US" sz="1781" u="none" cap="none" strike="noStrike">
                <a:solidFill>
                  <a:srgbClr val="136447"/>
                </a:solidFill>
                <a:latin typeface="Poppins"/>
                <a:ea typeface="Poppins"/>
                <a:cs typeface="Poppins"/>
                <a:sym typeface="Poppins"/>
              </a:rPr>
              <a:t>Released during stress/emergencies, Increases heart rate, energy, alertness</a:t>
            </a:r>
            <a:endParaRPr b="0" i="0" sz="1781" u="none" cap="none" strike="noStrike">
              <a:solidFill>
                <a:srgbClr val="136447"/>
              </a:solidFill>
              <a:latin typeface="Poppins"/>
              <a:ea typeface="Poppins"/>
              <a:cs typeface="Poppins"/>
              <a:sym typeface="Poppins"/>
            </a:endParaRPr>
          </a:p>
          <a:p>
            <a:pPr indent="0" lvl="0" marL="0" marR="0" rtl="0" algn="ctr">
              <a:lnSpc>
                <a:spcPct val="120010"/>
              </a:lnSpc>
              <a:spcBef>
                <a:spcPts val="0"/>
              </a:spcBef>
              <a:spcAft>
                <a:spcPts val="0"/>
              </a:spcAft>
              <a:buClr>
                <a:srgbClr val="000000"/>
              </a:buClr>
              <a:buSzPts val="1781"/>
              <a:buFont typeface="Arial"/>
              <a:buNone/>
            </a:pPr>
            <a:r>
              <a:rPr b="0" i="0" lang="en-US" sz="1781" u="none" cap="none" strike="noStrike">
                <a:solidFill>
                  <a:srgbClr val="0000FF"/>
                </a:solidFill>
                <a:latin typeface="Poppins"/>
                <a:ea typeface="Poppins"/>
                <a:cs typeface="Poppins"/>
                <a:sym typeface="Poppins"/>
              </a:rPr>
              <a:t>Se libera en situaciones de estrés o emergencias, Aumenta la frecuencia cardíaca, la energía y el estado de alerta</a:t>
            </a:r>
            <a:endParaRPr b="0" i="0" sz="1781" u="none" cap="none" strike="noStrike">
              <a:solidFill>
                <a:srgbClr val="0000FF"/>
              </a:solidFill>
              <a:latin typeface="Poppins"/>
              <a:ea typeface="Poppins"/>
              <a:cs typeface="Poppins"/>
              <a:sym typeface="Poppins"/>
            </a:endParaRPr>
          </a:p>
        </p:txBody>
      </p:sp>
      <p:sp>
        <p:nvSpPr>
          <p:cNvPr id="1313" name="Google Shape;1313;p52"/>
          <p:cNvSpPr txBox="1"/>
          <p:nvPr/>
        </p:nvSpPr>
        <p:spPr>
          <a:xfrm>
            <a:off x="841662" y="3256650"/>
            <a:ext cx="7875000" cy="344700"/>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Clr>
                <a:srgbClr val="000000"/>
              </a:buClr>
              <a:buSzPts val="2239"/>
              <a:buFont typeface="Arial"/>
              <a:buNone/>
            </a:pPr>
            <a:r>
              <a:rPr b="1" i="0" lang="en-US" sz="2239" u="none" cap="none" strike="noStrike">
                <a:solidFill>
                  <a:srgbClr val="136447"/>
                </a:solidFill>
                <a:latin typeface="Poppins"/>
                <a:ea typeface="Poppins"/>
                <a:cs typeface="Poppins"/>
                <a:sym typeface="Poppins"/>
              </a:rPr>
              <a:t>Adrenaline (Epinephrine) | </a:t>
            </a:r>
            <a:r>
              <a:rPr b="1" i="0" lang="en-US" sz="2239" u="none" cap="none" strike="noStrike">
                <a:solidFill>
                  <a:srgbClr val="0000FF"/>
                </a:solidFill>
                <a:latin typeface="Poppins"/>
                <a:ea typeface="Poppins"/>
                <a:cs typeface="Poppins"/>
                <a:sym typeface="Poppins"/>
              </a:rPr>
              <a:t>Adrenalina (Epinefrina)</a:t>
            </a:r>
            <a:endParaRPr b="0" i="0" sz="1650" u="none" cap="none" strike="noStrike">
              <a:solidFill>
                <a:srgbClr val="0000FF"/>
              </a:solidFill>
              <a:latin typeface="Arial"/>
              <a:ea typeface="Arial"/>
              <a:cs typeface="Arial"/>
              <a:sym typeface="Arial"/>
            </a:endParaRPr>
          </a:p>
        </p:txBody>
      </p:sp>
      <p:sp>
        <p:nvSpPr>
          <p:cNvPr id="1314" name="Google Shape;1314;p52"/>
          <p:cNvSpPr txBox="1"/>
          <p:nvPr/>
        </p:nvSpPr>
        <p:spPr>
          <a:xfrm>
            <a:off x="765950" y="5917350"/>
            <a:ext cx="8026200" cy="1443600"/>
          </a:xfrm>
          <a:prstGeom prst="rect">
            <a:avLst/>
          </a:prstGeom>
          <a:solidFill>
            <a:srgbClr val="D9D2E9"/>
          </a:solid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Clr>
                <a:srgbClr val="000000"/>
              </a:buClr>
              <a:buSzPts val="2039"/>
              <a:buFont typeface="Arial"/>
              <a:buNone/>
            </a:pPr>
            <a:r>
              <a:rPr b="0" i="0" lang="en-US" sz="2039" u="none" cap="none" strike="noStrike">
                <a:solidFill>
                  <a:srgbClr val="136447"/>
                </a:solidFill>
                <a:latin typeface="Poppins"/>
                <a:ea typeface="Poppins"/>
                <a:cs typeface="Poppins"/>
                <a:sym typeface="Poppins"/>
              </a:rPr>
              <a:t>The body’s main stress hormone, Helps respond to long term stress</a:t>
            </a:r>
            <a:endParaRPr b="0" i="0" sz="2039" u="none" cap="none" strike="noStrike">
              <a:solidFill>
                <a:srgbClr val="136447"/>
              </a:solidFill>
              <a:latin typeface="Poppins"/>
              <a:ea typeface="Poppins"/>
              <a:cs typeface="Poppins"/>
              <a:sym typeface="Poppins"/>
            </a:endParaRPr>
          </a:p>
          <a:p>
            <a:pPr indent="0" lvl="0" marL="0" marR="0" rtl="0" algn="ctr">
              <a:lnSpc>
                <a:spcPct val="120010"/>
              </a:lnSpc>
              <a:spcBef>
                <a:spcPts val="0"/>
              </a:spcBef>
              <a:spcAft>
                <a:spcPts val="0"/>
              </a:spcAft>
              <a:buClr>
                <a:srgbClr val="000000"/>
              </a:buClr>
              <a:buSzPts val="1100"/>
              <a:buFont typeface="Arial"/>
              <a:buNone/>
            </a:pPr>
            <a:r>
              <a:rPr b="0" i="0" lang="en-US" sz="2039" u="none" cap="none" strike="noStrike">
                <a:solidFill>
                  <a:srgbClr val="0000FF"/>
                </a:solidFill>
                <a:latin typeface="Poppins"/>
                <a:ea typeface="Poppins"/>
                <a:cs typeface="Poppins"/>
                <a:sym typeface="Poppins"/>
              </a:rPr>
              <a:t>La principal hormona del estrés del cuerpo, Ayuda a responder al estrés a largo plazo</a:t>
            </a:r>
            <a:endParaRPr b="0" i="0" sz="2239" u="none" cap="none" strike="noStrike">
              <a:solidFill>
                <a:srgbClr val="0000FF"/>
              </a:solidFill>
              <a:latin typeface="Poppins"/>
              <a:ea typeface="Poppins"/>
              <a:cs typeface="Poppins"/>
              <a:sym typeface="Poppins"/>
            </a:endParaRPr>
          </a:p>
        </p:txBody>
      </p:sp>
      <p:sp>
        <p:nvSpPr>
          <p:cNvPr id="1315" name="Google Shape;1315;p52"/>
          <p:cNvSpPr txBox="1"/>
          <p:nvPr/>
        </p:nvSpPr>
        <p:spPr>
          <a:xfrm>
            <a:off x="2544311" y="5531590"/>
            <a:ext cx="4469700" cy="344700"/>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Clr>
                <a:srgbClr val="000000"/>
              </a:buClr>
              <a:buSzPts val="2239"/>
              <a:buFont typeface="Arial"/>
              <a:buNone/>
            </a:pPr>
            <a:r>
              <a:rPr b="1" i="0" lang="en-US" sz="2239" u="none" cap="none" strike="noStrike">
                <a:solidFill>
                  <a:srgbClr val="136447"/>
                </a:solidFill>
                <a:latin typeface="Poppins"/>
                <a:ea typeface="Poppins"/>
                <a:cs typeface="Poppins"/>
                <a:sym typeface="Poppins"/>
              </a:rPr>
              <a:t>Cortisol</a:t>
            </a:r>
            <a:endParaRPr b="0" i="0" sz="1650" u="none" cap="none" strike="noStrike">
              <a:solidFill>
                <a:srgbClr val="000000"/>
              </a:solidFill>
              <a:latin typeface="Arial"/>
              <a:ea typeface="Arial"/>
              <a:cs typeface="Arial"/>
              <a:sym typeface="Arial"/>
            </a:endParaRPr>
          </a:p>
        </p:txBody>
      </p:sp>
      <p:sp>
        <p:nvSpPr>
          <p:cNvPr id="1316" name="Google Shape;1316;p52"/>
          <p:cNvSpPr txBox="1"/>
          <p:nvPr/>
        </p:nvSpPr>
        <p:spPr>
          <a:xfrm>
            <a:off x="9571065" y="7640693"/>
            <a:ext cx="7696500" cy="2048400"/>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Clr>
                <a:srgbClr val="000000"/>
              </a:buClr>
              <a:buSzPts val="1581"/>
              <a:buFont typeface="Arial"/>
              <a:buNone/>
            </a:pPr>
            <a:r>
              <a:rPr b="0" i="0" lang="en-US" sz="1581" u="none" cap="none" strike="noStrike">
                <a:solidFill>
                  <a:srgbClr val="136447"/>
                </a:solidFill>
                <a:latin typeface="Poppins"/>
                <a:ea typeface="Poppins"/>
                <a:cs typeface="Poppins"/>
                <a:sym typeface="Poppins"/>
              </a:rPr>
              <a:t>Influence sexual development, mood, risk-taking, nurturing, aggression, Present in all genders but in different amounts</a:t>
            </a:r>
            <a:endParaRPr b="0" i="0" sz="1581" u="none" cap="none" strike="noStrike">
              <a:solidFill>
                <a:srgbClr val="136447"/>
              </a:solidFill>
              <a:latin typeface="Poppins"/>
              <a:ea typeface="Poppins"/>
              <a:cs typeface="Poppins"/>
              <a:sym typeface="Poppins"/>
            </a:endParaRPr>
          </a:p>
          <a:p>
            <a:pPr indent="0" lvl="0" marL="0" marR="0" rtl="0" algn="ctr">
              <a:lnSpc>
                <a:spcPct val="140021"/>
              </a:lnSpc>
              <a:spcBef>
                <a:spcPts val="0"/>
              </a:spcBef>
              <a:spcAft>
                <a:spcPts val="0"/>
              </a:spcAft>
              <a:buClr>
                <a:srgbClr val="000000"/>
              </a:buClr>
              <a:buSzPts val="1581"/>
              <a:buFont typeface="Arial"/>
              <a:buNone/>
            </a:pPr>
            <a:r>
              <a:rPr b="0" i="0" lang="en-US" sz="1581" u="none" cap="none" strike="noStrike">
                <a:solidFill>
                  <a:srgbClr val="0000FF"/>
                </a:solidFill>
                <a:latin typeface="Poppins"/>
                <a:ea typeface="Poppins"/>
                <a:cs typeface="Poppins"/>
                <a:sym typeface="Poppins"/>
              </a:rPr>
              <a:t>Influye en el desarrollo sexual, el estado de ánimo, la toma de riesgos, la crianza y la agresividad, Presente en todos los géneros, pero en diferentes grados</a:t>
            </a:r>
            <a:endParaRPr b="0" i="0" sz="1581" u="none" cap="none" strike="noStrike">
              <a:solidFill>
                <a:srgbClr val="0000FF"/>
              </a:solidFill>
              <a:latin typeface="Poppins"/>
              <a:ea typeface="Poppins"/>
              <a:cs typeface="Poppins"/>
              <a:sym typeface="Poppins"/>
            </a:endParaRPr>
          </a:p>
          <a:p>
            <a:pPr indent="0" lvl="0" marL="0" marR="0" rtl="0" algn="ctr">
              <a:lnSpc>
                <a:spcPct val="120010"/>
              </a:lnSpc>
              <a:spcBef>
                <a:spcPts val="0"/>
              </a:spcBef>
              <a:spcAft>
                <a:spcPts val="0"/>
              </a:spcAft>
              <a:buClr>
                <a:srgbClr val="000000"/>
              </a:buClr>
              <a:buSzPts val="2239"/>
              <a:buFont typeface="Arial"/>
              <a:buNone/>
            </a:pPr>
            <a:r>
              <a:t/>
            </a:r>
            <a:endParaRPr b="0" i="0" sz="2239" u="none" cap="none" strike="noStrike">
              <a:solidFill>
                <a:srgbClr val="136447"/>
              </a:solidFill>
              <a:latin typeface="Poppins"/>
              <a:ea typeface="Poppins"/>
              <a:cs typeface="Poppins"/>
              <a:sym typeface="Poppins"/>
            </a:endParaRPr>
          </a:p>
        </p:txBody>
      </p:sp>
      <p:sp>
        <p:nvSpPr>
          <p:cNvPr id="1317" name="Google Shape;1317;p52"/>
          <p:cNvSpPr txBox="1"/>
          <p:nvPr/>
        </p:nvSpPr>
        <p:spPr>
          <a:xfrm>
            <a:off x="9571075" y="7184475"/>
            <a:ext cx="7875000" cy="344700"/>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Clr>
                <a:srgbClr val="000000"/>
              </a:buClr>
              <a:buSzPts val="2239"/>
              <a:buFont typeface="Arial"/>
              <a:buNone/>
            </a:pPr>
            <a:r>
              <a:rPr b="1" i="0" lang="en-US" sz="2239" u="none" cap="none" strike="noStrike">
                <a:solidFill>
                  <a:srgbClr val="136447"/>
                </a:solidFill>
                <a:latin typeface="Poppins"/>
                <a:ea typeface="Poppins"/>
                <a:cs typeface="Poppins"/>
                <a:sym typeface="Poppins"/>
              </a:rPr>
              <a:t>Testosterone and Estrogen | </a:t>
            </a:r>
            <a:r>
              <a:rPr b="1" i="0" lang="en-US" sz="2239" u="none" cap="none" strike="noStrike">
                <a:solidFill>
                  <a:srgbClr val="0000FF"/>
                </a:solidFill>
                <a:latin typeface="Poppins"/>
                <a:ea typeface="Poppins"/>
                <a:cs typeface="Poppins"/>
                <a:sym typeface="Poppins"/>
              </a:rPr>
              <a:t>Testosterona y estrógeno</a:t>
            </a:r>
            <a:endParaRPr b="0" i="0" sz="1650" u="none" cap="none" strike="noStrike">
              <a:solidFill>
                <a:srgbClr val="0000FF"/>
              </a:solidFill>
              <a:latin typeface="Arial"/>
              <a:ea typeface="Arial"/>
              <a:cs typeface="Arial"/>
              <a:sym typeface="Arial"/>
            </a:endParaRPr>
          </a:p>
        </p:txBody>
      </p:sp>
      <p:grpSp>
        <p:nvGrpSpPr>
          <p:cNvPr id="1318" name="Google Shape;1318;p52"/>
          <p:cNvGrpSpPr/>
          <p:nvPr/>
        </p:nvGrpSpPr>
        <p:grpSpPr>
          <a:xfrm>
            <a:off x="9495460" y="4032014"/>
            <a:ext cx="8026274" cy="2271945"/>
            <a:chOff x="0" y="-57150"/>
            <a:chExt cx="1793100" cy="390000"/>
          </a:xfrm>
        </p:grpSpPr>
        <p:sp>
          <p:nvSpPr>
            <p:cNvPr id="1319" name="Google Shape;1319;p52"/>
            <p:cNvSpPr/>
            <p:nvPr/>
          </p:nvSpPr>
          <p:spPr>
            <a:xfrm>
              <a:off x="0" y="0"/>
              <a:ext cx="1792967" cy="332724"/>
            </a:xfrm>
            <a:custGeom>
              <a:rect b="b" l="l" r="r" t="t"/>
              <a:pathLst>
                <a:path extrusionOk="0" h="332724" w="1792967">
                  <a:moveTo>
                    <a:pt x="22745" y="0"/>
                  </a:moveTo>
                  <a:lnTo>
                    <a:pt x="1770222" y="0"/>
                  </a:lnTo>
                  <a:cubicBezTo>
                    <a:pt x="1782784" y="0"/>
                    <a:pt x="1792967" y="10183"/>
                    <a:pt x="1792967" y="22745"/>
                  </a:cubicBezTo>
                  <a:lnTo>
                    <a:pt x="1792967" y="309979"/>
                  </a:lnTo>
                  <a:cubicBezTo>
                    <a:pt x="1792967" y="316012"/>
                    <a:pt x="1790571" y="321797"/>
                    <a:pt x="1786305" y="326062"/>
                  </a:cubicBezTo>
                  <a:cubicBezTo>
                    <a:pt x="1782040" y="330328"/>
                    <a:pt x="1776255" y="332724"/>
                    <a:pt x="1770222" y="332724"/>
                  </a:cubicBezTo>
                  <a:lnTo>
                    <a:pt x="22745" y="332724"/>
                  </a:lnTo>
                  <a:cubicBezTo>
                    <a:pt x="10183" y="332724"/>
                    <a:pt x="0" y="322541"/>
                    <a:pt x="0" y="309979"/>
                  </a:cubicBezTo>
                  <a:lnTo>
                    <a:pt x="0" y="22745"/>
                  </a:lnTo>
                  <a:cubicBezTo>
                    <a:pt x="0" y="16712"/>
                    <a:pt x="2396" y="10927"/>
                    <a:pt x="6662" y="6662"/>
                  </a:cubicBezTo>
                  <a:cubicBezTo>
                    <a:pt x="10927" y="2396"/>
                    <a:pt x="16712" y="0"/>
                    <a:pt x="22745" y="0"/>
                  </a:cubicBezTo>
                  <a:close/>
                </a:path>
              </a:pathLst>
            </a:custGeom>
            <a:solidFill>
              <a:srgbClr val="C9DAF8"/>
            </a:solidFill>
            <a:ln>
              <a:noFill/>
            </a:ln>
          </p:spPr>
          <p:txBody>
            <a:bodyPr anchorCtr="0" anchor="ctr" bIns="107775" lIns="107775" spcFirstLastPara="1" rIns="107775" wrap="square" tIns="1077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0" name="Google Shape;1320;p52"/>
            <p:cNvSpPr txBox="1"/>
            <p:nvPr/>
          </p:nvSpPr>
          <p:spPr>
            <a:xfrm>
              <a:off x="0" y="-57150"/>
              <a:ext cx="1793100" cy="390000"/>
            </a:xfrm>
            <a:prstGeom prst="rect">
              <a:avLst/>
            </a:prstGeom>
            <a:solidFill>
              <a:srgbClr val="C9DAF8"/>
            </a:solidFill>
            <a:ln>
              <a:noFill/>
            </a:ln>
          </p:spPr>
          <p:txBody>
            <a:bodyPr anchorCtr="0" anchor="ctr" bIns="59900" lIns="59900" spcFirstLastPara="1" rIns="59900" wrap="square" tIns="59900">
              <a:noAutofit/>
            </a:bodyPr>
            <a:lstStyle/>
            <a:p>
              <a:pPr indent="0" lvl="0" marL="0" marR="0" rtl="0" algn="ctr">
                <a:lnSpc>
                  <a:spcPct val="147722"/>
                </a:lnSpc>
                <a:spcBef>
                  <a:spcPts val="0"/>
                </a:spcBef>
                <a:spcAft>
                  <a:spcPts val="0"/>
                </a:spcAft>
                <a:buClr>
                  <a:srgbClr val="000000"/>
                </a:buClr>
                <a:buSzPts val="2122"/>
                <a:buFont typeface="Arial"/>
                <a:buNone/>
              </a:pPr>
              <a:r>
                <a:t/>
              </a:r>
              <a:endParaRPr b="0" i="0" sz="2122" u="none" cap="none" strike="noStrike">
                <a:solidFill>
                  <a:schemeClr val="dk1"/>
                </a:solidFill>
                <a:latin typeface="Calibri"/>
                <a:ea typeface="Calibri"/>
                <a:cs typeface="Calibri"/>
                <a:sym typeface="Calibri"/>
              </a:endParaRPr>
            </a:p>
          </p:txBody>
        </p:sp>
      </p:grpSp>
      <p:sp>
        <p:nvSpPr>
          <p:cNvPr id="1321" name="Google Shape;1321;p52"/>
          <p:cNvSpPr txBox="1"/>
          <p:nvPr/>
        </p:nvSpPr>
        <p:spPr>
          <a:xfrm>
            <a:off x="9495475" y="4815215"/>
            <a:ext cx="8026200" cy="1372800"/>
          </a:xfrm>
          <a:prstGeom prst="rect">
            <a:avLst/>
          </a:prstGeom>
          <a:solidFill>
            <a:srgbClr val="C9DAF8"/>
          </a:solid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Clr>
                <a:srgbClr val="000000"/>
              </a:buClr>
              <a:buSzPts val="1939"/>
              <a:buFont typeface="Arial"/>
              <a:buNone/>
            </a:pPr>
            <a:r>
              <a:rPr b="0" i="0" lang="en-US" sz="1939" u="none" cap="none" strike="noStrike">
                <a:solidFill>
                  <a:srgbClr val="136447"/>
                </a:solidFill>
                <a:latin typeface="Poppins"/>
                <a:ea typeface="Poppins"/>
                <a:cs typeface="Poppins"/>
                <a:sym typeface="Poppins"/>
              </a:rPr>
              <a:t>Bonding, trust, social connection, Released during hugging, childbirth, positive experiences</a:t>
            </a:r>
            <a:endParaRPr b="0" i="0" sz="1939" u="none" cap="none" strike="noStrike">
              <a:solidFill>
                <a:srgbClr val="136447"/>
              </a:solidFill>
              <a:latin typeface="Poppins"/>
              <a:ea typeface="Poppins"/>
              <a:cs typeface="Poppins"/>
              <a:sym typeface="Poppins"/>
            </a:endParaRPr>
          </a:p>
          <a:p>
            <a:pPr indent="0" lvl="0" marL="0" marR="0" rtl="0" algn="ctr">
              <a:lnSpc>
                <a:spcPct val="120010"/>
              </a:lnSpc>
              <a:spcBef>
                <a:spcPts val="0"/>
              </a:spcBef>
              <a:spcAft>
                <a:spcPts val="0"/>
              </a:spcAft>
              <a:buClr>
                <a:srgbClr val="000000"/>
              </a:buClr>
              <a:buSzPts val="1100"/>
              <a:buFont typeface="Arial"/>
              <a:buNone/>
            </a:pPr>
            <a:r>
              <a:rPr b="0" i="0" lang="en-US" sz="1939" u="none" cap="none" strike="noStrike">
                <a:solidFill>
                  <a:srgbClr val="0000FF"/>
                </a:solidFill>
                <a:latin typeface="Poppins"/>
                <a:ea typeface="Poppins"/>
                <a:cs typeface="Poppins"/>
                <a:sym typeface="Poppins"/>
              </a:rPr>
              <a:t>Vínculo, confianza, conexión social, Se liberan durante los abrazos, el parto y las experiencias positivas</a:t>
            </a:r>
            <a:endParaRPr b="0" i="0" sz="2181" u="none" cap="none" strike="noStrike">
              <a:solidFill>
                <a:srgbClr val="0000FF"/>
              </a:solidFill>
              <a:latin typeface="Poppins"/>
              <a:ea typeface="Poppins"/>
              <a:cs typeface="Poppins"/>
              <a:sym typeface="Poppins"/>
            </a:endParaRPr>
          </a:p>
        </p:txBody>
      </p:sp>
      <p:sp>
        <p:nvSpPr>
          <p:cNvPr id="1322" name="Google Shape;1322;p52"/>
          <p:cNvSpPr txBox="1"/>
          <p:nvPr/>
        </p:nvSpPr>
        <p:spPr>
          <a:xfrm>
            <a:off x="11099131" y="4237242"/>
            <a:ext cx="4818900" cy="371400"/>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Clr>
                <a:srgbClr val="000000"/>
              </a:buClr>
              <a:buSzPts val="2414"/>
              <a:buFont typeface="Arial"/>
              <a:buNone/>
            </a:pPr>
            <a:r>
              <a:rPr b="1" i="0" lang="en-US" sz="2414" u="none" cap="none" strike="noStrike">
                <a:solidFill>
                  <a:srgbClr val="136447"/>
                </a:solidFill>
                <a:latin typeface="Poppins"/>
                <a:ea typeface="Poppins"/>
                <a:cs typeface="Poppins"/>
                <a:sym typeface="Poppins"/>
              </a:rPr>
              <a:t>Oxytocin | </a:t>
            </a:r>
            <a:r>
              <a:rPr b="1" i="0" lang="en-US" sz="2414" u="none" cap="none" strike="noStrike">
                <a:solidFill>
                  <a:srgbClr val="0000FF"/>
                </a:solidFill>
                <a:latin typeface="Poppins"/>
                <a:ea typeface="Poppins"/>
                <a:cs typeface="Poppins"/>
                <a:sym typeface="Poppins"/>
              </a:rPr>
              <a:t>Oxitocina</a:t>
            </a:r>
            <a:endParaRPr b="0" i="0" sz="1779" u="none" cap="none" strike="noStrike">
              <a:solidFill>
                <a:srgbClr val="0000FF"/>
              </a:solidFill>
              <a:latin typeface="Arial"/>
              <a:ea typeface="Arial"/>
              <a:cs typeface="Arial"/>
              <a:sym typeface="Arial"/>
            </a:endParaRPr>
          </a:p>
        </p:txBody>
      </p:sp>
      <p:grpSp>
        <p:nvGrpSpPr>
          <p:cNvPr id="1323" name="Google Shape;1323;p52"/>
          <p:cNvGrpSpPr/>
          <p:nvPr/>
        </p:nvGrpSpPr>
        <p:grpSpPr>
          <a:xfrm>
            <a:off x="766000" y="7529177"/>
            <a:ext cx="8026274" cy="2056197"/>
            <a:chOff x="0" y="-57150"/>
            <a:chExt cx="1793100" cy="390000"/>
          </a:xfrm>
        </p:grpSpPr>
        <p:sp>
          <p:nvSpPr>
            <p:cNvPr id="1324" name="Google Shape;1324;p52"/>
            <p:cNvSpPr/>
            <p:nvPr/>
          </p:nvSpPr>
          <p:spPr>
            <a:xfrm>
              <a:off x="0" y="0"/>
              <a:ext cx="1792967" cy="332724"/>
            </a:xfrm>
            <a:custGeom>
              <a:rect b="b" l="l" r="r" t="t"/>
              <a:pathLst>
                <a:path extrusionOk="0" h="332724" w="1792967">
                  <a:moveTo>
                    <a:pt x="22745" y="0"/>
                  </a:moveTo>
                  <a:lnTo>
                    <a:pt x="1770222" y="0"/>
                  </a:lnTo>
                  <a:cubicBezTo>
                    <a:pt x="1782784" y="0"/>
                    <a:pt x="1792967" y="10183"/>
                    <a:pt x="1792967" y="22745"/>
                  </a:cubicBezTo>
                  <a:lnTo>
                    <a:pt x="1792967" y="309979"/>
                  </a:lnTo>
                  <a:cubicBezTo>
                    <a:pt x="1792967" y="316012"/>
                    <a:pt x="1790571" y="321797"/>
                    <a:pt x="1786305" y="326062"/>
                  </a:cubicBezTo>
                  <a:cubicBezTo>
                    <a:pt x="1782040" y="330328"/>
                    <a:pt x="1776255" y="332724"/>
                    <a:pt x="1770222" y="332724"/>
                  </a:cubicBezTo>
                  <a:lnTo>
                    <a:pt x="22745" y="332724"/>
                  </a:lnTo>
                  <a:cubicBezTo>
                    <a:pt x="10183" y="332724"/>
                    <a:pt x="0" y="322541"/>
                    <a:pt x="0" y="309979"/>
                  </a:cubicBezTo>
                  <a:lnTo>
                    <a:pt x="0" y="22745"/>
                  </a:lnTo>
                  <a:cubicBezTo>
                    <a:pt x="0" y="16712"/>
                    <a:pt x="2396" y="10927"/>
                    <a:pt x="6662" y="6662"/>
                  </a:cubicBezTo>
                  <a:cubicBezTo>
                    <a:pt x="10927" y="2396"/>
                    <a:pt x="16712" y="0"/>
                    <a:pt x="22745" y="0"/>
                  </a:cubicBezTo>
                  <a:close/>
                </a:path>
              </a:pathLst>
            </a:custGeom>
            <a:solidFill>
              <a:srgbClr val="D9D2E9"/>
            </a:solidFill>
            <a:ln>
              <a:noFill/>
            </a:ln>
          </p:spPr>
          <p:txBody>
            <a:bodyPr anchorCtr="0" anchor="ctr" bIns="107775" lIns="107775" spcFirstLastPara="1" rIns="107775" wrap="square" tIns="1077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5" name="Google Shape;1325;p52"/>
            <p:cNvSpPr txBox="1"/>
            <p:nvPr/>
          </p:nvSpPr>
          <p:spPr>
            <a:xfrm>
              <a:off x="0" y="-57150"/>
              <a:ext cx="1793100" cy="390000"/>
            </a:xfrm>
            <a:prstGeom prst="rect">
              <a:avLst/>
            </a:prstGeom>
            <a:solidFill>
              <a:srgbClr val="D9D2E9"/>
            </a:solidFill>
            <a:ln>
              <a:noFill/>
            </a:ln>
          </p:spPr>
          <p:txBody>
            <a:bodyPr anchorCtr="0" anchor="ctr" bIns="59900" lIns="59900" spcFirstLastPara="1" rIns="59900" wrap="square" tIns="59900">
              <a:noAutofit/>
            </a:bodyPr>
            <a:lstStyle/>
            <a:p>
              <a:pPr indent="0" lvl="0" marL="0" marR="0" rtl="0" algn="ctr">
                <a:lnSpc>
                  <a:spcPct val="147722"/>
                </a:lnSpc>
                <a:spcBef>
                  <a:spcPts val="0"/>
                </a:spcBef>
                <a:spcAft>
                  <a:spcPts val="0"/>
                </a:spcAft>
                <a:buClr>
                  <a:srgbClr val="000000"/>
                </a:buClr>
                <a:buSzPts val="2122"/>
                <a:buFont typeface="Arial"/>
                <a:buNone/>
              </a:pPr>
              <a:r>
                <a:t/>
              </a:r>
              <a:endParaRPr b="0" i="0" sz="2122" u="none" cap="none" strike="noStrike">
                <a:solidFill>
                  <a:schemeClr val="dk1"/>
                </a:solidFill>
                <a:latin typeface="Calibri"/>
                <a:ea typeface="Calibri"/>
                <a:cs typeface="Calibri"/>
                <a:sym typeface="Calibri"/>
              </a:endParaRPr>
            </a:p>
          </p:txBody>
        </p:sp>
      </p:grpSp>
      <p:sp>
        <p:nvSpPr>
          <p:cNvPr id="1326" name="Google Shape;1326;p52"/>
          <p:cNvSpPr txBox="1"/>
          <p:nvPr/>
        </p:nvSpPr>
        <p:spPr>
          <a:xfrm>
            <a:off x="930950" y="8253400"/>
            <a:ext cx="7696500" cy="2034000"/>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Clr>
                <a:srgbClr val="000000"/>
              </a:buClr>
              <a:buSzPts val="1739"/>
              <a:buFont typeface="Arial"/>
              <a:buNone/>
            </a:pPr>
            <a:r>
              <a:rPr b="0" i="0" lang="en-US" sz="1739" u="none" cap="none" strike="noStrike">
                <a:solidFill>
                  <a:srgbClr val="136447"/>
                </a:solidFill>
                <a:latin typeface="Poppins"/>
                <a:ea typeface="Poppins"/>
                <a:cs typeface="Poppins"/>
                <a:sym typeface="Poppins"/>
              </a:rPr>
              <a:t>Regulates sleep-wake cycles, Darkness triggers release, suppressed by light</a:t>
            </a:r>
            <a:endParaRPr b="0" i="0" sz="1739" u="none" cap="none" strike="noStrike">
              <a:solidFill>
                <a:srgbClr val="136447"/>
              </a:solidFill>
              <a:latin typeface="Poppins"/>
              <a:ea typeface="Poppins"/>
              <a:cs typeface="Poppins"/>
              <a:sym typeface="Poppins"/>
            </a:endParaRPr>
          </a:p>
          <a:p>
            <a:pPr indent="0" lvl="0" marL="0" marR="0" rtl="0" algn="ctr">
              <a:lnSpc>
                <a:spcPct val="120010"/>
              </a:lnSpc>
              <a:spcBef>
                <a:spcPts val="0"/>
              </a:spcBef>
              <a:spcAft>
                <a:spcPts val="0"/>
              </a:spcAft>
              <a:buClr>
                <a:schemeClr val="dk1"/>
              </a:buClr>
              <a:buSzPts val="1100"/>
              <a:buFont typeface="Arial"/>
              <a:buNone/>
            </a:pPr>
            <a:r>
              <a:rPr b="0" i="0" lang="en-US" sz="1739" u="none" cap="none" strike="noStrike">
                <a:solidFill>
                  <a:srgbClr val="0000FF"/>
                </a:solidFill>
                <a:latin typeface="Poppins"/>
                <a:ea typeface="Poppins"/>
                <a:cs typeface="Poppins"/>
                <a:sym typeface="Poppins"/>
              </a:rPr>
              <a:t>Regula los ciclos de sueño-vigilia, La oscuridad desencadena la liberación de la hormona, la cual es suprimida por la luz</a:t>
            </a:r>
            <a:endParaRPr b="0" i="0" sz="1739" u="none" cap="none" strike="noStrike">
              <a:solidFill>
                <a:srgbClr val="0000FF"/>
              </a:solidFill>
              <a:latin typeface="Poppins"/>
              <a:ea typeface="Poppins"/>
              <a:cs typeface="Poppins"/>
              <a:sym typeface="Poppins"/>
            </a:endParaRPr>
          </a:p>
          <a:p>
            <a:pPr indent="0" lvl="0" marL="0" marR="0" rtl="0" algn="ctr">
              <a:lnSpc>
                <a:spcPct val="120010"/>
              </a:lnSpc>
              <a:spcBef>
                <a:spcPts val="0"/>
              </a:spcBef>
              <a:spcAft>
                <a:spcPts val="0"/>
              </a:spcAft>
              <a:buClr>
                <a:srgbClr val="000000"/>
              </a:buClr>
              <a:buSzPts val="2239"/>
              <a:buFont typeface="Arial"/>
              <a:buNone/>
            </a:pPr>
            <a:r>
              <a:t/>
            </a:r>
            <a:endParaRPr b="0" i="0" sz="2239" u="none" cap="none" strike="noStrike">
              <a:solidFill>
                <a:srgbClr val="136447"/>
              </a:solidFill>
              <a:latin typeface="Poppins"/>
              <a:ea typeface="Poppins"/>
              <a:cs typeface="Poppins"/>
              <a:sym typeface="Poppins"/>
            </a:endParaRPr>
          </a:p>
          <a:p>
            <a:pPr indent="0" lvl="0" marL="0" marR="0" rtl="0" algn="ctr">
              <a:lnSpc>
                <a:spcPct val="120010"/>
              </a:lnSpc>
              <a:spcBef>
                <a:spcPts val="0"/>
              </a:spcBef>
              <a:spcAft>
                <a:spcPts val="0"/>
              </a:spcAft>
              <a:buClr>
                <a:srgbClr val="000000"/>
              </a:buClr>
              <a:buSzPts val="2181"/>
              <a:buFont typeface="Arial"/>
              <a:buNone/>
            </a:pPr>
            <a:r>
              <a:t/>
            </a:r>
            <a:endParaRPr b="0" i="0" sz="2181" u="none" cap="none" strike="noStrike">
              <a:solidFill>
                <a:srgbClr val="136447"/>
              </a:solidFill>
              <a:latin typeface="Poppins"/>
              <a:ea typeface="Poppins"/>
              <a:cs typeface="Poppins"/>
              <a:sym typeface="Poppins"/>
            </a:endParaRPr>
          </a:p>
        </p:txBody>
      </p:sp>
      <p:sp>
        <p:nvSpPr>
          <p:cNvPr id="1327" name="Google Shape;1327;p52"/>
          <p:cNvSpPr txBox="1"/>
          <p:nvPr/>
        </p:nvSpPr>
        <p:spPr>
          <a:xfrm>
            <a:off x="2544283" y="7806538"/>
            <a:ext cx="4469700" cy="344700"/>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Clr>
                <a:srgbClr val="000000"/>
              </a:buClr>
              <a:buSzPts val="2239"/>
              <a:buFont typeface="Arial"/>
              <a:buNone/>
            </a:pPr>
            <a:r>
              <a:rPr b="1" i="0" lang="en-US" sz="2239" u="none" cap="none" strike="noStrike">
                <a:solidFill>
                  <a:srgbClr val="136447"/>
                </a:solidFill>
                <a:latin typeface="Poppins"/>
                <a:ea typeface="Poppins"/>
                <a:cs typeface="Poppins"/>
                <a:sym typeface="Poppins"/>
              </a:rPr>
              <a:t>Melatonin | </a:t>
            </a:r>
            <a:r>
              <a:rPr b="1" i="0" lang="en-US" sz="2239" u="none" cap="none" strike="noStrike">
                <a:solidFill>
                  <a:srgbClr val="0000FF"/>
                </a:solidFill>
                <a:latin typeface="Poppins"/>
                <a:ea typeface="Poppins"/>
                <a:cs typeface="Poppins"/>
                <a:sym typeface="Poppins"/>
              </a:rPr>
              <a:t>Melatonina</a:t>
            </a:r>
            <a:endParaRPr b="0" i="0" sz="1650" u="none" cap="none" strike="noStrike">
              <a:solidFill>
                <a:srgbClr val="0000FF"/>
              </a:solidFill>
              <a:latin typeface="Arial"/>
              <a:ea typeface="Arial"/>
              <a:cs typeface="Arial"/>
              <a:sym typeface="Arial"/>
            </a:endParaRPr>
          </a:p>
        </p:txBody>
      </p:sp>
      <p:cxnSp>
        <p:nvCxnSpPr>
          <p:cNvPr id="1328" name="Google Shape;1328;p52"/>
          <p:cNvCxnSpPr/>
          <p:nvPr/>
        </p:nvCxnSpPr>
        <p:spPr>
          <a:xfrm flipH="1" rot="10800000">
            <a:off x="1184334" y="2718889"/>
            <a:ext cx="8115300" cy="18900"/>
          </a:xfrm>
          <a:prstGeom prst="straightConnector1">
            <a:avLst/>
          </a:prstGeom>
          <a:noFill/>
          <a:ln cap="rnd" cmpd="sng" w="28575">
            <a:solidFill>
              <a:srgbClr val="136447"/>
            </a:solidFill>
            <a:prstDash val="solid"/>
            <a:round/>
            <a:headEnd len="sm" w="sm" type="none"/>
            <a:tailEnd len="sm" w="sm" type="none"/>
          </a:ln>
        </p:spPr>
      </p:cxnSp>
      <p:sp>
        <p:nvSpPr>
          <p:cNvPr id="1329" name="Google Shape;1329;p52"/>
          <p:cNvSpPr txBox="1"/>
          <p:nvPr/>
        </p:nvSpPr>
        <p:spPr>
          <a:xfrm>
            <a:off x="469650" y="319700"/>
            <a:ext cx="17348700" cy="2056200"/>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Clr>
                <a:srgbClr val="000000"/>
              </a:buClr>
              <a:buSzPts val="5808"/>
              <a:buFont typeface="Arial"/>
              <a:buNone/>
            </a:pPr>
            <a:r>
              <a:rPr b="1" i="0" lang="en-US" sz="5808" u="none" cap="none" strike="noStrike">
                <a:solidFill>
                  <a:srgbClr val="136447"/>
                </a:solidFill>
                <a:latin typeface="Poppins"/>
                <a:ea typeface="Poppins"/>
                <a:cs typeface="Poppins"/>
                <a:sym typeface="Poppins"/>
              </a:rPr>
              <a:t>Understanding Hormones</a:t>
            </a:r>
            <a:endParaRPr b="1" i="0" sz="5808" u="none" cap="none" strike="noStrike">
              <a:solidFill>
                <a:srgbClr val="136447"/>
              </a:solidFill>
              <a:latin typeface="Poppins"/>
              <a:ea typeface="Poppins"/>
              <a:cs typeface="Poppins"/>
              <a:sym typeface="Poppins"/>
            </a:endParaRPr>
          </a:p>
          <a:p>
            <a:pPr indent="0" lvl="0" marL="0" marR="0" rtl="0" algn="l">
              <a:lnSpc>
                <a:spcPct val="130009"/>
              </a:lnSpc>
              <a:spcBef>
                <a:spcPts val="0"/>
              </a:spcBef>
              <a:spcAft>
                <a:spcPts val="0"/>
              </a:spcAft>
              <a:buClr>
                <a:srgbClr val="000000"/>
              </a:buClr>
              <a:buSzPts val="5808"/>
              <a:buFont typeface="Arial"/>
              <a:buNone/>
            </a:pPr>
            <a:r>
              <a:rPr b="1" i="0" lang="en-US" sz="5808" u="none" cap="none" strike="noStrike">
                <a:solidFill>
                  <a:srgbClr val="0000FF"/>
                </a:solidFill>
                <a:latin typeface="Poppins"/>
                <a:ea typeface="Poppins"/>
                <a:cs typeface="Poppins"/>
                <a:sym typeface="Poppins"/>
              </a:rPr>
              <a:t>Comprender las hormonas</a:t>
            </a:r>
            <a:endParaRPr b="1" i="0" sz="5808" u="none" cap="none" strike="noStrike">
              <a:solidFill>
                <a:srgbClr val="0000FF"/>
              </a:solidFill>
              <a:latin typeface="Poppins"/>
              <a:ea typeface="Poppins"/>
              <a:cs typeface="Poppins"/>
              <a:sym typeface="Poppins"/>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333" name="Shape 1333"/>
        <p:cNvGrpSpPr/>
        <p:nvPr/>
      </p:nvGrpSpPr>
      <p:grpSpPr>
        <a:xfrm>
          <a:off x="0" y="0"/>
          <a:ext cx="0" cy="0"/>
          <a:chOff x="0" y="0"/>
          <a:chExt cx="0" cy="0"/>
        </a:xfrm>
      </p:grpSpPr>
      <p:cxnSp>
        <p:nvCxnSpPr>
          <p:cNvPr id="1334" name="Google Shape;1334;p53"/>
          <p:cNvCxnSpPr/>
          <p:nvPr/>
        </p:nvCxnSpPr>
        <p:spPr>
          <a:xfrm flipH="1" rot="10800000">
            <a:off x="845659" y="2151739"/>
            <a:ext cx="8115300" cy="18900"/>
          </a:xfrm>
          <a:prstGeom prst="straightConnector1">
            <a:avLst/>
          </a:prstGeom>
          <a:noFill/>
          <a:ln cap="rnd" cmpd="sng" w="28575">
            <a:solidFill>
              <a:srgbClr val="136447"/>
            </a:solidFill>
            <a:prstDash val="solid"/>
            <a:round/>
            <a:headEnd len="sm" w="sm" type="none"/>
            <a:tailEnd len="sm" w="sm" type="none"/>
          </a:ln>
        </p:spPr>
      </p:cxnSp>
      <p:sp>
        <p:nvSpPr>
          <p:cNvPr id="1335" name="Google Shape;1335;p53"/>
          <p:cNvSpPr txBox="1"/>
          <p:nvPr/>
        </p:nvSpPr>
        <p:spPr>
          <a:xfrm>
            <a:off x="269925" y="215525"/>
            <a:ext cx="17348700" cy="1773000"/>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Clr>
                <a:srgbClr val="000000"/>
              </a:buClr>
              <a:buSzPts val="5008"/>
              <a:buFont typeface="Arial"/>
              <a:buNone/>
            </a:pPr>
            <a:r>
              <a:rPr b="1" i="0" lang="en-US" sz="5008" u="none" cap="none" strike="noStrike">
                <a:solidFill>
                  <a:srgbClr val="136447"/>
                </a:solidFill>
                <a:latin typeface="Poppins"/>
                <a:ea typeface="Poppins"/>
                <a:cs typeface="Poppins"/>
                <a:sym typeface="Poppins"/>
              </a:rPr>
              <a:t>Neurotransmitters vs. Hormones</a:t>
            </a:r>
            <a:endParaRPr b="1" i="0" sz="5008" u="none" cap="none" strike="noStrike">
              <a:solidFill>
                <a:srgbClr val="136447"/>
              </a:solidFill>
              <a:latin typeface="Poppins"/>
              <a:ea typeface="Poppins"/>
              <a:cs typeface="Poppins"/>
              <a:sym typeface="Poppins"/>
            </a:endParaRPr>
          </a:p>
          <a:p>
            <a:pPr indent="0" lvl="0" marL="0" marR="0" rtl="0" algn="l">
              <a:lnSpc>
                <a:spcPct val="130009"/>
              </a:lnSpc>
              <a:spcBef>
                <a:spcPts val="0"/>
              </a:spcBef>
              <a:spcAft>
                <a:spcPts val="0"/>
              </a:spcAft>
              <a:buClr>
                <a:srgbClr val="000000"/>
              </a:buClr>
              <a:buSzPts val="5008"/>
              <a:buFont typeface="Arial"/>
              <a:buNone/>
            </a:pPr>
            <a:r>
              <a:rPr b="1" i="0" lang="en-US" sz="5008" u="none" cap="none" strike="noStrike">
                <a:solidFill>
                  <a:srgbClr val="0000FF"/>
                </a:solidFill>
                <a:latin typeface="Poppins"/>
                <a:ea typeface="Poppins"/>
                <a:cs typeface="Poppins"/>
                <a:sym typeface="Poppins"/>
              </a:rPr>
              <a:t>Neurotransmisores frente a hormonas</a:t>
            </a:r>
            <a:endParaRPr b="1" i="0" sz="5008" u="none" cap="none" strike="noStrike">
              <a:solidFill>
                <a:srgbClr val="0000FF"/>
              </a:solidFill>
              <a:latin typeface="Poppins"/>
              <a:ea typeface="Poppins"/>
              <a:cs typeface="Poppins"/>
              <a:sym typeface="Poppins"/>
            </a:endParaRPr>
          </a:p>
        </p:txBody>
      </p:sp>
      <p:sp>
        <p:nvSpPr>
          <p:cNvPr id="1336" name="Google Shape;1336;p53"/>
          <p:cNvSpPr txBox="1"/>
          <p:nvPr/>
        </p:nvSpPr>
        <p:spPr>
          <a:xfrm>
            <a:off x="845650" y="2665088"/>
            <a:ext cx="16975200" cy="147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2D2F3B"/>
                </a:solidFill>
                <a:latin typeface="Poppins Medium"/>
                <a:ea typeface="Poppins Medium"/>
                <a:cs typeface="Poppins Medium"/>
                <a:sym typeface="Poppins Medium"/>
              </a:rPr>
              <a:t>T</a:t>
            </a:r>
            <a:r>
              <a:rPr b="1" i="0" lang="en-US" sz="2900" u="none" cap="none" strike="noStrike">
                <a:solidFill>
                  <a:srgbClr val="2D2F3B"/>
                </a:solidFill>
                <a:latin typeface="Poppins Medium"/>
                <a:ea typeface="Poppins Medium"/>
                <a:cs typeface="Poppins Medium"/>
                <a:sym typeface="Poppins Medium"/>
              </a:rPr>
              <a:t>hese two systems work together, shaping how we think, feel, and act</a:t>
            </a:r>
            <a:endParaRPr b="1" i="0" sz="29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900"/>
              <a:buFont typeface="Arial"/>
              <a:buNone/>
            </a:pPr>
            <a:r>
              <a:rPr b="1" i="0" lang="en-US" sz="2900" u="none" cap="none" strike="noStrike">
                <a:solidFill>
                  <a:srgbClr val="0000FF"/>
                </a:solidFill>
                <a:latin typeface="Poppins Medium"/>
                <a:ea typeface="Poppins Medium"/>
                <a:cs typeface="Poppins Medium"/>
                <a:sym typeface="Poppins Medium"/>
              </a:rPr>
              <a:t>Estos dos sistemas trabajan conjuntamente, moldeando nuestra forma de pensar, sentir y actuar.</a:t>
            </a:r>
            <a:endParaRPr b="1" i="0" sz="2900" u="none" cap="none" strike="noStrike">
              <a:solidFill>
                <a:srgbClr val="0000FF"/>
              </a:solidFill>
              <a:latin typeface="Poppins Medium"/>
              <a:ea typeface="Poppins Medium"/>
              <a:cs typeface="Poppins Medium"/>
              <a:sym typeface="Poppins Medium"/>
            </a:endParaRPr>
          </a:p>
        </p:txBody>
      </p:sp>
      <p:graphicFrame>
        <p:nvGraphicFramePr>
          <p:cNvPr id="1337" name="Google Shape;1337;p53"/>
          <p:cNvGraphicFramePr/>
          <p:nvPr/>
        </p:nvGraphicFramePr>
        <p:xfrm>
          <a:off x="952500" y="4342475"/>
          <a:ext cx="3000000" cy="3000000"/>
        </p:xfrm>
        <a:graphic>
          <a:graphicData uri="http://schemas.openxmlformats.org/drawingml/2006/table">
            <a:tbl>
              <a:tblPr>
                <a:noFill/>
                <a:tableStyleId>{72D305A8-9C28-4498-B054-4B8704CC307A}</a:tableStyleId>
              </a:tblPr>
              <a:tblGrid>
                <a:gridCol w="5461000"/>
                <a:gridCol w="5461000"/>
                <a:gridCol w="5461000"/>
              </a:tblGrid>
              <a:tr h="66185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rgbClr val="2D2F3B"/>
                          </a:solidFill>
                          <a:latin typeface="Poppins"/>
                          <a:ea typeface="Poppins"/>
                          <a:cs typeface="Poppins"/>
                          <a:sym typeface="Poppins"/>
                        </a:rPr>
                        <a:t>Feature | </a:t>
                      </a:r>
                      <a:r>
                        <a:rPr b="1" lang="en-US" sz="2800" u="none" cap="none" strike="noStrike">
                          <a:solidFill>
                            <a:srgbClr val="0000FF"/>
                          </a:solidFill>
                          <a:latin typeface="Poppins"/>
                          <a:ea typeface="Poppins"/>
                          <a:cs typeface="Poppins"/>
                          <a:sym typeface="Poppins"/>
                        </a:rPr>
                        <a:t>Funcionalidad</a:t>
                      </a:r>
                      <a:endParaRPr b="1" sz="2800" u="none" cap="none" strike="noStrike">
                        <a:solidFill>
                          <a:srgbClr val="0000FF"/>
                        </a:solidFill>
                        <a:latin typeface="Poppins"/>
                        <a:ea typeface="Poppins"/>
                        <a:cs typeface="Poppins"/>
                        <a:sym typeface="Poppins"/>
                      </a:endParaRPr>
                    </a:p>
                  </a:txBody>
                  <a:tcPr marT="91425" marB="91425" marR="91425" marL="91425">
                    <a:lnL cap="flat" cmpd="sng" w="38100">
                      <a:solidFill>
                        <a:srgbClr val="13655A"/>
                      </a:solidFill>
                      <a:prstDash val="solid"/>
                      <a:round/>
                      <a:headEnd len="sm" w="sm" type="none"/>
                      <a:tailEnd len="sm" w="sm" type="none"/>
                    </a:lnL>
                    <a:lnR cap="flat" cmpd="sng" w="38100">
                      <a:solidFill>
                        <a:srgbClr val="13655A"/>
                      </a:solidFill>
                      <a:prstDash val="solid"/>
                      <a:round/>
                      <a:headEnd len="sm" w="sm" type="none"/>
                      <a:tailEnd len="sm" w="sm" type="none"/>
                    </a:lnR>
                    <a:lnT cap="flat" cmpd="sng" w="38100">
                      <a:solidFill>
                        <a:srgbClr val="13655A"/>
                      </a:solidFill>
                      <a:prstDash val="solid"/>
                      <a:round/>
                      <a:headEnd len="sm" w="sm" type="none"/>
                      <a:tailEnd len="sm" w="sm" type="none"/>
                    </a:lnT>
                    <a:lnB cap="flat" cmpd="sng" w="38100">
                      <a:solidFill>
                        <a:srgbClr val="13655A"/>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rgbClr val="2D2F3B"/>
                          </a:solidFill>
                          <a:latin typeface="Poppins"/>
                          <a:ea typeface="Poppins"/>
                          <a:cs typeface="Poppins"/>
                          <a:sym typeface="Poppins"/>
                        </a:rPr>
                        <a:t>Neurotransmitters | </a:t>
                      </a:r>
                      <a:r>
                        <a:rPr b="1" lang="en-US" sz="2800" u="none" cap="none" strike="noStrike">
                          <a:solidFill>
                            <a:srgbClr val="0000FF"/>
                          </a:solidFill>
                          <a:latin typeface="Poppins"/>
                          <a:ea typeface="Poppins"/>
                          <a:cs typeface="Poppins"/>
                          <a:sym typeface="Poppins"/>
                        </a:rPr>
                        <a:t>Neurotransmisores</a:t>
                      </a:r>
                      <a:endParaRPr b="1" sz="2800" u="none" cap="none" strike="noStrike">
                        <a:solidFill>
                          <a:srgbClr val="0000FF"/>
                        </a:solidFill>
                        <a:latin typeface="Poppins"/>
                        <a:ea typeface="Poppins"/>
                        <a:cs typeface="Poppins"/>
                        <a:sym typeface="Poppins"/>
                      </a:endParaRPr>
                    </a:p>
                  </a:txBody>
                  <a:tcPr marT="91425" marB="91425" marR="91425" marL="91425">
                    <a:lnL cap="flat" cmpd="sng" w="38100">
                      <a:solidFill>
                        <a:srgbClr val="13655A"/>
                      </a:solidFill>
                      <a:prstDash val="solid"/>
                      <a:round/>
                      <a:headEnd len="sm" w="sm" type="none"/>
                      <a:tailEnd len="sm" w="sm" type="none"/>
                    </a:lnL>
                    <a:lnR cap="flat" cmpd="sng" w="38100">
                      <a:solidFill>
                        <a:srgbClr val="13655A"/>
                      </a:solidFill>
                      <a:prstDash val="solid"/>
                      <a:round/>
                      <a:headEnd len="sm" w="sm" type="none"/>
                      <a:tailEnd len="sm" w="sm" type="none"/>
                    </a:lnR>
                    <a:lnT cap="flat" cmpd="sng" w="38100">
                      <a:solidFill>
                        <a:srgbClr val="13655A"/>
                      </a:solidFill>
                      <a:prstDash val="solid"/>
                      <a:round/>
                      <a:headEnd len="sm" w="sm" type="none"/>
                      <a:tailEnd len="sm" w="sm" type="none"/>
                    </a:lnT>
                    <a:lnB cap="flat" cmpd="sng" w="38100">
                      <a:solidFill>
                        <a:srgbClr val="13655A"/>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rgbClr val="2D2F3B"/>
                          </a:solidFill>
                          <a:latin typeface="Poppins"/>
                          <a:ea typeface="Poppins"/>
                          <a:cs typeface="Poppins"/>
                          <a:sym typeface="Poppins"/>
                        </a:rPr>
                        <a:t>Hormones | </a:t>
                      </a:r>
                      <a:r>
                        <a:rPr b="1" lang="en-US" sz="2800" u="none" cap="none" strike="noStrike">
                          <a:solidFill>
                            <a:srgbClr val="0000FF"/>
                          </a:solidFill>
                          <a:latin typeface="Poppins"/>
                          <a:ea typeface="Poppins"/>
                          <a:cs typeface="Poppins"/>
                          <a:sym typeface="Poppins"/>
                        </a:rPr>
                        <a:t>Hormonas</a:t>
                      </a:r>
                      <a:endParaRPr b="1" sz="2800" u="none" cap="none" strike="noStrike">
                        <a:solidFill>
                          <a:srgbClr val="0000FF"/>
                        </a:solidFill>
                        <a:latin typeface="Poppins"/>
                        <a:ea typeface="Poppins"/>
                        <a:cs typeface="Poppins"/>
                        <a:sym typeface="Poppins"/>
                      </a:endParaRPr>
                    </a:p>
                  </a:txBody>
                  <a:tcPr marT="91425" marB="91425" marR="91425" marL="91425">
                    <a:lnL cap="flat" cmpd="sng" w="38100">
                      <a:solidFill>
                        <a:srgbClr val="13655A"/>
                      </a:solidFill>
                      <a:prstDash val="solid"/>
                      <a:round/>
                      <a:headEnd len="sm" w="sm" type="none"/>
                      <a:tailEnd len="sm" w="sm" type="none"/>
                    </a:lnL>
                    <a:lnR cap="flat" cmpd="sng" w="38100">
                      <a:solidFill>
                        <a:srgbClr val="13655A"/>
                      </a:solidFill>
                      <a:prstDash val="solid"/>
                      <a:round/>
                      <a:headEnd len="sm" w="sm" type="none"/>
                      <a:tailEnd len="sm" w="sm" type="none"/>
                    </a:lnR>
                    <a:lnT cap="flat" cmpd="sng" w="38100">
                      <a:solidFill>
                        <a:srgbClr val="13655A"/>
                      </a:solidFill>
                      <a:prstDash val="solid"/>
                      <a:round/>
                      <a:headEnd len="sm" w="sm" type="none"/>
                      <a:tailEnd len="sm" w="sm" type="none"/>
                    </a:lnT>
                    <a:lnB cap="flat" cmpd="sng" w="38100">
                      <a:solidFill>
                        <a:srgbClr val="13655A"/>
                      </a:solidFill>
                      <a:prstDash val="solid"/>
                      <a:round/>
                      <a:headEnd len="sm" w="sm" type="none"/>
                      <a:tailEnd len="sm" w="sm" type="none"/>
                    </a:lnB>
                  </a:tcPr>
                </a:tc>
              </a:tr>
              <a:tr h="661850">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solidFill>
                            <a:srgbClr val="2D2F3B"/>
                          </a:solidFill>
                          <a:latin typeface="Poppins"/>
                          <a:ea typeface="Poppins"/>
                          <a:cs typeface="Poppins"/>
                          <a:sym typeface="Poppins"/>
                        </a:rPr>
                        <a:t>System | </a:t>
                      </a:r>
                      <a:r>
                        <a:rPr lang="en-US" sz="2400" u="none" cap="none" strike="noStrike">
                          <a:solidFill>
                            <a:srgbClr val="0000FF"/>
                          </a:solidFill>
                          <a:latin typeface="Poppins"/>
                          <a:ea typeface="Poppins"/>
                          <a:cs typeface="Poppins"/>
                          <a:sym typeface="Poppins"/>
                        </a:rPr>
                        <a:t>Sistema</a:t>
                      </a:r>
                      <a:endParaRPr sz="2400" u="none" cap="none" strike="noStrike">
                        <a:solidFill>
                          <a:srgbClr val="0000FF"/>
                        </a:solidFill>
                        <a:latin typeface="Poppins"/>
                        <a:ea typeface="Poppins"/>
                        <a:cs typeface="Poppins"/>
                        <a:sym typeface="Poppins"/>
                      </a:endParaRPr>
                    </a:p>
                  </a:txBody>
                  <a:tcPr marT="91425" marB="91425" marR="91425" marL="91425">
                    <a:lnL cap="flat" cmpd="sng" w="38100">
                      <a:solidFill>
                        <a:srgbClr val="13655A"/>
                      </a:solidFill>
                      <a:prstDash val="solid"/>
                      <a:round/>
                      <a:headEnd len="sm" w="sm" type="none"/>
                      <a:tailEnd len="sm" w="sm" type="none"/>
                    </a:lnL>
                    <a:lnR cap="flat" cmpd="sng" w="38100">
                      <a:solidFill>
                        <a:srgbClr val="13655A"/>
                      </a:solidFill>
                      <a:prstDash val="solid"/>
                      <a:round/>
                      <a:headEnd len="sm" w="sm" type="none"/>
                      <a:tailEnd len="sm" w="sm" type="none"/>
                    </a:lnR>
                    <a:lnT cap="flat" cmpd="sng" w="38100">
                      <a:solidFill>
                        <a:srgbClr val="13655A"/>
                      </a:solidFill>
                      <a:prstDash val="solid"/>
                      <a:round/>
                      <a:headEnd len="sm" w="sm" type="none"/>
                      <a:tailEnd len="sm" w="sm" type="none"/>
                    </a:lnT>
                    <a:lnB cap="flat" cmpd="sng" w="38100">
                      <a:solidFill>
                        <a:srgbClr val="13655A"/>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solidFill>
                            <a:srgbClr val="2D2F3B"/>
                          </a:solidFill>
                          <a:latin typeface="Poppins"/>
                          <a:ea typeface="Poppins"/>
                          <a:cs typeface="Poppins"/>
                          <a:sym typeface="Poppins"/>
                        </a:rPr>
                        <a:t>Nervous | </a:t>
                      </a:r>
                      <a:r>
                        <a:rPr lang="en-US" sz="2400" u="none" cap="none" strike="noStrike">
                          <a:solidFill>
                            <a:srgbClr val="0000FF"/>
                          </a:solidFill>
                          <a:latin typeface="Poppins"/>
                          <a:ea typeface="Poppins"/>
                          <a:cs typeface="Poppins"/>
                          <a:sym typeface="Poppins"/>
                        </a:rPr>
                        <a:t>Nervioso</a:t>
                      </a:r>
                      <a:endParaRPr sz="2400" u="none" cap="none" strike="noStrike">
                        <a:solidFill>
                          <a:srgbClr val="0000FF"/>
                        </a:solidFill>
                        <a:latin typeface="Poppins"/>
                        <a:ea typeface="Poppins"/>
                        <a:cs typeface="Poppins"/>
                        <a:sym typeface="Poppins"/>
                      </a:endParaRPr>
                    </a:p>
                  </a:txBody>
                  <a:tcPr marT="91425" marB="91425" marR="91425" marL="91425">
                    <a:lnL cap="flat" cmpd="sng" w="38100">
                      <a:solidFill>
                        <a:srgbClr val="13655A"/>
                      </a:solidFill>
                      <a:prstDash val="solid"/>
                      <a:round/>
                      <a:headEnd len="sm" w="sm" type="none"/>
                      <a:tailEnd len="sm" w="sm" type="none"/>
                    </a:lnL>
                    <a:lnR cap="flat" cmpd="sng" w="38100">
                      <a:solidFill>
                        <a:srgbClr val="13655A"/>
                      </a:solidFill>
                      <a:prstDash val="solid"/>
                      <a:round/>
                      <a:headEnd len="sm" w="sm" type="none"/>
                      <a:tailEnd len="sm" w="sm" type="none"/>
                    </a:lnR>
                    <a:lnT cap="flat" cmpd="sng" w="38100">
                      <a:solidFill>
                        <a:srgbClr val="13655A"/>
                      </a:solidFill>
                      <a:prstDash val="solid"/>
                      <a:round/>
                      <a:headEnd len="sm" w="sm" type="none"/>
                      <a:tailEnd len="sm" w="sm" type="none"/>
                    </a:lnT>
                    <a:lnB cap="flat" cmpd="sng" w="38100">
                      <a:solidFill>
                        <a:srgbClr val="13655A"/>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solidFill>
                            <a:srgbClr val="2D2F3B"/>
                          </a:solidFill>
                          <a:latin typeface="Poppins"/>
                          <a:ea typeface="Poppins"/>
                          <a:cs typeface="Poppins"/>
                          <a:sym typeface="Poppins"/>
                        </a:rPr>
                        <a:t>Endocrine | </a:t>
                      </a:r>
                      <a:r>
                        <a:rPr lang="en-US" sz="2400" u="none" cap="none" strike="noStrike">
                          <a:solidFill>
                            <a:srgbClr val="0000FF"/>
                          </a:solidFill>
                          <a:latin typeface="Poppins"/>
                          <a:ea typeface="Poppins"/>
                          <a:cs typeface="Poppins"/>
                          <a:sym typeface="Poppins"/>
                        </a:rPr>
                        <a:t>Endocrino</a:t>
                      </a:r>
                      <a:endParaRPr sz="2400" u="none" cap="none" strike="noStrike">
                        <a:solidFill>
                          <a:srgbClr val="0000FF"/>
                        </a:solidFill>
                        <a:latin typeface="Poppins"/>
                        <a:ea typeface="Poppins"/>
                        <a:cs typeface="Poppins"/>
                        <a:sym typeface="Poppins"/>
                      </a:endParaRPr>
                    </a:p>
                  </a:txBody>
                  <a:tcPr marT="91425" marB="91425" marR="91425" marL="91425">
                    <a:lnL cap="flat" cmpd="sng" w="38100">
                      <a:solidFill>
                        <a:srgbClr val="13655A"/>
                      </a:solidFill>
                      <a:prstDash val="solid"/>
                      <a:round/>
                      <a:headEnd len="sm" w="sm" type="none"/>
                      <a:tailEnd len="sm" w="sm" type="none"/>
                    </a:lnL>
                    <a:lnR cap="flat" cmpd="sng" w="38100">
                      <a:solidFill>
                        <a:srgbClr val="13655A"/>
                      </a:solidFill>
                      <a:prstDash val="solid"/>
                      <a:round/>
                      <a:headEnd len="sm" w="sm" type="none"/>
                      <a:tailEnd len="sm" w="sm" type="none"/>
                    </a:lnR>
                    <a:lnT cap="flat" cmpd="sng" w="38100">
                      <a:solidFill>
                        <a:srgbClr val="13655A"/>
                      </a:solidFill>
                      <a:prstDash val="solid"/>
                      <a:round/>
                      <a:headEnd len="sm" w="sm" type="none"/>
                      <a:tailEnd len="sm" w="sm" type="none"/>
                    </a:lnT>
                    <a:lnB cap="flat" cmpd="sng" w="38100">
                      <a:solidFill>
                        <a:srgbClr val="13655A"/>
                      </a:solidFill>
                      <a:prstDash val="solid"/>
                      <a:round/>
                      <a:headEnd len="sm" w="sm" type="none"/>
                      <a:tailEnd len="sm" w="sm" type="none"/>
                    </a:lnB>
                  </a:tcPr>
                </a:tc>
              </a:tr>
              <a:tr h="661850">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solidFill>
                            <a:srgbClr val="2D2F3B"/>
                          </a:solidFill>
                          <a:latin typeface="Poppins"/>
                          <a:ea typeface="Poppins"/>
                          <a:cs typeface="Poppins"/>
                          <a:sym typeface="Poppins"/>
                        </a:rPr>
                        <a:t>Travel | </a:t>
                      </a:r>
                      <a:r>
                        <a:rPr lang="en-US" sz="2400" u="none" cap="none" strike="noStrike">
                          <a:solidFill>
                            <a:srgbClr val="0000FF"/>
                          </a:solidFill>
                          <a:latin typeface="Poppins"/>
                          <a:ea typeface="Poppins"/>
                          <a:cs typeface="Poppins"/>
                          <a:sym typeface="Poppins"/>
                        </a:rPr>
                        <a:t>Desplazamiento</a:t>
                      </a:r>
                      <a:endParaRPr sz="2400" u="none" cap="none" strike="noStrike">
                        <a:solidFill>
                          <a:srgbClr val="0000FF"/>
                        </a:solidFill>
                        <a:latin typeface="Poppins"/>
                        <a:ea typeface="Poppins"/>
                        <a:cs typeface="Poppins"/>
                        <a:sym typeface="Poppins"/>
                      </a:endParaRPr>
                    </a:p>
                  </a:txBody>
                  <a:tcPr marT="91425" marB="91425" marR="91425" marL="91425">
                    <a:lnL cap="flat" cmpd="sng" w="38100">
                      <a:solidFill>
                        <a:srgbClr val="13655A"/>
                      </a:solidFill>
                      <a:prstDash val="solid"/>
                      <a:round/>
                      <a:headEnd len="sm" w="sm" type="none"/>
                      <a:tailEnd len="sm" w="sm" type="none"/>
                    </a:lnL>
                    <a:lnR cap="flat" cmpd="sng" w="38100">
                      <a:solidFill>
                        <a:srgbClr val="13655A"/>
                      </a:solidFill>
                      <a:prstDash val="solid"/>
                      <a:round/>
                      <a:headEnd len="sm" w="sm" type="none"/>
                      <a:tailEnd len="sm" w="sm" type="none"/>
                    </a:lnR>
                    <a:lnT cap="flat" cmpd="sng" w="38100">
                      <a:solidFill>
                        <a:srgbClr val="13655A"/>
                      </a:solidFill>
                      <a:prstDash val="solid"/>
                      <a:round/>
                      <a:headEnd len="sm" w="sm" type="none"/>
                      <a:tailEnd len="sm" w="sm" type="none"/>
                    </a:lnT>
                    <a:lnB cap="flat" cmpd="sng" w="38100">
                      <a:solidFill>
                        <a:srgbClr val="13655A"/>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solidFill>
                            <a:srgbClr val="2D2F3B"/>
                          </a:solidFill>
                          <a:latin typeface="Poppins"/>
                          <a:ea typeface="Poppins"/>
                          <a:cs typeface="Poppins"/>
                          <a:sym typeface="Poppins"/>
                        </a:rPr>
                        <a:t>Synapses | </a:t>
                      </a:r>
                      <a:r>
                        <a:rPr lang="en-US" sz="2400" u="none" cap="none" strike="noStrike">
                          <a:solidFill>
                            <a:srgbClr val="0000FF"/>
                          </a:solidFill>
                          <a:latin typeface="Poppins"/>
                          <a:ea typeface="Poppins"/>
                          <a:cs typeface="Poppins"/>
                          <a:sym typeface="Poppins"/>
                        </a:rPr>
                        <a:t>Sinapsis</a:t>
                      </a:r>
                      <a:endParaRPr sz="2400" u="none" cap="none" strike="noStrike">
                        <a:solidFill>
                          <a:srgbClr val="0000FF"/>
                        </a:solidFill>
                        <a:latin typeface="Poppins"/>
                        <a:ea typeface="Poppins"/>
                        <a:cs typeface="Poppins"/>
                        <a:sym typeface="Poppins"/>
                      </a:endParaRPr>
                    </a:p>
                  </a:txBody>
                  <a:tcPr marT="91425" marB="91425" marR="91425" marL="91425">
                    <a:lnL cap="flat" cmpd="sng" w="38100">
                      <a:solidFill>
                        <a:srgbClr val="13655A"/>
                      </a:solidFill>
                      <a:prstDash val="solid"/>
                      <a:round/>
                      <a:headEnd len="sm" w="sm" type="none"/>
                      <a:tailEnd len="sm" w="sm" type="none"/>
                    </a:lnL>
                    <a:lnR cap="flat" cmpd="sng" w="38100">
                      <a:solidFill>
                        <a:srgbClr val="13655A"/>
                      </a:solidFill>
                      <a:prstDash val="solid"/>
                      <a:round/>
                      <a:headEnd len="sm" w="sm" type="none"/>
                      <a:tailEnd len="sm" w="sm" type="none"/>
                    </a:lnR>
                    <a:lnT cap="flat" cmpd="sng" w="38100">
                      <a:solidFill>
                        <a:srgbClr val="13655A"/>
                      </a:solidFill>
                      <a:prstDash val="solid"/>
                      <a:round/>
                      <a:headEnd len="sm" w="sm" type="none"/>
                      <a:tailEnd len="sm" w="sm" type="none"/>
                    </a:lnT>
                    <a:lnB cap="flat" cmpd="sng" w="38100">
                      <a:solidFill>
                        <a:srgbClr val="13655A"/>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solidFill>
                            <a:srgbClr val="0000FF"/>
                          </a:solidFill>
                          <a:latin typeface="Poppins"/>
                          <a:ea typeface="Poppins"/>
                          <a:cs typeface="Poppins"/>
                          <a:sym typeface="Poppins"/>
                        </a:rPr>
                        <a:t>Bloodstream | Torreno sanguíneo</a:t>
                      </a:r>
                      <a:endParaRPr sz="2400" u="none" cap="none" strike="noStrike">
                        <a:solidFill>
                          <a:srgbClr val="0000FF"/>
                        </a:solidFill>
                        <a:latin typeface="Poppins"/>
                        <a:ea typeface="Poppins"/>
                        <a:cs typeface="Poppins"/>
                        <a:sym typeface="Poppins"/>
                      </a:endParaRPr>
                    </a:p>
                  </a:txBody>
                  <a:tcPr marT="91425" marB="91425" marR="91425" marL="91425">
                    <a:lnL cap="flat" cmpd="sng" w="38100">
                      <a:solidFill>
                        <a:srgbClr val="13655A"/>
                      </a:solidFill>
                      <a:prstDash val="solid"/>
                      <a:round/>
                      <a:headEnd len="sm" w="sm" type="none"/>
                      <a:tailEnd len="sm" w="sm" type="none"/>
                    </a:lnL>
                    <a:lnR cap="flat" cmpd="sng" w="38100">
                      <a:solidFill>
                        <a:srgbClr val="13655A"/>
                      </a:solidFill>
                      <a:prstDash val="solid"/>
                      <a:round/>
                      <a:headEnd len="sm" w="sm" type="none"/>
                      <a:tailEnd len="sm" w="sm" type="none"/>
                    </a:lnR>
                    <a:lnT cap="flat" cmpd="sng" w="38100">
                      <a:solidFill>
                        <a:srgbClr val="13655A"/>
                      </a:solidFill>
                      <a:prstDash val="solid"/>
                      <a:round/>
                      <a:headEnd len="sm" w="sm" type="none"/>
                      <a:tailEnd len="sm" w="sm" type="none"/>
                    </a:lnT>
                    <a:lnB cap="flat" cmpd="sng" w="38100">
                      <a:solidFill>
                        <a:srgbClr val="13655A"/>
                      </a:solidFill>
                      <a:prstDash val="solid"/>
                      <a:round/>
                      <a:headEnd len="sm" w="sm" type="none"/>
                      <a:tailEnd len="sm" w="sm" type="none"/>
                    </a:lnB>
                  </a:tcPr>
                </a:tc>
              </a:tr>
              <a:tr h="661850">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solidFill>
                            <a:srgbClr val="2D2F3B"/>
                          </a:solidFill>
                          <a:latin typeface="Poppins"/>
                          <a:ea typeface="Poppins"/>
                          <a:cs typeface="Poppins"/>
                          <a:sym typeface="Poppins"/>
                        </a:rPr>
                        <a:t>Speed | </a:t>
                      </a:r>
                      <a:r>
                        <a:rPr lang="en-US" sz="2400" u="none" cap="none" strike="noStrike">
                          <a:solidFill>
                            <a:srgbClr val="0000FF"/>
                          </a:solidFill>
                          <a:latin typeface="Poppins"/>
                          <a:ea typeface="Poppins"/>
                          <a:cs typeface="Poppins"/>
                          <a:sym typeface="Poppins"/>
                        </a:rPr>
                        <a:t>Velocidad</a:t>
                      </a:r>
                      <a:endParaRPr sz="2400" u="none" cap="none" strike="noStrike">
                        <a:solidFill>
                          <a:srgbClr val="0000FF"/>
                        </a:solidFill>
                        <a:latin typeface="Poppins"/>
                        <a:ea typeface="Poppins"/>
                        <a:cs typeface="Poppins"/>
                        <a:sym typeface="Poppins"/>
                      </a:endParaRPr>
                    </a:p>
                  </a:txBody>
                  <a:tcPr marT="91425" marB="91425" marR="91425" marL="91425">
                    <a:lnL cap="flat" cmpd="sng" w="38100">
                      <a:solidFill>
                        <a:srgbClr val="13655A"/>
                      </a:solidFill>
                      <a:prstDash val="solid"/>
                      <a:round/>
                      <a:headEnd len="sm" w="sm" type="none"/>
                      <a:tailEnd len="sm" w="sm" type="none"/>
                    </a:lnL>
                    <a:lnR cap="flat" cmpd="sng" w="38100">
                      <a:solidFill>
                        <a:srgbClr val="13655A"/>
                      </a:solidFill>
                      <a:prstDash val="solid"/>
                      <a:round/>
                      <a:headEnd len="sm" w="sm" type="none"/>
                      <a:tailEnd len="sm" w="sm" type="none"/>
                    </a:lnR>
                    <a:lnT cap="flat" cmpd="sng" w="38100">
                      <a:solidFill>
                        <a:srgbClr val="13655A"/>
                      </a:solidFill>
                      <a:prstDash val="solid"/>
                      <a:round/>
                      <a:headEnd len="sm" w="sm" type="none"/>
                      <a:tailEnd len="sm" w="sm" type="none"/>
                    </a:lnT>
                    <a:lnB cap="flat" cmpd="sng" w="38100">
                      <a:solidFill>
                        <a:srgbClr val="13655A"/>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solidFill>
                            <a:srgbClr val="2D2F3B"/>
                          </a:solidFill>
                          <a:latin typeface="Poppins"/>
                          <a:ea typeface="Poppins"/>
                          <a:cs typeface="Poppins"/>
                          <a:sym typeface="Poppins"/>
                        </a:rPr>
                        <a:t>Millisecond | </a:t>
                      </a:r>
                      <a:r>
                        <a:rPr lang="en-US" sz="2400" u="none" cap="none" strike="noStrike">
                          <a:solidFill>
                            <a:srgbClr val="0000FF"/>
                          </a:solidFill>
                          <a:latin typeface="Poppins"/>
                          <a:ea typeface="Poppins"/>
                          <a:cs typeface="Poppins"/>
                          <a:sym typeface="Poppins"/>
                        </a:rPr>
                        <a:t>Milisegundos</a:t>
                      </a:r>
                      <a:endParaRPr sz="2400" u="none" cap="none" strike="noStrike">
                        <a:solidFill>
                          <a:srgbClr val="0000FF"/>
                        </a:solidFill>
                        <a:latin typeface="Poppins"/>
                        <a:ea typeface="Poppins"/>
                        <a:cs typeface="Poppins"/>
                        <a:sym typeface="Poppins"/>
                      </a:endParaRPr>
                    </a:p>
                  </a:txBody>
                  <a:tcPr marT="91425" marB="91425" marR="91425" marL="91425">
                    <a:lnL cap="flat" cmpd="sng" w="38100">
                      <a:solidFill>
                        <a:srgbClr val="13655A"/>
                      </a:solidFill>
                      <a:prstDash val="solid"/>
                      <a:round/>
                      <a:headEnd len="sm" w="sm" type="none"/>
                      <a:tailEnd len="sm" w="sm" type="none"/>
                    </a:lnL>
                    <a:lnR cap="flat" cmpd="sng" w="38100">
                      <a:solidFill>
                        <a:srgbClr val="13655A"/>
                      </a:solidFill>
                      <a:prstDash val="solid"/>
                      <a:round/>
                      <a:headEnd len="sm" w="sm" type="none"/>
                      <a:tailEnd len="sm" w="sm" type="none"/>
                    </a:lnR>
                    <a:lnT cap="flat" cmpd="sng" w="38100">
                      <a:solidFill>
                        <a:srgbClr val="13655A"/>
                      </a:solidFill>
                      <a:prstDash val="solid"/>
                      <a:round/>
                      <a:headEnd len="sm" w="sm" type="none"/>
                      <a:tailEnd len="sm" w="sm" type="none"/>
                    </a:lnT>
                    <a:lnB cap="flat" cmpd="sng" w="38100">
                      <a:solidFill>
                        <a:srgbClr val="13655A"/>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solidFill>
                            <a:srgbClr val="2D2F3B"/>
                          </a:solidFill>
                          <a:latin typeface="Poppins"/>
                          <a:ea typeface="Poppins"/>
                          <a:cs typeface="Poppins"/>
                          <a:sym typeface="Poppins"/>
                        </a:rPr>
                        <a:t>Seconds to Hours | </a:t>
                      </a:r>
                      <a:r>
                        <a:rPr lang="en-US" sz="2400" u="none" cap="none" strike="noStrike">
                          <a:solidFill>
                            <a:srgbClr val="0000FF"/>
                          </a:solidFill>
                          <a:latin typeface="Poppins"/>
                          <a:ea typeface="Poppins"/>
                          <a:cs typeface="Poppins"/>
                          <a:sym typeface="Poppins"/>
                        </a:rPr>
                        <a:t>De segundos a horas</a:t>
                      </a:r>
                      <a:endParaRPr sz="2400" u="none" cap="none" strike="noStrike">
                        <a:solidFill>
                          <a:srgbClr val="0000FF"/>
                        </a:solidFill>
                        <a:latin typeface="Poppins"/>
                        <a:ea typeface="Poppins"/>
                        <a:cs typeface="Poppins"/>
                        <a:sym typeface="Poppins"/>
                      </a:endParaRPr>
                    </a:p>
                  </a:txBody>
                  <a:tcPr marT="91425" marB="91425" marR="91425" marL="91425">
                    <a:lnL cap="flat" cmpd="sng" w="38100">
                      <a:solidFill>
                        <a:srgbClr val="13655A"/>
                      </a:solidFill>
                      <a:prstDash val="solid"/>
                      <a:round/>
                      <a:headEnd len="sm" w="sm" type="none"/>
                      <a:tailEnd len="sm" w="sm" type="none"/>
                    </a:lnL>
                    <a:lnR cap="flat" cmpd="sng" w="38100">
                      <a:solidFill>
                        <a:srgbClr val="13655A"/>
                      </a:solidFill>
                      <a:prstDash val="solid"/>
                      <a:round/>
                      <a:headEnd len="sm" w="sm" type="none"/>
                      <a:tailEnd len="sm" w="sm" type="none"/>
                    </a:lnR>
                    <a:lnT cap="flat" cmpd="sng" w="38100">
                      <a:solidFill>
                        <a:srgbClr val="13655A"/>
                      </a:solidFill>
                      <a:prstDash val="solid"/>
                      <a:round/>
                      <a:headEnd len="sm" w="sm" type="none"/>
                      <a:tailEnd len="sm" w="sm" type="none"/>
                    </a:lnT>
                    <a:lnB cap="flat" cmpd="sng" w="38100">
                      <a:solidFill>
                        <a:srgbClr val="13655A"/>
                      </a:solidFill>
                      <a:prstDash val="solid"/>
                      <a:round/>
                      <a:headEnd len="sm" w="sm" type="none"/>
                      <a:tailEnd len="sm" w="sm" type="none"/>
                    </a:lnB>
                  </a:tcPr>
                </a:tc>
              </a:tr>
              <a:tr h="661850">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solidFill>
                            <a:srgbClr val="0000FF"/>
                          </a:solidFill>
                          <a:latin typeface="Poppins"/>
                          <a:ea typeface="Poppins"/>
                          <a:cs typeface="Poppins"/>
                          <a:sym typeface="Poppins"/>
                        </a:rPr>
                        <a:t>Affected Area | Área afectada</a:t>
                      </a:r>
                      <a:endParaRPr sz="2400" u="none" cap="none" strike="noStrike">
                        <a:solidFill>
                          <a:srgbClr val="0000FF"/>
                        </a:solidFill>
                        <a:latin typeface="Poppins"/>
                        <a:ea typeface="Poppins"/>
                        <a:cs typeface="Poppins"/>
                        <a:sym typeface="Poppins"/>
                      </a:endParaRPr>
                    </a:p>
                  </a:txBody>
                  <a:tcPr marT="91425" marB="91425" marR="91425" marL="91425">
                    <a:lnL cap="flat" cmpd="sng" w="38100">
                      <a:solidFill>
                        <a:srgbClr val="13655A"/>
                      </a:solidFill>
                      <a:prstDash val="solid"/>
                      <a:round/>
                      <a:headEnd len="sm" w="sm" type="none"/>
                      <a:tailEnd len="sm" w="sm" type="none"/>
                    </a:lnL>
                    <a:lnR cap="flat" cmpd="sng" w="38100">
                      <a:solidFill>
                        <a:srgbClr val="13655A"/>
                      </a:solidFill>
                      <a:prstDash val="solid"/>
                      <a:round/>
                      <a:headEnd len="sm" w="sm" type="none"/>
                      <a:tailEnd len="sm" w="sm" type="none"/>
                    </a:lnR>
                    <a:lnT cap="flat" cmpd="sng" w="38100">
                      <a:solidFill>
                        <a:srgbClr val="13655A"/>
                      </a:solidFill>
                      <a:prstDash val="solid"/>
                      <a:round/>
                      <a:headEnd len="sm" w="sm" type="none"/>
                      <a:tailEnd len="sm" w="sm" type="none"/>
                    </a:lnT>
                    <a:lnB cap="flat" cmpd="sng" w="38100">
                      <a:solidFill>
                        <a:srgbClr val="13655A"/>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solidFill>
                            <a:srgbClr val="2D2F3B"/>
                          </a:solidFill>
                          <a:latin typeface="Poppins"/>
                          <a:ea typeface="Poppins"/>
                          <a:cs typeface="Poppins"/>
                          <a:sym typeface="Poppins"/>
                        </a:rPr>
                        <a:t>Targeted | </a:t>
                      </a:r>
                      <a:r>
                        <a:rPr lang="en-US" sz="2400" u="none" cap="none" strike="noStrike">
                          <a:solidFill>
                            <a:srgbClr val="0000FF"/>
                          </a:solidFill>
                          <a:latin typeface="Poppins"/>
                          <a:ea typeface="Poppins"/>
                          <a:cs typeface="Poppins"/>
                          <a:sym typeface="Poppins"/>
                        </a:rPr>
                        <a:t>Dirigido</a:t>
                      </a:r>
                      <a:endParaRPr sz="2400" u="none" cap="none" strike="noStrike">
                        <a:solidFill>
                          <a:srgbClr val="0000FF"/>
                        </a:solidFill>
                        <a:latin typeface="Poppins"/>
                        <a:ea typeface="Poppins"/>
                        <a:cs typeface="Poppins"/>
                        <a:sym typeface="Poppins"/>
                      </a:endParaRPr>
                    </a:p>
                  </a:txBody>
                  <a:tcPr marT="91425" marB="91425" marR="91425" marL="91425">
                    <a:lnL cap="flat" cmpd="sng" w="38100">
                      <a:solidFill>
                        <a:srgbClr val="13655A"/>
                      </a:solidFill>
                      <a:prstDash val="solid"/>
                      <a:round/>
                      <a:headEnd len="sm" w="sm" type="none"/>
                      <a:tailEnd len="sm" w="sm" type="none"/>
                    </a:lnL>
                    <a:lnR cap="flat" cmpd="sng" w="38100">
                      <a:solidFill>
                        <a:srgbClr val="13655A"/>
                      </a:solidFill>
                      <a:prstDash val="solid"/>
                      <a:round/>
                      <a:headEnd len="sm" w="sm" type="none"/>
                      <a:tailEnd len="sm" w="sm" type="none"/>
                    </a:lnR>
                    <a:lnT cap="flat" cmpd="sng" w="38100">
                      <a:solidFill>
                        <a:srgbClr val="13655A"/>
                      </a:solidFill>
                      <a:prstDash val="solid"/>
                      <a:round/>
                      <a:headEnd len="sm" w="sm" type="none"/>
                      <a:tailEnd len="sm" w="sm" type="none"/>
                    </a:lnT>
                    <a:lnB cap="flat" cmpd="sng" w="38100">
                      <a:solidFill>
                        <a:srgbClr val="13655A"/>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solidFill>
                            <a:srgbClr val="2D2F3B"/>
                          </a:solidFill>
                          <a:latin typeface="Poppins"/>
                          <a:ea typeface="Poppins"/>
                          <a:cs typeface="Poppins"/>
                          <a:sym typeface="Poppins"/>
                        </a:rPr>
                        <a:t>Widespread | </a:t>
                      </a:r>
                      <a:r>
                        <a:rPr lang="en-US" sz="2400" u="none" cap="none" strike="noStrike">
                          <a:solidFill>
                            <a:srgbClr val="0000FF"/>
                          </a:solidFill>
                          <a:latin typeface="Poppins"/>
                          <a:ea typeface="Poppins"/>
                          <a:cs typeface="Poppins"/>
                          <a:sym typeface="Poppins"/>
                        </a:rPr>
                        <a:t>Generalizado</a:t>
                      </a:r>
                      <a:endParaRPr sz="2400" u="none" cap="none" strike="noStrike">
                        <a:solidFill>
                          <a:srgbClr val="0000FF"/>
                        </a:solidFill>
                        <a:latin typeface="Poppins"/>
                        <a:ea typeface="Poppins"/>
                        <a:cs typeface="Poppins"/>
                        <a:sym typeface="Poppins"/>
                      </a:endParaRPr>
                    </a:p>
                  </a:txBody>
                  <a:tcPr marT="91425" marB="91425" marR="91425" marL="91425">
                    <a:lnL cap="flat" cmpd="sng" w="38100">
                      <a:solidFill>
                        <a:srgbClr val="13655A"/>
                      </a:solidFill>
                      <a:prstDash val="solid"/>
                      <a:round/>
                      <a:headEnd len="sm" w="sm" type="none"/>
                      <a:tailEnd len="sm" w="sm" type="none"/>
                    </a:lnL>
                    <a:lnR cap="flat" cmpd="sng" w="38100">
                      <a:solidFill>
                        <a:srgbClr val="13655A"/>
                      </a:solidFill>
                      <a:prstDash val="solid"/>
                      <a:round/>
                      <a:headEnd len="sm" w="sm" type="none"/>
                      <a:tailEnd len="sm" w="sm" type="none"/>
                    </a:lnR>
                    <a:lnT cap="flat" cmpd="sng" w="38100">
                      <a:solidFill>
                        <a:srgbClr val="13655A"/>
                      </a:solidFill>
                      <a:prstDash val="solid"/>
                      <a:round/>
                      <a:headEnd len="sm" w="sm" type="none"/>
                      <a:tailEnd len="sm" w="sm" type="none"/>
                    </a:lnT>
                    <a:lnB cap="flat" cmpd="sng" w="38100">
                      <a:solidFill>
                        <a:srgbClr val="13655A"/>
                      </a:solidFill>
                      <a:prstDash val="solid"/>
                      <a:round/>
                      <a:headEnd len="sm" w="sm" type="none"/>
                      <a:tailEnd len="sm" w="sm" type="none"/>
                    </a:lnB>
                  </a:tcPr>
                </a:tc>
              </a:tr>
              <a:tr h="661850">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solidFill>
                            <a:srgbClr val="2D2F3B"/>
                          </a:solidFill>
                          <a:latin typeface="Poppins"/>
                          <a:ea typeface="Poppins"/>
                          <a:cs typeface="Poppins"/>
                          <a:sym typeface="Poppins"/>
                        </a:rPr>
                        <a:t>Duration | </a:t>
                      </a:r>
                      <a:r>
                        <a:rPr lang="en-US" sz="2400" u="none" cap="none" strike="noStrike">
                          <a:solidFill>
                            <a:srgbClr val="0000FF"/>
                          </a:solidFill>
                          <a:latin typeface="Poppins"/>
                          <a:ea typeface="Poppins"/>
                          <a:cs typeface="Poppins"/>
                          <a:sym typeface="Poppins"/>
                        </a:rPr>
                        <a:t>Duración</a:t>
                      </a:r>
                      <a:endParaRPr sz="2400" u="none" cap="none" strike="noStrike">
                        <a:solidFill>
                          <a:srgbClr val="0000FF"/>
                        </a:solidFill>
                        <a:latin typeface="Poppins"/>
                        <a:ea typeface="Poppins"/>
                        <a:cs typeface="Poppins"/>
                        <a:sym typeface="Poppins"/>
                      </a:endParaRPr>
                    </a:p>
                  </a:txBody>
                  <a:tcPr marT="91425" marB="91425" marR="91425" marL="91425">
                    <a:lnL cap="flat" cmpd="sng" w="38100">
                      <a:solidFill>
                        <a:srgbClr val="13655A"/>
                      </a:solidFill>
                      <a:prstDash val="solid"/>
                      <a:round/>
                      <a:headEnd len="sm" w="sm" type="none"/>
                      <a:tailEnd len="sm" w="sm" type="none"/>
                    </a:lnL>
                    <a:lnR cap="flat" cmpd="sng" w="38100">
                      <a:solidFill>
                        <a:srgbClr val="13655A"/>
                      </a:solidFill>
                      <a:prstDash val="solid"/>
                      <a:round/>
                      <a:headEnd len="sm" w="sm" type="none"/>
                      <a:tailEnd len="sm" w="sm" type="none"/>
                    </a:lnR>
                    <a:lnT cap="flat" cmpd="sng" w="38100">
                      <a:solidFill>
                        <a:srgbClr val="13655A"/>
                      </a:solidFill>
                      <a:prstDash val="solid"/>
                      <a:round/>
                      <a:headEnd len="sm" w="sm" type="none"/>
                      <a:tailEnd len="sm" w="sm" type="none"/>
                    </a:lnT>
                    <a:lnB cap="flat" cmpd="sng" w="38100">
                      <a:solidFill>
                        <a:srgbClr val="13655A"/>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solidFill>
                            <a:srgbClr val="2D2F3B"/>
                          </a:solidFill>
                          <a:latin typeface="Poppins"/>
                          <a:ea typeface="Poppins"/>
                          <a:cs typeface="Poppins"/>
                          <a:sym typeface="Poppins"/>
                        </a:rPr>
                        <a:t>Short | </a:t>
                      </a:r>
                      <a:r>
                        <a:rPr lang="en-US" sz="2400" u="none" cap="none" strike="noStrike">
                          <a:solidFill>
                            <a:srgbClr val="0000FF"/>
                          </a:solidFill>
                          <a:latin typeface="Poppins"/>
                          <a:ea typeface="Poppins"/>
                          <a:cs typeface="Poppins"/>
                          <a:sym typeface="Poppins"/>
                        </a:rPr>
                        <a:t>Corto</a:t>
                      </a:r>
                      <a:endParaRPr sz="2400" u="none" cap="none" strike="noStrike">
                        <a:solidFill>
                          <a:srgbClr val="0000FF"/>
                        </a:solidFill>
                        <a:latin typeface="Poppins"/>
                        <a:ea typeface="Poppins"/>
                        <a:cs typeface="Poppins"/>
                        <a:sym typeface="Poppins"/>
                      </a:endParaRPr>
                    </a:p>
                  </a:txBody>
                  <a:tcPr marT="91425" marB="91425" marR="91425" marL="91425">
                    <a:lnL cap="flat" cmpd="sng" w="38100">
                      <a:solidFill>
                        <a:srgbClr val="13655A"/>
                      </a:solidFill>
                      <a:prstDash val="solid"/>
                      <a:round/>
                      <a:headEnd len="sm" w="sm" type="none"/>
                      <a:tailEnd len="sm" w="sm" type="none"/>
                    </a:lnL>
                    <a:lnR cap="flat" cmpd="sng" w="38100">
                      <a:solidFill>
                        <a:srgbClr val="13655A"/>
                      </a:solidFill>
                      <a:prstDash val="solid"/>
                      <a:round/>
                      <a:headEnd len="sm" w="sm" type="none"/>
                      <a:tailEnd len="sm" w="sm" type="none"/>
                    </a:lnR>
                    <a:lnT cap="flat" cmpd="sng" w="38100">
                      <a:solidFill>
                        <a:srgbClr val="13655A"/>
                      </a:solidFill>
                      <a:prstDash val="solid"/>
                      <a:round/>
                      <a:headEnd len="sm" w="sm" type="none"/>
                      <a:tailEnd len="sm" w="sm" type="none"/>
                    </a:lnT>
                    <a:lnB cap="flat" cmpd="sng" w="38100">
                      <a:solidFill>
                        <a:srgbClr val="13655A"/>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solidFill>
                            <a:srgbClr val="0000FF"/>
                          </a:solidFill>
                          <a:latin typeface="Poppins"/>
                          <a:ea typeface="Poppins"/>
                          <a:cs typeface="Poppins"/>
                          <a:sym typeface="Poppins"/>
                        </a:rPr>
                        <a:t>Long-lasting | De larga duración</a:t>
                      </a:r>
                      <a:endParaRPr sz="2400" u="none" cap="none" strike="noStrike">
                        <a:solidFill>
                          <a:srgbClr val="0000FF"/>
                        </a:solidFill>
                        <a:latin typeface="Poppins"/>
                        <a:ea typeface="Poppins"/>
                        <a:cs typeface="Poppins"/>
                        <a:sym typeface="Poppins"/>
                      </a:endParaRPr>
                    </a:p>
                  </a:txBody>
                  <a:tcPr marT="91425" marB="91425" marR="91425" marL="91425">
                    <a:lnL cap="flat" cmpd="sng" w="38100">
                      <a:solidFill>
                        <a:srgbClr val="13655A"/>
                      </a:solidFill>
                      <a:prstDash val="solid"/>
                      <a:round/>
                      <a:headEnd len="sm" w="sm" type="none"/>
                      <a:tailEnd len="sm" w="sm" type="none"/>
                    </a:lnL>
                    <a:lnR cap="flat" cmpd="sng" w="38100">
                      <a:solidFill>
                        <a:srgbClr val="13655A"/>
                      </a:solidFill>
                      <a:prstDash val="solid"/>
                      <a:round/>
                      <a:headEnd len="sm" w="sm" type="none"/>
                      <a:tailEnd len="sm" w="sm" type="none"/>
                    </a:lnR>
                    <a:lnT cap="flat" cmpd="sng" w="38100">
                      <a:solidFill>
                        <a:srgbClr val="13655A"/>
                      </a:solidFill>
                      <a:prstDash val="solid"/>
                      <a:round/>
                      <a:headEnd len="sm" w="sm" type="none"/>
                      <a:tailEnd len="sm" w="sm" type="none"/>
                    </a:lnT>
                    <a:lnB cap="flat" cmpd="sng" w="38100">
                      <a:solidFill>
                        <a:srgbClr val="13655A"/>
                      </a:solidFill>
                      <a:prstDash val="solid"/>
                      <a:round/>
                      <a:headEnd len="sm" w="sm" type="none"/>
                      <a:tailEnd len="sm" w="sm" type="none"/>
                    </a:lnB>
                  </a:tcPr>
                </a:tc>
              </a:tr>
              <a:tr h="100000">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solidFill>
                            <a:srgbClr val="2D2F3B"/>
                          </a:solidFill>
                          <a:latin typeface="Poppins"/>
                          <a:ea typeface="Poppins"/>
                          <a:cs typeface="Poppins"/>
                          <a:sym typeface="Poppins"/>
                        </a:rPr>
                        <a:t>Examples | </a:t>
                      </a:r>
                      <a:r>
                        <a:rPr lang="en-US" sz="2400" u="none" cap="none" strike="noStrike">
                          <a:solidFill>
                            <a:srgbClr val="0000FF"/>
                          </a:solidFill>
                          <a:latin typeface="Poppins"/>
                          <a:ea typeface="Poppins"/>
                          <a:cs typeface="Poppins"/>
                          <a:sym typeface="Poppins"/>
                        </a:rPr>
                        <a:t>Ejemplos</a:t>
                      </a:r>
                      <a:endParaRPr sz="2400" u="none" cap="none" strike="noStrike">
                        <a:solidFill>
                          <a:srgbClr val="0000FF"/>
                        </a:solidFill>
                        <a:latin typeface="Poppins"/>
                        <a:ea typeface="Poppins"/>
                        <a:cs typeface="Poppins"/>
                        <a:sym typeface="Poppins"/>
                      </a:endParaRPr>
                    </a:p>
                  </a:txBody>
                  <a:tcPr marT="91425" marB="91425" marR="91425" marL="91425">
                    <a:lnL cap="flat" cmpd="sng" w="38100">
                      <a:solidFill>
                        <a:srgbClr val="13655A"/>
                      </a:solidFill>
                      <a:prstDash val="solid"/>
                      <a:round/>
                      <a:headEnd len="sm" w="sm" type="none"/>
                      <a:tailEnd len="sm" w="sm" type="none"/>
                    </a:lnL>
                    <a:lnR cap="flat" cmpd="sng" w="38100">
                      <a:solidFill>
                        <a:srgbClr val="13655A"/>
                      </a:solidFill>
                      <a:prstDash val="solid"/>
                      <a:round/>
                      <a:headEnd len="sm" w="sm" type="none"/>
                      <a:tailEnd len="sm" w="sm" type="none"/>
                    </a:lnR>
                    <a:lnT cap="flat" cmpd="sng" w="38100">
                      <a:solidFill>
                        <a:srgbClr val="13655A"/>
                      </a:solidFill>
                      <a:prstDash val="solid"/>
                      <a:round/>
                      <a:headEnd len="sm" w="sm" type="none"/>
                      <a:tailEnd len="sm" w="sm" type="none"/>
                    </a:lnT>
                    <a:lnB cap="flat" cmpd="sng" w="38100">
                      <a:solidFill>
                        <a:srgbClr val="13655A"/>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solidFill>
                            <a:srgbClr val="2D2F3B"/>
                          </a:solidFill>
                          <a:latin typeface="Poppins"/>
                          <a:ea typeface="Poppins"/>
                          <a:cs typeface="Poppins"/>
                          <a:sym typeface="Poppins"/>
                        </a:rPr>
                        <a:t>Dopamine, serotonin | </a:t>
                      </a:r>
                      <a:r>
                        <a:rPr lang="en-US" sz="2400" u="none" cap="none" strike="noStrike">
                          <a:solidFill>
                            <a:srgbClr val="0000FF"/>
                          </a:solidFill>
                          <a:latin typeface="Poppins"/>
                          <a:ea typeface="Poppins"/>
                          <a:cs typeface="Poppins"/>
                          <a:sym typeface="Poppins"/>
                        </a:rPr>
                        <a:t>Dopamina, serotonina</a:t>
                      </a:r>
                      <a:endParaRPr sz="2400" u="none" cap="none" strike="noStrike">
                        <a:solidFill>
                          <a:srgbClr val="0000FF"/>
                        </a:solidFill>
                        <a:latin typeface="Poppins"/>
                        <a:ea typeface="Poppins"/>
                        <a:cs typeface="Poppins"/>
                        <a:sym typeface="Poppins"/>
                      </a:endParaRPr>
                    </a:p>
                  </a:txBody>
                  <a:tcPr marT="91425" marB="91425" marR="91425" marL="91425">
                    <a:lnL cap="flat" cmpd="sng" w="38100">
                      <a:solidFill>
                        <a:srgbClr val="13655A"/>
                      </a:solidFill>
                      <a:prstDash val="solid"/>
                      <a:round/>
                      <a:headEnd len="sm" w="sm" type="none"/>
                      <a:tailEnd len="sm" w="sm" type="none"/>
                    </a:lnL>
                    <a:lnR cap="flat" cmpd="sng" w="38100">
                      <a:solidFill>
                        <a:srgbClr val="13655A"/>
                      </a:solidFill>
                      <a:prstDash val="solid"/>
                      <a:round/>
                      <a:headEnd len="sm" w="sm" type="none"/>
                      <a:tailEnd len="sm" w="sm" type="none"/>
                    </a:lnR>
                    <a:lnT cap="flat" cmpd="sng" w="38100">
                      <a:solidFill>
                        <a:srgbClr val="13655A"/>
                      </a:solidFill>
                      <a:prstDash val="solid"/>
                      <a:round/>
                      <a:headEnd len="sm" w="sm" type="none"/>
                      <a:tailEnd len="sm" w="sm" type="none"/>
                    </a:lnT>
                    <a:lnB cap="flat" cmpd="sng" w="38100">
                      <a:solidFill>
                        <a:srgbClr val="13655A"/>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solidFill>
                            <a:srgbClr val="2D2F3B"/>
                          </a:solidFill>
                          <a:latin typeface="Poppins"/>
                          <a:ea typeface="Poppins"/>
                          <a:cs typeface="Poppins"/>
                          <a:sym typeface="Poppins"/>
                        </a:rPr>
                        <a:t>Cortisol, oxytocin | </a:t>
                      </a:r>
                      <a:r>
                        <a:rPr lang="en-US" sz="2400" u="none" cap="none" strike="noStrike">
                          <a:solidFill>
                            <a:srgbClr val="0000FF"/>
                          </a:solidFill>
                          <a:latin typeface="Poppins"/>
                          <a:ea typeface="Poppins"/>
                          <a:cs typeface="Poppins"/>
                          <a:sym typeface="Poppins"/>
                        </a:rPr>
                        <a:t>Cortisol, oxitocina</a:t>
                      </a:r>
                      <a:endParaRPr sz="2400" u="none" cap="none" strike="noStrike">
                        <a:solidFill>
                          <a:srgbClr val="0000FF"/>
                        </a:solidFill>
                        <a:latin typeface="Poppins"/>
                        <a:ea typeface="Poppins"/>
                        <a:cs typeface="Poppins"/>
                        <a:sym typeface="Poppins"/>
                      </a:endParaRPr>
                    </a:p>
                  </a:txBody>
                  <a:tcPr marT="91425" marB="91425" marR="91425" marL="91425">
                    <a:lnL cap="flat" cmpd="sng" w="38100">
                      <a:solidFill>
                        <a:srgbClr val="13655A"/>
                      </a:solidFill>
                      <a:prstDash val="solid"/>
                      <a:round/>
                      <a:headEnd len="sm" w="sm" type="none"/>
                      <a:tailEnd len="sm" w="sm" type="none"/>
                    </a:lnL>
                    <a:lnR cap="flat" cmpd="sng" w="38100">
                      <a:solidFill>
                        <a:srgbClr val="13655A"/>
                      </a:solidFill>
                      <a:prstDash val="solid"/>
                      <a:round/>
                      <a:headEnd len="sm" w="sm" type="none"/>
                      <a:tailEnd len="sm" w="sm" type="none"/>
                    </a:lnR>
                    <a:lnT cap="flat" cmpd="sng" w="38100">
                      <a:solidFill>
                        <a:srgbClr val="13655A"/>
                      </a:solidFill>
                      <a:prstDash val="solid"/>
                      <a:round/>
                      <a:headEnd len="sm" w="sm" type="none"/>
                      <a:tailEnd len="sm" w="sm" type="none"/>
                    </a:lnT>
                    <a:lnB cap="flat" cmpd="sng" w="38100">
                      <a:solidFill>
                        <a:srgbClr val="13655A"/>
                      </a:solidFill>
                      <a:prstDash val="solid"/>
                      <a:round/>
                      <a:headEnd len="sm" w="sm" type="none"/>
                      <a:tailEnd len="sm" w="sm" type="none"/>
                    </a:lnB>
                  </a:tcPr>
                </a:tc>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341" name="Shape 1341"/>
        <p:cNvGrpSpPr/>
        <p:nvPr/>
      </p:nvGrpSpPr>
      <p:grpSpPr>
        <a:xfrm>
          <a:off x="0" y="0"/>
          <a:ext cx="0" cy="0"/>
          <a:chOff x="0" y="0"/>
          <a:chExt cx="0" cy="0"/>
        </a:xfrm>
      </p:grpSpPr>
      <p:sp>
        <p:nvSpPr>
          <p:cNvPr id="1342" name="Google Shape;1342;p54"/>
          <p:cNvSpPr txBox="1"/>
          <p:nvPr/>
        </p:nvSpPr>
        <p:spPr>
          <a:xfrm>
            <a:off x="1599892" y="1915838"/>
            <a:ext cx="15367200" cy="5168100"/>
          </a:xfrm>
          <a:prstGeom prst="rect">
            <a:avLst/>
          </a:prstGeom>
          <a:noFill/>
          <a:ln>
            <a:noFill/>
          </a:ln>
        </p:spPr>
        <p:txBody>
          <a:bodyPr anchorCtr="0" anchor="t" bIns="0" lIns="0" spcFirstLastPara="1" rIns="0" wrap="square" tIns="0">
            <a:spAutoFit/>
          </a:bodyPr>
          <a:lstStyle/>
          <a:p>
            <a:pPr indent="0" lvl="0" marL="0" marR="0" rtl="0" algn="ctr">
              <a:lnSpc>
                <a:spcPct val="120002"/>
              </a:lnSpc>
              <a:spcBef>
                <a:spcPts val="0"/>
              </a:spcBef>
              <a:spcAft>
                <a:spcPts val="0"/>
              </a:spcAft>
              <a:buClr>
                <a:srgbClr val="000000"/>
              </a:buClr>
              <a:buSzPts val="7299"/>
              <a:buFont typeface="Arial"/>
              <a:buNone/>
            </a:pPr>
            <a:r>
              <a:rPr b="0" i="0" lang="en-US" sz="7299" u="none" cap="none" strike="noStrike">
                <a:solidFill>
                  <a:srgbClr val="136447"/>
                </a:solidFill>
                <a:latin typeface="Arial"/>
                <a:ea typeface="Arial"/>
                <a:cs typeface="Arial"/>
                <a:sym typeface="Arial"/>
              </a:rPr>
              <a:t>Nature, Nurture, and the Environment</a:t>
            </a:r>
            <a:endParaRPr b="0" i="0" sz="7299" u="none" cap="none" strike="noStrike">
              <a:solidFill>
                <a:srgbClr val="136447"/>
              </a:solidFill>
              <a:latin typeface="Arial"/>
              <a:ea typeface="Arial"/>
              <a:cs typeface="Arial"/>
              <a:sym typeface="Arial"/>
            </a:endParaRPr>
          </a:p>
          <a:p>
            <a:pPr indent="0" lvl="0" marL="0" marR="0" rtl="0" algn="ctr">
              <a:lnSpc>
                <a:spcPct val="120002"/>
              </a:lnSpc>
              <a:spcBef>
                <a:spcPts val="0"/>
              </a:spcBef>
              <a:spcAft>
                <a:spcPts val="0"/>
              </a:spcAft>
              <a:buClr>
                <a:srgbClr val="000000"/>
              </a:buClr>
              <a:buSzPts val="7299"/>
              <a:buFont typeface="Arial"/>
              <a:buNone/>
            </a:pPr>
            <a:r>
              <a:rPr lang="en-US" sz="7299">
                <a:solidFill>
                  <a:srgbClr val="0000FF"/>
                </a:solidFill>
              </a:rPr>
              <a:t>La n</a:t>
            </a:r>
            <a:r>
              <a:rPr b="0" i="0" lang="en-US" sz="7299" u="none" cap="none" strike="noStrike">
                <a:solidFill>
                  <a:srgbClr val="0000FF"/>
                </a:solidFill>
                <a:latin typeface="Arial"/>
                <a:ea typeface="Arial"/>
                <a:cs typeface="Arial"/>
                <a:sym typeface="Arial"/>
              </a:rPr>
              <a:t>aturaleza, la crianza y el medio ambiente</a:t>
            </a:r>
            <a:endParaRPr b="0" i="0" sz="7299" u="none" cap="none" strike="noStrike">
              <a:solidFill>
                <a:srgbClr val="0000FF"/>
              </a:solidFill>
              <a:latin typeface="Arial"/>
              <a:ea typeface="Arial"/>
              <a:cs typeface="Arial"/>
              <a:sym typeface="Arial"/>
            </a:endParaRPr>
          </a:p>
        </p:txBody>
      </p:sp>
      <p:cxnSp>
        <p:nvCxnSpPr>
          <p:cNvPr id="1343" name="Google Shape;1343;p54"/>
          <p:cNvCxnSpPr/>
          <p:nvPr/>
        </p:nvCxnSpPr>
        <p:spPr>
          <a:xfrm>
            <a:off x="1460392" y="7000869"/>
            <a:ext cx="15367200" cy="0"/>
          </a:xfrm>
          <a:prstGeom prst="straightConnector1">
            <a:avLst/>
          </a:prstGeom>
          <a:noFill/>
          <a:ln cap="rnd" cmpd="sng" w="28575">
            <a:solidFill>
              <a:srgbClr val="136447"/>
            </a:solidFill>
            <a:prstDash val="solid"/>
            <a:round/>
            <a:headEnd len="sm" w="sm" type="none"/>
            <a:tailEnd len="sm" w="sm" type="none"/>
          </a:ln>
        </p:spPr>
      </p:cxnSp>
      <p:cxnSp>
        <p:nvCxnSpPr>
          <p:cNvPr id="1344" name="Google Shape;1344;p54"/>
          <p:cNvCxnSpPr/>
          <p:nvPr/>
        </p:nvCxnSpPr>
        <p:spPr>
          <a:xfrm>
            <a:off x="1460392" y="8577683"/>
            <a:ext cx="15367200" cy="0"/>
          </a:xfrm>
          <a:prstGeom prst="straightConnector1">
            <a:avLst/>
          </a:prstGeom>
          <a:noFill/>
          <a:ln cap="rnd" cmpd="sng" w="28575">
            <a:solidFill>
              <a:srgbClr val="136447"/>
            </a:solidFill>
            <a:prstDash val="solid"/>
            <a:round/>
            <a:headEnd len="sm" w="sm" type="none"/>
            <a:tailEnd len="sm" w="sm" type="none"/>
          </a:ln>
        </p:spPr>
      </p:cxnSp>
      <p:sp>
        <p:nvSpPr>
          <p:cNvPr id="1345" name="Google Shape;1345;p54"/>
          <p:cNvSpPr txBox="1"/>
          <p:nvPr/>
        </p:nvSpPr>
        <p:spPr>
          <a:xfrm>
            <a:off x="1599912" y="7229609"/>
            <a:ext cx="15088200" cy="1202400"/>
          </a:xfrm>
          <a:prstGeom prst="rect">
            <a:avLst/>
          </a:prstGeom>
          <a:noFill/>
          <a:ln>
            <a:noFill/>
          </a:ln>
        </p:spPr>
        <p:txBody>
          <a:bodyPr anchorCtr="0" anchor="t" bIns="0" lIns="0" spcFirstLastPara="1" rIns="0" wrap="square" tIns="0">
            <a:spAutoFit/>
          </a:bodyPr>
          <a:lstStyle/>
          <a:p>
            <a:pPr indent="0" lvl="0" marL="0" marR="0" rtl="0" algn="ctr">
              <a:lnSpc>
                <a:spcPct val="130005"/>
              </a:lnSpc>
              <a:spcBef>
                <a:spcPts val="0"/>
              </a:spcBef>
              <a:spcAft>
                <a:spcPts val="0"/>
              </a:spcAft>
              <a:buClr>
                <a:srgbClr val="000000"/>
              </a:buClr>
              <a:buSzPts val="3396"/>
              <a:buFont typeface="Arial"/>
              <a:buNone/>
            </a:pPr>
            <a:r>
              <a:rPr b="1" i="0" lang="en-US" sz="3396" u="none" cap="none" strike="noStrike">
                <a:solidFill>
                  <a:srgbClr val="2D2F3B"/>
                </a:solidFill>
                <a:latin typeface="Poppins Medium"/>
                <a:ea typeface="Poppins Medium"/>
                <a:cs typeface="Poppins Medium"/>
                <a:sym typeface="Poppins Medium"/>
              </a:rPr>
              <a:t>Why We Behave the Way We Do</a:t>
            </a:r>
            <a:endParaRPr b="1" i="0" sz="3396" u="none" cap="none" strike="noStrike">
              <a:solidFill>
                <a:srgbClr val="2D2F3B"/>
              </a:solidFill>
              <a:latin typeface="Poppins Medium"/>
              <a:ea typeface="Poppins Medium"/>
              <a:cs typeface="Poppins Medium"/>
              <a:sym typeface="Poppins Medium"/>
            </a:endParaRPr>
          </a:p>
          <a:p>
            <a:pPr indent="0" lvl="0" marL="0" marR="0" rtl="0" algn="ctr">
              <a:lnSpc>
                <a:spcPct val="130005"/>
              </a:lnSpc>
              <a:spcBef>
                <a:spcPts val="0"/>
              </a:spcBef>
              <a:spcAft>
                <a:spcPts val="0"/>
              </a:spcAft>
              <a:buClr>
                <a:srgbClr val="000000"/>
              </a:buClr>
              <a:buSzPts val="3396"/>
              <a:buFont typeface="Arial"/>
              <a:buNone/>
            </a:pPr>
            <a:r>
              <a:rPr b="1" i="0" lang="en-US" sz="3396" u="none" cap="none" strike="noStrike">
                <a:solidFill>
                  <a:srgbClr val="0000FF"/>
                </a:solidFill>
                <a:latin typeface="Poppins Medium"/>
                <a:ea typeface="Poppins Medium"/>
                <a:cs typeface="Poppins Medium"/>
                <a:sym typeface="Poppins Medium"/>
              </a:rPr>
              <a:t>Por qué nos comportamos como lo hacemos</a:t>
            </a:r>
            <a:endParaRPr b="1" i="0" sz="3396" u="none" cap="none" strike="noStrike">
              <a:solidFill>
                <a:srgbClr val="0000FF"/>
              </a:solidFill>
              <a:latin typeface="Poppins Medium"/>
              <a:ea typeface="Poppins Medium"/>
              <a:cs typeface="Poppins Medium"/>
              <a:sym typeface="Poppins Medium"/>
            </a:endParaRPr>
          </a:p>
        </p:txBody>
      </p:sp>
      <p:sp>
        <p:nvSpPr>
          <p:cNvPr id="1346" name="Google Shape;1346;p54"/>
          <p:cNvSpPr/>
          <p:nvPr/>
        </p:nvSpPr>
        <p:spPr>
          <a:xfrm rot="7551623">
            <a:off x="13699761" y="-1899367"/>
            <a:ext cx="4461883" cy="4580922"/>
          </a:xfrm>
          <a:custGeom>
            <a:rect b="b" l="l" r="r" t="t"/>
            <a:pathLst>
              <a:path extrusionOk="0" h="3881432" w="3930564">
                <a:moveTo>
                  <a:pt x="0" y="0"/>
                </a:moveTo>
                <a:lnTo>
                  <a:pt x="3930564" y="0"/>
                </a:lnTo>
                <a:lnTo>
                  <a:pt x="3930564" y="3881432"/>
                </a:lnTo>
                <a:lnTo>
                  <a:pt x="0" y="3881432"/>
                </a:lnTo>
                <a:lnTo>
                  <a:pt x="0" y="0"/>
                </a:lnTo>
                <a:close/>
              </a:path>
            </a:pathLst>
          </a:custGeom>
          <a:blipFill rotWithShape="1">
            <a:blip r:embed="rId3">
              <a:alphaModFix amt="20000"/>
            </a:blip>
            <a:stretch>
              <a:fillRect b="0" l="0" r="0" t="0"/>
            </a:stretch>
          </a:blipFill>
          <a:ln>
            <a:noFill/>
          </a:ln>
        </p:spPr>
      </p:sp>
      <p:sp>
        <p:nvSpPr>
          <p:cNvPr id="1347" name="Google Shape;1347;p54"/>
          <p:cNvSpPr/>
          <p:nvPr/>
        </p:nvSpPr>
        <p:spPr>
          <a:xfrm>
            <a:off x="4401101" y="-2615874"/>
            <a:ext cx="9485792" cy="5250314"/>
          </a:xfrm>
          <a:custGeom>
            <a:rect b="b" l="l" r="r" t="t"/>
            <a:pathLst>
              <a:path extrusionOk="0" h="4175200" w="7603841">
                <a:moveTo>
                  <a:pt x="0" y="0"/>
                </a:moveTo>
                <a:lnTo>
                  <a:pt x="7603840" y="0"/>
                </a:lnTo>
                <a:lnTo>
                  <a:pt x="7603840" y="4175199"/>
                </a:lnTo>
                <a:lnTo>
                  <a:pt x="0" y="4175199"/>
                </a:lnTo>
                <a:lnTo>
                  <a:pt x="0" y="0"/>
                </a:lnTo>
                <a:close/>
              </a:path>
            </a:pathLst>
          </a:custGeom>
          <a:blipFill rotWithShape="1">
            <a:blip r:embed="rId4">
              <a:alphaModFix amt="20000"/>
            </a:blip>
            <a:stretch>
              <a:fillRect b="0" l="0" r="0" t="0"/>
            </a:stretch>
          </a:blipFill>
          <a:ln>
            <a:noFill/>
          </a:ln>
        </p:spPr>
      </p:sp>
      <p:sp>
        <p:nvSpPr>
          <p:cNvPr id="1348" name="Google Shape;1348;p54"/>
          <p:cNvSpPr/>
          <p:nvPr/>
        </p:nvSpPr>
        <p:spPr>
          <a:xfrm rot="7550259">
            <a:off x="-779227" y="-1969953"/>
            <a:ext cx="5322042" cy="4722103"/>
          </a:xfrm>
          <a:custGeom>
            <a:rect b="b" l="l" r="r" t="t"/>
            <a:pathLst>
              <a:path extrusionOk="0" h="4726063" w="5326505">
                <a:moveTo>
                  <a:pt x="0" y="0"/>
                </a:moveTo>
                <a:lnTo>
                  <a:pt x="5326504" y="0"/>
                </a:lnTo>
                <a:lnTo>
                  <a:pt x="5326504" y="4726062"/>
                </a:lnTo>
                <a:lnTo>
                  <a:pt x="0" y="4726062"/>
                </a:lnTo>
                <a:lnTo>
                  <a:pt x="0" y="0"/>
                </a:lnTo>
                <a:close/>
              </a:path>
            </a:pathLst>
          </a:custGeom>
          <a:blipFill rotWithShape="1">
            <a:blip r:embed="rId5">
              <a:alphaModFix amt="20000"/>
            </a:blip>
            <a:stretch>
              <a:fillRect b="0" l="0" r="0" t="0"/>
            </a:stretch>
          </a:blipFill>
          <a:ln>
            <a:noFill/>
          </a:ln>
        </p:spPr>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352" name="Shape 1352"/>
        <p:cNvGrpSpPr/>
        <p:nvPr/>
      </p:nvGrpSpPr>
      <p:grpSpPr>
        <a:xfrm>
          <a:off x="0" y="0"/>
          <a:ext cx="0" cy="0"/>
          <a:chOff x="0" y="0"/>
          <a:chExt cx="0" cy="0"/>
        </a:xfrm>
      </p:grpSpPr>
      <p:sp>
        <p:nvSpPr>
          <p:cNvPr id="1353" name="Google Shape;1353;p55"/>
          <p:cNvSpPr txBox="1"/>
          <p:nvPr/>
        </p:nvSpPr>
        <p:spPr>
          <a:xfrm>
            <a:off x="-195930" y="606000"/>
            <a:ext cx="12576000" cy="894000"/>
          </a:xfrm>
          <a:prstGeom prst="rect">
            <a:avLst/>
          </a:prstGeom>
          <a:noFill/>
          <a:ln>
            <a:noFill/>
          </a:ln>
        </p:spPr>
        <p:txBody>
          <a:bodyPr anchorCtr="0" anchor="t" bIns="0" lIns="0" spcFirstLastPara="1" rIns="0" wrap="square" tIns="0">
            <a:spAutoFit/>
          </a:bodyPr>
          <a:lstStyle/>
          <a:p>
            <a:pPr indent="0" lvl="0" marL="0" marR="0" rtl="0" algn="ctr">
              <a:lnSpc>
                <a:spcPct val="130009"/>
              </a:lnSpc>
              <a:spcBef>
                <a:spcPts val="0"/>
              </a:spcBef>
              <a:spcAft>
                <a:spcPts val="0"/>
              </a:spcAft>
              <a:buClr>
                <a:srgbClr val="000000"/>
              </a:buClr>
              <a:buSzPts val="5808"/>
              <a:buFont typeface="Arial"/>
              <a:buNone/>
            </a:pPr>
            <a:r>
              <a:rPr b="1" i="0" lang="en-US" sz="5808" u="none" cap="none" strike="noStrike">
                <a:solidFill>
                  <a:srgbClr val="136447"/>
                </a:solidFill>
                <a:latin typeface="Poppins"/>
                <a:ea typeface="Poppins"/>
                <a:cs typeface="Poppins"/>
                <a:sym typeface="Poppins"/>
              </a:rPr>
              <a:t>The Big Idea | </a:t>
            </a:r>
            <a:r>
              <a:rPr b="1" i="0" lang="en-US" sz="5808" u="none" cap="none" strike="noStrike">
                <a:solidFill>
                  <a:srgbClr val="0000FF"/>
                </a:solidFill>
                <a:latin typeface="Poppins"/>
                <a:ea typeface="Poppins"/>
                <a:cs typeface="Poppins"/>
                <a:sym typeface="Poppins"/>
              </a:rPr>
              <a:t>La gran idea</a:t>
            </a:r>
            <a:endParaRPr b="1" i="0" sz="5808" u="none" cap="none" strike="noStrike">
              <a:solidFill>
                <a:srgbClr val="0000FF"/>
              </a:solidFill>
              <a:latin typeface="Poppins"/>
              <a:ea typeface="Poppins"/>
              <a:cs typeface="Poppins"/>
              <a:sym typeface="Poppins"/>
            </a:endParaRPr>
          </a:p>
        </p:txBody>
      </p:sp>
      <p:sp>
        <p:nvSpPr>
          <p:cNvPr id="1354" name="Google Shape;1354;p55"/>
          <p:cNvSpPr txBox="1"/>
          <p:nvPr/>
        </p:nvSpPr>
        <p:spPr>
          <a:xfrm>
            <a:off x="1237323" y="2422775"/>
            <a:ext cx="16355100" cy="1066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300"/>
              <a:buFont typeface="Arial"/>
              <a:buNone/>
            </a:pPr>
            <a:r>
              <a:rPr b="1" i="0" lang="en-US" sz="3300" u="none" cap="none" strike="noStrike">
                <a:solidFill>
                  <a:srgbClr val="2D2F3B"/>
                </a:solidFill>
                <a:latin typeface="Poppins Medium"/>
                <a:ea typeface="Poppins Medium"/>
                <a:cs typeface="Poppins Medium"/>
                <a:sym typeface="Poppins Medium"/>
              </a:rPr>
              <a:t>Behavior = Biology (Nature) + Life Experiences (Nurture)</a:t>
            </a:r>
            <a:endParaRPr b="1" i="0" sz="33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300"/>
              <a:buFont typeface="Arial"/>
              <a:buNone/>
            </a:pPr>
            <a:r>
              <a:rPr b="1" i="0" lang="en-US" sz="3300" u="none" cap="none" strike="noStrike">
                <a:solidFill>
                  <a:srgbClr val="0000FF"/>
                </a:solidFill>
                <a:latin typeface="Poppins Medium"/>
                <a:ea typeface="Poppins Medium"/>
                <a:cs typeface="Poppins Medium"/>
                <a:sym typeface="Poppins Medium"/>
              </a:rPr>
              <a:t>Comportamiento = Biología (Naturaleza) + Experiencias de vida (Crianza)</a:t>
            </a:r>
            <a:endParaRPr b="1" i="0" sz="3300" u="none" cap="none" strike="noStrike">
              <a:solidFill>
                <a:srgbClr val="0000FF"/>
              </a:solidFill>
              <a:latin typeface="Poppins Medium"/>
              <a:ea typeface="Poppins Medium"/>
              <a:cs typeface="Poppins Medium"/>
              <a:sym typeface="Poppins Medium"/>
            </a:endParaRPr>
          </a:p>
        </p:txBody>
      </p:sp>
      <p:sp>
        <p:nvSpPr>
          <p:cNvPr id="1355" name="Google Shape;1355;p55"/>
          <p:cNvSpPr txBox="1"/>
          <p:nvPr/>
        </p:nvSpPr>
        <p:spPr>
          <a:xfrm>
            <a:off x="1237324" y="4097375"/>
            <a:ext cx="15190200" cy="1787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2700"/>
              <a:buFont typeface="Arial"/>
              <a:buNone/>
            </a:pPr>
            <a:r>
              <a:rPr b="1" i="0" lang="en-US" sz="2700" u="none" cap="none" strike="noStrike">
                <a:solidFill>
                  <a:srgbClr val="073763"/>
                </a:solidFill>
                <a:latin typeface="Poppins Medium"/>
                <a:ea typeface="Poppins Medium"/>
                <a:cs typeface="Poppins Medium"/>
                <a:sym typeface="Poppins Medium"/>
              </a:rPr>
              <a:t>Neither work alone - it is a constant interaction that allows for the brain and the body to respond to BOTH genetics and environment</a:t>
            </a:r>
            <a:endParaRPr b="1" i="0" sz="2700" u="none" cap="none" strike="noStrike">
              <a:solidFill>
                <a:srgbClr val="073763"/>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700"/>
              <a:buFont typeface="Arial"/>
              <a:buNone/>
            </a:pPr>
            <a:r>
              <a:rPr b="1" i="0" lang="en-US" sz="2700" u="none" cap="none" strike="noStrike">
                <a:solidFill>
                  <a:srgbClr val="0000FF"/>
                </a:solidFill>
                <a:latin typeface="Poppins Medium"/>
                <a:ea typeface="Poppins Medium"/>
                <a:cs typeface="Poppins Medium"/>
                <a:sym typeface="Poppins Medium"/>
              </a:rPr>
              <a:t>Ninguno de los dos funciona de forma aislada; se trata de una interacción constante que permite que el cerebro y el cuerpo respondan tanto a la genética como al entorno.</a:t>
            </a:r>
            <a:endParaRPr b="1" i="0" sz="2700" u="none" cap="none" strike="noStrike">
              <a:solidFill>
                <a:srgbClr val="0000FF"/>
              </a:solidFill>
              <a:latin typeface="Poppins Medium"/>
              <a:ea typeface="Poppins Medium"/>
              <a:cs typeface="Poppins Medium"/>
              <a:sym typeface="Poppins Medium"/>
            </a:endParaRPr>
          </a:p>
        </p:txBody>
      </p:sp>
      <p:cxnSp>
        <p:nvCxnSpPr>
          <p:cNvPr id="1356" name="Google Shape;1356;p55"/>
          <p:cNvCxnSpPr/>
          <p:nvPr/>
        </p:nvCxnSpPr>
        <p:spPr>
          <a:xfrm flipH="1" rot="10800000">
            <a:off x="1028734" y="1857801"/>
            <a:ext cx="8115300" cy="18900"/>
          </a:xfrm>
          <a:prstGeom prst="straightConnector1">
            <a:avLst/>
          </a:prstGeom>
          <a:noFill/>
          <a:ln cap="rnd" cmpd="sng" w="28575">
            <a:solidFill>
              <a:srgbClr val="136447"/>
            </a:solidFill>
            <a:prstDash val="solid"/>
            <a:round/>
            <a:headEnd len="sm" w="sm" type="none"/>
            <a:tailEnd len="sm" w="sm" type="none"/>
          </a:ln>
        </p:spPr>
      </p:cxnSp>
      <p:pic>
        <p:nvPicPr>
          <p:cNvPr id="1357" name="Google Shape;1357;p55" title="Screenshot 2025-11-15 at 3.08.02 PM.png"/>
          <p:cNvPicPr preferRelativeResize="0"/>
          <p:nvPr/>
        </p:nvPicPr>
        <p:blipFill rotWithShape="1">
          <a:blip r:embed="rId3">
            <a:alphaModFix/>
          </a:blip>
          <a:srcRect b="0" l="0" r="0" t="0"/>
          <a:stretch/>
        </p:blipFill>
        <p:spPr>
          <a:xfrm>
            <a:off x="1859038" y="6066000"/>
            <a:ext cx="6454676" cy="4119801"/>
          </a:xfrm>
          <a:prstGeom prst="rect">
            <a:avLst/>
          </a:prstGeom>
          <a:noFill/>
          <a:ln>
            <a:noFill/>
          </a:ln>
        </p:spPr>
      </p:pic>
      <p:pic>
        <p:nvPicPr>
          <p:cNvPr id="1358" name="Google Shape;1358;p55" title="Screenshot 2025-11-15 at 3.10.03 PM.png"/>
          <p:cNvPicPr preferRelativeResize="0"/>
          <p:nvPr/>
        </p:nvPicPr>
        <p:blipFill rotWithShape="1">
          <a:blip r:embed="rId4">
            <a:alphaModFix/>
          </a:blip>
          <a:srcRect b="0" l="0" r="0" t="0"/>
          <a:stretch/>
        </p:blipFill>
        <p:spPr>
          <a:xfrm>
            <a:off x="10153650" y="6098968"/>
            <a:ext cx="6273875" cy="4053870"/>
          </a:xfrm>
          <a:prstGeom prst="rect">
            <a:avLst/>
          </a:prstGeom>
          <a:noFill/>
          <a:ln>
            <a:noFill/>
          </a:ln>
        </p:spPr>
      </p:pic>
      <p:sp>
        <p:nvSpPr>
          <p:cNvPr id="1359" name="Google Shape;1359;p55"/>
          <p:cNvSpPr txBox="1"/>
          <p:nvPr/>
        </p:nvSpPr>
        <p:spPr>
          <a:xfrm>
            <a:off x="3415825" y="6066000"/>
            <a:ext cx="1421700" cy="894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chemeClr val="dk1"/>
                </a:solidFill>
                <a:latin typeface="Poppins"/>
                <a:ea typeface="Poppins"/>
                <a:cs typeface="Poppins"/>
                <a:sym typeface="Poppins"/>
              </a:rPr>
              <a:t>Naturaleza</a:t>
            </a:r>
            <a:endParaRPr b="0" i="0" sz="1700" u="none" cap="none" strike="noStrike">
              <a:solidFill>
                <a:schemeClr val="dk1"/>
              </a:solidFill>
              <a:latin typeface="Poppins"/>
              <a:ea typeface="Poppins"/>
              <a:cs typeface="Poppins"/>
              <a:sym typeface="Poppins"/>
            </a:endParaRPr>
          </a:p>
        </p:txBody>
      </p:sp>
      <p:sp>
        <p:nvSpPr>
          <p:cNvPr id="1360" name="Google Shape;1360;p55"/>
          <p:cNvSpPr txBox="1"/>
          <p:nvPr/>
        </p:nvSpPr>
        <p:spPr>
          <a:xfrm>
            <a:off x="5321975" y="6066000"/>
            <a:ext cx="1540200" cy="66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chemeClr val="dk1"/>
                </a:solidFill>
                <a:latin typeface="Poppins"/>
                <a:ea typeface="Poppins"/>
                <a:cs typeface="Poppins"/>
                <a:sym typeface="Poppins"/>
              </a:rPr>
              <a:t>Crianza</a:t>
            </a:r>
            <a:endParaRPr b="0" i="0" sz="1700" u="none" cap="none" strike="noStrike">
              <a:solidFill>
                <a:schemeClr val="dk1"/>
              </a:solidFill>
              <a:latin typeface="Poppins"/>
              <a:ea typeface="Poppins"/>
              <a:cs typeface="Poppins"/>
              <a:sym typeface="Poppins"/>
            </a:endParaRPr>
          </a:p>
        </p:txBody>
      </p:sp>
      <p:sp>
        <p:nvSpPr>
          <p:cNvPr id="1361" name="Google Shape;1361;p55"/>
          <p:cNvSpPr txBox="1"/>
          <p:nvPr/>
        </p:nvSpPr>
        <p:spPr>
          <a:xfrm>
            <a:off x="10735550" y="7678900"/>
            <a:ext cx="2572500" cy="894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900"/>
              <a:buFont typeface="Arial"/>
              <a:buNone/>
            </a:pPr>
            <a:r>
              <a:rPr b="0" i="0" lang="en-US" sz="2900" u="none" cap="none" strike="noStrike">
                <a:solidFill>
                  <a:srgbClr val="38761D"/>
                </a:solidFill>
                <a:latin typeface="Poppins"/>
                <a:ea typeface="Poppins"/>
                <a:cs typeface="Poppins"/>
                <a:sym typeface="Poppins"/>
              </a:rPr>
              <a:t>Naturaleza</a:t>
            </a:r>
            <a:endParaRPr b="0" i="0" sz="2900" u="none" cap="none" strike="noStrike">
              <a:solidFill>
                <a:srgbClr val="38761D"/>
              </a:solidFill>
              <a:latin typeface="Poppins"/>
              <a:ea typeface="Poppins"/>
              <a:cs typeface="Poppins"/>
              <a:sym typeface="Poppins"/>
            </a:endParaRPr>
          </a:p>
        </p:txBody>
      </p:sp>
      <p:sp>
        <p:nvSpPr>
          <p:cNvPr id="1362" name="Google Shape;1362;p55"/>
          <p:cNvSpPr txBox="1"/>
          <p:nvPr/>
        </p:nvSpPr>
        <p:spPr>
          <a:xfrm>
            <a:off x="14221300" y="7598275"/>
            <a:ext cx="2680200" cy="66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00FF"/>
                </a:solidFill>
                <a:latin typeface="Poppins"/>
                <a:ea typeface="Poppins"/>
                <a:cs typeface="Poppins"/>
                <a:sym typeface="Poppins"/>
              </a:rPr>
              <a:t>Crianza</a:t>
            </a:r>
            <a:endParaRPr b="0" i="0" sz="3200" u="none" cap="none" strike="noStrike">
              <a:solidFill>
                <a:srgbClr val="0000FF"/>
              </a:solidFill>
              <a:latin typeface="Poppins"/>
              <a:ea typeface="Poppins"/>
              <a:cs typeface="Poppins"/>
              <a:sym typeface="Poppins"/>
            </a:endParaRPr>
          </a:p>
        </p:txBody>
      </p:sp>
      <p:sp>
        <p:nvSpPr>
          <p:cNvPr id="1363" name="Google Shape;1363;p55"/>
          <p:cNvSpPr txBox="1"/>
          <p:nvPr/>
        </p:nvSpPr>
        <p:spPr>
          <a:xfrm>
            <a:off x="0" y="6393550"/>
            <a:ext cx="2055000" cy="150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rgbClr val="0000FF"/>
                </a:solidFill>
                <a:latin typeface="Calibri"/>
                <a:ea typeface="Calibri"/>
                <a:cs typeface="Calibri"/>
                <a:sym typeface="Calibri"/>
              </a:rPr>
              <a:t>Genesy factores hereditarios</a:t>
            </a:r>
            <a:endParaRPr b="0" i="0" sz="1600" u="none" cap="none" strike="noStrike">
              <a:solidFill>
                <a:srgbClr val="0000FF"/>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rgbClr val="0000FF"/>
                </a:solidFill>
                <a:latin typeface="Calibri"/>
                <a:ea typeface="Calibri"/>
                <a:cs typeface="Calibri"/>
                <a:sym typeface="Calibri"/>
              </a:rPr>
              <a:t>-Apariencia física</a:t>
            </a:r>
            <a:endParaRPr b="0" i="0" sz="1600" u="none" cap="none" strike="noStrike">
              <a:solidFill>
                <a:srgbClr val="0000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FF"/>
                </a:solidFill>
                <a:latin typeface="Calibri"/>
                <a:ea typeface="Calibri"/>
                <a:cs typeface="Calibri"/>
                <a:sym typeface="Calibri"/>
              </a:rPr>
              <a:t>-Características de la </a:t>
            </a:r>
            <a:endParaRPr b="0" i="0" sz="1600" u="none" cap="none" strike="noStrike">
              <a:solidFill>
                <a:srgbClr val="0000FF"/>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rgbClr val="0000FF"/>
                </a:solidFill>
                <a:latin typeface="Calibri"/>
                <a:ea typeface="Calibri"/>
                <a:cs typeface="Calibri"/>
                <a:sym typeface="Calibri"/>
              </a:rPr>
              <a:t>personalidad</a:t>
            </a:r>
            <a:endParaRPr b="0" i="0" sz="1600" u="none" cap="none" strike="noStrike">
              <a:solidFill>
                <a:srgbClr val="0000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chemeClr val="dk1"/>
              </a:solidFill>
              <a:latin typeface="Calibri"/>
              <a:ea typeface="Calibri"/>
              <a:cs typeface="Calibri"/>
              <a:sym typeface="Calibri"/>
            </a:endParaRPr>
          </a:p>
        </p:txBody>
      </p:sp>
      <p:sp>
        <p:nvSpPr>
          <p:cNvPr id="1364" name="Google Shape;1364;p55"/>
          <p:cNvSpPr txBox="1"/>
          <p:nvPr/>
        </p:nvSpPr>
        <p:spPr>
          <a:xfrm>
            <a:off x="8215000" y="6393550"/>
            <a:ext cx="2055000" cy="150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rgbClr val="0000FF"/>
                </a:solidFill>
                <a:latin typeface="Calibri"/>
                <a:ea typeface="Calibri"/>
                <a:cs typeface="Calibri"/>
                <a:sym typeface="Calibri"/>
              </a:rPr>
              <a:t>Variables ambientales</a:t>
            </a:r>
            <a:endParaRPr b="0" i="0" sz="1600" u="none" cap="none" strike="noStrike">
              <a:solidFill>
                <a:srgbClr val="0000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FF"/>
                </a:solidFill>
                <a:latin typeface="Calibri"/>
                <a:ea typeface="Calibri"/>
                <a:cs typeface="Calibri"/>
                <a:sym typeface="Calibri"/>
              </a:rPr>
              <a:t>- Experiencias de la infancia</a:t>
            </a:r>
            <a:endParaRPr b="0" i="0" sz="1600" u="none" cap="none" strike="noStrike">
              <a:solidFill>
                <a:srgbClr val="0000FF"/>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rgbClr val="0000FF"/>
                </a:solidFill>
                <a:latin typeface="Calibri"/>
                <a:ea typeface="Calibri"/>
                <a:cs typeface="Calibri"/>
                <a:sym typeface="Calibri"/>
              </a:rPr>
              <a:t>-Cómo nos criaron</a:t>
            </a:r>
            <a:endParaRPr b="0" i="0" sz="1600" u="none" cap="none" strike="noStrike">
              <a:solidFill>
                <a:srgbClr val="0000FF"/>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rgbClr val="0000FF"/>
                </a:solidFill>
                <a:latin typeface="Calibri"/>
                <a:ea typeface="Calibri"/>
                <a:cs typeface="Calibri"/>
                <a:sym typeface="Calibri"/>
              </a:rPr>
              <a:t>-Relaciones sociales</a:t>
            </a:r>
            <a:endParaRPr b="0" i="0" sz="1600" u="none" cap="none" strike="noStrike">
              <a:solidFill>
                <a:srgbClr val="0000FF"/>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rgbClr val="0000FF"/>
                </a:solidFill>
                <a:latin typeface="Calibri"/>
                <a:ea typeface="Calibri"/>
                <a:cs typeface="Calibri"/>
                <a:sym typeface="Calibri"/>
              </a:rPr>
              <a:t>-Cultura circundante</a:t>
            </a:r>
            <a:endParaRPr b="0" i="0" sz="1600" u="none" cap="none" strike="noStrike">
              <a:solidFill>
                <a:srgbClr val="0000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FF"/>
              </a:solidFill>
              <a:latin typeface="Calibri"/>
              <a:ea typeface="Calibri"/>
              <a:cs typeface="Calibri"/>
              <a:sym typeface="Calibri"/>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368" name="Shape 1368"/>
        <p:cNvGrpSpPr/>
        <p:nvPr/>
      </p:nvGrpSpPr>
      <p:grpSpPr>
        <a:xfrm>
          <a:off x="0" y="0"/>
          <a:ext cx="0" cy="0"/>
          <a:chOff x="0" y="0"/>
          <a:chExt cx="0" cy="0"/>
        </a:xfrm>
      </p:grpSpPr>
      <p:sp>
        <p:nvSpPr>
          <p:cNvPr id="1369" name="Google Shape;1369;p56"/>
          <p:cNvSpPr txBox="1"/>
          <p:nvPr/>
        </p:nvSpPr>
        <p:spPr>
          <a:xfrm>
            <a:off x="1028726" y="2476325"/>
            <a:ext cx="11193300" cy="3860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300"/>
              <a:buFont typeface="Arial"/>
              <a:buNone/>
            </a:pPr>
            <a:r>
              <a:rPr b="1" i="0" lang="en-US" sz="3300" u="none" cap="none" strike="noStrike">
                <a:solidFill>
                  <a:srgbClr val="2D2F3B"/>
                </a:solidFill>
                <a:latin typeface="Poppins Medium"/>
                <a:ea typeface="Poppins Medium"/>
                <a:cs typeface="Poppins Medium"/>
                <a:sym typeface="Poppins Medium"/>
              </a:rPr>
              <a:t>Nature builds the HARDWARE of behavior </a:t>
            </a:r>
            <a:endParaRPr b="1" i="0" sz="33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300"/>
              <a:buFont typeface="Arial"/>
              <a:buNone/>
            </a:pPr>
            <a:r>
              <a:rPr b="1" i="0" lang="en-US" sz="3300" u="none" cap="none" strike="noStrike">
                <a:solidFill>
                  <a:srgbClr val="0000FF"/>
                </a:solidFill>
                <a:latin typeface="Poppins Medium"/>
                <a:ea typeface="Poppins Medium"/>
                <a:cs typeface="Poppins Medium"/>
                <a:sym typeface="Poppins Medium"/>
              </a:rPr>
              <a:t>La naturaleza construye el hardware del comportamiento</a:t>
            </a:r>
            <a:endParaRPr b="1" i="0" sz="33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300"/>
              <a:buFont typeface="Arial"/>
              <a:buNone/>
            </a:pPr>
            <a:r>
              <a:t/>
            </a:r>
            <a:endParaRPr b="1" i="0" sz="33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300"/>
              <a:buFont typeface="Arial"/>
              <a:buNone/>
            </a:pPr>
            <a:r>
              <a:t/>
            </a:r>
            <a:endParaRPr b="1" i="0" sz="33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300"/>
              <a:buFont typeface="Arial"/>
              <a:buNone/>
            </a:pPr>
            <a:r>
              <a:rPr b="1" i="0" lang="en-US" sz="3300" u="none" cap="none" strike="noStrike">
                <a:solidFill>
                  <a:srgbClr val="2D2F3B"/>
                </a:solidFill>
                <a:latin typeface="Poppins Medium"/>
                <a:ea typeface="Poppins Medium"/>
                <a:cs typeface="Poppins Medium"/>
                <a:sym typeface="Poppins Medium"/>
              </a:rPr>
              <a:t>Nature = Biological Inheritance</a:t>
            </a:r>
            <a:endParaRPr b="1" i="0" sz="33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300"/>
              <a:buFont typeface="Arial"/>
              <a:buNone/>
            </a:pPr>
            <a:r>
              <a:rPr b="1" i="0" lang="en-US" sz="3300" u="none" cap="none" strike="noStrike">
                <a:solidFill>
                  <a:srgbClr val="0000FF"/>
                </a:solidFill>
                <a:latin typeface="Poppins Medium"/>
                <a:ea typeface="Poppins Medium"/>
                <a:cs typeface="Poppins Medium"/>
                <a:sym typeface="Poppins Medium"/>
              </a:rPr>
              <a:t> Naturaleza = Herencia biológica</a:t>
            </a:r>
            <a:endParaRPr b="1" i="0" sz="3300" u="none" cap="none" strike="noStrike">
              <a:solidFill>
                <a:srgbClr val="0000FF"/>
              </a:solidFill>
              <a:latin typeface="Poppins Medium"/>
              <a:ea typeface="Poppins Medium"/>
              <a:cs typeface="Poppins Medium"/>
              <a:sym typeface="Poppins Medium"/>
            </a:endParaRPr>
          </a:p>
        </p:txBody>
      </p:sp>
      <p:pic>
        <p:nvPicPr>
          <p:cNvPr id="1370" name="Google Shape;1370;p56" title="Screenshot 2025-11-15 at 3.54.35 PM.png"/>
          <p:cNvPicPr preferRelativeResize="0"/>
          <p:nvPr/>
        </p:nvPicPr>
        <p:blipFill rotWithShape="1">
          <a:blip r:embed="rId3">
            <a:alphaModFix/>
          </a:blip>
          <a:srcRect b="0" l="0" r="0" t="0"/>
          <a:stretch/>
        </p:blipFill>
        <p:spPr>
          <a:xfrm>
            <a:off x="12455125" y="146799"/>
            <a:ext cx="5480950" cy="6043600"/>
          </a:xfrm>
          <a:prstGeom prst="rect">
            <a:avLst/>
          </a:prstGeom>
          <a:noFill/>
          <a:ln>
            <a:noFill/>
          </a:ln>
        </p:spPr>
      </p:pic>
      <p:pic>
        <p:nvPicPr>
          <p:cNvPr id="1371" name="Google Shape;1371;p56" title="Screenshot 2025-11-15 at 3.55.42 PM.png"/>
          <p:cNvPicPr preferRelativeResize="0"/>
          <p:nvPr/>
        </p:nvPicPr>
        <p:blipFill rotWithShape="1">
          <a:blip r:embed="rId4">
            <a:alphaModFix/>
          </a:blip>
          <a:srcRect b="0" l="0" r="0" t="0"/>
          <a:stretch/>
        </p:blipFill>
        <p:spPr>
          <a:xfrm>
            <a:off x="12663812" y="6427825"/>
            <a:ext cx="5063574" cy="3649076"/>
          </a:xfrm>
          <a:prstGeom prst="rect">
            <a:avLst/>
          </a:prstGeom>
          <a:noFill/>
          <a:ln>
            <a:noFill/>
          </a:ln>
        </p:spPr>
      </p:pic>
      <p:sp>
        <p:nvSpPr>
          <p:cNvPr id="1372" name="Google Shape;1372;p56"/>
          <p:cNvSpPr txBox="1"/>
          <p:nvPr/>
        </p:nvSpPr>
        <p:spPr>
          <a:xfrm>
            <a:off x="98745" y="756450"/>
            <a:ext cx="12260100" cy="724800"/>
          </a:xfrm>
          <a:prstGeom prst="rect">
            <a:avLst/>
          </a:prstGeom>
          <a:noFill/>
          <a:ln>
            <a:noFill/>
          </a:ln>
        </p:spPr>
        <p:txBody>
          <a:bodyPr anchorCtr="0" anchor="t" bIns="0" lIns="0" spcFirstLastPara="1" rIns="0" wrap="square" tIns="0">
            <a:spAutoFit/>
          </a:bodyPr>
          <a:lstStyle/>
          <a:p>
            <a:pPr indent="0" lvl="0" marL="0" marR="0" rtl="0" algn="ctr">
              <a:lnSpc>
                <a:spcPct val="130009"/>
              </a:lnSpc>
              <a:spcBef>
                <a:spcPts val="0"/>
              </a:spcBef>
              <a:spcAft>
                <a:spcPts val="0"/>
              </a:spcAft>
              <a:buClr>
                <a:srgbClr val="000000"/>
              </a:buClr>
              <a:buSzPts val="4708"/>
              <a:buFont typeface="Arial"/>
              <a:buNone/>
            </a:pPr>
            <a:r>
              <a:rPr b="1" i="0" lang="en-US" sz="4708" u="none" cap="none" strike="noStrike">
                <a:solidFill>
                  <a:srgbClr val="136447"/>
                </a:solidFill>
                <a:latin typeface="Poppins"/>
                <a:ea typeface="Poppins"/>
                <a:cs typeface="Poppins"/>
                <a:sym typeface="Poppins"/>
              </a:rPr>
              <a:t>What is Nature? | </a:t>
            </a:r>
            <a:r>
              <a:rPr b="1" i="0" lang="en-US" sz="4708" u="none" cap="none" strike="noStrike">
                <a:solidFill>
                  <a:srgbClr val="0000FF"/>
                </a:solidFill>
                <a:latin typeface="Poppins"/>
                <a:ea typeface="Poppins"/>
                <a:cs typeface="Poppins"/>
                <a:sym typeface="Poppins"/>
              </a:rPr>
              <a:t>¿Qué es la naturaleza?</a:t>
            </a:r>
            <a:endParaRPr b="0" i="0" sz="100" u="none" cap="none" strike="noStrike">
              <a:solidFill>
                <a:srgbClr val="0000FF"/>
              </a:solidFill>
              <a:latin typeface="Arial"/>
              <a:ea typeface="Arial"/>
              <a:cs typeface="Arial"/>
              <a:sym typeface="Arial"/>
            </a:endParaRPr>
          </a:p>
        </p:txBody>
      </p:sp>
      <p:cxnSp>
        <p:nvCxnSpPr>
          <p:cNvPr id="1373" name="Google Shape;1373;p56"/>
          <p:cNvCxnSpPr/>
          <p:nvPr/>
        </p:nvCxnSpPr>
        <p:spPr>
          <a:xfrm flipH="1" rot="10800000">
            <a:off x="1028734" y="1778801"/>
            <a:ext cx="8115300" cy="18900"/>
          </a:xfrm>
          <a:prstGeom prst="straightConnector1">
            <a:avLst/>
          </a:prstGeom>
          <a:noFill/>
          <a:ln cap="rnd" cmpd="sng" w="28575">
            <a:solidFill>
              <a:srgbClr val="136447"/>
            </a:solidFill>
            <a:prstDash val="solid"/>
            <a:round/>
            <a:headEnd len="sm" w="sm" type="none"/>
            <a:tailEnd len="sm" w="sm" type="none"/>
          </a:ln>
        </p:spPr>
      </p:cxn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377" name="Shape 1377"/>
        <p:cNvGrpSpPr/>
        <p:nvPr/>
      </p:nvGrpSpPr>
      <p:grpSpPr>
        <a:xfrm>
          <a:off x="0" y="0"/>
          <a:ext cx="0" cy="0"/>
          <a:chOff x="0" y="0"/>
          <a:chExt cx="0" cy="0"/>
        </a:xfrm>
      </p:grpSpPr>
      <p:sp>
        <p:nvSpPr>
          <p:cNvPr id="1378" name="Google Shape;1378;p57"/>
          <p:cNvSpPr txBox="1"/>
          <p:nvPr/>
        </p:nvSpPr>
        <p:spPr>
          <a:xfrm>
            <a:off x="98745" y="756450"/>
            <a:ext cx="12260100" cy="724800"/>
          </a:xfrm>
          <a:prstGeom prst="rect">
            <a:avLst/>
          </a:prstGeom>
          <a:noFill/>
          <a:ln>
            <a:noFill/>
          </a:ln>
        </p:spPr>
        <p:txBody>
          <a:bodyPr anchorCtr="0" anchor="t" bIns="0" lIns="0" spcFirstLastPara="1" rIns="0" wrap="square" tIns="0">
            <a:spAutoFit/>
          </a:bodyPr>
          <a:lstStyle/>
          <a:p>
            <a:pPr indent="0" lvl="0" marL="0" marR="0" rtl="0" algn="ctr">
              <a:lnSpc>
                <a:spcPct val="130009"/>
              </a:lnSpc>
              <a:spcBef>
                <a:spcPts val="0"/>
              </a:spcBef>
              <a:spcAft>
                <a:spcPts val="0"/>
              </a:spcAft>
              <a:buClr>
                <a:srgbClr val="000000"/>
              </a:buClr>
              <a:buSzPts val="4708"/>
              <a:buFont typeface="Arial"/>
              <a:buNone/>
            </a:pPr>
            <a:r>
              <a:rPr b="1" i="0" lang="en-US" sz="4708" u="none" cap="none" strike="noStrike">
                <a:solidFill>
                  <a:srgbClr val="136447"/>
                </a:solidFill>
                <a:latin typeface="Poppins"/>
                <a:ea typeface="Poppins"/>
                <a:cs typeface="Poppins"/>
                <a:sym typeface="Poppins"/>
              </a:rPr>
              <a:t>What is Nature? | </a:t>
            </a:r>
            <a:r>
              <a:rPr b="1" i="0" lang="en-US" sz="4708" u="none" cap="none" strike="noStrike">
                <a:solidFill>
                  <a:srgbClr val="0000FF"/>
                </a:solidFill>
                <a:latin typeface="Poppins"/>
                <a:ea typeface="Poppins"/>
                <a:cs typeface="Poppins"/>
                <a:sym typeface="Poppins"/>
              </a:rPr>
              <a:t>¿Qué es la naturaleza?</a:t>
            </a:r>
            <a:endParaRPr b="0" i="0" sz="100" u="none" cap="none" strike="noStrike">
              <a:solidFill>
                <a:srgbClr val="0000FF"/>
              </a:solidFill>
              <a:latin typeface="Arial"/>
              <a:ea typeface="Arial"/>
              <a:cs typeface="Arial"/>
              <a:sym typeface="Arial"/>
            </a:endParaRPr>
          </a:p>
        </p:txBody>
      </p:sp>
      <p:sp>
        <p:nvSpPr>
          <p:cNvPr id="1379" name="Google Shape;1379;p57"/>
          <p:cNvSpPr txBox="1"/>
          <p:nvPr/>
        </p:nvSpPr>
        <p:spPr>
          <a:xfrm>
            <a:off x="684457" y="2222125"/>
            <a:ext cx="13776000" cy="9604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2100"/>
              <a:buFont typeface="Arial"/>
              <a:buNone/>
            </a:pPr>
            <a:r>
              <a:rPr b="1" i="0" lang="en-US" sz="2100" u="none" cap="none" strike="noStrike">
                <a:solidFill>
                  <a:srgbClr val="4C1130"/>
                </a:solidFill>
                <a:latin typeface="Poppins Medium"/>
                <a:ea typeface="Poppins Medium"/>
                <a:cs typeface="Poppins Medium"/>
                <a:sym typeface="Poppins Medium"/>
              </a:rPr>
              <a:t>Genes: Instructions for building the body and the brain </a:t>
            </a:r>
            <a:endParaRPr b="1" i="0" sz="2100" u="none" cap="none" strike="noStrike">
              <a:solidFill>
                <a:srgbClr val="4C1130"/>
              </a:solidFill>
              <a:latin typeface="Poppins Medium"/>
              <a:ea typeface="Poppins Medium"/>
              <a:cs typeface="Poppins Medium"/>
              <a:sym typeface="Poppins Medium"/>
            </a:endParaRPr>
          </a:p>
          <a:p>
            <a:pPr indent="-361950" lvl="0" marL="457200" marR="0" rtl="0" algn="l">
              <a:lnSpc>
                <a:spcPct val="110000"/>
              </a:lnSpc>
              <a:spcBef>
                <a:spcPts val="0"/>
              </a:spcBef>
              <a:spcAft>
                <a:spcPts val="0"/>
              </a:spcAft>
              <a:buClr>
                <a:srgbClr val="4C1130"/>
              </a:buClr>
              <a:buSzPts val="2100"/>
              <a:buFont typeface="Poppins Medium"/>
              <a:buChar char="●"/>
            </a:pPr>
            <a:r>
              <a:rPr b="1" i="0" lang="en-US" sz="2100" u="none" cap="none" strike="noStrike">
                <a:solidFill>
                  <a:srgbClr val="4C1130"/>
                </a:solidFill>
                <a:latin typeface="Poppins Medium"/>
                <a:ea typeface="Poppins Medium"/>
                <a:cs typeface="Poppins Medium"/>
                <a:sym typeface="Poppins Medium"/>
              </a:rPr>
              <a:t>Genetics, DNA, temperament</a:t>
            </a:r>
            <a:endParaRPr b="1" i="0" sz="2100" u="none" cap="none" strike="noStrike">
              <a:solidFill>
                <a:srgbClr val="4C1130"/>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100"/>
              <a:buFont typeface="Arial"/>
              <a:buNone/>
            </a:pPr>
            <a:r>
              <a:rPr b="1" i="0" lang="en-US" sz="2100" u="none" cap="none" strike="noStrike">
                <a:solidFill>
                  <a:srgbClr val="0000FF"/>
                </a:solidFill>
                <a:latin typeface="Poppins Medium"/>
                <a:ea typeface="Poppins Medium"/>
                <a:cs typeface="Poppins Medium"/>
                <a:sym typeface="Poppins Medium"/>
              </a:rPr>
              <a:t>Genes: Instrucciones para la formación del cuerpo y el cerebro </a:t>
            </a:r>
            <a:endParaRPr b="1" i="0" sz="2100" u="none" cap="none" strike="noStrike">
              <a:solidFill>
                <a:srgbClr val="0000FF"/>
              </a:solidFill>
              <a:latin typeface="Poppins Medium"/>
              <a:ea typeface="Poppins Medium"/>
              <a:cs typeface="Poppins Medium"/>
              <a:sym typeface="Poppins Medium"/>
            </a:endParaRPr>
          </a:p>
          <a:p>
            <a:pPr indent="-361950" lvl="0" marL="457200" marR="0" rtl="0" algn="l">
              <a:lnSpc>
                <a:spcPct val="110000"/>
              </a:lnSpc>
              <a:spcBef>
                <a:spcPts val="0"/>
              </a:spcBef>
              <a:spcAft>
                <a:spcPts val="0"/>
              </a:spcAft>
              <a:buClr>
                <a:srgbClr val="0000FF"/>
              </a:buClr>
              <a:buSzPts val="2100"/>
              <a:buFont typeface="Poppins Medium"/>
              <a:buChar char="●"/>
            </a:pPr>
            <a:r>
              <a:rPr b="1" i="0" lang="en-US" sz="2100" u="none" cap="none" strike="noStrike">
                <a:solidFill>
                  <a:srgbClr val="0000FF"/>
                </a:solidFill>
                <a:latin typeface="Poppins Medium"/>
                <a:ea typeface="Poppins Medium"/>
                <a:cs typeface="Poppins Medium"/>
                <a:sym typeface="Poppins Medium"/>
              </a:rPr>
              <a:t>Genética, ADN, temperamento</a:t>
            </a:r>
            <a:endParaRPr b="1" i="0" sz="21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100"/>
              <a:buFont typeface="Arial"/>
              <a:buNone/>
            </a:pPr>
            <a:r>
              <a:t/>
            </a:r>
            <a:endParaRPr b="1" i="0" sz="2100" u="none" cap="none" strike="noStrike">
              <a:solidFill>
                <a:srgbClr val="4C1130"/>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100"/>
              <a:buFont typeface="Arial"/>
              <a:buNone/>
            </a:pPr>
            <a:r>
              <a:rPr b="1" i="0" lang="en-US" sz="2100" u="none" cap="none" strike="noStrike">
                <a:solidFill>
                  <a:srgbClr val="4C1130"/>
                </a:solidFill>
                <a:latin typeface="Poppins Medium"/>
                <a:ea typeface="Poppins Medium"/>
                <a:cs typeface="Poppins Medium"/>
                <a:sym typeface="Poppins Medium"/>
              </a:rPr>
              <a:t>Brain structures: Influence memory, emotion, thinking</a:t>
            </a:r>
            <a:endParaRPr b="1" i="0" sz="2100" u="none" cap="none" strike="noStrike">
              <a:solidFill>
                <a:srgbClr val="4C1130"/>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100"/>
              <a:buFont typeface="Arial"/>
              <a:buNone/>
            </a:pPr>
            <a:r>
              <a:rPr b="1" i="0" lang="en-US" sz="2100" u="none" cap="none" strike="noStrike">
                <a:solidFill>
                  <a:srgbClr val="0000FF"/>
                </a:solidFill>
                <a:latin typeface="Poppins Medium"/>
                <a:ea typeface="Poppins Medium"/>
                <a:cs typeface="Poppins Medium"/>
                <a:sym typeface="Poppins Medium"/>
              </a:rPr>
              <a:t>Estructuras cerebrales: Influyen en la memoria, las emociones y el pensamiento</a:t>
            </a:r>
            <a:endParaRPr b="1" i="0" sz="21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100"/>
              <a:buFont typeface="Arial"/>
              <a:buNone/>
            </a:pPr>
            <a:r>
              <a:t/>
            </a:r>
            <a:endParaRPr b="1" i="0" sz="3100" u="none" cap="none" strike="noStrike">
              <a:solidFill>
                <a:srgbClr val="4C1130"/>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100"/>
              <a:buFont typeface="Arial"/>
              <a:buNone/>
            </a:pPr>
            <a:r>
              <a:rPr b="1" i="0" lang="en-US" sz="2100" u="none" cap="none" strike="noStrike">
                <a:solidFill>
                  <a:srgbClr val="4C1130"/>
                </a:solidFill>
                <a:latin typeface="Poppins Medium"/>
                <a:ea typeface="Poppins Medium"/>
                <a:cs typeface="Poppins Medium"/>
                <a:sym typeface="Poppins Medium"/>
              </a:rPr>
              <a:t>Neurotransmitters: Fast chemical signals</a:t>
            </a:r>
            <a:endParaRPr b="1" i="0" sz="2100" u="none" cap="none" strike="noStrike">
              <a:solidFill>
                <a:srgbClr val="4C1130"/>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100"/>
              <a:buFont typeface="Arial"/>
              <a:buNone/>
            </a:pPr>
            <a:r>
              <a:rPr b="1" i="0" lang="en-US" sz="2100" u="none" cap="none" strike="noStrike">
                <a:solidFill>
                  <a:srgbClr val="0000FF"/>
                </a:solidFill>
                <a:latin typeface="Poppins Medium"/>
                <a:ea typeface="Poppins Medium"/>
                <a:cs typeface="Poppins Medium"/>
                <a:sym typeface="Poppins Medium"/>
              </a:rPr>
              <a:t>Neurotransmisores: señales químicas rápidas</a:t>
            </a:r>
            <a:endParaRPr b="1" i="0" sz="21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100"/>
              <a:buFont typeface="Arial"/>
              <a:buNone/>
            </a:pPr>
            <a:r>
              <a:t/>
            </a:r>
            <a:endParaRPr b="1" i="0" sz="2100" u="none" cap="none" strike="noStrike">
              <a:solidFill>
                <a:srgbClr val="4C1130"/>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100"/>
              <a:buFont typeface="Arial"/>
              <a:buNone/>
            </a:pPr>
            <a:r>
              <a:rPr b="1" i="0" lang="en-US" sz="2100" u="none" cap="none" strike="noStrike">
                <a:solidFill>
                  <a:srgbClr val="4C1130"/>
                </a:solidFill>
                <a:latin typeface="Poppins Medium"/>
                <a:ea typeface="Poppins Medium"/>
                <a:cs typeface="Poppins Medium"/>
                <a:sym typeface="Poppins Medium"/>
              </a:rPr>
              <a:t>Hormones: slow, long-lasting body messages </a:t>
            </a:r>
            <a:endParaRPr b="1" i="0" sz="2100" u="none" cap="none" strike="noStrike">
              <a:solidFill>
                <a:srgbClr val="4C1130"/>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100"/>
              <a:buFont typeface="Arial"/>
              <a:buNone/>
            </a:pPr>
            <a:r>
              <a:rPr b="1" i="0" lang="en-US" sz="2100" u="none" cap="none" strike="noStrike">
                <a:solidFill>
                  <a:srgbClr val="0000FF"/>
                </a:solidFill>
                <a:latin typeface="Poppins Medium"/>
                <a:ea typeface="Poppins Medium"/>
                <a:cs typeface="Poppins Medium"/>
                <a:sym typeface="Poppins Medium"/>
              </a:rPr>
              <a:t>Hormonas: mensajes corporales lentos y duraderos</a:t>
            </a:r>
            <a:endParaRPr b="1" i="0" sz="21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100"/>
              <a:buFont typeface="Arial"/>
              <a:buNone/>
            </a:pPr>
            <a:r>
              <a:t/>
            </a:r>
            <a:endParaRPr b="1" i="0" sz="3100" u="none" cap="none" strike="noStrike">
              <a:solidFill>
                <a:srgbClr val="4C1130"/>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100"/>
              <a:buFont typeface="Arial"/>
              <a:buNone/>
            </a:pPr>
            <a:r>
              <a:rPr b="1" i="0" lang="en-US" sz="2100" u="none" cap="none" strike="noStrike">
                <a:solidFill>
                  <a:srgbClr val="4C1130"/>
                </a:solidFill>
                <a:latin typeface="Poppins Medium"/>
                <a:ea typeface="Poppins Medium"/>
                <a:cs typeface="Poppins Medium"/>
                <a:sym typeface="Poppins Medium"/>
              </a:rPr>
              <a:t>Talent tendencies (athletics, music, math)</a:t>
            </a:r>
            <a:endParaRPr b="1" i="0" sz="2100" u="none" cap="none" strike="noStrike">
              <a:solidFill>
                <a:srgbClr val="4C1130"/>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1100"/>
              <a:buFont typeface="Arial"/>
              <a:buNone/>
            </a:pPr>
            <a:r>
              <a:rPr b="1" i="0" lang="en-US" sz="2100" u="none" cap="none" strike="noStrike">
                <a:solidFill>
                  <a:srgbClr val="0000FF"/>
                </a:solidFill>
                <a:latin typeface="Poppins Medium"/>
                <a:ea typeface="Poppins Medium"/>
                <a:cs typeface="Poppins Medium"/>
                <a:sym typeface="Poppins Medium"/>
              </a:rPr>
              <a:t>Talento innato (atletismo, música, matemáticas)</a:t>
            </a:r>
            <a:endParaRPr b="1" i="0" sz="21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100"/>
              <a:buFont typeface="Arial"/>
              <a:buNone/>
            </a:pPr>
            <a:r>
              <a:t/>
            </a:r>
            <a:endParaRPr b="1" i="0" sz="3100" u="none" cap="none" strike="noStrike">
              <a:solidFill>
                <a:srgbClr val="4C1130"/>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100"/>
              <a:buFont typeface="Arial"/>
              <a:buNone/>
            </a:pPr>
            <a:r>
              <a:rPr b="1" i="0" lang="en-US" sz="2100" u="none" cap="none" strike="noStrike">
                <a:solidFill>
                  <a:srgbClr val="4C1130"/>
                </a:solidFill>
                <a:latin typeface="Poppins Medium"/>
                <a:ea typeface="Poppins Medium"/>
                <a:cs typeface="Poppins Medium"/>
                <a:sym typeface="Poppins Medium"/>
              </a:rPr>
              <a:t>Biological predispositions to disorders</a:t>
            </a:r>
            <a:endParaRPr b="1" i="0" sz="2100" u="none" cap="none" strike="noStrike">
              <a:solidFill>
                <a:srgbClr val="4C1130"/>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1100"/>
              <a:buFont typeface="Arial"/>
              <a:buNone/>
            </a:pPr>
            <a:r>
              <a:rPr b="1" i="0" lang="en-US" sz="2100" u="none" cap="none" strike="noStrike">
                <a:solidFill>
                  <a:srgbClr val="0000FF"/>
                </a:solidFill>
                <a:latin typeface="Poppins Medium"/>
                <a:ea typeface="Poppins Medium"/>
                <a:cs typeface="Poppins Medium"/>
                <a:sym typeface="Poppins Medium"/>
              </a:rPr>
              <a:t>Talento innato (atletismo, música, matemáticas)</a:t>
            </a:r>
            <a:endParaRPr b="1" i="0" sz="21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1100"/>
              <a:buFont typeface="Arial"/>
              <a:buNone/>
            </a:pPr>
            <a:r>
              <a:rPr b="1" i="0" lang="en-US" sz="2100" u="none" cap="none" strike="noStrike">
                <a:solidFill>
                  <a:srgbClr val="0000FF"/>
                </a:solidFill>
                <a:latin typeface="Poppins Medium"/>
                <a:ea typeface="Poppins Medium"/>
                <a:cs typeface="Poppins Medium"/>
                <a:sym typeface="Poppins Medium"/>
              </a:rPr>
              <a:t>Predisposiciones biológicas a trastornos</a:t>
            </a:r>
            <a:endParaRPr b="1" i="0" sz="21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4C1130"/>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4C1130"/>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4C1130"/>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4C1130"/>
              </a:solidFill>
              <a:latin typeface="Poppins Medium"/>
              <a:ea typeface="Poppins Medium"/>
              <a:cs typeface="Poppins Medium"/>
              <a:sym typeface="Poppins Medium"/>
            </a:endParaRPr>
          </a:p>
        </p:txBody>
      </p:sp>
      <p:cxnSp>
        <p:nvCxnSpPr>
          <p:cNvPr id="1380" name="Google Shape;1380;p57"/>
          <p:cNvCxnSpPr/>
          <p:nvPr/>
        </p:nvCxnSpPr>
        <p:spPr>
          <a:xfrm flipH="1" rot="10800000">
            <a:off x="1028734" y="1778801"/>
            <a:ext cx="8115300" cy="18900"/>
          </a:xfrm>
          <a:prstGeom prst="straightConnector1">
            <a:avLst/>
          </a:prstGeom>
          <a:noFill/>
          <a:ln cap="rnd" cmpd="sng" w="28575">
            <a:solidFill>
              <a:srgbClr val="136447"/>
            </a:solidFill>
            <a:prstDash val="solid"/>
            <a:round/>
            <a:headEnd len="sm" w="sm" type="none"/>
            <a:tailEnd len="sm" w="sm" type="none"/>
          </a:ln>
        </p:spPr>
      </p:cxnSp>
      <p:pic>
        <p:nvPicPr>
          <p:cNvPr id="1381" name="Google Shape;1381;p57" title="Screenshot 2025-11-15 at 3.54.35 PM.png"/>
          <p:cNvPicPr preferRelativeResize="0"/>
          <p:nvPr/>
        </p:nvPicPr>
        <p:blipFill rotWithShape="1">
          <a:blip r:embed="rId3">
            <a:alphaModFix/>
          </a:blip>
          <a:srcRect b="0" l="0" r="0" t="0"/>
          <a:stretch/>
        </p:blipFill>
        <p:spPr>
          <a:xfrm>
            <a:off x="12455125" y="146799"/>
            <a:ext cx="5480950" cy="6043600"/>
          </a:xfrm>
          <a:prstGeom prst="rect">
            <a:avLst/>
          </a:prstGeom>
          <a:noFill/>
          <a:ln>
            <a:noFill/>
          </a:ln>
        </p:spPr>
      </p:pic>
      <p:pic>
        <p:nvPicPr>
          <p:cNvPr id="1382" name="Google Shape;1382;p57" title="Screenshot 2025-11-15 at 3.55.42 PM.png"/>
          <p:cNvPicPr preferRelativeResize="0"/>
          <p:nvPr/>
        </p:nvPicPr>
        <p:blipFill rotWithShape="1">
          <a:blip r:embed="rId4">
            <a:alphaModFix/>
          </a:blip>
          <a:srcRect b="0" l="0" r="0" t="0"/>
          <a:stretch/>
        </p:blipFill>
        <p:spPr>
          <a:xfrm>
            <a:off x="12663812" y="6427825"/>
            <a:ext cx="5063574" cy="3649076"/>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386" name="Shape 1386"/>
        <p:cNvGrpSpPr/>
        <p:nvPr/>
      </p:nvGrpSpPr>
      <p:grpSpPr>
        <a:xfrm>
          <a:off x="0" y="0"/>
          <a:ext cx="0" cy="0"/>
          <a:chOff x="0" y="0"/>
          <a:chExt cx="0" cy="0"/>
        </a:xfrm>
      </p:grpSpPr>
      <p:sp>
        <p:nvSpPr>
          <p:cNvPr id="1387" name="Google Shape;1387;p58"/>
          <p:cNvSpPr txBox="1"/>
          <p:nvPr/>
        </p:nvSpPr>
        <p:spPr>
          <a:xfrm>
            <a:off x="1237325" y="2476325"/>
            <a:ext cx="9760500" cy="600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2D2F3B"/>
                </a:solidFill>
                <a:latin typeface="Poppins Medium"/>
                <a:ea typeface="Poppins Medium"/>
                <a:cs typeface="Poppins Medium"/>
                <a:sym typeface="Poppins Medium"/>
              </a:rPr>
              <a:t>Nurture is everything that happens after birth</a:t>
            </a:r>
            <a:endParaRPr b="1" i="0" sz="32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0000FF"/>
                </a:solidFill>
                <a:latin typeface="Poppins Medium"/>
                <a:ea typeface="Poppins Medium"/>
                <a:cs typeface="Poppins Medium"/>
                <a:sym typeface="Poppins Medium"/>
              </a:rPr>
              <a:t>La crianza abarca todo lo que sucede después del nacimiento</a:t>
            </a:r>
            <a:endParaRPr b="1" i="0" sz="32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2D2F3B"/>
                </a:solidFill>
                <a:latin typeface="Poppins Medium"/>
                <a:ea typeface="Poppins Medium"/>
                <a:cs typeface="Poppins Medium"/>
                <a:sym typeface="Poppins Medium"/>
              </a:rPr>
              <a:t>Experiences shape neural networks</a:t>
            </a:r>
            <a:endParaRPr b="1" i="0" sz="32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0000FF"/>
                </a:solidFill>
                <a:latin typeface="Poppins Medium"/>
                <a:ea typeface="Poppins Medium"/>
                <a:cs typeface="Poppins Medium"/>
                <a:sym typeface="Poppins Medium"/>
              </a:rPr>
              <a:t>Las experiencias moldean las redes neuronales</a:t>
            </a:r>
            <a:endParaRPr b="1" i="0" sz="32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400"/>
              <a:buFont typeface="Arial"/>
              <a:buNone/>
            </a:pPr>
            <a:r>
              <a:t/>
            </a:r>
            <a:endParaRPr b="1" i="0" sz="34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400"/>
              <a:buFont typeface="Arial"/>
              <a:buNone/>
            </a:pPr>
            <a:r>
              <a:t/>
            </a:r>
            <a:endParaRPr b="1" i="0" sz="34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400"/>
              <a:buFont typeface="Arial"/>
              <a:buNone/>
            </a:pPr>
            <a:r>
              <a:t/>
            </a:r>
            <a:endParaRPr b="1" i="0" sz="3400" u="none" cap="none" strike="noStrike">
              <a:solidFill>
                <a:srgbClr val="2D2F3B"/>
              </a:solidFill>
              <a:latin typeface="Poppins Medium"/>
              <a:ea typeface="Poppins Medium"/>
              <a:cs typeface="Poppins Medium"/>
              <a:sym typeface="Poppins Medium"/>
            </a:endParaRPr>
          </a:p>
        </p:txBody>
      </p:sp>
      <p:pic>
        <p:nvPicPr>
          <p:cNvPr id="1388" name="Google Shape;1388;p58" title="Screenshot 2025-11-15 at 4.07.32 PM.png"/>
          <p:cNvPicPr preferRelativeResize="0"/>
          <p:nvPr/>
        </p:nvPicPr>
        <p:blipFill rotWithShape="1">
          <a:blip r:embed="rId3">
            <a:alphaModFix/>
          </a:blip>
          <a:srcRect b="0" l="0" r="0" t="0"/>
          <a:stretch/>
        </p:blipFill>
        <p:spPr>
          <a:xfrm>
            <a:off x="12330475" y="841375"/>
            <a:ext cx="4852224" cy="2723049"/>
          </a:xfrm>
          <a:prstGeom prst="rect">
            <a:avLst/>
          </a:prstGeom>
          <a:noFill/>
          <a:ln>
            <a:noFill/>
          </a:ln>
        </p:spPr>
      </p:pic>
      <p:pic>
        <p:nvPicPr>
          <p:cNvPr id="1389" name="Google Shape;1389;p58" title="Screenshot 2025-11-15 at 4.08.15 PM.png"/>
          <p:cNvPicPr preferRelativeResize="0"/>
          <p:nvPr/>
        </p:nvPicPr>
        <p:blipFill rotWithShape="1">
          <a:blip r:embed="rId4">
            <a:alphaModFix/>
          </a:blip>
          <a:srcRect b="0" l="0" r="0" t="0"/>
          <a:stretch/>
        </p:blipFill>
        <p:spPr>
          <a:xfrm>
            <a:off x="12330474" y="3871700"/>
            <a:ext cx="4647855" cy="3105875"/>
          </a:xfrm>
          <a:prstGeom prst="rect">
            <a:avLst/>
          </a:prstGeom>
          <a:noFill/>
          <a:ln>
            <a:noFill/>
          </a:ln>
        </p:spPr>
      </p:pic>
      <p:pic>
        <p:nvPicPr>
          <p:cNvPr id="1390" name="Google Shape;1390;p58" title="Screenshot 2025-11-15 at 4.09.26 PM.png"/>
          <p:cNvPicPr preferRelativeResize="0"/>
          <p:nvPr/>
        </p:nvPicPr>
        <p:blipFill rotWithShape="1">
          <a:blip r:embed="rId5">
            <a:alphaModFix/>
          </a:blip>
          <a:srcRect b="0" l="0" r="0" t="0"/>
          <a:stretch/>
        </p:blipFill>
        <p:spPr>
          <a:xfrm>
            <a:off x="11594072" y="7284850"/>
            <a:ext cx="6120649" cy="2661152"/>
          </a:xfrm>
          <a:prstGeom prst="rect">
            <a:avLst/>
          </a:prstGeom>
          <a:noFill/>
          <a:ln>
            <a:noFill/>
          </a:ln>
        </p:spPr>
      </p:pic>
      <p:sp>
        <p:nvSpPr>
          <p:cNvPr id="1391" name="Google Shape;1391;p58"/>
          <p:cNvSpPr txBox="1"/>
          <p:nvPr/>
        </p:nvSpPr>
        <p:spPr>
          <a:xfrm>
            <a:off x="98745" y="756450"/>
            <a:ext cx="12260100" cy="1686900"/>
          </a:xfrm>
          <a:prstGeom prst="rect">
            <a:avLst/>
          </a:prstGeom>
          <a:noFill/>
          <a:ln>
            <a:noFill/>
          </a:ln>
        </p:spPr>
        <p:txBody>
          <a:bodyPr anchorCtr="0" anchor="t" bIns="0" lIns="0" spcFirstLastPara="1" rIns="0" wrap="square" tIns="0">
            <a:spAutoFit/>
          </a:bodyPr>
          <a:lstStyle/>
          <a:p>
            <a:pPr indent="0" lvl="0" marL="0" marR="0" rtl="0" algn="ctr">
              <a:lnSpc>
                <a:spcPct val="130009"/>
              </a:lnSpc>
              <a:spcBef>
                <a:spcPts val="0"/>
              </a:spcBef>
              <a:spcAft>
                <a:spcPts val="0"/>
              </a:spcAft>
              <a:buClr>
                <a:schemeClr val="dk1"/>
              </a:buClr>
              <a:buSzPts val="4808"/>
              <a:buFont typeface="Arial"/>
              <a:buNone/>
            </a:pPr>
            <a:r>
              <a:rPr b="1" i="0" lang="en-US" sz="4808" u="none" cap="none" strike="noStrike">
                <a:solidFill>
                  <a:srgbClr val="136447"/>
                </a:solidFill>
                <a:latin typeface="Poppins"/>
                <a:ea typeface="Poppins"/>
                <a:cs typeface="Poppins"/>
                <a:sym typeface="Poppins"/>
              </a:rPr>
              <a:t>What is Nurture? | </a:t>
            </a:r>
            <a:r>
              <a:rPr b="1" i="0" lang="en-US" sz="4808" u="none" cap="none" strike="noStrike">
                <a:solidFill>
                  <a:srgbClr val="0000FF"/>
                </a:solidFill>
                <a:latin typeface="Poppins"/>
                <a:ea typeface="Poppins"/>
                <a:cs typeface="Poppins"/>
                <a:sym typeface="Poppins"/>
              </a:rPr>
              <a:t>¿Qué es la crianza?</a:t>
            </a:r>
            <a:endParaRPr b="0" i="0" sz="200" u="none" cap="none" strike="noStrike">
              <a:solidFill>
                <a:srgbClr val="0000FF"/>
              </a:solidFill>
              <a:latin typeface="Arial"/>
              <a:ea typeface="Arial"/>
              <a:cs typeface="Arial"/>
              <a:sym typeface="Arial"/>
            </a:endParaRPr>
          </a:p>
          <a:p>
            <a:pPr indent="0" lvl="0" marL="0" marR="0" rtl="0" algn="ctr">
              <a:lnSpc>
                <a:spcPct val="130009"/>
              </a:lnSpc>
              <a:spcBef>
                <a:spcPts val="0"/>
              </a:spcBef>
              <a:spcAft>
                <a:spcPts val="0"/>
              </a:spcAft>
              <a:buClr>
                <a:srgbClr val="000000"/>
              </a:buClr>
              <a:buSzPts val="4708"/>
              <a:buFont typeface="Arial"/>
              <a:buNone/>
            </a:pPr>
            <a:r>
              <a:t/>
            </a:r>
            <a:endParaRPr b="1" i="0" sz="4708" u="none" cap="none" strike="noStrike">
              <a:solidFill>
                <a:srgbClr val="136447"/>
              </a:solidFill>
              <a:latin typeface="Poppins"/>
              <a:ea typeface="Poppins"/>
              <a:cs typeface="Poppins"/>
              <a:sym typeface="Poppins"/>
            </a:endParaRPr>
          </a:p>
        </p:txBody>
      </p:sp>
      <p:cxnSp>
        <p:nvCxnSpPr>
          <p:cNvPr id="1392" name="Google Shape;1392;p58"/>
          <p:cNvCxnSpPr/>
          <p:nvPr/>
        </p:nvCxnSpPr>
        <p:spPr>
          <a:xfrm flipH="1" rot="10800000">
            <a:off x="1028734" y="1778801"/>
            <a:ext cx="8115300" cy="18900"/>
          </a:xfrm>
          <a:prstGeom prst="straightConnector1">
            <a:avLst/>
          </a:prstGeom>
          <a:noFill/>
          <a:ln cap="rnd" cmpd="sng" w="28575">
            <a:solidFill>
              <a:srgbClr val="136447"/>
            </a:solidFill>
            <a:prstDash val="solid"/>
            <a:round/>
            <a:headEnd len="sm" w="sm" type="none"/>
            <a:tailEnd len="sm" w="sm" type="none"/>
          </a:ln>
        </p:spPr>
      </p:cxn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396" name="Shape 1396"/>
        <p:cNvGrpSpPr/>
        <p:nvPr/>
      </p:nvGrpSpPr>
      <p:grpSpPr>
        <a:xfrm>
          <a:off x="0" y="0"/>
          <a:ext cx="0" cy="0"/>
          <a:chOff x="0" y="0"/>
          <a:chExt cx="0" cy="0"/>
        </a:xfrm>
      </p:grpSpPr>
      <p:sp>
        <p:nvSpPr>
          <p:cNvPr id="1397" name="Google Shape;1397;p59"/>
          <p:cNvSpPr txBox="1"/>
          <p:nvPr/>
        </p:nvSpPr>
        <p:spPr>
          <a:xfrm>
            <a:off x="1237332" y="2400038"/>
            <a:ext cx="13776000" cy="8589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000"/>
              <a:buFont typeface="Arial"/>
              <a:buNone/>
            </a:pPr>
            <a:r>
              <a:rPr b="1" i="0" lang="en-US" sz="3000" u="none" cap="none" strike="noStrike">
                <a:solidFill>
                  <a:srgbClr val="990000"/>
                </a:solidFill>
                <a:latin typeface="Poppins Medium"/>
                <a:ea typeface="Poppins Medium"/>
                <a:cs typeface="Poppins Medium"/>
                <a:sym typeface="Poppins Medium"/>
              </a:rPr>
              <a:t>Parenting, culture, schooling</a:t>
            </a:r>
            <a:endParaRPr b="1" i="0" sz="3000" u="none" cap="none" strike="noStrike">
              <a:solidFill>
                <a:srgbClr val="990000"/>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rPr b="1" i="0" lang="en-US" sz="3000" u="none" cap="none" strike="noStrike">
                <a:solidFill>
                  <a:srgbClr val="0000FF"/>
                </a:solidFill>
                <a:latin typeface="Poppins Medium"/>
                <a:ea typeface="Poppins Medium"/>
                <a:cs typeface="Poppins Medium"/>
                <a:sym typeface="Poppins Medium"/>
              </a:rPr>
              <a:t>Crianza, cultura, escolarización</a:t>
            </a:r>
            <a:endParaRPr b="1" i="0" sz="30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990000"/>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rPr b="1" i="0" lang="en-US" sz="3000" u="none" cap="none" strike="noStrike">
                <a:solidFill>
                  <a:srgbClr val="990000"/>
                </a:solidFill>
                <a:latin typeface="Poppins Medium"/>
                <a:ea typeface="Poppins Medium"/>
                <a:cs typeface="Poppins Medium"/>
                <a:sym typeface="Poppins Medium"/>
              </a:rPr>
              <a:t>Trauma and Support</a:t>
            </a:r>
            <a:endParaRPr b="1" i="0" sz="3000" u="none" cap="none" strike="noStrike">
              <a:solidFill>
                <a:srgbClr val="990000"/>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rPr b="1" i="0" lang="en-US" sz="3000" u="none" cap="none" strike="noStrike">
                <a:solidFill>
                  <a:srgbClr val="0000FF"/>
                </a:solidFill>
                <a:latin typeface="Poppins Medium"/>
                <a:ea typeface="Poppins Medium"/>
                <a:cs typeface="Poppins Medium"/>
                <a:sym typeface="Poppins Medium"/>
              </a:rPr>
              <a:t>Trauma y apoyo</a:t>
            </a:r>
            <a:endParaRPr b="1" i="0" sz="30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990000"/>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rPr b="1" i="0" lang="en-US" sz="3000" u="none" cap="none" strike="noStrike">
                <a:solidFill>
                  <a:srgbClr val="990000"/>
                </a:solidFill>
                <a:latin typeface="Poppins Medium"/>
                <a:ea typeface="Poppins Medium"/>
                <a:cs typeface="Poppins Medium"/>
                <a:sym typeface="Poppins Medium"/>
              </a:rPr>
              <a:t>Learning, practice, beliefs</a:t>
            </a:r>
            <a:endParaRPr b="1" i="0" sz="3000" u="none" cap="none" strike="noStrike">
              <a:solidFill>
                <a:srgbClr val="990000"/>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rPr b="1" i="0" lang="en-US" sz="3000" u="none" cap="none" strike="noStrike">
                <a:solidFill>
                  <a:srgbClr val="0000FF"/>
                </a:solidFill>
                <a:latin typeface="Poppins Medium"/>
                <a:ea typeface="Poppins Medium"/>
                <a:cs typeface="Poppins Medium"/>
                <a:sym typeface="Poppins Medium"/>
              </a:rPr>
              <a:t>Aprendizaje, práctica, creencias</a:t>
            </a:r>
            <a:endParaRPr b="1" i="0" sz="30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990000"/>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rPr b="1" i="0" lang="en-US" sz="3000" u="none" cap="none" strike="noStrike">
                <a:solidFill>
                  <a:srgbClr val="990000"/>
                </a:solidFill>
                <a:latin typeface="Poppins Medium"/>
                <a:ea typeface="Poppins Medium"/>
                <a:cs typeface="Poppins Medium"/>
                <a:sym typeface="Poppins Medium"/>
              </a:rPr>
              <a:t>Friends, social media, interactions</a:t>
            </a:r>
            <a:endParaRPr b="1" i="0" sz="3000" u="none" cap="none" strike="noStrike">
              <a:solidFill>
                <a:srgbClr val="990000"/>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rPr b="1" i="0" lang="en-US" sz="3000" u="none" cap="none" strike="noStrike">
                <a:solidFill>
                  <a:srgbClr val="0000FF"/>
                </a:solidFill>
                <a:latin typeface="Poppins Medium"/>
                <a:ea typeface="Poppins Medium"/>
                <a:cs typeface="Poppins Medium"/>
                <a:sym typeface="Poppins Medium"/>
              </a:rPr>
              <a:t>Amigos, redes sociales, interacciones</a:t>
            </a:r>
            <a:endParaRPr b="1" i="0" sz="30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990000"/>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rPr b="1" i="0" lang="en-US" sz="3000" u="none" cap="none" strike="noStrike">
                <a:solidFill>
                  <a:srgbClr val="990000"/>
                </a:solidFill>
                <a:latin typeface="Poppins Medium"/>
                <a:ea typeface="Poppins Medium"/>
                <a:cs typeface="Poppins Medium"/>
                <a:sym typeface="Poppins Medium"/>
              </a:rPr>
              <a:t>Nutrition, health, stress levels</a:t>
            </a:r>
            <a:endParaRPr b="1" i="0" sz="3000" u="none" cap="none" strike="noStrike">
              <a:solidFill>
                <a:srgbClr val="990000"/>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rPr b="1" i="0" lang="en-US" sz="3000" u="none" cap="none" strike="noStrike">
                <a:solidFill>
                  <a:srgbClr val="0000FF"/>
                </a:solidFill>
                <a:latin typeface="Poppins Medium"/>
                <a:ea typeface="Poppins Medium"/>
                <a:cs typeface="Poppins Medium"/>
                <a:sym typeface="Poppins Medium"/>
              </a:rPr>
              <a:t>Nutrición, salud, niveles de estrés</a:t>
            </a:r>
            <a:endParaRPr b="1" i="0" sz="30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4C1130"/>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4C1130"/>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4C1130"/>
              </a:solidFill>
              <a:latin typeface="Poppins Medium"/>
              <a:ea typeface="Poppins Medium"/>
              <a:cs typeface="Poppins Medium"/>
              <a:sym typeface="Poppins Medium"/>
            </a:endParaRPr>
          </a:p>
        </p:txBody>
      </p:sp>
      <p:pic>
        <p:nvPicPr>
          <p:cNvPr id="1398" name="Google Shape;1398;p59" title="Screenshot 2025-11-15 at 4.07.32 PM.png"/>
          <p:cNvPicPr preferRelativeResize="0"/>
          <p:nvPr/>
        </p:nvPicPr>
        <p:blipFill rotWithShape="1">
          <a:blip r:embed="rId3">
            <a:alphaModFix/>
          </a:blip>
          <a:srcRect b="0" l="0" r="0" t="0"/>
          <a:stretch/>
        </p:blipFill>
        <p:spPr>
          <a:xfrm>
            <a:off x="12330475" y="841375"/>
            <a:ext cx="4852224" cy="2723049"/>
          </a:xfrm>
          <a:prstGeom prst="rect">
            <a:avLst/>
          </a:prstGeom>
          <a:noFill/>
          <a:ln>
            <a:noFill/>
          </a:ln>
        </p:spPr>
      </p:pic>
      <p:pic>
        <p:nvPicPr>
          <p:cNvPr id="1399" name="Google Shape;1399;p59" title="Screenshot 2025-11-15 at 4.08.15 PM.png"/>
          <p:cNvPicPr preferRelativeResize="0"/>
          <p:nvPr/>
        </p:nvPicPr>
        <p:blipFill rotWithShape="1">
          <a:blip r:embed="rId4">
            <a:alphaModFix/>
          </a:blip>
          <a:srcRect b="0" l="0" r="0" t="0"/>
          <a:stretch/>
        </p:blipFill>
        <p:spPr>
          <a:xfrm>
            <a:off x="12330474" y="3871700"/>
            <a:ext cx="4647855" cy="3105875"/>
          </a:xfrm>
          <a:prstGeom prst="rect">
            <a:avLst/>
          </a:prstGeom>
          <a:noFill/>
          <a:ln>
            <a:noFill/>
          </a:ln>
        </p:spPr>
      </p:pic>
      <p:pic>
        <p:nvPicPr>
          <p:cNvPr id="1400" name="Google Shape;1400;p59" title="Screenshot 2025-11-15 at 4.09.26 PM.png"/>
          <p:cNvPicPr preferRelativeResize="0"/>
          <p:nvPr/>
        </p:nvPicPr>
        <p:blipFill rotWithShape="1">
          <a:blip r:embed="rId5">
            <a:alphaModFix/>
          </a:blip>
          <a:srcRect b="0" l="0" r="0" t="0"/>
          <a:stretch/>
        </p:blipFill>
        <p:spPr>
          <a:xfrm>
            <a:off x="11594072" y="7284850"/>
            <a:ext cx="6120649" cy="2661152"/>
          </a:xfrm>
          <a:prstGeom prst="rect">
            <a:avLst/>
          </a:prstGeom>
          <a:noFill/>
          <a:ln>
            <a:noFill/>
          </a:ln>
        </p:spPr>
      </p:pic>
      <p:sp>
        <p:nvSpPr>
          <p:cNvPr id="1401" name="Google Shape;1401;p59"/>
          <p:cNvSpPr txBox="1"/>
          <p:nvPr/>
        </p:nvSpPr>
        <p:spPr>
          <a:xfrm>
            <a:off x="98745" y="756450"/>
            <a:ext cx="12260100" cy="1686900"/>
          </a:xfrm>
          <a:prstGeom prst="rect">
            <a:avLst/>
          </a:prstGeom>
          <a:noFill/>
          <a:ln>
            <a:noFill/>
          </a:ln>
        </p:spPr>
        <p:txBody>
          <a:bodyPr anchorCtr="0" anchor="t" bIns="0" lIns="0" spcFirstLastPara="1" rIns="0" wrap="square" tIns="0">
            <a:spAutoFit/>
          </a:bodyPr>
          <a:lstStyle/>
          <a:p>
            <a:pPr indent="0" lvl="0" marL="0" marR="0" rtl="0" algn="ctr">
              <a:lnSpc>
                <a:spcPct val="130009"/>
              </a:lnSpc>
              <a:spcBef>
                <a:spcPts val="0"/>
              </a:spcBef>
              <a:spcAft>
                <a:spcPts val="0"/>
              </a:spcAft>
              <a:buClr>
                <a:srgbClr val="000000"/>
              </a:buClr>
              <a:buSzPts val="4808"/>
              <a:buFont typeface="Arial"/>
              <a:buNone/>
            </a:pPr>
            <a:r>
              <a:rPr b="1" i="0" lang="en-US" sz="4808" u="none" cap="none" strike="noStrike">
                <a:solidFill>
                  <a:srgbClr val="136447"/>
                </a:solidFill>
                <a:latin typeface="Poppins"/>
                <a:ea typeface="Poppins"/>
                <a:cs typeface="Poppins"/>
                <a:sym typeface="Poppins"/>
              </a:rPr>
              <a:t>What is Nurture? | </a:t>
            </a:r>
            <a:r>
              <a:rPr b="1" i="0" lang="en-US" sz="4808" u="none" cap="none" strike="noStrike">
                <a:solidFill>
                  <a:srgbClr val="0000FF"/>
                </a:solidFill>
                <a:latin typeface="Poppins"/>
                <a:ea typeface="Poppins"/>
                <a:cs typeface="Poppins"/>
                <a:sym typeface="Poppins"/>
              </a:rPr>
              <a:t>¿Qué es la crianza?</a:t>
            </a:r>
            <a:endParaRPr b="0" i="0" sz="200" u="none" cap="none" strike="noStrike">
              <a:solidFill>
                <a:srgbClr val="0000FF"/>
              </a:solidFill>
              <a:latin typeface="Arial"/>
              <a:ea typeface="Arial"/>
              <a:cs typeface="Arial"/>
              <a:sym typeface="Arial"/>
            </a:endParaRPr>
          </a:p>
          <a:p>
            <a:pPr indent="0" lvl="0" marL="0" marR="0" rtl="0" algn="ctr">
              <a:lnSpc>
                <a:spcPct val="130009"/>
              </a:lnSpc>
              <a:spcBef>
                <a:spcPts val="0"/>
              </a:spcBef>
              <a:spcAft>
                <a:spcPts val="0"/>
              </a:spcAft>
              <a:buClr>
                <a:srgbClr val="000000"/>
              </a:buClr>
              <a:buSzPts val="4708"/>
              <a:buFont typeface="Arial"/>
              <a:buNone/>
            </a:pPr>
            <a:r>
              <a:t/>
            </a:r>
            <a:endParaRPr b="1" i="0" sz="4708" u="none" cap="none" strike="noStrike">
              <a:solidFill>
                <a:srgbClr val="136447"/>
              </a:solidFill>
              <a:latin typeface="Poppins"/>
              <a:ea typeface="Poppins"/>
              <a:cs typeface="Poppins"/>
              <a:sym typeface="Poppins"/>
            </a:endParaRPr>
          </a:p>
        </p:txBody>
      </p:sp>
      <p:cxnSp>
        <p:nvCxnSpPr>
          <p:cNvPr id="1402" name="Google Shape;1402;p59"/>
          <p:cNvCxnSpPr/>
          <p:nvPr/>
        </p:nvCxnSpPr>
        <p:spPr>
          <a:xfrm flipH="1" rot="10800000">
            <a:off x="1028734" y="1778801"/>
            <a:ext cx="8115300" cy="18900"/>
          </a:xfrm>
          <a:prstGeom prst="straightConnector1">
            <a:avLst/>
          </a:prstGeom>
          <a:noFill/>
          <a:ln cap="rnd" cmpd="sng" w="28575">
            <a:solidFill>
              <a:srgbClr val="136447"/>
            </a:solidFill>
            <a:prstDash val="solid"/>
            <a:round/>
            <a:headEnd len="sm" w="sm" type="none"/>
            <a:tailEnd len="sm" w="sm" type="none"/>
          </a:ln>
        </p:spPr>
      </p:cxn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406" name="Shape 1406"/>
        <p:cNvGrpSpPr/>
        <p:nvPr/>
      </p:nvGrpSpPr>
      <p:grpSpPr>
        <a:xfrm>
          <a:off x="0" y="0"/>
          <a:ext cx="0" cy="0"/>
          <a:chOff x="0" y="0"/>
          <a:chExt cx="0" cy="0"/>
        </a:xfrm>
      </p:grpSpPr>
      <p:sp>
        <p:nvSpPr>
          <p:cNvPr id="1407" name="Google Shape;1407;p60"/>
          <p:cNvSpPr txBox="1"/>
          <p:nvPr/>
        </p:nvSpPr>
        <p:spPr>
          <a:xfrm>
            <a:off x="386375" y="348450"/>
            <a:ext cx="18657300" cy="1666800"/>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Clr>
                <a:srgbClr val="000000"/>
              </a:buClr>
              <a:buSzPts val="4708"/>
              <a:buFont typeface="Arial"/>
              <a:buNone/>
            </a:pPr>
            <a:r>
              <a:rPr b="1" i="0" lang="en-US" sz="4708" u="none" cap="none" strike="noStrike">
                <a:solidFill>
                  <a:srgbClr val="136447"/>
                </a:solidFill>
                <a:latin typeface="Poppins"/>
                <a:ea typeface="Poppins"/>
                <a:cs typeface="Poppins"/>
                <a:sym typeface="Poppins"/>
              </a:rPr>
              <a:t>Environment: The Hidden Variable | </a:t>
            </a:r>
            <a:r>
              <a:rPr b="1" i="0" lang="en-US" sz="4708" u="none" cap="none" strike="noStrike">
                <a:solidFill>
                  <a:srgbClr val="0000FF"/>
                </a:solidFill>
                <a:latin typeface="Poppins"/>
                <a:ea typeface="Poppins"/>
                <a:cs typeface="Poppins"/>
                <a:sym typeface="Poppins"/>
              </a:rPr>
              <a:t>Entorno: La variable oculta</a:t>
            </a:r>
            <a:endParaRPr b="1" i="0" sz="4708" u="none" cap="none" strike="noStrike">
              <a:solidFill>
                <a:srgbClr val="0000FF"/>
              </a:solidFill>
              <a:latin typeface="Poppins"/>
              <a:ea typeface="Poppins"/>
              <a:cs typeface="Poppins"/>
              <a:sym typeface="Poppins"/>
            </a:endParaRPr>
          </a:p>
        </p:txBody>
      </p:sp>
      <p:sp>
        <p:nvSpPr>
          <p:cNvPr id="1408" name="Google Shape;1408;p60"/>
          <p:cNvSpPr txBox="1"/>
          <p:nvPr/>
        </p:nvSpPr>
        <p:spPr>
          <a:xfrm>
            <a:off x="1237331" y="2476313"/>
            <a:ext cx="13209000" cy="21825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2D2F3B"/>
                </a:solidFill>
                <a:latin typeface="Poppins Medium"/>
                <a:ea typeface="Poppins Medium"/>
                <a:cs typeface="Poppins Medium"/>
                <a:sym typeface="Poppins Medium"/>
              </a:rPr>
              <a:t>Environment includes:</a:t>
            </a:r>
            <a:endParaRPr b="1" i="0" sz="32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0000FF"/>
                </a:solidFill>
                <a:latin typeface="Poppins Medium"/>
                <a:ea typeface="Poppins Medium"/>
                <a:cs typeface="Poppins Medium"/>
                <a:sym typeface="Poppins Medium"/>
              </a:rPr>
              <a:t>El medio ambiente incluye: </a:t>
            </a:r>
            <a:endParaRPr b="1" i="0" sz="32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400"/>
              <a:buFont typeface="Arial"/>
              <a:buNone/>
            </a:pPr>
            <a:r>
              <a:t/>
            </a:r>
            <a:endParaRPr b="1" i="0" sz="34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400"/>
              <a:buFont typeface="Arial"/>
              <a:buNone/>
            </a:pPr>
            <a:r>
              <a:t/>
            </a:r>
            <a:endParaRPr b="1" i="0" sz="3400" u="none" cap="none" strike="noStrike">
              <a:solidFill>
                <a:srgbClr val="2D2F3B"/>
              </a:solidFill>
              <a:latin typeface="Poppins Medium"/>
              <a:ea typeface="Poppins Medium"/>
              <a:cs typeface="Poppins Medium"/>
              <a:sym typeface="Poppins Medium"/>
            </a:endParaRPr>
          </a:p>
        </p:txBody>
      </p:sp>
      <p:sp>
        <p:nvSpPr>
          <p:cNvPr id="1409" name="Google Shape;1409;p60"/>
          <p:cNvSpPr txBox="1"/>
          <p:nvPr/>
        </p:nvSpPr>
        <p:spPr>
          <a:xfrm>
            <a:off x="1237323" y="3547475"/>
            <a:ext cx="16955400" cy="7505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2400"/>
              <a:buFont typeface="Arial"/>
              <a:buNone/>
            </a:pPr>
            <a:r>
              <a:rPr b="1" i="0" lang="en-US" sz="2400" u="none" cap="none" strike="noStrike">
                <a:solidFill>
                  <a:srgbClr val="990000"/>
                </a:solidFill>
                <a:latin typeface="Poppins Medium"/>
                <a:ea typeface="Poppins Medium"/>
                <a:cs typeface="Poppins Medium"/>
                <a:sym typeface="Poppins Medium"/>
              </a:rPr>
              <a:t>Neighborhood</a:t>
            </a:r>
            <a:endParaRPr b="1" i="0" sz="2400" u="none" cap="none" strike="noStrike">
              <a:solidFill>
                <a:srgbClr val="990000"/>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400"/>
              <a:buFont typeface="Arial"/>
              <a:buNone/>
            </a:pPr>
            <a:r>
              <a:rPr b="1" i="0" lang="en-US" sz="2400" u="none" cap="none" strike="noStrike">
                <a:solidFill>
                  <a:srgbClr val="0000FF"/>
                </a:solidFill>
                <a:latin typeface="Poppins Medium"/>
                <a:ea typeface="Poppins Medium"/>
                <a:cs typeface="Poppins Medium"/>
                <a:sym typeface="Poppins Medium"/>
              </a:rPr>
              <a:t>Barrio</a:t>
            </a:r>
            <a:endParaRPr b="1" i="0" sz="24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400"/>
              <a:buFont typeface="Arial"/>
              <a:buNone/>
            </a:pPr>
            <a:r>
              <a:t/>
            </a:r>
            <a:endParaRPr b="1" i="0" sz="2400" u="none" cap="none" strike="noStrike">
              <a:solidFill>
                <a:srgbClr val="990000"/>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400"/>
              <a:buFont typeface="Arial"/>
              <a:buNone/>
            </a:pPr>
            <a:r>
              <a:rPr b="1" i="0" lang="en-US" sz="2400" u="none" cap="none" strike="noStrike">
                <a:solidFill>
                  <a:srgbClr val="990000"/>
                </a:solidFill>
                <a:latin typeface="Poppins Medium"/>
                <a:ea typeface="Poppins Medium"/>
                <a:cs typeface="Poppins Medium"/>
                <a:sym typeface="Poppins Medium"/>
              </a:rPr>
              <a:t>Socioeconomic status</a:t>
            </a:r>
            <a:endParaRPr b="1" i="0" sz="2400" u="none" cap="none" strike="noStrike">
              <a:solidFill>
                <a:srgbClr val="990000"/>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400"/>
              <a:buFont typeface="Arial"/>
              <a:buNone/>
            </a:pPr>
            <a:r>
              <a:rPr b="1" i="0" lang="en-US" sz="2400" u="none" cap="none" strike="noStrike">
                <a:solidFill>
                  <a:srgbClr val="0000FF"/>
                </a:solidFill>
                <a:latin typeface="Poppins Medium"/>
                <a:ea typeface="Poppins Medium"/>
                <a:cs typeface="Poppins Medium"/>
                <a:sym typeface="Poppins Medium"/>
              </a:rPr>
              <a:t>Nivel socioeconómico</a:t>
            </a:r>
            <a:endParaRPr b="1" i="0" sz="24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400"/>
              <a:buFont typeface="Arial"/>
              <a:buNone/>
            </a:pPr>
            <a:r>
              <a:t/>
            </a:r>
            <a:endParaRPr b="1" i="0" sz="2400" u="none" cap="none" strike="noStrike">
              <a:solidFill>
                <a:srgbClr val="990000"/>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400"/>
              <a:buFont typeface="Arial"/>
              <a:buNone/>
            </a:pPr>
            <a:r>
              <a:rPr b="1" i="0" lang="en-US" sz="2400" u="none" cap="none" strike="noStrike">
                <a:solidFill>
                  <a:srgbClr val="990000"/>
                </a:solidFill>
                <a:latin typeface="Poppins Medium"/>
                <a:ea typeface="Poppins Medium"/>
                <a:cs typeface="Poppins Medium"/>
                <a:sym typeface="Poppins Medium"/>
              </a:rPr>
              <a:t>Diet, sleep</a:t>
            </a:r>
            <a:endParaRPr b="1" i="0" sz="2400" u="none" cap="none" strike="noStrike">
              <a:solidFill>
                <a:srgbClr val="990000"/>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400"/>
              <a:buFont typeface="Arial"/>
              <a:buNone/>
            </a:pPr>
            <a:r>
              <a:rPr b="1" i="0" lang="en-US" sz="2400" u="none" cap="none" strike="noStrike">
                <a:solidFill>
                  <a:srgbClr val="0000FF"/>
                </a:solidFill>
                <a:latin typeface="Poppins Medium"/>
                <a:ea typeface="Poppins Medium"/>
                <a:cs typeface="Poppins Medium"/>
                <a:sym typeface="Poppins Medium"/>
              </a:rPr>
              <a:t>Dieta, sueño</a:t>
            </a:r>
            <a:endParaRPr b="1" i="0" sz="24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400"/>
              <a:buFont typeface="Arial"/>
              <a:buNone/>
            </a:pPr>
            <a:r>
              <a:t/>
            </a:r>
            <a:endParaRPr b="1" i="0" sz="2400" u="none" cap="none" strike="noStrike">
              <a:solidFill>
                <a:srgbClr val="990000"/>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400"/>
              <a:buFont typeface="Arial"/>
              <a:buNone/>
            </a:pPr>
            <a:r>
              <a:rPr b="1" i="0" lang="en-US" sz="2400" u="none" cap="none" strike="noStrike">
                <a:solidFill>
                  <a:srgbClr val="990000"/>
                </a:solidFill>
                <a:latin typeface="Poppins Medium"/>
                <a:ea typeface="Poppins Medium"/>
                <a:cs typeface="Poppins Medium"/>
                <a:sym typeface="Poppins Medium"/>
              </a:rPr>
              <a:t>Pollutants and toxins</a:t>
            </a:r>
            <a:endParaRPr b="1" i="0" sz="2400" u="none" cap="none" strike="noStrike">
              <a:solidFill>
                <a:srgbClr val="990000"/>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400"/>
              <a:buFont typeface="Arial"/>
              <a:buNone/>
            </a:pPr>
            <a:r>
              <a:rPr b="1" i="0" lang="en-US" sz="2400" u="none" cap="none" strike="noStrike">
                <a:solidFill>
                  <a:srgbClr val="0000FF"/>
                </a:solidFill>
                <a:latin typeface="Poppins Medium"/>
                <a:ea typeface="Poppins Medium"/>
                <a:cs typeface="Poppins Medium"/>
                <a:sym typeface="Poppins Medium"/>
              </a:rPr>
              <a:t>Contaminantes y toxinas</a:t>
            </a:r>
            <a:endParaRPr b="1" i="0" sz="24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400"/>
              <a:buFont typeface="Arial"/>
              <a:buNone/>
            </a:pPr>
            <a:r>
              <a:t/>
            </a:r>
            <a:endParaRPr b="1" i="0" sz="2400" u="none" cap="none" strike="noStrike">
              <a:solidFill>
                <a:srgbClr val="990000"/>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400"/>
              <a:buFont typeface="Arial"/>
              <a:buNone/>
            </a:pPr>
            <a:r>
              <a:rPr b="1" i="0" lang="en-US" sz="2400" u="none" cap="none" strike="noStrike">
                <a:solidFill>
                  <a:srgbClr val="990000"/>
                </a:solidFill>
                <a:latin typeface="Poppins Medium"/>
                <a:ea typeface="Poppins Medium"/>
                <a:cs typeface="Poppins Medium"/>
                <a:sym typeface="Poppins Medium"/>
              </a:rPr>
              <a:t>Technology</a:t>
            </a:r>
            <a:endParaRPr b="1" i="0" sz="2400" u="none" cap="none" strike="noStrike">
              <a:solidFill>
                <a:srgbClr val="990000"/>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400"/>
              <a:buFont typeface="Arial"/>
              <a:buNone/>
            </a:pPr>
            <a:r>
              <a:rPr b="1" i="0" lang="en-US" sz="2400" u="none" cap="none" strike="noStrike">
                <a:solidFill>
                  <a:srgbClr val="0000FF"/>
                </a:solidFill>
                <a:latin typeface="Poppins Medium"/>
                <a:ea typeface="Poppins Medium"/>
                <a:cs typeface="Poppins Medium"/>
                <a:sym typeface="Poppins Medium"/>
              </a:rPr>
              <a:t>Tecnología</a:t>
            </a:r>
            <a:endParaRPr b="1" i="0" sz="30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600"/>
              <a:buFont typeface="Arial"/>
              <a:buNone/>
            </a:pPr>
            <a:r>
              <a:rPr b="1" i="0" lang="en-US" sz="2600" u="none" cap="none" strike="noStrike">
                <a:solidFill>
                  <a:srgbClr val="2D2F3B"/>
                </a:solidFill>
                <a:latin typeface="Poppins Medium"/>
                <a:ea typeface="Poppins Medium"/>
                <a:cs typeface="Poppins Medium"/>
                <a:sym typeface="Poppins Medium"/>
              </a:rPr>
              <a:t>The environment can </a:t>
            </a:r>
            <a:r>
              <a:rPr b="1" i="1" lang="en-US" sz="2600" u="none" cap="none" strike="noStrike">
                <a:solidFill>
                  <a:srgbClr val="2D2F3B"/>
                </a:solidFill>
                <a:latin typeface="Poppins Medium"/>
                <a:ea typeface="Poppins Medium"/>
                <a:cs typeface="Poppins Medium"/>
                <a:sym typeface="Poppins Medium"/>
              </a:rPr>
              <a:t>alter</a:t>
            </a:r>
            <a:r>
              <a:rPr b="1" i="0" lang="en-US" sz="2600" u="none" cap="none" strike="noStrike">
                <a:solidFill>
                  <a:srgbClr val="2D2F3B"/>
                </a:solidFill>
                <a:latin typeface="Poppins Medium"/>
                <a:ea typeface="Poppins Medium"/>
                <a:cs typeface="Poppins Medium"/>
                <a:sym typeface="Poppins Medium"/>
              </a:rPr>
              <a:t> brain chemicals, </a:t>
            </a:r>
            <a:r>
              <a:rPr b="1" i="1" lang="en-US" sz="2600" u="none" cap="none" strike="noStrike">
                <a:solidFill>
                  <a:srgbClr val="2D2F3B"/>
                </a:solidFill>
                <a:latin typeface="Poppins Medium"/>
                <a:ea typeface="Poppins Medium"/>
                <a:cs typeface="Poppins Medium"/>
                <a:sym typeface="Poppins Medium"/>
              </a:rPr>
              <a:t>change</a:t>
            </a:r>
            <a:r>
              <a:rPr b="1" i="0" lang="en-US" sz="2600" u="none" cap="none" strike="noStrike">
                <a:solidFill>
                  <a:srgbClr val="2D2F3B"/>
                </a:solidFill>
                <a:latin typeface="Poppins Medium"/>
                <a:ea typeface="Poppins Medium"/>
                <a:cs typeface="Poppins Medium"/>
                <a:sym typeface="Poppins Medium"/>
              </a:rPr>
              <a:t> gene expression, and </a:t>
            </a:r>
            <a:r>
              <a:rPr b="1" i="1" lang="en-US" sz="2600" u="none" cap="none" strike="noStrike">
                <a:solidFill>
                  <a:srgbClr val="2D2F3B"/>
                </a:solidFill>
                <a:latin typeface="Poppins Medium"/>
                <a:ea typeface="Poppins Medium"/>
                <a:cs typeface="Poppins Medium"/>
                <a:sym typeface="Poppins Medium"/>
              </a:rPr>
              <a:t>shape</a:t>
            </a:r>
            <a:r>
              <a:rPr b="1" i="0" lang="en-US" sz="2600" u="none" cap="none" strike="noStrike">
                <a:solidFill>
                  <a:srgbClr val="2D2F3B"/>
                </a:solidFill>
                <a:latin typeface="Poppins Medium"/>
                <a:ea typeface="Poppins Medium"/>
                <a:cs typeface="Poppins Medium"/>
                <a:sym typeface="Poppins Medium"/>
              </a:rPr>
              <a:t> neural pathways</a:t>
            </a:r>
            <a:endParaRPr b="1" i="0" sz="26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400"/>
              <a:buFont typeface="Arial"/>
              <a:buNone/>
            </a:pPr>
            <a:r>
              <a:rPr b="1" i="0" lang="en-US" sz="2400" u="none" cap="none" strike="noStrike">
                <a:solidFill>
                  <a:srgbClr val="0000FF"/>
                </a:solidFill>
                <a:latin typeface="Poppins Medium"/>
                <a:ea typeface="Poppins Medium"/>
                <a:cs typeface="Poppins Medium"/>
                <a:sym typeface="Poppins Medium"/>
              </a:rPr>
              <a:t>El entorno puede alterar la química cerebral, modificar la expresión genética y moldear las vías neuronales</a:t>
            </a:r>
            <a:endParaRPr b="1" i="0" sz="24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4C1130"/>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4C1130"/>
              </a:solidFill>
              <a:latin typeface="Poppins Medium"/>
              <a:ea typeface="Poppins Medium"/>
              <a:cs typeface="Poppins Medium"/>
              <a:sym typeface="Poppins Medium"/>
            </a:endParaRPr>
          </a:p>
        </p:txBody>
      </p:sp>
      <p:cxnSp>
        <p:nvCxnSpPr>
          <p:cNvPr id="1410" name="Google Shape;1410;p60"/>
          <p:cNvCxnSpPr/>
          <p:nvPr/>
        </p:nvCxnSpPr>
        <p:spPr>
          <a:xfrm flipH="1" rot="10800000">
            <a:off x="1028734" y="2193451"/>
            <a:ext cx="8115300" cy="18900"/>
          </a:xfrm>
          <a:prstGeom prst="straightConnector1">
            <a:avLst/>
          </a:prstGeom>
          <a:noFill/>
          <a:ln cap="rnd" cmpd="sng" w="28575">
            <a:solidFill>
              <a:srgbClr val="136447"/>
            </a:solidFill>
            <a:prstDash val="solid"/>
            <a:round/>
            <a:headEnd len="sm" w="sm" type="none"/>
            <a:tailEnd len="sm" w="sm" type="none"/>
          </a:ln>
        </p:spPr>
      </p:cxnSp>
      <p:pic>
        <p:nvPicPr>
          <p:cNvPr id="1411" name="Google Shape;1411;p60" title="Screenshot 2025-11-15 at 6.10.14 PM.png"/>
          <p:cNvPicPr preferRelativeResize="0"/>
          <p:nvPr/>
        </p:nvPicPr>
        <p:blipFill rotWithShape="1">
          <a:blip r:embed="rId3">
            <a:alphaModFix/>
          </a:blip>
          <a:srcRect b="0" l="0" r="0" t="0"/>
          <a:stretch/>
        </p:blipFill>
        <p:spPr>
          <a:xfrm>
            <a:off x="13824300" y="1363149"/>
            <a:ext cx="3933966" cy="2460749"/>
          </a:xfrm>
          <a:prstGeom prst="rect">
            <a:avLst/>
          </a:prstGeom>
          <a:noFill/>
          <a:ln>
            <a:noFill/>
          </a:ln>
        </p:spPr>
      </p:pic>
      <p:pic>
        <p:nvPicPr>
          <p:cNvPr id="1412" name="Google Shape;1412;p60" title="Screenshot 2025-11-15 at 6.10.31 PM.png"/>
          <p:cNvPicPr preferRelativeResize="0"/>
          <p:nvPr/>
        </p:nvPicPr>
        <p:blipFill rotWithShape="1">
          <a:blip r:embed="rId4">
            <a:alphaModFix/>
          </a:blip>
          <a:srcRect b="0" l="0" r="0" t="0"/>
          <a:stretch/>
        </p:blipFill>
        <p:spPr>
          <a:xfrm>
            <a:off x="11163625" y="4091425"/>
            <a:ext cx="4921699" cy="3574708"/>
          </a:xfrm>
          <a:prstGeom prst="rect">
            <a:avLst/>
          </a:prstGeom>
          <a:noFill/>
          <a:ln>
            <a:noFill/>
          </a:ln>
        </p:spPr>
      </p:pic>
      <p:pic>
        <p:nvPicPr>
          <p:cNvPr id="1413" name="Google Shape;1413;p60" title="Screenshot 2025-11-15 at 6.11.12 PM.png"/>
          <p:cNvPicPr preferRelativeResize="0"/>
          <p:nvPr/>
        </p:nvPicPr>
        <p:blipFill rotWithShape="1">
          <a:blip r:embed="rId5">
            <a:alphaModFix/>
          </a:blip>
          <a:srcRect b="0" l="0" r="0" t="0"/>
          <a:stretch/>
        </p:blipFill>
        <p:spPr>
          <a:xfrm>
            <a:off x="9930798" y="1363150"/>
            <a:ext cx="3515350" cy="246075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417" name="Shape 1417"/>
        <p:cNvGrpSpPr/>
        <p:nvPr/>
      </p:nvGrpSpPr>
      <p:grpSpPr>
        <a:xfrm>
          <a:off x="0" y="0"/>
          <a:ext cx="0" cy="0"/>
          <a:chOff x="0" y="0"/>
          <a:chExt cx="0" cy="0"/>
        </a:xfrm>
      </p:grpSpPr>
      <p:sp>
        <p:nvSpPr>
          <p:cNvPr id="1418" name="Google Shape;1418;p61"/>
          <p:cNvSpPr txBox="1"/>
          <p:nvPr/>
        </p:nvSpPr>
        <p:spPr>
          <a:xfrm>
            <a:off x="418402" y="368875"/>
            <a:ext cx="16955400" cy="1560600"/>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Clr>
                <a:srgbClr val="000000"/>
              </a:buClr>
              <a:buSzPts val="4408"/>
              <a:buFont typeface="Arial"/>
              <a:buNone/>
            </a:pPr>
            <a:r>
              <a:rPr b="1" i="0" lang="en-US" sz="4408" u="none" cap="none" strike="noStrike">
                <a:solidFill>
                  <a:srgbClr val="136447"/>
                </a:solidFill>
                <a:latin typeface="Poppins"/>
                <a:ea typeface="Poppins"/>
                <a:cs typeface="Poppins"/>
                <a:sym typeface="Poppins"/>
              </a:rPr>
              <a:t>Nurture &amp; Nature Interaction | </a:t>
            </a:r>
            <a:r>
              <a:rPr b="1" i="0" lang="en-US" sz="4408" u="none" cap="none" strike="noStrike">
                <a:solidFill>
                  <a:srgbClr val="0000FF"/>
                </a:solidFill>
                <a:latin typeface="Poppins"/>
                <a:ea typeface="Poppins"/>
                <a:cs typeface="Poppins"/>
                <a:sym typeface="Poppins"/>
              </a:rPr>
              <a:t>Interacción entre crianza y naturaleza</a:t>
            </a:r>
            <a:endParaRPr b="0" i="0" sz="100" u="none" cap="none" strike="noStrike">
              <a:solidFill>
                <a:srgbClr val="0000FF"/>
              </a:solidFill>
              <a:latin typeface="Arial"/>
              <a:ea typeface="Arial"/>
              <a:cs typeface="Arial"/>
              <a:sym typeface="Arial"/>
            </a:endParaRPr>
          </a:p>
        </p:txBody>
      </p:sp>
      <p:sp>
        <p:nvSpPr>
          <p:cNvPr id="1419" name="Google Shape;1419;p61"/>
          <p:cNvSpPr txBox="1"/>
          <p:nvPr/>
        </p:nvSpPr>
        <p:spPr>
          <a:xfrm>
            <a:off x="1237331" y="2476313"/>
            <a:ext cx="13209000" cy="2250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400"/>
              <a:buFont typeface="Arial"/>
              <a:buNone/>
            </a:pPr>
            <a:r>
              <a:rPr b="1" i="0" lang="en-US" sz="3400" u="none" cap="none" strike="noStrike">
                <a:solidFill>
                  <a:srgbClr val="2D2F3B"/>
                </a:solidFill>
                <a:latin typeface="Poppins Medium"/>
                <a:ea typeface="Poppins Medium"/>
                <a:cs typeface="Poppins Medium"/>
                <a:sym typeface="Poppins Medium"/>
              </a:rPr>
              <a:t>The environment can turn genes </a:t>
            </a:r>
            <a:r>
              <a:rPr b="1" i="1" lang="en-US" sz="3400" u="none" cap="none" strike="noStrike">
                <a:solidFill>
                  <a:srgbClr val="2D2F3B"/>
                </a:solidFill>
                <a:latin typeface="Poppins Medium"/>
                <a:ea typeface="Poppins Medium"/>
                <a:cs typeface="Poppins Medium"/>
                <a:sym typeface="Poppins Medium"/>
              </a:rPr>
              <a:t>on</a:t>
            </a:r>
            <a:r>
              <a:rPr b="1" i="0" lang="en-US" sz="3400" u="none" cap="none" strike="noStrike">
                <a:solidFill>
                  <a:srgbClr val="2D2F3B"/>
                </a:solidFill>
                <a:latin typeface="Poppins Medium"/>
                <a:ea typeface="Poppins Medium"/>
                <a:cs typeface="Poppins Medium"/>
                <a:sym typeface="Poppins Medium"/>
              </a:rPr>
              <a:t> or </a:t>
            </a:r>
            <a:r>
              <a:rPr b="1" i="1" lang="en-US" sz="3400" u="none" cap="none" strike="noStrike">
                <a:solidFill>
                  <a:srgbClr val="2D2F3B"/>
                </a:solidFill>
                <a:latin typeface="Poppins Medium"/>
                <a:ea typeface="Poppins Medium"/>
                <a:cs typeface="Poppins Medium"/>
                <a:sym typeface="Poppins Medium"/>
              </a:rPr>
              <a:t>off</a:t>
            </a:r>
            <a:endParaRPr b="1" i="1" sz="34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400"/>
              <a:buFont typeface="Arial"/>
              <a:buNone/>
            </a:pPr>
            <a:r>
              <a:rPr b="1" i="0" lang="en-US" sz="3400" u="none" cap="none" strike="noStrike">
                <a:solidFill>
                  <a:srgbClr val="0000FF"/>
                </a:solidFill>
                <a:latin typeface="Poppins Medium"/>
                <a:ea typeface="Poppins Medium"/>
                <a:cs typeface="Poppins Medium"/>
                <a:sym typeface="Poppins Medium"/>
              </a:rPr>
              <a:t>El entorno puede </a:t>
            </a:r>
            <a:r>
              <a:rPr b="1" i="1" lang="en-US" sz="3400" u="none" cap="none" strike="noStrike">
                <a:solidFill>
                  <a:srgbClr val="0000FF"/>
                </a:solidFill>
                <a:latin typeface="Poppins Medium"/>
                <a:ea typeface="Poppins Medium"/>
                <a:cs typeface="Poppins Medium"/>
                <a:sym typeface="Poppins Medium"/>
              </a:rPr>
              <a:t>activar</a:t>
            </a:r>
            <a:r>
              <a:rPr b="1" i="0" lang="en-US" sz="3400" u="none" cap="none" strike="noStrike">
                <a:solidFill>
                  <a:srgbClr val="0000FF"/>
                </a:solidFill>
                <a:latin typeface="Poppins Medium"/>
                <a:ea typeface="Poppins Medium"/>
                <a:cs typeface="Poppins Medium"/>
                <a:sym typeface="Poppins Medium"/>
              </a:rPr>
              <a:t> o </a:t>
            </a:r>
            <a:r>
              <a:rPr b="1" i="1" lang="en-US" sz="3400" u="none" cap="none" strike="noStrike">
                <a:solidFill>
                  <a:srgbClr val="0000FF"/>
                </a:solidFill>
                <a:latin typeface="Poppins Medium"/>
                <a:ea typeface="Poppins Medium"/>
                <a:cs typeface="Poppins Medium"/>
                <a:sym typeface="Poppins Medium"/>
              </a:rPr>
              <a:t>desactivar</a:t>
            </a:r>
            <a:r>
              <a:rPr b="1" i="0" lang="en-US" sz="3400" u="none" cap="none" strike="noStrike">
                <a:solidFill>
                  <a:srgbClr val="0000FF"/>
                </a:solidFill>
                <a:latin typeface="Poppins Medium"/>
                <a:ea typeface="Poppins Medium"/>
                <a:cs typeface="Poppins Medium"/>
                <a:sym typeface="Poppins Medium"/>
              </a:rPr>
              <a:t> los genes</a:t>
            </a:r>
            <a:endParaRPr b="1" i="0" sz="34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400"/>
              <a:buFont typeface="Arial"/>
              <a:buNone/>
            </a:pPr>
            <a:r>
              <a:t/>
            </a:r>
            <a:endParaRPr b="1" i="0" sz="34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400"/>
              <a:buFont typeface="Arial"/>
              <a:buNone/>
            </a:pPr>
            <a:r>
              <a:t/>
            </a:r>
            <a:endParaRPr b="1" i="0" sz="3400" u="none" cap="none" strike="noStrike">
              <a:solidFill>
                <a:srgbClr val="2D2F3B"/>
              </a:solidFill>
              <a:latin typeface="Poppins Medium"/>
              <a:ea typeface="Poppins Medium"/>
              <a:cs typeface="Poppins Medium"/>
              <a:sym typeface="Poppins Medium"/>
            </a:endParaRPr>
          </a:p>
        </p:txBody>
      </p:sp>
      <p:sp>
        <p:nvSpPr>
          <p:cNvPr id="1420" name="Google Shape;1420;p61"/>
          <p:cNvSpPr txBox="1"/>
          <p:nvPr/>
        </p:nvSpPr>
        <p:spPr>
          <a:xfrm>
            <a:off x="1237324" y="3804150"/>
            <a:ext cx="11577000" cy="6506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2900"/>
              <a:buFont typeface="Arial"/>
              <a:buNone/>
            </a:pPr>
            <a:r>
              <a:rPr b="1" i="0" lang="en-US" sz="2900" u="none" cap="none" strike="noStrike">
                <a:solidFill>
                  <a:srgbClr val="0B5394"/>
                </a:solidFill>
                <a:latin typeface="Poppins Medium"/>
                <a:ea typeface="Poppins Medium"/>
                <a:cs typeface="Poppins Medium"/>
                <a:sym typeface="Poppins Medium"/>
              </a:rPr>
              <a:t>Examples | </a:t>
            </a:r>
            <a:r>
              <a:rPr b="1" i="0" lang="en-US" sz="2900" u="none" cap="none" strike="noStrike">
                <a:solidFill>
                  <a:srgbClr val="0000FF"/>
                </a:solidFill>
                <a:latin typeface="Poppins Medium"/>
                <a:ea typeface="Poppins Medium"/>
                <a:cs typeface="Poppins Medium"/>
                <a:sym typeface="Poppins Medium"/>
              </a:rPr>
              <a:t>Ejemplos</a:t>
            </a:r>
            <a:r>
              <a:rPr b="1" i="0" lang="en-US" sz="2900" u="none" cap="none" strike="noStrike">
                <a:solidFill>
                  <a:srgbClr val="351C75"/>
                </a:solidFill>
                <a:latin typeface="Poppins Medium"/>
                <a:ea typeface="Poppins Medium"/>
                <a:cs typeface="Poppins Medium"/>
                <a:sym typeface="Poppins Medium"/>
              </a:rPr>
              <a:t>: </a:t>
            </a:r>
            <a:endParaRPr b="1" i="0" sz="2900" u="none" cap="none" strike="noStrike">
              <a:solidFill>
                <a:srgbClr val="351C75"/>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600"/>
              <a:buFont typeface="Arial"/>
              <a:buNone/>
            </a:pPr>
            <a:r>
              <a:rPr b="1" i="0" lang="en-US" sz="2600" u="none" cap="none" strike="noStrike">
                <a:solidFill>
                  <a:srgbClr val="0B5394"/>
                </a:solidFill>
                <a:latin typeface="Poppins Medium"/>
                <a:ea typeface="Poppins Medium"/>
                <a:cs typeface="Poppins Medium"/>
                <a:sym typeface="Poppins Medium"/>
              </a:rPr>
              <a:t>Stress can activate genes for anxiety</a:t>
            </a:r>
            <a:endParaRPr b="1" i="0" sz="2600" u="none" cap="none" strike="noStrike">
              <a:solidFill>
                <a:srgbClr val="0B5394"/>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600"/>
              <a:buFont typeface="Arial"/>
              <a:buNone/>
            </a:pPr>
            <a:r>
              <a:rPr b="1" i="0" lang="en-US" sz="2600" u="none" cap="none" strike="noStrike">
                <a:solidFill>
                  <a:srgbClr val="0000FF"/>
                </a:solidFill>
                <a:latin typeface="Poppins Medium"/>
                <a:ea typeface="Poppins Medium"/>
                <a:cs typeface="Poppins Medium"/>
                <a:sym typeface="Poppins Medium"/>
              </a:rPr>
              <a:t>El estrés puede activar genes relacionados con la ansiedad.</a:t>
            </a:r>
            <a:endParaRPr b="1" i="0" sz="26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600"/>
              <a:buFont typeface="Arial"/>
              <a:buNone/>
            </a:pPr>
            <a:r>
              <a:t/>
            </a:r>
            <a:endParaRPr b="1" i="0" sz="2600" u="none" cap="none" strike="noStrike">
              <a:solidFill>
                <a:srgbClr val="0B5394"/>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600"/>
              <a:buFont typeface="Arial"/>
              <a:buNone/>
            </a:pPr>
            <a:r>
              <a:rPr b="1" i="0" lang="en-US" sz="2600" u="none" cap="none" strike="noStrike">
                <a:solidFill>
                  <a:srgbClr val="0B5394"/>
                </a:solidFill>
                <a:latin typeface="Poppins Medium"/>
                <a:ea typeface="Poppins Medium"/>
                <a:cs typeface="Poppins Medium"/>
                <a:sym typeface="Poppins Medium"/>
              </a:rPr>
              <a:t>Practice can override natural weaknesses</a:t>
            </a:r>
            <a:endParaRPr b="1" i="0" sz="2600" u="none" cap="none" strike="noStrike">
              <a:solidFill>
                <a:srgbClr val="0B5394"/>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600"/>
              <a:buFont typeface="Arial"/>
              <a:buNone/>
            </a:pPr>
            <a:r>
              <a:rPr b="1" i="0" lang="en-US" sz="2600" u="none" cap="none" strike="noStrike">
                <a:solidFill>
                  <a:srgbClr val="0000FF"/>
                </a:solidFill>
                <a:latin typeface="Poppins Medium"/>
                <a:ea typeface="Poppins Medium"/>
                <a:cs typeface="Poppins Medium"/>
                <a:sym typeface="Poppins Medium"/>
              </a:rPr>
              <a:t>La práctica puede superar las debilidades naturales</a:t>
            </a:r>
            <a:endParaRPr b="1" i="0" sz="26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800"/>
              <a:buFont typeface="Arial"/>
              <a:buNone/>
            </a:pPr>
            <a:r>
              <a:t/>
            </a:r>
            <a:endParaRPr b="1" i="0" sz="2800" u="none" cap="none" strike="noStrike">
              <a:solidFill>
                <a:srgbClr val="0B5394"/>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800"/>
              <a:buFont typeface="Arial"/>
              <a:buNone/>
            </a:pPr>
            <a:r>
              <a:t/>
            </a:r>
            <a:endParaRPr b="1" i="0" sz="2800" u="none" cap="none" strike="noStrike">
              <a:solidFill>
                <a:srgbClr val="0B5394"/>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800"/>
              <a:buFont typeface="Arial"/>
              <a:buNone/>
            </a:pPr>
            <a:r>
              <a:rPr b="1" i="0" lang="en-US" sz="2800" u="none" cap="none" strike="noStrike">
                <a:solidFill>
                  <a:srgbClr val="2D2F3B"/>
                </a:solidFill>
                <a:latin typeface="Poppins Medium"/>
                <a:ea typeface="Poppins Medium"/>
                <a:cs typeface="Poppins Medium"/>
                <a:sym typeface="Poppins Medium"/>
              </a:rPr>
              <a:t>Your life experiences can leave chemical marks on DNA that can pass to future generations </a:t>
            </a:r>
            <a:endParaRPr b="1" i="0" sz="2800" u="none" cap="none" strike="noStrike">
              <a:solidFill>
                <a:srgbClr val="2D2F3B"/>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2800"/>
              <a:buFont typeface="Arial"/>
              <a:buNone/>
            </a:pPr>
            <a:r>
              <a:rPr b="1" i="0" lang="en-US" sz="2800" u="none" cap="none" strike="noStrike">
                <a:solidFill>
                  <a:srgbClr val="0000FF"/>
                </a:solidFill>
                <a:latin typeface="Poppins Medium"/>
                <a:ea typeface="Poppins Medium"/>
                <a:cs typeface="Poppins Medium"/>
                <a:sym typeface="Poppins Medium"/>
              </a:rPr>
              <a:t>Tus experiencias vitales pueden dejar marcas químicas en el ADN que pueden transmitirse a las generaciones futuras</a:t>
            </a:r>
            <a:endParaRPr b="1" i="0" sz="28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4C1130"/>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4C1130"/>
              </a:solidFill>
              <a:latin typeface="Poppins Medium"/>
              <a:ea typeface="Poppins Medium"/>
              <a:cs typeface="Poppins Medium"/>
              <a:sym typeface="Poppins Medium"/>
            </a:endParaRPr>
          </a:p>
        </p:txBody>
      </p:sp>
      <p:cxnSp>
        <p:nvCxnSpPr>
          <p:cNvPr id="1421" name="Google Shape;1421;p61"/>
          <p:cNvCxnSpPr/>
          <p:nvPr/>
        </p:nvCxnSpPr>
        <p:spPr>
          <a:xfrm flipH="1" rot="10800000">
            <a:off x="1028734" y="2193451"/>
            <a:ext cx="8115300" cy="18900"/>
          </a:xfrm>
          <a:prstGeom prst="straightConnector1">
            <a:avLst/>
          </a:prstGeom>
          <a:noFill/>
          <a:ln cap="rnd" cmpd="sng" w="28575">
            <a:solidFill>
              <a:srgbClr val="136447"/>
            </a:solidFill>
            <a:prstDash val="solid"/>
            <a:round/>
            <a:headEnd len="sm" w="sm" type="none"/>
            <a:tailEnd len="sm" w="sm" type="none"/>
          </a:ln>
        </p:spPr>
      </p:cxnSp>
      <p:pic>
        <p:nvPicPr>
          <p:cNvPr id="1422" name="Google Shape;1422;p61" title="Screenshot 2025-11-15 at 6.17.08 PM.png"/>
          <p:cNvPicPr preferRelativeResize="0"/>
          <p:nvPr/>
        </p:nvPicPr>
        <p:blipFill rotWithShape="1">
          <a:blip r:embed="rId3">
            <a:alphaModFix/>
          </a:blip>
          <a:srcRect b="0" l="0" r="0" t="0"/>
          <a:stretch/>
        </p:blipFill>
        <p:spPr>
          <a:xfrm>
            <a:off x="13429075" y="6045984"/>
            <a:ext cx="4502426" cy="2699826"/>
          </a:xfrm>
          <a:prstGeom prst="rect">
            <a:avLst/>
          </a:prstGeom>
          <a:noFill/>
          <a:ln>
            <a:noFill/>
          </a:ln>
        </p:spPr>
      </p:pic>
      <p:pic>
        <p:nvPicPr>
          <p:cNvPr id="1423" name="Google Shape;1423;p61" title="Screenshot 2025-11-15 at 6.17.49 PM.png"/>
          <p:cNvPicPr preferRelativeResize="0"/>
          <p:nvPr/>
        </p:nvPicPr>
        <p:blipFill rotWithShape="1">
          <a:blip r:embed="rId4">
            <a:alphaModFix/>
          </a:blip>
          <a:srcRect b="0" l="0" r="0" t="0"/>
          <a:stretch/>
        </p:blipFill>
        <p:spPr>
          <a:xfrm>
            <a:off x="12703650" y="1827513"/>
            <a:ext cx="5227854" cy="3547924"/>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427" name="Shape 1427"/>
        <p:cNvGrpSpPr/>
        <p:nvPr/>
      </p:nvGrpSpPr>
      <p:grpSpPr>
        <a:xfrm>
          <a:off x="0" y="0"/>
          <a:ext cx="0" cy="0"/>
          <a:chOff x="0" y="0"/>
          <a:chExt cx="0" cy="0"/>
        </a:xfrm>
      </p:grpSpPr>
      <p:sp>
        <p:nvSpPr>
          <p:cNvPr id="1428" name="Google Shape;1428;p62"/>
          <p:cNvSpPr txBox="1"/>
          <p:nvPr/>
        </p:nvSpPr>
        <p:spPr>
          <a:xfrm>
            <a:off x="414650" y="866350"/>
            <a:ext cx="16429200" cy="863100"/>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Clr>
                <a:srgbClr val="000000"/>
              </a:buClr>
              <a:buSzPts val="5608"/>
              <a:buFont typeface="Arial"/>
              <a:buNone/>
            </a:pPr>
            <a:r>
              <a:rPr b="1" i="0" lang="en-US" sz="5608" u="none" cap="none" strike="noStrike">
                <a:solidFill>
                  <a:srgbClr val="136447"/>
                </a:solidFill>
                <a:latin typeface="Poppins"/>
                <a:ea typeface="Poppins"/>
                <a:cs typeface="Poppins"/>
                <a:sym typeface="Poppins"/>
              </a:rPr>
              <a:t>Why It Matters | </a:t>
            </a:r>
            <a:r>
              <a:rPr b="1" i="0" lang="en-US" sz="5608" u="none" cap="none" strike="noStrike">
                <a:solidFill>
                  <a:srgbClr val="0000FF"/>
                </a:solidFill>
                <a:latin typeface="Poppins"/>
                <a:ea typeface="Poppins"/>
                <a:cs typeface="Poppins"/>
                <a:sym typeface="Poppins"/>
              </a:rPr>
              <a:t>Por qué es importante</a:t>
            </a:r>
            <a:endParaRPr b="0" i="0" sz="1000" u="none" cap="none" strike="noStrike">
              <a:solidFill>
                <a:srgbClr val="0000FF"/>
              </a:solidFill>
              <a:latin typeface="Arial"/>
              <a:ea typeface="Arial"/>
              <a:cs typeface="Arial"/>
              <a:sym typeface="Arial"/>
            </a:endParaRPr>
          </a:p>
        </p:txBody>
      </p:sp>
      <p:sp>
        <p:nvSpPr>
          <p:cNvPr id="1429" name="Google Shape;1429;p62"/>
          <p:cNvSpPr txBox="1"/>
          <p:nvPr/>
        </p:nvSpPr>
        <p:spPr>
          <a:xfrm>
            <a:off x="1237325" y="2476325"/>
            <a:ext cx="16429200" cy="8277900"/>
          </a:xfrm>
          <a:prstGeom prst="rect">
            <a:avLst/>
          </a:prstGeom>
          <a:noFill/>
          <a:ln>
            <a:noFill/>
          </a:ln>
        </p:spPr>
        <p:txBody>
          <a:bodyPr anchorCtr="0" anchor="t" bIns="0" lIns="0" spcFirstLastPara="1" rIns="0" wrap="square" tIns="0">
            <a:spAutoFit/>
          </a:bodyPr>
          <a:lstStyle/>
          <a:p>
            <a:pPr indent="-393700" lvl="0" marL="457200" marR="0" rtl="0" algn="l">
              <a:lnSpc>
                <a:spcPct val="110000"/>
              </a:lnSpc>
              <a:spcBef>
                <a:spcPts val="0"/>
              </a:spcBef>
              <a:spcAft>
                <a:spcPts val="0"/>
              </a:spcAft>
              <a:buClr>
                <a:srgbClr val="2D2F3B"/>
              </a:buClr>
              <a:buSzPts val="2600"/>
              <a:buFont typeface="Poppins Medium"/>
              <a:buChar char="★"/>
            </a:pPr>
            <a:r>
              <a:rPr b="1" i="0" lang="en-US" sz="2600" u="none" cap="none" strike="noStrike">
                <a:solidFill>
                  <a:srgbClr val="2D2F3B"/>
                </a:solidFill>
                <a:latin typeface="Poppins Medium"/>
                <a:ea typeface="Poppins Medium"/>
                <a:cs typeface="Poppins Medium"/>
                <a:sym typeface="Poppins Medium"/>
              </a:rPr>
              <a:t>Biology shapes our starting point</a:t>
            </a:r>
            <a:endParaRPr b="1" i="0" sz="2600" u="none" cap="none" strike="noStrike">
              <a:solidFill>
                <a:srgbClr val="2D2F3B"/>
              </a:solidFill>
              <a:latin typeface="Poppins Medium"/>
              <a:ea typeface="Poppins Medium"/>
              <a:cs typeface="Poppins Medium"/>
              <a:sym typeface="Poppins Medium"/>
            </a:endParaRPr>
          </a:p>
          <a:p>
            <a:pPr indent="-393700" lvl="0" marL="457200" marR="0" rtl="0" algn="l">
              <a:lnSpc>
                <a:spcPct val="110000"/>
              </a:lnSpc>
              <a:spcBef>
                <a:spcPts val="0"/>
              </a:spcBef>
              <a:spcAft>
                <a:spcPts val="0"/>
              </a:spcAft>
              <a:buClr>
                <a:srgbClr val="0000FF"/>
              </a:buClr>
              <a:buSzPts val="2600"/>
              <a:buFont typeface="Poppins Medium"/>
              <a:buChar char="★"/>
            </a:pPr>
            <a:r>
              <a:rPr b="1" i="0" lang="en-US" sz="2600" u="none" cap="none" strike="noStrike">
                <a:solidFill>
                  <a:srgbClr val="0000FF"/>
                </a:solidFill>
                <a:latin typeface="Poppins Medium"/>
                <a:ea typeface="Poppins Medium"/>
                <a:cs typeface="Poppins Medium"/>
                <a:sym typeface="Poppins Medium"/>
              </a:rPr>
              <a:t>La biología determina nuestro punto de partida</a:t>
            </a:r>
            <a:endParaRPr b="1" i="0" sz="2600" u="none" cap="none" strike="noStrike">
              <a:solidFill>
                <a:srgbClr val="0000FF"/>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2600"/>
              <a:buFont typeface="Arial"/>
              <a:buNone/>
            </a:pPr>
            <a:r>
              <a:t/>
            </a:r>
            <a:endParaRPr b="1" i="0" sz="2600" u="none" cap="none" strike="noStrike">
              <a:solidFill>
                <a:srgbClr val="2D2F3B"/>
              </a:solidFill>
              <a:latin typeface="Poppins Medium"/>
              <a:ea typeface="Poppins Medium"/>
              <a:cs typeface="Poppins Medium"/>
              <a:sym typeface="Poppins Medium"/>
            </a:endParaRPr>
          </a:p>
          <a:p>
            <a:pPr indent="-393700" lvl="0" marL="457200" marR="0" rtl="0" algn="l">
              <a:lnSpc>
                <a:spcPct val="110000"/>
              </a:lnSpc>
              <a:spcBef>
                <a:spcPts val="0"/>
              </a:spcBef>
              <a:spcAft>
                <a:spcPts val="0"/>
              </a:spcAft>
              <a:buClr>
                <a:srgbClr val="2D2F3B"/>
              </a:buClr>
              <a:buSzPts val="2600"/>
              <a:buFont typeface="Poppins Medium"/>
              <a:buChar char="★"/>
            </a:pPr>
            <a:r>
              <a:rPr b="1" i="0" lang="en-US" sz="2600" u="none" cap="none" strike="noStrike">
                <a:solidFill>
                  <a:srgbClr val="2D2F3B"/>
                </a:solidFill>
                <a:latin typeface="Poppins Medium"/>
                <a:ea typeface="Poppins Medium"/>
                <a:cs typeface="Poppins Medium"/>
                <a:sym typeface="Poppins Medium"/>
              </a:rPr>
              <a:t>Experiences shape our development</a:t>
            </a:r>
            <a:endParaRPr b="1" i="0" sz="2600" u="none" cap="none" strike="noStrike">
              <a:solidFill>
                <a:srgbClr val="2D2F3B"/>
              </a:solidFill>
              <a:latin typeface="Poppins Medium"/>
              <a:ea typeface="Poppins Medium"/>
              <a:cs typeface="Poppins Medium"/>
              <a:sym typeface="Poppins Medium"/>
            </a:endParaRPr>
          </a:p>
          <a:p>
            <a:pPr indent="-393700" lvl="0" marL="457200" marR="0" rtl="0" algn="l">
              <a:lnSpc>
                <a:spcPct val="110000"/>
              </a:lnSpc>
              <a:spcBef>
                <a:spcPts val="0"/>
              </a:spcBef>
              <a:spcAft>
                <a:spcPts val="0"/>
              </a:spcAft>
              <a:buClr>
                <a:srgbClr val="0000FF"/>
              </a:buClr>
              <a:buSzPts val="2600"/>
              <a:buFont typeface="Poppins Medium"/>
              <a:buChar char="★"/>
            </a:pPr>
            <a:r>
              <a:rPr b="1" i="0" lang="en-US" sz="2600" u="none" cap="none" strike="noStrike">
                <a:solidFill>
                  <a:srgbClr val="0000FF"/>
                </a:solidFill>
                <a:latin typeface="Poppins Medium"/>
                <a:ea typeface="Poppins Medium"/>
                <a:cs typeface="Poppins Medium"/>
                <a:sym typeface="Poppins Medium"/>
              </a:rPr>
              <a:t>Las experiencias moldean nuestro desarrollo</a:t>
            </a:r>
            <a:endParaRPr b="1" i="0" sz="2600" u="none" cap="none" strike="noStrike">
              <a:solidFill>
                <a:srgbClr val="0000FF"/>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2600"/>
              <a:buFont typeface="Arial"/>
              <a:buNone/>
            </a:pPr>
            <a:r>
              <a:t/>
            </a:r>
            <a:endParaRPr b="1" i="0" sz="2600" u="none" cap="none" strike="noStrike">
              <a:solidFill>
                <a:srgbClr val="2D2F3B"/>
              </a:solidFill>
              <a:latin typeface="Poppins Medium"/>
              <a:ea typeface="Poppins Medium"/>
              <a:cs typeface="Poppins Medium"/>
              <a:sym typeface="Poppins Medium"/>
            </a:endParaRPr>
          </a:p>
          <a:p>
            <a:pPr indent="-393700" lvl="0" marL="457200" marR="0" rtl="0" algn="l">
              <a:lnSpc>
                <a:spcPct val="110000"/>
              </a:lnSpc>
              <a:spcBef>
                <a:spcPts val="0"/>
              </a:spcBef>
              <a:spcAft>
                <a:spcPts val="0"/>
              </a:spcAft>
              <a:buClr>
                <a:srgbClr val="2D2F3B"/>
              </a:buClr>
              <a:buSzPts val="2600"/>
              <a:buFont typeface="Poppins Medium"/>
              <a:buChar char="★"/>
            </a:pPr>
            <a:r>
              <a:rPr b="1" i="0" lang="en-US" sz="2600" u="none" cap="none" strike="noStrike">
                <a:solidFill>
                  <a:srgbClr val="2D2F3B"/>
                </a:solidFill>
                <a:latin typeface="Poppins Medium"/>
                <a:ea typeface="Poppins Medium"/>
                <a:cs typeface="Poppins Medium"/>
                <a:sym typeface="Poppins Medium"/>
              </a:rPr>
              <a:t>The brain changes throughout life</a:t>
            </a:r>
            <a:endParaRPr b="1" i="0" sz="2600" u="none" cap="none" strike="noStrike">
              <a:solidFill>
                <a:srgbClr val="2D2F3B"/>
              </a:solidFill>
              <a:latin typeface="Poppins Medium"/>
              <a:ea typeface="Poppins Medium"/>
              <a:cs typeface="Poppins Medium"/>
              <a:sym typeface="Poppins Medium"/>
            </a:endParaRPr>
          </a:p>
          <a:p>
            <a:pPr indent="-393700" lvl="0" marL="457200" marR="0" rtl="0" algn="l">
              <a:lnSpc>
                <a:spcPct val="110000"/>
              </a:lnSpc>
              <a:spcBef>
                <a:spcPts val="0"/>
              </a:spcBef>
              <a:spcAft>
                <a:spcPts val="0"/>
              </a:spcAft>
              <a:buClr>
                <a:srgbClr val="0000FF"/>
              </a:buClr>
              <a:buSzPts val="2600"/>
              <a:buFont typeface="Poppins Medium"/>
              <a:buChar char="★"/>
            </a:pPr>
            <a:r>
              <a:rPr b="1" i="0" lang="en-US" sz="2600" u="none" cap="none" strike="noStrike">
                <a:solidFill>
                  <a:srgbClr val="0000FF"/>
                </a:solidFill>
                <a:latin typeface="Poppins Medium"/>
                <a:ea typeface="Poppins Medium"/>
                <a:cs typeface="Poppins Medium"/>
                <a:sym typeface="Poppins Medium"/>
              </a:rPr>
              <a:t>El cerebro cambia a lo largo de la vida</a:t>
            </a:r>
            <a:endParaRPr b="1" i="0" sz="2600" u="none" cap="none" strike="noStrike">
              <a:solidFill>
                <a:srgbClr val="0000FF"/>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2600"/>
              <a:buFont typeface="Arial"/>
              <a:buNone/>
            </a:pPr>
            <a:r>
              <a:t/>
            </a:r>
            <a:endParaRPr b="1" i="0" sz="2600" u="none" cap="none" strike="noStrike">
              <a:solidFill>
                <a:srgbClr val="2D2F3B"/>
              </a:solidFill>
              <a:latin typeface="Poppins Medium"/>
              <a:ea typeface="Poppins Medium"/>
              <a:cs typeface="Poppins Medium"/>
              <a:sym typeface="Poppins Medium"/>
            </a:endParaRPr>
          </a:p>
          <a:p>
            <a:pPr indent="-393700" lvl="0" marL="457200" marR="0" rtl="0" algn="l">
              <a:lnSpc>
                <a:spcPct val="110000"/>
              </a:lnSpc>
              <a:spcBef>
                <a:spcPts val="0"/>
              </a:spcBef>
              <a:spcAft>
                <a:spcPts val="0"/>
              </a:spcAft>
              <a:buClr>
                <a:srgbClr val="2D2F3B"/>
              </a:buClr>
              <a:buSzPts val="2600"/>
              <a:buFont typeface="Poppins Medium"/>
              <a:buChar char="★"/>
            </a:pPr>
            <a:r>
              <a:rPr b="1" i="0" lang="en-US" sz="2600" u="none" cap="none" strike="noStrike">
                <a:solidFill>
                  <a:srgbClr val="2D2F3B"/>
                </a:solidFill>
                <a:latin typeface="Poppins Medium"/>
                <a:ea typeface="Poppins Medium"/>
                <a:cs typeface="Poppins Medium"/>
                <a:sym typeface="Poppins Medium"/>
              </a:rPr>
              <a:t>You can </a:t>
            </a:r>
            <a:r>
              <a:rPr b="1" i="1" lang="en-US" sz="2600" u="none" cap="none" strike="noStrike">
                <a:solidFill>
                  <a:srgbClr val="2D2F3B"/>
                </a:solidFill>
                <a:latin typeface="Poppins Medium"/>
                <a:ea typeface="Poppins Medium"/>
                <a:cs typeface="Poppins Medium"/>
                <a:sym typeface="Poppins Medium"/>
              </a:rPr>
              <a:t>rewire</a:t>
            </a:r>
            <a:r>
              <a:rPr b="1" i="0" lang="en-US" sz="2600" u="none" cap="none" strike="noStrike">
                <a:solidFill>
                  <a:srgbClr val="2D2F3B"/>
                </a:solidFill>
                <a:latin typeface="Poppins Medium"/>
                <a:ea typeface="Poppins Medium"/>
                <a:cs typeface="Poppins Medium"/>
                <a:sym typeface="Poppins Medium"/>
              </a:rPr>
              <a:t> your brain with practice</a:t>
            </a:r>
            <a:endParaRPr b="1" i="0" sz="2600" u="none" cap="none" strike="noStrike">
              <a:solidFill>
                <a:srgbClr val="2D2F3B"/>
              </a:solidFill>
              <a:latin typeface="Poppins Medium"/>
              <a:ea typeface="Poppins Medium"/>
              <a:cs typeface="Poppins Medium"/>
              <a:sym typeface="Poppins Medium"/>
            </a:endParaRPr>
          </a:p>
          <a:p>
            <a:pPr indent="-393700" lvl="0" marL="457200" marR="0" rtl="0" algn="l">
              <a:lnSpc>
                <a:spcPct val="110000"/>
              </a:lnSpc>
              <a:spcBef>
                <a:spcPts val="0"/>
              </a:spcBef>
              <a:spcAft>
                <a:spcPts val="0"/>
              </a:spcAft>
              <a:buClr>
                <a:srgbClr val="0000FF"/>
              </a:buClr>
              <a:buSzPts val="2600"/>
              <a:buFont typeface="Poppins Medium"/>
              <a:buChar char="★"/>
            </a:pPr>
            <a:r>
              <a:rPr b="1" i="0" lang="en-US" sz="2600" u="none" cap="none" strike="noStrike">
                <a:solidFill>
                  <a:srgbClr val="0000FF"/>
                </a:solidFill>
                <a:latin typeface="Poppins Medium"/>
                <a:ea typeface="Poppins Medium"/>
                <a:cs typeface="Poppins Medium"/>
                <a:sym typeface="Poppins Medium"/>
              </a:rPr>
              <a:t>Puedes reconfigurar tu cerebro con práctica</a:t>
            </a:r>
            <a:endParaRPr b="1" i="0" sz="2600" u="none" cap="none" strike="noStrike">
              <a:solidFill>
                <a:srgbClr val="0000FF"/>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2600"/>
              <a:buFont typeface="Arial"/>
              <a:buNone/>
            </a:pPr>
            <a:r>
              <a:t/>
            </a:r>
            <a:endParaRPr b="1" i="0" sz="2600" u="none" cap="none" strike="noStrike">
              <a:solidFill>
                <a:srgbClr val="2D2F3B"/>
              </a:solidFill>
              <a:latin typeface="Poppins Medium"/>
              <a:ea typeface="Poppins Medium"/>
              <a:cs typeface="Poppins Medium"/>
              <a:sym typeface="Poppins Medium"/>
            </a:endParaRPr>
          </a:p>
          <a:p>
            <a:pPr indent="-393700" lvl="0" marL="457200" marR="0" rtl="0" algn="l">
              <a:lnSpc>
                <a:spcPct val="110000"/>
              </a:lnSpc>
              <a:spcBef>
                <a:spcPts val="0"/>
              </a:spcBef>
              <a:spcAft>
                <a:spcPts val="0"/>
              </a:spcAft>
              <a:buClr>
                <a:srgbClr val="2D2F3B"/>
              </a:buClr>
              <a:buSzPts val="2600"/>
              <a:buFont typeface="Poppins Medium"/>
              <a:buChar char="★"/>
            </a:pPr>
            <a:r>
              <a:rPr b="1" i="0" lang="en-US" sz="2600" u="none" cap="none" strike="noStrike">
                <a:solidFill>
                  <a:srgbClr val="2D2F3B"/>
                </a:solidFill>
                <a:latin typeface="Poppins Medium"/>
                <a:ea typeface="Poppins Medium"/>
                <a:cs typeface="Poppins Medium"/>
                <a:sym typeface="Poppins Medium"/>
              </a:rPr>
              <a:t>Nature and nurture are partners, not competitors</a:t>
            </a:r>
            <a:endParaRPr b="1" i="0" sz="2600" u="none" cap="none" strike="noStrike">
              <a:solidFill>
                <a:srgbClr val="2D2F3B"/>
              </a:solidFill>
              <a:latin typeface="Poppins Medium"/>
              <a:ea typeface="Poppins Medium"/>
              <a:cs typeface="Poppins Medium"/>
              <a:sym typeface="Poppins Medium"/>
            </a:endParaRPr>
          </a:p>
          <a:p>
            <a:pPr indent="-393700" lvl="0" marL="457200" marR="0" rtl="0" algn="l">
              <a:lnSpc>
                <a:spcPct val="110000"/>
              </a:lnSpc>
              <a:spcBef>
                <a:spcPts val="0"/>
              </a:spcBef>
              <a:spcAft>
                <a:spcPts val="0"/>
              </a:spcAft>
              <a:buClr>
                <a:srgbClr val="0000FF"/>
              </a:buClr>
              <a:buSzPts val="2600"/>
              <a:buFont typeface="Poppins Medium"/>
              <a:buChar char="★"/>
            </a:pPr>
            <a:r>
              <a:rPr b="1" i="0" lang="en-US" sz="2600" u="none" cap="none" strike="noStrike">
                <a:solidFill>
                  <a:srgbClr val="0000FF"/>
                </a:solidFill>
                <a:latin typeface="Poppins Medium"/>
                <a:ea typeface="Poppins Medium"/>
                <a:cs typeface="Poppins Medium"/>
                <a:sym typeface="Poppins Medium"/>
              </a:rPr>
              <a:t>La naturaleza y la crianza se complementan, no compiten</a:t>
            </a:r>
            <a:endParaRPr b="1" i="0" sz="2600" u="none"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400"/>
              <a:buFont typeface="Arial"/>
              <a:buNone/>
            </a:pPr>
            <a:r>
              <a:t/>
            </a:r>
            <a:endParaRPr b="1" i="0" sz="3400" u="none" cap="none" strike="noStrike">
              <a:solidFill>
                <a:srgbClr val="2D2F3B"/>
              </a:solidFill>
              <a:latin typeface="Poppins Medium"/>
              <a:ea typeface="Poppins Medium"/>
              <a:cs typeface="Poppins Medium"/>
              <a:sym typeface="Poppins Medium"/>
            </a:endParaRPr>
          </a:p>
          <a:p>
            <a:pPr indent="0" lvl="0" marL="0" marR="0" rtl="0" algn="ctr">
              <a:lnSpc>
                <a:spcPct val="110000"/>
              </a:lnSpc>
              <a:spcBef>
                <a:spcPts val="0"/>
              </a:spcBef>
              <a:spcAft>
                <a:spcPts val="0"/>
              </a:spcAft>
              <a:buClr>
                <a:srgbClr val="000000"/>
              </a:buClr>
              <a:buSzPts val="3000"/>
              <a:buFont typeface="Arial"/>
              <a:buNone/>
            </a:pPr>
            <a:r>
              <a:rPr b="1" i="0" lang="en-US" sz="3000" u="sng" cap="none" strike="noStrike">
                <a:solidFill>
                  <a:srgbClr val="13655A"/>
                </a:solidFill>
                <a:latin typeface="Poppins Medium"/>
                <a:ea typeface="Poppins Medium"/>
                <a:cs typeface="Poppins Medium"/>
                <a:sym typeface="Poppins Medium"/>
              </a:rPr>
              <a:t>You are not defined by nature or nurture – you are shaped by both</a:t>
            </a:r>
            <a:endParaRPr b="1" i="0" sz="3000" u="sng" cap="none" strike="noStrike">
              <a:solidFill>
                <a:srgbClr val="13655A"/>
              </a:solidFill>
              <a:latin typeface="Poppins Medium"/>
              <a:ea typeface="Poppins Medium"/>
              <a:cs typeface="Poppins Medium"/>
              <a:sym typeface="Poppins Medium"/>
            </a:endParaRPr>
          </a:p>
          <a:p>
            <a:pPr indent="0" lvl="0" marL="0" marR="0" rtl="0" algn="ctr">
              <a:lnSpc>
                <a:spcPct val="110000"/>
              </a:lnSpc>
              <a:spcBef>
                <a:spcPts val="0"/>
              </a:spcBef>
              <a:spcAft>
                <a:spcPts val="0"/>
              </a:spcAft>
              <a:buClr>
                <a:srgbClr val="000000"/>
              </a:buClr>
              <a:buSzPts val="3000"/>
              <a:buFont typeface="Arial"/>
              <a:buNone/>
            </a:pPr>
            <a:r>
              <a:rPr b="1" i="0" lang="en-US" sz="3000" u="sng" cap="none" strike="noStrike">
                <a:solidFill>
                  <a:srgbClr val="0000FF"/>
                </a:solidFill>
                <a:latin typeface="Poppins Medium"/>
                <a:ea typeface="Poppins Medium"/>
                <a:cs typeface="Poppins Medium"/>
                <a:sym typeface="Poppins Medium"/>
              </a:rPr>
              <a:t>No te define la naturaleza ni la crianza; te moldean ambas</a:t>
            </a:r>
            <a:endParaRPr b="1" i="0" sz="3000" u="sng" cap="none" strike="noStrike">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Clr>
                <a:srgbClr val="000000"/>
              </a:buClr>
              <a:buSzPts val="3400"/>
              <a:buFont typeface="Arial"/>
              <a:buNone/>
            </a:pPr>
            <a:r>
              <a:t/>
            </a:r>
            <a:endParaRPr b="1" i="0" sz="3400" u="none" cap="none" strike="noStrike">
              <a:solidFill>
                <a:srgbClr val="2D2F3B"/>
              </a:solidFill>
              <a:latin typeface="Poppins Medium"/>
              <a:ea typeface="Poppins Medium"/>
              <a:cs typeface="Poppins Medium"/>
              <a:sym typeface="Poppins Medium"/>
            </a:endParaRPr>
          </a:p>
        </p:txBody>
      </p:sp>
      <p:cxnSp>
        <p:nvCxnSpPr>
          <p:cNvPr id="1430" name="Google Shape;1430;p62"/>
          <p:cNvCxnSpPr/>
          <p:nvPr/>
        </p:nvCxnSpPr>
        <p:spPr>
          <a:xfrm flipH="1" rot="10800000">
            <a:off x="1028734" y="2193451"/>
            <a:ext cx="8115300" cy="18900"/>
          </a:xfrm>
          <a:prstGeom prst="straightConnector1">
            <a:avLst/>
          </a:prstGeom>
          <a:noFill/>
          <a:ln cap="rnd" cmpd="sng" w="28575">
            <a:solidFill>
              <a:srgbClr val="136447"/>
            </a:solidFill>
            <a:prstDash val="solid"/>
            <a:round/>
            <a:headEnd len="sm" w="sm" type="none"/>
            <a:tailEnd len="sm" w="sm" type="none"/>
          </a:ln>
        </p:spPr>
      </p:cxnSp>
      <p:pic>
        <p:nvPicPr>
          <p:cNvPr id="1431" name="Google Shape;1431;p62" title="Screenshot 2025-11-16 at 7.07.10 PM.png"/>
          <p:cNvPicPr preferRelativeResize="0"/>
          <p:nvPr/>
        </p:nvPicPr>
        <p:blipFill rotWithShape="1">
          <a:blip r:embed="rId3">
            <a:alphaModFix/>
          </a:blip>
          <a:srcRect b="0" l="0" r="0" t="0"/>
          <a:stretch/>
        </p:blipFill>
        <p:spPr>
          <a:xfrm>
            <a:off x="11363751" y="2193450"/>
            <a:ext cx="6430624" cy="460375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435" name="Shape 1435"/>
        <p:cNvGrpSpPr/>
        <p:nvPr/>
      </p:nvGrpSpPr>
      <p:grpSpPr>
        <a:xfrm>
          <a:off x="0" y="0"/>
          <a:ext cx="0" cy="0"/>
          <a:chOff x="0" y="0"/>
          <a:chExt cx="0" cy="0"/>
        </a:xfrm>
      </p:grpSpPr>
      <p:sp>
        <p:nvSpPr>
          <p:cNvPr id="1436" name="Google Shape;1436;p63"/>
          <p:cNvSpPr txBox="1"/>
          <p:nvPr/>
        </p:nvSpPr>
        <p:spPr>
          <a:xfrm>
            <a:off x="414650" y="866350"/>
            <a:ext cx="16429200" cy="863100"/>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Clr>
                <a:srgbClr val="000000"/>
              </a:buClr>
              <a:buSzPts val="5608"/>
              <a:buFont typeface="Arial"/>
              <a:buNone/>
            </a:pPr>
            <a:r>
              <a:rPr b="1" i="0" lang="en-US" sz="5608" u="none" cap="none" strike="noStrike">
                <a:solidFill>
                  <a:srgbClr val="136447"/>
                </a:solidFill>
                <a:latin typeface="Poppins"/>
                <a:ea typeface="Poppins"/>
                <a:cs typeface="Poppins"/>
                <a:sym typeface="Poppins"/>
              </a:rPr>
              <a:t>Who Am I | </a:t>
            </a:r>
            <a:r>
              <a:rPr b="1" i="0" lang="en-US" sz="5608" u="none" cap="none" strike="noStrike">
                <a:solidFill>
                  <a:srgbClr val="0000FF"/>
                </a:solidFill>
                <a:latin typeface="Poppins"/>
                <a:ea typeface="Poppins"/>
                <a:cs typeface="Poppins"/>
                <a:sym typeface="Poppins"/>
              </a:rPr>
              <a:t>¿Quién soy yo?</a:t>
            </a:r>
            <a:endParaRPr b="0" i="0" sz="1000" u="none" cap="none" strike="noStrike">
              <a:solidFill>
                <a:srgbClr val="0000FF"/>
              </a:solidFill>
              <a:latin typeface="Arial"/>
              <a:ea typeface="Arial"/>
              <a:cs typeface="Arial"/>
              <a:sym typeface="Arial"/>
            </a:endParaRPr>
          </a:p>
        </p:txBody>
      </p:sp>
      <p:sp>
        <p:nvSpPr>
          <p:cNvPr id="1437" name="Google Shape;1437;p63"/>
          <p:cNvSpPr txBox="1"/>
          <p:nvPr/>
        </p:nvSpPr>
        <p:spPr>
          <a:xfrm>
            <a:off x="1237325" y="2476325"/>
            <a:ext cx="16429200" cy="8047200"/>
          </a:xfrm>
          <a:prstGeom prst="rect">
            <a:avLst/>
          </a:prstGeom>
          <a:noFill/>
          <a:ln>
            <a:noFill/>
          </a:ln>
        </p:spPr>
        <p:txBody>
          <a:bodyPr anchorCtr="0" anchor="t" bIns="0" lIns="0" spcFirstLastPara="1" rIns="0" wrap="square" tIns="0">
            <a:spAutoFit/>
          </a:bodyPr>
          <a:lstStyle/>
          <a:p>
            <a:pPr indent="-406400" lvl="0" marL="457200" marR="0" rtl="0" algn="l">
              <a:lnSpc>
                <a:spcPct val="110000"/>
              </a:lnSpc>
              <a:spcBef>
                <a:spcPts val="0"/>
              </a:spcBef>
              <a:spcAft>
                <a:spcPts val="0"/>
              </a:spcAft>
              <a:buClr>
                <a:srgbClr val="2D2F3B"/>
              </a:buClr>
              <a:buSzPts val="2800"/>
              <a:buFont typeface="Poppins Medium"/>
              <a:buAutoNum type="arabicPeriod"/>
            </a:pPr>
            <a:r>
              <a:rPr b="1" i="0" lang="en-US" sz="2800" u="none" cap="none" strike="noStrike">
                <a:solidFill>
                  <a:srgbClr val="2D2F3B"/>
                </a:solidFill>
                <a:latin typeface="Poppins Medium"/>
                <a:ea typeface="Poppins Medium"/>
                <a:cs typeface="Poppins Medium"/>
                <a:sym typeface="Poppins Medium"/>
              </a:rPr>
              <a:t>Students will receive a list of 25 personality and behavior traits (examples: creative, risk-taker, calm under pressure, procrastinator, competitive, empathetic, organized, impulsive)</a:t>
            </a:r>
            <a:endParaRPr b="1" sz="2800">
              <a:solidFill>
                <a:srgbClr val="2D2F3B"/>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None/>
            </a:pPr>
            <a:r>
              <a:rPr b="1" i="0" lang="en-US" sz="2800" u="none" cap="none" strike="noStrike">
                <a:solidFill>
                  <a:srgbClr val="0000FF"/>
                </a:solidFill>
                <a:latin typeface="Poppins Medium"/>
                <a:ea typeface="Poppins Medium"/>
                <a:cs typeface="Poppins Medium"/>
                <a:sym typeface="Poppins Medium"/>
              </a:rPr>
              <a:t>Los estudiantes recibirán una lista de 25 rasgos de personalidad y comportamiento (ejemplos: creativo, arriesgado, tranquilo bajo presión, procrastinador, competitivo, empático, organizado, impulsivo)</a:t>
            </a:r>
            <a:endParaRPr b="1" sz="2800">
              <a:solidFill>
                <a:srgbClr val="0000FF"/>
              </a:solidFill>
              <a:latin typeface="Poppins Medium"/>
              <a:ea typeface="Poppins Medium"/>
              <a:cs typeface="Poppins Medium"/>
              <a:sym typeface="Poppins Medium"/>
            </a:endParaRPr>
          </a:p>
          <a:p>
            <a:pPr indent="0" lvl="0" marL="0" marR="0" rtl="0" algn="l">
              <a:lnSpc>
                <a:spcPct val="110000"/>
              </a:lnSpc>
              <a:spcBef>
                <a:spcPts val="0"/>
              </a:spcBef>
              <a:spcAft>
                <a:spcPts val="0"/>
              </a:spcAft>
              <a:buNone/>
            </a:pPr>
            <a:r>
              <a:t/>
            </a:r>
            <a:endParaRPr b="1" sz="2800">
              <a:solidFill>
                <a:srgbClr val="0000FF"/>
              </a:solidFill>
              <a:latin typeface="Poppins Medium"/>
              <a:ea typeface="Poppins Medium"/>
              <a:cs typeface="Poppins Medium"/>
              <a:sym typeface="Poppins Medium"/>
            </a:endParaRPr>
          </a:p>
          <a:p>
            <a:pPr indent="-406400" lvl="0" marL="457200" marR="0" rtl="0" algn="l">
              <a:lnSpc>
                <a:spcPct val="110000"/>
              </a:lnSpc>
              <a:spcBef>
                <a:spcPts val="0"/>
              </a:spcBef>
              <a:spcAft>
                <a:spcPts val="0"/>
              </a:spcAft>
              <a:buClr>
                <a:srgbClr val="2D2F3B"/>
              </a:buClr>
              <a:buSzPts val="2800"/>
              <a:buFont typeface="Poppins Medium"/>
              <a:buAutoNum type="arabicPeriod"/>
            </a:pPr>
            <a:r>
              <a:rPr b="1" i="0" lang="en-US" sz="2800" u="none" cap="none" strike="noStrike">
                <a:solidFill>
                  <a:srgbClr val="2D2F3B"/>
                </a:solidFill>
                <a:latin typeface="Poppins Medium"/>
                <a:ea typeface="Poppins Medium"/>
                <a:cs typeface="Poppins Medium"/>
                <a:sym typeface="Poppins Medium"/>
              </a:rPr>
              <a:t>Each student selects five traits they believe describe them well.</a:t>
            </a:r>
            <a:endParaRPr b="1" sz="2800">
              <a:solidFill>
                <a:srgbClr val="2D2F3B"/>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None/>
            </a:pPr>
            <a:r>
              <a:rPr b="1" i="0" lang="en-US" sz="2800" u="none" cap="none" strike="noStrike">
                <a:solidFill>
                  <a:srgbClr val="0000FF"/>
                </a:solidFill>
                <a:latin typeface="Poppins Medium"/>
                <a:ea typeface="Poppins Medium"/>
                <a:cs typeface="Poppins Medium"/>
                <a:sym typeface="Poppins Medium"/>
              </a:rPr>
              <a:t>Cada estudiante selecciona cinco características que, en su opinión, los describen bien</a:t>
            </a:r>
            <a:endParaRPr b="1" i="0" sz="2800" u="none" cap="none" strike="noStrike">
              <a:solidFill>
                <a:srgbClr val="0000FF"/>
              </a:solidFill>
              <a:latin typeface="Poppins Medium"/>
              <a:ea typeface="Poppins Medium"/>
              <a:cs typeface="Poppins Medium"/>
              <a:sym typeface="Poppins Medium"/>
            </a:endParaRPr>
          </a:p>
          <a:p>
            <a:pPr indent="0" lvl="0" marL="914400" marR="0" rtl="0" algn="l">
              <a:lnSpc>
                <a:spcPct val="110000"/>
              </a:lnSpc>
              <a:spcBef>
                <a:spcPts val="0"/>
              </a:spcBef>
              <a:spcAft>
                <a:spcPts val="0"/>
              </a:spcAft>
              <a:buNone/>
            </a:pPr>
            <a:r>
              <a:t/>
            </a:r>
            <a:endParaRPr b="1" i="0" sz="2800" u="none" cap="none" strike="noStrike">
              <a:solidFill>
                <a:srgbClr val="0000FF"/>
              </a:solidFill>
              <a:latin typeface="Poppins Medium"/>
              <a:ea typeface="Poppins Medium"/>
              <a:cs typeface="Poppins Medium"/>
              <a:sym typeface="Poppins Medium"/>
            </a:endParaRPr>
          </a:p>
          <a:p>
            <a:pPr indent="-406400" lvl="0" marL="457200" marR="0" rtl="0" algn="l">
              <a:lnSpc>
                <a:spcPct val="110000"/>
              </a:lnSpc>
              <a:spcBef>
                <a:spcPts val="0"/>
              </a:spcBef>
              <a:spcAft>
                <a:spcPts val="0"/>
              </a:spcAft>
              <a:buClr>
                <a:srgbClr val="1F1F1F"/>
              </a:buClr>
              <a:buSzPts val="2800"/>
              <a:buFont typeface="Poppins Medium"/>
              <a:buAutoNum type="arabicPeriod"/>
            </a:pPr>
            <a:r>
              <a:rPr b="1" i="0" lang="en-US" sz="2800" u="none" cap="none" strike="noStrike">
                <a:solidFill>
                  <a:srgbClr val="1F1F1F"/>
                </a:solidFill>
                <a:latin typeface="Poppins Medium"/>
                <a:ea typeface="Poppins Medium"/>
                <a:cs typeface="Poppins Medium"/>
                <a:sym typeface="Poppins Medium"/>
              </a:rPr>
              <a:t>For each chosen trait, students label it as:</a:t>
            </a:r>
            <a:endParaRPr b="1" sz="2800">
              <a:solidFill>
                <a:srgbClr val="1F1F1F"/>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None/>
            </a:pPr>
            <a:r>
              <a:rPr b="1" i="0" lang="en-US" sz="2800" u="none" cap="none" strike="noStrike">
                <a:solidFill>
                  <a:srgbClr val="0000FF"/>
                </a:solidFill>
                <a:latin typeface="Poppins Medium"/>
                <a:ea typeface="Poppins Medium"/>
                <a:cs typeface="Poppins Medium"/>
                <a:sym typeface="Poppins Medium"/>
              </a:rPr>
              <a:t>Para cada característica elegida, los estudiantes la clasifican como:</a:t>
            </a:r>
            <a:endParaRPr b="1" i="0" sz="2800" u="none" cap="none" strike="noStrike">
              <a:solidFill>
                <a:srgbClr val="0000FF"/>
              </a:solidFill>
              <a:latin typeface="Poppins Medium"/>
              <a:ea typeface="Poppins Medium"/>
              <a:cs typeface="Poppins Medium"/>
              <a:sym typeface="Poppins Medium"/>
            </a:endParaRPr>
          </a:p>
          <a:p>
            <a:pPr indent="-406400" lvl="2" marL="1371600" marR="0" rtl="0" algn="l">
              <a:lnSpc>
                <a:spcPct val="110000"/>
              </a:lnSpc>
              <a:spcBef>
                <a:spcPts val="0"/>
              </a:spcBef>
              <a:spcAft>
                <a:spcPts val="0"/>
              </a:spcAft>
              <a:buSzPts val="2800"/>
              <a:buFont typeface="Poppins Medium"/>
              <a:buAutoNum type="romanLcPeriod"/>
            </a:pPr>
            <a:r>
              <a:rPr b="1" i="0" lang="en-US" sz="2800" u="none" cap="none" strike="noStrike">
                <a:solidFill>
                  <a:srgbClr val="1F1F1F"/>
                </a:solidFill>
                <a:latin typeface="Poppins Medium"/>
                <a:ea typeface="Poppins Medium"/>
                <a:cs typeface="Poppins Medium"/>
                <a:sym typeface="Poppins Medium"/>
              </a:rPr>
              <a:t>N – Nature (genetics/biology) | </a:t>
            </a:r>
            <a:r>
              <a:rPr b="1" i="0" lang="en-US" sz="2800" u="none" cap="none" strike="noStrike">
                <a:solidFill>
                  <a:srgbClr val="0000FF"/>
                </a:solidFill>
                <a:latin typeface="Poppins Medium"/>
                <a:ea typeface="Poppins Medium"/>
                <a:cs typeface="Poppins Medium"/>
                <a:sym typeface="Poppins Medium"/>
              </a:rPr>
              <a:t>N – Naturaleza (genética/biología)</a:t>
            </a:r>
            <a:endParaRPr b="1" i="0" sz="2800" u="none" cap="none" strike="noStrike">
              <a:solidFill>
                <a:srgbClr val="0000FF"/>
              </a:solidFill>
              <a:latin typeface="Poppins Medium"/>
              <a:ea typeface="Poppins Medium"/>
              <a:cs typeface="Poppins Medium"/>
              <a:sym typeface="Poppins Medium"/>
            </a:endParaRPr>
          </a:p>
          <a:p>
            <a:pPr indent="-406400" lvl="2" marL="1371600" marR="0" rtl="0" algn="l">
              <a:lnSpc>
                <a:spcPct val="110000"/>
              </a:lnSpc>
              <a:spcBef>
                <a:spcPts val="0"/>
              </a:spcBef>
              <a:spcAft>
                <a:spcPts val="0"/>
              </a:spcAft>
              <a:buSzPts val="2800"/>
              <a:buFont typeface="Poppins Medium"/>
              <a:buAutoNum type="romanLcPeriod"/>
            </a:pPr>
            <a:r>
              <a:rPr b="1" i="0" lang="en-US" sz="2800" u="none" cap="none" strike="noStrike">
                <a:solidFill>
                  <a:srgbClr val="1F1F1F"/>
                </a:solidFill>
                <a:latin typeface="Poppins Medium"/>
                <a:ea typeface="Poppins Medium"/>
                <a:cs typeface="Poppins Medium"/>
                <a:sym typeface="Poppins Medium"/>
              </a:rPr>
              <a:t>U – Nurture (environment, upbringing, experiences) | </a:t>
            </a:r>
            <a:r>
              <a:rPr b="1" i="0" lang="en-US" sz="2800" u="none" cap="none" strike="noStrike">
                <a:solidFill>
                  <a:srgbClr val="0000FF"/>
                </a:solidFill>
                <a:latin typeface="Poppins Medium"/>
                <a:ea typeface="Poppins Medium"/>
                <a:cs typeface="Poppins Medium"/>
                <a:sym typeface="Poppins Medium"/>
              </a:rPr>
              <a:t>U – Crianza (entorno, educación, experiencias)</a:t>
            </a:r>
            <a:endParaRPr b="1" i="0" sz="2800" u="none" cap="none" strike="noStrike">
              <a:solidFill>
                <a:srgbClr val="0000FF"/>
              </a:solidFill>
              <a:latin typeface="Poppins Medium"/>
              <a:ea typeface="Poppins Medium"/>
              <a:cs typeface="Poppins Medium"/>
              <a:sym typeface="Poppins Medium"/>
            </a:endParaRPr>
          </a:p>
          <a:p>
            <a:pPr indent="-406400" lvl="2" marL="1371600" marR="0" rtl="0" algn="l">
              <a:lnSpc>
                <a:spcPct val="110000"/>
              </a:lnSpc>
              <a:spcBef>
                <a:spcPts val="0"/>
              </a:spcBef>
              <a:spcAft>
                <a:spcPts val="0"/>
              </a:spcAft>
              <a:buSzPts val="2800"/>
              <a:buFont typeface="Poppins Medium"/>
              <a:buAutoNum type="romanLcPeriod"/>
            </a:pPr>
            <a:r>
              <a:rPr b="1" i="0" lang="en-US" sz="2800" u="none" cap="none" strike="noStrike">
                <a:solidFill>
                  <a:srgbClr val="1F1F1F"/>
                </a:solidFill>
                <a:latin typeface="Poppins Medium"/>
                <a:ea typeface="Poppins Medium"/>
                <a:cs typeface="Poppins Medium"/>
                <a:sym typeface="Poppins Medium"/>
              </a:rPr>
              <a:t>B – Both nature and nurture |</a:t>
            </a:r>
            <a:r>
              <a:rPr b="1" i="0" lang="en-US" sz="2800" u="none" cap="none" strike="noStrike">
                <a:solidFill>
                  <a:srgbClr val="0000FF"/>
                </a:solidFill>
                <a:latin typeface="Poppins Medium"/>
                <a:ea typeface="Poppins Medium"/>
                <a:cs typeface="Poppins Medium"/>
                <a:sym typeface="Poppins Medium"/>
              </a:rPr>
              <a:t> B – Tanto naturaleza como crianza</a:t>
            </a:r>
            <a:endParaRPr b="1" i="0" sz="2800" u="none" cap="none" strike="noStrike">
              <a:solidFill>
                <a:srgbClr val="0000FF"/>
              </a:solidFill>
              <a:latin typeface="Poppins Medium"/>
              <a:ea typeface="Poppins Medium"/>
              <a:cs typeface="Poppins Medium"/>
              <a:sym typeface="Poppins Medium"/>
            </a:endParaRPr>
          </a:p>
          <a:p>
            <a:pPr indent="0" lvl="0" marL="914400" marR="0" rtl="0" algn="l">
              <a:lnSpc>
                <a:spcPct val="110000"/>
              </a:lnSpc>
              <a:spcBef>
                <a:spcPts val="0"/>
              </a:spcBef>
              <a:spcAft>
                <a:spcPts val="0"/>
              </a:spcAft>
              <a:buNone/>
            </a:pPr>
            <a:r>
              <a:t/>
            </a:r>
            <a:endParaRPr b="1" i="0" sz="3000" u="none" cap="none" strike="noStrike">
              <a:solidFill>
                <a:srgbClr val="0000FF"/>
              </a:solidFill>
              <a:latin typeface="Poppins Medium"/>
              <a:ea typeface="Poppins Medium"/>
              <a:cs typeface="Poppins Medium"/>
              <a:sym typeface="Poppins Medium"/>
            </a:endParaRPr>
          </a:p>
        </p:txBody>
      </p:sp>
      <p:cxnSp>
        <p:nvCxnSpPr>
          <p:cNvPr id="1438" name="Google Shape;1438;p63"/>
          <p:cNvCxnSpPr/>
          <p:nvPr/>
        </p:nvCxnSpPr>
        <p:spPr>
          <a:xfrm flipH="1" rot="10800000">
            <a:off x="1028734" y="2193451"/>
            <a:ext cx="8115300" cy="18900"/>
          </a:xfrm>
          <a:prstGeom prst="straightConnector1">
            <a:avLst/>
          </a:prstGeom>
          <a:noFill/>
          <a:ln cap="rnd" cmpd="sng" w="28575">
            <a:solidFill>
              <a:srgbClr val="136447"/>
            </a:solidFill>
            <a:prstDash val="solid"/>
            <a:round/>
            <a:headEnd len="sm" w="sm" type="none"/>
            <a:tailEnd len="sm" w="sm" type="none"/>
          </a:ln>
        </p:spPr>
      </p:cxn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442" name="Shape 1442"/>
        <p:cNvGrpSpPr/>
        <p:nvPr/>
      </p:nvGrpSpPr>
      <p:grpSpPr>
        <a:xfrm>
          <a:off x="0" y="0"/>
          <a:ext cx="0" cy="0"/>
          <a:chOff x="0" y="0"/>
          <a:chExt cx="0" cy="0"/>
        </a:xfrm>
      </p:grpSpPr>
      <p:sp>
        <p:nvSpPr>
          <p:cNvPr id="1443" name="Google Shape;1443;p64"/>
          <p:cNvSpPr txBox="1"/>
          <p:nvPr/>
        </p:nvSpPr>
        <p:spPr>
          <a:xfrm>
            <a:off x="414650" y="866350"/>
            <a:ext cx="16429200" cy="863100"/>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Clr>
                <a:srgbClr val="000000"/>
              </a:buClr>
              <a:buSzPts val="5608"/>
              <a:buFont typeface="Arial"/>
              <a:buNone/>
            </a:pPr>
            <a:r>
              <a:rPr b="1" i="0" lang="en-US" sz="5608" u="none" cap="none" strike="noStrike">
                <a:solidFill>
                  <a:srgbClr val="136447"/>
                </a:solidFill>
                <a:latin typeface="Poppins"/>
                <a:ea typeface="Poppins"/>
                <a:cs typeface="Poppins"/>
                <a:sym typeface="Poppins"/>
              </a:rPr>
              <a:t>Who Am I | </a:t>
            </a:r>
            <a:r>
              <a:rPr b="1" i="0" lang="en-US" sz="5608" u="none" cap="none" strike="noStrike">
                <a:solidFill>
                  <a:srgbClr val="0000FF"/>
                </a:solidFill>
                <a:latin typeface="Poppins"/>
                <a:ea typeface="Poppins"/>
                <a:cs typeface="Poppins"/>
                <a:sym typeface="Poppins"/>
              </a:rPr>
              <a:t>¿Quién soy yo?</a:t>
            </a:r>
            <a:endParaRPr b="0" i="0" sz="1000" u="none" cap="none" strike="noStrike">
              <a:solidFill>
                <a:srgbClr val="0000FF"/>
              </a:solidFill>
              <a:latin typeface="Arial"/>
              <a:ea typeface="Arial"/>
              <a:cs typeface="Arial"/>
              <a:sym typeface="Arial"/>
            </a:endParaRPr>
          </a:p>
        </p:txBody>
      </p:sp>
      <p:sp>
        <p:nvSpPr>
          <p:cNvPr id="1444" name="Google Shape;1444;p64"/>
          <p:cNvSpPr txBox="1"/>
          <p:nvPr/>
        </p:nvSpPr>
        <p:spPr>
          <a:xfrm>
            <a:off x="1237325" y="2476325"/>
            <a:ext cx="16429200" cy="4254600"/>
          </a:xfrm>
          <a:prstGeom prst="rect">
            <a:avLst/>
          </a:prstGeom>
          <a:noFill/>
          <a:ln>
            <a:noFill/>
          </a:ln>
        </p:spPr>
        <p:txBody>
          <a:bodyPr anchorCtr="0" anchor="t" bIns="0" lIns="0" spcFirstLastPara="1" rIns="0" wrap="square" tIns="0">
            <a:spAutoFit/>
          </a:bodyPr>
          <a:lstStyle/>
          <a:p>
            <a:pPr indent="-406400" lvl="0" marL="457200" marR="0" rtl="0" algn="l">
              <a:lnSpc>
                <a:spcPct val="110000"/>
              </a:lnSpc>
              <a:spcBef>
                <a:spcPts val="0"/>
              </a:spcBef>
              <a:spcAft>
                <a:spcPts val="0"/>
              </a:spcAft>
              <a:buClr>
                <a:srgbClr val="2D2F3B"/>
              </a:buClr>
              <a:buSzPts val="2800"/>
              <a:buFont typeface="Poppins Medium"/>
              <a:buAutoNum type="arabicPeriod" startAt="4"/>
            </a:pPr>
            <a:r>
              <a:rPr b="1" i="0" lang="en-US" sz="2800" u="none" cap="none" strike="noStrike">
                <a:solidFill>
                  <a:srgbClr val="2D2F3B"/>
                </a:solidFill>
                <a:latin typeface="Poppins Medium"/>
                <a:ea typeface="Poppins Medium"/>
                <a:cs typeface="Poppins Medium"/>
                <a:sym typeface="Poppins Medium"/>
              </a:rPr>
              <a:t>Students write 1–2 sentences explaining why they chose that label for each trait.</a:t>
            </a:r>
            <a:endParaRPr b="1" i="0" sz="2800" u="none" cap="none" strike="noStrike">
              <a:solidFill>
                <a:srgbClr val="2D2F3B"/>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2800"/>
              <a:buFont typeface="Arial"/>
              <a:buNone/>
            </a:pPr>
            <a:r>
              <a:rPr b="1" i="0" lang="en-US" sz="2800" u="none" cap="none" strike="noStrike">
                <a:solidFill>
                  <a:srgbClr val="0000FF"/>
                </a:solidFill>
                <a:latin typeface="Poppins Medium"/>
                <a:ea typeface="Poppins Medium"/>
                <a:cs typeface="Poppins Medium"/>
                <a:sym typeface="Poppins Medium"/>
              </a:rPr>
              <a:t>Los estudiantes escriben una o dos oraciones explicando por qué eligieron esa clasificación para cada característica.</a:t>
            </a:r>
            <a:endParaRPr b="1" i="0" sz="2800" u="none" cap="none" strike="noStrike">
              <a:solidFill>
                <a:srgbClr val="0000FF"/>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2800"/>
              <a:buFont typeface="Arial"/>
              <a:buNone/>
            </a:pPr>
            <a:r>
              <a:t/>
            </a:r>
            <a:endParaRPr b="1" i="0" sz="2800" u="none" cap="none" strike="noStrike">
              <a:solidFill>
                <a:srgbClr val="0000FF"/>
              </a:solidFill>
              <a:latin typeface="Poppins Medium"/>
              <a:ea typeface="Poppins Medium"/>
              <a:cs typeface="Poppins Medium"/>
              <a:sym typeface="Poppins Medium"/>
            </a:endParaRPr>
          </a:p>
          <a:p>
            <a:pPr indent="-406400" lvl="0" marL="457200" marR="0" rtl="0" algn="l">
              <a:lnSpc>
                <a:spcPct val="110000"/>
              </a:lnSpc>
              <a:spcBef>
                <a:spcPts val="0"/>
              </a:spcBef>
              <a:spcAft>
                <a:spcPts val="0"/>
              </a:spcAft>
              <a:buClr>
                <a:srgbClr val="1F1F1F"/>
              </a:buClr>
              <a:buSzPts val="2800"/>
              <a:buFont typeface="Poppins Medium"/>
              <a:buAutoNum type="arabicPeriod" startAt="4"/>
            </a:pPr>
            <a:r>
              <a:rPr b="1" i="0" lang="en-US" sz="2800" u="none" cap="none" strike="noStrike">
                <a:solidFill>
                  <a:srgbClr val="1F1F1F"/>
                </a:solidFill>
                <a:latin typeface="Poppins Medium"/>
                <a:ea typeface="Poppins Medium"/>
                <a:cs typeface="Poppins Medium"/>
                <a:sym typeface="Poppins Medium"/>
              </a:rPr>
              <a:t>Students will pair up and share their traits and explanations, discussing similarities, differences, and reasoning.</a:t>
            </a:r>
            <a:endParaRPr b="1" i="0" sz="2800" u="none" cap="none" strike="noStrike">
              <a:solidFill>
                <a:srgbClr val="1F1F1F"/>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2800"/>
              <a:buFont typeface="Arial"/>
              <a:buNone/>
            </a:pPr>
            <a:r>
              <a:rPr b="1" i="0" lang="en-US" sz="2800" u="none" cap="none" strike="noStrike">
                <a:solidFill>
                  <a:srgbClr val="0000FF"/>
                </a:solidFill>
                <a:latin typeface="Poppins Medium"/>
                <a:ea typeface="Poppins Medium"/>
                <a:cs typeface="Poppins Medium"/>
                <a:sym typeface="Poppins Medium"/>
              </a:rPr>
              <a:t>Los estudiantes se emparejarán y compartirán sus características y explicaciones, comentando las similitudes, las diferencias y los motivos de sus elecciones.</a:t>
            </a:r>
            <a:endParaRPr b="1" i="0" sz="2800" u="none" cap="none" strike="noStrike">
              <a:solidFill>
                <a:srgbClr val="0000FF"/>
              </a:solidFill>
              <a:latin typeface="Poppins Medium"/>
              <a:ea typeface="Poppins Medium"/>
              <a:cs typeface="Poppins Medium"/>
              <a:sym typeface="Poppins Medium"/>
            </a:endParaRPr>
          </a:p>
          <a:p>
            <a:pPr indent="0" lvl="0" marL="457200" marR="0" rtl="0" algn="l">
              <a:lnSpc>
                <a:spcPct val="110000"/>
              </a:lnSpc>
              <a:spcBef>
                <a:spcPts val="0"/>
              </a:spcBef>
              <a:spcAft>
                <a:spcPts val="0"/>
              </a:spcAft>
              <a:buClr>
                <a:srgbClr val="000000"/>
              </a:buClr>
              <a:buSzPts val="3000"/>
              <a:buFont typeface="Arial"/>
              <a:buNone/>
            </a:pPr>
            <a:r>
              <a:t/>
            </a:r>
            <a:endParaRPr b="1" i="0" sz="3000" u="none" cap="none" strike="noStrike">
              <a:solidFill>
                <a:srgbClr val="0000FF"/>
              </a:solidFill>
              <a:latin typeface="Poppins Medium"/>
              <a:ea typeface="Poppins Medium"/>
              <a:cs typeface="Poppins Medium"/>
              <a:sym typeface="Poppins Medium"/>
            </a:endParaRPr>
          </a:p>
        </p:txBody>
      </p:sp>
      <p:cxnSp>
        <p:nvCxnSpPr>
          <p:cNvPr id="1445" name="Google Shape;1445;p64"/>
          <p:cNvCxnSpPr/>
          <p:nvPr/>
        </p:nvCxnSpPr>
        <p:spPr>
          <a:xfrm flipH="1" rot="10800000">
            <a:off x="1028734" y="2193451"/>
            <a:ext cx="8115300" cy="18900"/>
          </a:xfrm>
          <a:prstGeom prst="straightConnector1">
            <a:avLst/>
          </a:prstGeom>
          <a:noFill/>
          <a:ln cap="rnd" cmpd="sng" w="28575">
            <a:solidFill>
              <a:srgbClr val="136447"/>
            </a:solidFill>
            <a:prstDash val="solid"/>
            <a:round/>
            <a:headEnd len="sm" w="sm" type="none"/>
            <a:tailEnd len="sm" w="sm" type="none"/>
          </a:ln>
        </p:spPr>
      </p:cxnSp>
      <p:pic>
        <p:nvPicPr>
          <p:cNvPr id="1446" name="Google Shape;1446;p64" title="Screenshot 2026-01-16 at 3.29.16 PM.png"/>
          <p:cNvPicPr preferRelativeResize="0"/>
          <p:nvPr/>
        </p:nvPicPr>
        <p:blipFill rotWithShape="1">
          <a:blip r:embed="rId3">
            <a:alphaModFix/>
          </a:blip>
          <a:srcRect b="0" l="0" r="0" t="0"/>
          <a:stretch/>
        </p:blipFill>
        <p:spPr>
          <a:xfrm>
            <a:off x="6946550" y="6629600"/>
            <a:ext cx="4394892" cy="3251275"/>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51" name="Shape 1451"/>
        <p:cNvGrpSpPr/>
        <p:nvPr/>
      </p:nvGrpSpPr>
      <p:grpSpPr>
        <a:xfrm>
          <a:off x="0" y="0"/>
          <a:ext cx="0" cy="0"/>
          <a:chOff x="0" y="0"/>
          <a:chExt cx="0" cy="0"/>
        </a:xfrm>
      </p:grpSpPr>
      <p:sp>
        <p:nvSpPr>
          <p:cNvPr id="1452" name="Google Shape;1452;g3f6c934d049_0_0"/>
          <p:cNvSpPr txBox="1"/>
          <p:nvPr/>
        </p:nvSpPr>
        <p:spPr>
          <a:xfrm>
            <a:off x="535775" y="550400"/>
            <a:ext cx="17227800" cy="450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Proposed activities/ideas:</a:t>
            </a:r>
            <a:endParaRPr sz="3200">
              <a:solidFill>
                <a:schemeClr val="dk1"/>
              </a:solidFill>
              <a:latin typeface="Calibri"/>
              <a:ea typeface="Calibri"/>
              <a:cs typeface="Calibri"/>
              <a:sym typeface="Calibri"/>
            </a:endParaRPr>
          </a:p>
          <a:p>
            <a:pPr indent="-431800" lvl="0" marL="457200" rtl="0" algn="l">
              <a:spcBef>
                <a:spcPts val="0"/>
              </a:spcBef>
              <a:spcAft>
                <a:spcPts val="0"/>
              </a:spcAft>
              <a:buClr>
                <a:schemeClr val="dk1"/>
              </a:buClr>
              <a:buSzPts val="3200"/>
              <a:buFont typeface="Calibri"/>
              <a:buAutoNum type="arabicPeriod"/>
            </a:pPr>
            <a:r>
              <a:rPr lang="en-US" sz="3200">
                <a:solidFill>
                  <a:schemeClr val="dk1"/>
                </a:solidFill>
                <a:latin typeface="Calibri"/>
                <a:ea typeface="Calibri"/>
                <a:cs typeface="Calibri"/>
                <a:sym typeface="Calibri"/>
              </a:rPr>
              <a:t>ruler reflex experiment</a:t>
            </a:r>
            <a:endParaRPr sz="3200">
              <a:solidFill>
                <a:schemeClr val="dk1"/>
              </a:solidFill>
              <a:latin typeface="Calibri"/>
              <a:ea typeface="Calibri"/>
              <a:cs typeface="Calibri"/>
              <a:sym typeface="Calibri"/>
            </a:endParaRPr>
          </a:p>
          <a:p>
            <a:pPr indent="-431800" lvl="0" marL="457200" rtl="0" algn="l">
              <a:spcBef>
                <a:spcPts val="0"/>
              </a:spcBef>
              <a:spcAft>
                <a:spcPts val="0"/>
              </a:spcAft>
              <a:buClr>
                <a:schemeClr val="dk1"/>
              </a:buClr>
              <a:buSzPts val="3200"/>
              <a:buFont typeface="Calibri"/>
              <a:buAutoNum type="arabicPeriod"/>
            </a:pPr>
            <a:r>
              <a:rPr lang="en-US" sz="3200">
                <a:solidFill>
                  <a:schemeClr val="dk1"/>
                </a:solidFill>
                <a:latin typeface="Calibri"/>
                <a:ea typeface="Calibri"/>
                <a:cs typeface="Calibri"/>
                <a:sym typeface="Calibri"/>
              </a:rPr>
              <a:t>Brain </a:t>
            </a:r>
            <a:r>
              <a:rPr lang="en-US" sz="3200">
                <a:solidFill>
                  <a:schemeClr val="dk1"/>
                </a:solidFill>
                <a:latin typeface="Calibri"/>
                <a:ea typeface="Calibri"/>
                <a:cs typeface="Calibri"/>
                <a:sym typeface="Calibri"/>
              </a:rPr>
              <a:t>hemisphere</a:t>
            </a:r>
            <a:r>
              <a:rPr lang="en-US" sz="3200">
                <a:solidFill>
                  <a:schemeClr val="dk1"/>
                </a:solidFill>
                <a:latin typeface="Calibri"/>
                <a:ea typeface="Calibri"/>
                <a:cs typeface="Calibri"/>
                <a:sym typeface="Calibri"/>
              </a:rPr>
              <a:t> hat</a:t>
            </a:r>
            <a:endParaRPr sz="3200">
              <a:solidFill>
                <a:schemeClr val="dk1"/>
              </a:solidFill>
              <a:latin typeface="Calibri"/>
              <a:ea typeface="Calibri"/>
              <a:cs typeface="Calibri"/>
              <a:sym typeface="Calibri"/>
            </a:endParaRPr>
          </a:p>
          <a:p>
            <a:pPr indent="-431800" lvl="1" marL="914400" rtl="0" algn="l">
              <a:spcBef>
                <a:spcPts val="0"/>
              </a:spcBef>
              <a:spcAft>
                <a:spcPts val="0"/>
              </a:spcAft>
              <a:buClr>
                <a:schemeClr val="dk1"/>
              </a:buClr>
              <a:buSzPts val="3200"/>
              <a:buFont typeface="Calibri"/>
              <a:buAutoNum type="alphaLcPeriod"/>
            </a:pPr>
            <a:r>
              <a:rPr lang="en-US" sz="3200" u="sng">
                <a:solidFill>
                  <a:schemeClr val="hlink"/>
                </a:solidFill>
                <a:latin typeface="Calibri"/>
                <a:ea typeface="Calibri"/>
                <a:cs typeface="Calibri"/>
                <a:sym typeface="Calibri"/>
                <a:hlinkClick r:id="rId3"/>
              </a:rPr>
              <a:t>https://ellenjmchenry.com/brain-hemisphere-hat/</a:t>
            </a:r>
            <a:endParaRPr sz="3200">
              <a:solidFill>
                <a:schemeClr val="dk1"/>
              </a:solidFill>
              <a:latin typeface="Calibri"/>
              <a:ea typeface="Calibri"/>
              <a:cs typeface="Calibri"/>
              <a:sym typeface="Calibri"/>
            </a:endParaRPr>
          </a:p>
          <a:p>
            <a:pPr indent="-431800" lvl="0" marL="457200" rtl="0" algn="l">
              <a:spcBef>
                <a:spcPts val="0"/>
              </a:spcBef>
              <a:spcAft>
                <a:spcPts val="0"/>
              </a:spcAft>
              <a:buClr>
                <a:schemeClr val="dk1"/>
              </a:buClr>
              <a:buSzPts val="3200"/>
              <a:buFont typeface="Calibri"/>
              <a:buAutoNum type="arabicPeriod"/>
            </a:pPr>
            <a:r>
              <a:rPr lang="en-US" sz="3200">
                <a:solidFill>
                  <a:schemeClr val="dk1"/>
                </a:solidFill>
                <a:latin typeface="Calibri"/>
                <a:ea typeface="Calibri"/>
                <a:cs typeface="Calibri"/>
                <a:sym typeface="Calibri"/>
              </a:rPr>
              <a:t>Brain hemisphere puzzle</a:t>
            </a:r>
            <a:endParaRPr sz="3200">
              <a:solidFill>
                <a:schemeClr val="dk1"/>
              </a:solidFill>
              <a:latin typeface="Calibri"/>
              <a:ea typeface="Calibri"/>
              <a:cs typeface="Calibri"/>
              <a:sym typeface="Calibri"/>
            </a:endParaRPr>
          </a:p>
          <a:p>
            <a:pPr indent="-431800" lvl="1" marL="914400" rtl="0" algn="l">
              <a:spcBef>
                <a:spcPts val="0"/>
              </a:spcBef>
              <a:spcAft>
                <a:spcPts val="0"/>
              </a:spcAft>
              <a:buClr>
                <a:schemeClr val="dk1"/>
              </a:buClr>
              <a:buSzPts val="3200"/>
              <a:buFont typeface="Calibri"/>
              <a:buAutoNum type="alphaLcPeriod"/>
            </a:pPr>
            <a:r>
              <a:rPr lang="en-US" sz="3200" u="sng">
                <a:solidFill>
                  <a:schemeClr val="hlink"/>
                </a:solidFill>
                <a:latin typeface="Calibri"/>
                <a:ea typeface="Calibri"/>
                <a:cs typeface="Calibri"/>
                <a:sym typeface="Calibri"/>
                <a:hlinkClick r:id="rId4"/>
              </a:rPr>
              <a:t>https://thecraftyclassroom.com/wp-content/uploads/2015/01/BrainPuzzle.pdf</a:t>
            </a:r>
            <a:endParaRPr sz="3200">
              <a:solidFill>
                <a:schemeClr val="dk1"/>
              </a:solidFill>
              <a:latin typeface="Calibri"/>
              <a:ea typeface="Calibri"/>
              <a:cs typeface="Calibri"/>
              <a:sym typeface="Calibri"/>
            </a:endParaRPr>
          </a:p>
          <a:p>
            <a:pPr indent="-431800" lvl="0" marL="457200" rtl="0" algn="l">
              <a:spcBef>
                <a:spcPts val="0"/>
              </a:spcBef>
              <a:spcAft>
                <a:spcPts val="0"/>
              </a:spcAft>
              <a:buClr>
                <a:schemeClr val="dk1"/>
              </a:buClr>
              <a:buSzPts val="3200"/>
              <a:buFont typeface="Calibri"/>
              <a:buAutoNum type="arabicPeriod"/>
            </a:pPr>
            <a:r>
              <a:rPr lang="en-US" sz="3200">
                <a:solidFill>
                  <a:schemeClr val="dk1"/>
                </a:solidFill>
                <a:latin typeface="Calibri"/>
                <a:ea typeface="Calibri"/>
                <a:cs typeface="Calibri"/>
                <a:sym typeface="Calibri"/>
              </a:rPr>
              <a:t>nature vs. nurture personality assignment</a:t>
            </a:r>
            <a:endParaRPr sz="3200">
              <a:solidFill>
                <a:schemeClr val="dk1"/>
              </a:solidFill>
              <a:latin typeface="Calibri"/>
              <a:ea typeface="Calibri"/>
              <a:cs typeface="Calibri"/>
              <a:sym typeface="Calibri"/>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57" name="Shape 1457"/>
        <p:cNvGrpSpPr/>
        <p:nvPr/>
      </p:nvGrpSpPr>
      <p:grpSpPr>
        <a:xfrm>
          <a:off x="0" y="0"/>
          <a:ext cx="0" cy="0"/>
          <a:chOff x="0" y="0"/>
          <a:chExt cx="0" cy="0"/>
        </a:xfrm>
      </p:grpSpPr>
      <p:sp>
        <p:nvSpPr>
          <p:cNvPr id="1458" name="Google Shape;1458;g3f6d4ad7c21_1_0"/>
          <p:cNvSpPr txBox="1"/>
          <p:nvPr/>
        </p:nvSpPr>
        <p:spPr>
          <a:xfrm>
            <a:off x="3424650" y="1449700"/>
            <a:ext cx="11438700" cy="3632700"/>
          </a:xfrm>
          <a:prstGeom prst="rect">
            <a:avLst/>
          </a:prstGeom>
          <a:noFill/>
          <a:ln>
            <a:noFill/>
          </a:ln>
        </p:spPr>
        <p:txBody>
          <a:bodyPr anchorCtr="0" anchor="t" bIns="91425" lIns="91425" spcFirstLastPara="1" rIns="91425" wrap="square" tIns="91425">
            <a:spAutoFit/>
          </a:bodyPr>
          <a:lstStyle/>
          <a:p>
            <a:pPr indent="-431800" lvl="0" marL="457200" rtl="0" algn="l">
              <a:spcBef>
                <a:spcPts val="0"/>
              </a:spcBef>
              <a:spcAft>
                <a:spcPts val="0"/>
              </a:spcAft>
              <a:buClr>
                <a:schemeClr val="dk1"/>
              </a:buClr>
              <a:buSzPts val="3200"/>
              <a:buFont typeface="Calibri"/>
              <a:buChar char="-"/>
            </a:pPr>
            <a:r>
              <a:rPr lang="en-US" sz="3200">
                <a:solidFill>
                  <a:schemeClr val="dk1"/>
                </a:solidFill>
                <a:latin typeface="Calibri"/>
                <a:ea typeface="Calibri"/>
                <a:cs typeface="Calibri"/>
                <a:sym typeface="Calibri"/>
              </a:rPr>
              <a:t>Look into brain activity, compare slides to animal brains in jars</a:t>
            </a:r>
            <a:endParaRPr sz="3200">
              <a:solidFill>
                <a:schemeClr val="dk1"/>
              </a:solidFill>
              <a:latin typeface="Calibri"/>
              <a:ea typeface="Calibri"/>
              <a:cs typeface="Calibri"/>
              <a:sym typeface="Calibri"/>
            </a:endParaRPr>
          </a:p>
          <a:p>
            <a:pPr indent="-431800" lvl="0" marL="457200" rtl="0" algn="l">
              <a:spcBef>
                <a:spcPts val="0"/>
              </a:spcBef>
              <a:spcAft>
                <a:spcPts val="0"/>
              </a:spcAft>
              <a:buClr>
                <a:schemeClr val="dk1"/>
              </a:buClr>
              <a:buSzPts val="3200"/>
              <a:buFont typeface="Calibri"/>
              <a:buChar char="-"/>
            </a:pPr>
            <a:r>
              <a:rPr lang="en-US" sz="3200">
                <a:solidFill>
                  <a:schemeClr val="dk1"/>
                </a:solidFill>
                <a:latin typeface="Calibri"/>
                <a:ea typeface="Calibri"/>
                <a:cs typeface="Calibri"/>
                <a:sym typeface="Calibri"/>
              </a:rPr>
              <a:t>Potentially cut </a:t>
            </a:r>
            <a:r>
              <a:rPr lang="en-US" sz="3200">
                <a:solidFill>
                  <a:schemeClr val="dk1"/>
                </a:solidFill>
                <a:latin typeface="Calibri"/>
                <a:ea typeface="Calibri"/>
                <a:cs typeface="Calibri"/>
                <a:sym typeface="Calibri"/>
              </a:rPr>
              <a:t>neurons</a:t>
            </a:r>
            <a:r>
              <a:rPr lang="en-US" sz="3200">
                <a:solidFill>
                  <a:schemeClr val="dk1"/>
                </a:solidFill>
                <a:latin typeface="Calibri"/>
                <a:ea typeface="Calibri"/>
                <a:cs typeface="Calibri"/>
                <a:sym typeface="Calibri"/>
              </a:rPr>
              <a:t> and </a:t>
            </a:r>
            <a:r>
              <a:rPr lang="en-US" sz="3200">
                <a:solidFill>
                  <a:schemeClr val="dk1"/>
                </a:solidFill>
                <a:latin typeface="Calibri"/>
                <a:ea typeface="Calibri"/>
                <a:cs typeface="Calibri"/>
                <a:sym typeface="Calibri"/>
              </a:rPr>
              <a:t>neurotransmitters</a:t>
            </a:r>
            <a:r>
              <a:rPr lang="en-US" sz="3200">
                <a:solidFill>
                  <a:schemeClr val="dk1"/>
                </a:solidFill>
                <a:latin typeface="Calibri"/>
                <a:ea typeface="Calibri"/>
                <a:cs typeface="Calibri"/>
                <a:sym typeface="Calibri"/>
              </a:rPr>
              <a:t> down to a couple slides.</a:t>
            </a:r>
            <a:endParaRPr sz="3200">
              <a:solidFill>
                <a:schemeClr val="dk1"/>
              </a:solidFill>
              <a:latin typeface="Calibri"/>
              <a:ea typeface="Calibri"/>
              <a:cs typeface="Calibri"/>
              <a:sym typeface="Calibri"/>
            </a:endParaRPr>
          </a:p>
          <a:p>
            <a:pPr indent="-431800" lvl="0" marL="457200" rtl="0" algn="l">
              <a:spcBef>
                <a:spcPts val="0"/>
              </a:spcBef>
              <a:spcAft>
                <a:spcPts val="0"/>
              </a:spcAft>
              <a:buClr>
                <a:schemeClr val="dk1"/>
              </a:buClr>
              <a:buSzPts val="3200"/>
              <a:buFont typeface="Calibri"/>
              <a:buChar char="-"/>
            </a:pPr>
            <a:r>
              <a:rPr lang="en-US" sz="3200">
                <a:solidFill>
                  <a:schemeClr val="dk1"/>
                </a:solidFill>
                <a:latin typeface="Calibri"/>
                <a:ea typeface="Calibri"/>
                <a:cs typeface="Calibri"/>
                <a:sym typeface="Calibri"/>
              </a:rPr>
              <a:t>Talk about how parts of the brain </a:t>
            </a:r>
            <a:r>
              <a:rPr lang="en-US" sz="3200">
                <a:solidFill>
                  <a:schemeClr val="dk1"/>
                </a:solidFill>
                <a:latin typeface="Calibri"/>
                <a:ea typeface="Calibri"/>
                <a:cs typeface="Calibri"/>
                <a:sym typeface="Calibri"/>
              </a:rPr>
              <a:t>overlap, somatic system can impact autonomic system (box breathing activity)</a:t>
            </a:r>
            <a:endParaRPr sz="3200">
              <a:solidFill>
                <a:schemeClr val="dk1"/>
              </a:solidFill>
              <a:latin typeface="Calibri"/>
              <a:ea typeface="Calibri"/>
              <a:cs typeface="Calibri"/>
              <a:sym typeface="Calibri"/>
            </a:endParaRPr>
          </a:p>
          <a:p>
            <a:pPr indent="-431800" lvl="0" marL="457200" rtl="0" algn="l">
              <a:spcBef>
                <a:spcPts val="0"/>
              </a:spcBef>
              <a:spcAft>
                <a:spcPts val="0"/>
              </a:spcAft>
              <a:buClr>
                <a:schemeClr val="dk1"/>
              </a:buClr>
              <a:buSzPts val="3200"/>
              <a:buFont typeface="Calibri"/>
              <a:buChar char="-"/>
            </a:pPr>
            <a:r>
              <a:rPr lang="en-US" sz="3200">
                <a:solidFill>
                  <a:schemeClr val="dk1"/>
                </a:solidFill>
                <a:latin typeface="Calibri"/>
                <a:ea typeface="Calibri"/>
                <a:cs typeface="Calibri"/>
                <a:sym typeface="Calibri"/>
              </a:rPr>
              <a:t>Drunk goggles</a:t>
            </a:r>
            <a:endParaRPr sz="3200">
              <a:solidFill>
                <a:schemeClr val="dk1"/>
              </a:solidFill>
              <a:latin typeface="Calibri"/>
              <a:ea typeface="Calibri"/>
              <a:cs typeface="Calibri"/>
              <a:sym typeface="Calibri"/>
            </a:endParaRPr>
          </a:p>
          <a:p>
            <a:pPr indent="-431800" lvl="0" marL="457200" rtl="0" algn="l">
              <a:spcBef>
                <a:spcPts val="0"/>
              </a:spcBef>
              <a:spcAft>
                <a:spcPts val="0"/>
              </a:spcAft>
              <a:buClr>
                <a:schemeClr val="dk1"/>
              </a:buClr>
              <a:buSzPts val="3200"/>
              <a:buFont typeface="Calibri"/>
              <a:buChar char="-"/>
            </a:pPr>
            <a:r>
              <a:rPr lang="en-US" sz="3200">
                <a:solidFill>
                  <a:schemeClr val="dk1"/>
                </a:solidFill>
                <a:latin typeface="Calibri"/>
                <a:ea typeface="Calibri"/>
                <a:cs typeface="Calibri"/>
                <a:sym typeface="Calibri"/>
              </a:rPr>
              <a:t>twin studies for nature and nutrue</a:t>
            </a:r>
            <a:endParaRPr sz="32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