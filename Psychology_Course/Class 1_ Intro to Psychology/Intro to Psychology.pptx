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Lst>
  <p:sldSz cy="5143500" cx="9144000"/>
  <p:notesSz cx="6858000" cy="9144000"/>
  <p:embeddedFontLst>
    <p:embeddedFont>
      <p:font typeface="Comfortaa Medium"/>
      <p:regular r:id="rId71"/>
      <p:bold r:id="rId72"/>
    </p:embeddedFont>
    <p:embeddedFont>
      <p:font typeface="Comfortaa"/>
      <p:regular r:id="rId73"/>
      <p:bold r:id="rId7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75" roundtripDataSignature="AMtx7miaDpG5+FAxgSDozLvxDo6MMP9hU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A06B036-2650-47DB-8F29-C4CF594A36C5}">
  <a:tblStyle styleId="{2A06B036-2650-47DB-8F29-C4CF594A36C5}"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Comfortaa-regular.fntdata"/><Relationship Id="rId72" Type="http://schemas.openxmlformats.org/officeDocument/2006/relationships/font" Target="fonts/ComfortaaMedium-bold.fntdata"/><Relationship Id="rId31" Type="http://schemas.openxmlformats.org/officeDocument/2006/relationships/slide" Target="slides/slide25.xml"/><Relationship Id="rId75" Type="http://customschemas.google.com/relationships/presentationmetadata" Target="metadata"/><Relationship Id="rId30" Type="http://schemas.openxmlformats.org/officeDocument/2006/relationships/slide" Target="slides/slide24.xml"/><Relationship Id="rId74" Type="http://schemas.openxmlformats.org/officeDocument/2006/relationships/font" Target="fonts/Comfortaa-bold.fntdata"/><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ComfortaaMedium-regular.fntdata"/><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f987ea88ee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f987ea88ee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f987ea88ee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f987ea88ee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f987ea88ee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f987ea88e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Think of it like dropping a rock into a sandbox. When the rock hits, it throws sand out in every direction, exposing layers that were hidden underneath. In the same way, this rocket stage created a fresh crater that scientists can study to learn what's below the Moon's surface.</a:t>
            </a:r>
            <a:endParaRPr>
              <a:solidFill>
                <a:schemeClr val="dk1"/>
              </a:solidFill>
            </a:endParaRPr>
          </a:p>
          <a:p>
            <a:pPr indent="0" lvl="0" marL="0" rtl="0" algn="l">
              <a:spcBef>
                <a:spcPts val="12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f987ea88e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f987ea88e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Think of it like dropping a rock into a sandbox. When the rock hits, it throws sand out in every direction, exposing layers that were hidden underneath. In the same way, this rocket stage created a fresh crater that scientists can study to learn what's below the Moon's surface.</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6012627a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g3f6012627a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f6012627a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f6012627a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f6012627a2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f6012627a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f6429ab5e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f6429ab5e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f6429ab5e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f6429ab5e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f6429ab5e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f6429ab5e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f6429ab5ef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f6429ab5ef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f6456eb57b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g3f6456eb57b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f6456eb57b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g3f6456eb57b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f6456eb57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g3f6456eb57b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f6456eb57b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g3f6456eb57b_0_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f6456eb57b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g3f6456eb57b_0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f6456eb57b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g3f6456eb57b_0_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f6456eb57b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g3f6456eb57b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f6456eb57b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g3f6456eb57b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f6456eb57b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g3f6456eb57b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Students may have heard that the left and right parts of our brain have different functions. Namely, the left brain is responsible for language and logic, while the right brain is responsible for creativity.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Sperry showed that split brain subjects demonstrate “two minds”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This has led to lots of research on consciousness, but science has still not agreed on anything</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We will show a list of colors, English on the left and Spanish on the right. In your head, say the color that each word in the list is printed in.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Could be fun if someone wants to volunteer</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 name="Google Shape;231;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Now we will rearrange the list. Do this in your head again.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For example, when the name of a color is printed in a different color ink, it takes longer and is more error-prone to say the color of the ink than to read the word.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This demonstrates the conflict between automatic processing (reading) and controlled processing (naming the ink color).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It highlights how automatic thoughts can interfere with tasks requiring attention and control.</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Ask the class.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There is no unanimously agreed upon definition in science, but one popular definition is that consciousness is the unification of all the functions of the brain (emotions, motivations, sensation, imagination, memories, etc) into a complete experience.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How does the stroop task (the feeling of having two conflicting thought streams) feel different from normal experience?</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Psychologists at Johns Hopkins ran an experiment on an orphaned baby to try to give him a phobia.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f6456eb57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f6456eb57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 name="Google Shape;268;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Psychologists at Yale recruited participants and told them they were assisting with an experiment to test how punishment affects learning. The experimenters instructed the participants to administer shocks when someone answered a question incorrectly. In reality, those answering the questions and receiving shocks were actors, and the real experiment was testing how far participants would go in inflicting pain on others because an authoritative figure instructed them to do so.</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Researchers at stanford recruited 24 male students and randomly split them into guards and prisoners to study the effect of roles, rules, and group identity on behavior. They were told to act in the role they were assigned, with little other instruction</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Within 2 days, guards were removing mattresses from cells, stripping prisoners of their clothes, and sprayed them with fire extinguishers. Prisoners were refusing guard orders and insulting guards.</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The experiment was shut down after 6 days</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video shows a post-experimental interview of one of the students set to be a “guard”</a:t>
            </a:r>
            <a:endParaRPr/>
          </a:p>
          <a:p>
            <a:pPr indent="0" lvl="0" marL="0" rtl="0" algn="l">
              <a:lnSpc>
                <a:spcPct val="100000"/>
              </a:lnSpc>
              <a:spcBef>
                <a:spcPts val="0"/>
              </a:spcBef>
              <a:spcAft>
                <a:spcPts val="0"/>
              </a:spcAft>
              <a:buSzPts val="1100"/>
              <a:buNone/>
            </a:pPr>
            <a:r>
              <a:rPr lang="en"/>
              <a:t>It shows the power of social roles, authority, and situational pressures on behavior — people may act in ways they never imagined outside that context.</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f6456eb57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f6456eb57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7" name="Google Shape;307;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Albert: </a:t>
            </a:r>
            <a:r>
              <a:rPr lang="en">
                <a:solidFill>
                  <a:schemeClr val="dk1"/>
                </a:solidFill>
              </a:rPr>
              <a:t>Caused fear and distress to a baby. No consent could be given by the participant. No debriefing or attempt to remove fear afterward.</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Milgram: Caused severe stress and anxiety to participants. Participants thought they were harming someone. Deception was used about the true nature of the shocks.</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Stanford Prison: Participants suffered emotional and psychological harm. No clear limits on harmful behavior from guards. Deception about the roles and situation. Experiment had to be stopped early due to extreme distress.</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To what extent can you bend the rules in the pursuit of knowledge? Ethics vs. results</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3" name="Google Shape;313;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Albert: </a:t>
            </a:r>
            <a:r>
              <a:rPr lang="en">
                <a:solidFill>
                  <a:schemeClr val="dk1"/>
                </a:solidFill>
              </a:rPr>
              <a:t>Caused fear and distress to a baby. No consent could be given by the participant. No debriefing or attempt to remove fear afterward.</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Milgram: Caused severe stress and anxiety to participants. Participants thought they were harming someone. Deception was used about the true nature of the shocks.</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Stanford Prison: Participants suffered emotional and psychological harm. No clear limits on harmful behavior from guards. Deception about the roles and situation. Experiment had to be stopped early due to extreme distress.</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To what extent can you bend the rules in the pursuit of knowledge? Ethics vs. results</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9" name="Google Shape;319;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Basically, participants’ safety, rights, and well-being are now the top priority, unlike in early studies like Little Albert, Milgram, or Stanford Prison.</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6" name="Google Shape;32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2" name="Google Shape;33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Controlled experiments are how we make scientific discoveries</a:t>
            </a:r>
            <a:endParaRPr/>
          </a:p>
          <a:p>
            <a:pPr indent="0" lvl="0" marL="0" rtl="0" algn="l">
              <a:lnSpc>
                <a:spcPct val="100000"/>
              </a:lnSpc>
              <a:spcBef>
                <a:spcPts val="0"/>
              </a:spcBef>
              <a:spcAft>
                <a:spcPts val="0"/>
              </a:spcAft>
              <a:buSzPts val="1100"/>
              <a:buNone/>
            </a:pPr>
            <a:r>
              <a:t/>
            </a:r>
            <a:endParaRPr/>
          </a:p>
          <a:p>
            <a:pPr indent="-298450" lvl="0" marL="457200" rtl="0" algn="l">
              <a:lnSpc>
                <a:spcPct val="100000"/>
              </a:lnSpc>
              <a:spcBef>
                <a:spcPts val="0"/>
              </a:spcBef>
              <a:spcAft>
                <a:spcPts val="0"/>
              </a:spcAft>
              <a:buSzPts val="1100"/>
              <a:buChar char="●"/>
            </a:pPr>
            <a:r>
              <a:rPr lang="en"/>
              <a:t>Hypothesis is </a:t>
            </a:r>
            <a:endParaRPr/>
          </a:p>
          <a:p>
            <a:pPr indent="-298450" lvl="0" marL="457200" rtl="0" algn="l">
              <a:lnSpc>
                <a:spcPct val="100000"/>
              </a:lnSpc>
              <a:spcBef>
                <a:spcPts val="0"/>
              </a:spcBef>
              <a:spcAft>
                <a:spcPts val="0"/>
              </a:spcAft>
              <a:buSzPts val="1100"/>
              <a:buChar char="●"/>
            </a:pPr>
            <a:r>
              <a:rPr lang="en"/>
              <a:t>Independent variable is</a:t>
            </a:r>
            <a:endParaRPr/>
          </a:p>
          <a:p>
            <a:pPr indent="-298450" lvl="0" marL="457200" rtl="0" algn="l">
              <a:lnSpc>
                <a:spcPct val="100000"/>
              </a:lnSpc>
              <a:spcBef>
                <a:spcPts val="0"/>
              </a:spcBef>
              <a:spcAft>
                <a:spcPts val="0"/>
              </a:spcAft>
              <a:buSzPts val="1100"/>
              <a:buChar char="●"/>
            </a:pPr>
            <a:r>
              <a:rPr lang="en"/>
              <a:t>Dependent variable is</a:t>
            </a:r>
            <a:endParaRPr/>
          </a:p>
          <a:p>
            <a:pPr indent="-298450" lvl="0" marL="457200" rtl="0" algn="l">
              <a:lnSpc>
                <a:spcPct val="100000"/>
              </a:lnSpc>
              <a:spcBef>
                <a:spcPts val="0"/>
              </a:spcBef>
              <a:spcAft>
                <a:spcPts val="0"/>
              </a:spcAft>
              <a:buSzPts val="1100"/>
              <a:buChar char="●"/>
            </a:pPr>
            <a:r>
              <a:rPr lang="en"/>
              <a:t>Confounding variables are</a:t>
            </a:r>
            <a:endParaRPr/>
          </a:p>
          <a:p>
            <a:pPr indent="-298450" lvl="0" marL="457200" rtl="0" algn="l">
              <a:lnSpc>
                <a:spcPct val="100000"/>
              </a:lnSpc>
              <a:spcBef>
                <a:spcPts val="0"/>
              </a:spcBef>
              <a:spcAft>
                <a:spcPts val="0"/>
              </a:spcAft>
              <a:buSzPts val="1100"/>
              <a:buChar char="●"/>
            </a:pPr>
            <a:r>
              <a:rPr lang="en"/>
              <a:t>Control group is</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8" name="Google Shape;33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Dependent: resting heart rate</a:t>
            </a:r>
            <a:endParaRPr/>
          </a:p>
          <a:p>
            <a:pPr indent="0" lvl="0" marL="0" rtl="0" algn="l">
              <a:lnSpc>
                <a:spcPct val="100000"/>
              </a:lnSpc>
              <a:spcBef>
                <a:spcPts val="0"/>
              </a:spcBef>
              <a:spcAft>
                <a:spcPts val="0"/>
              </a:spcAft>
              <a:buSzPts val="1100"/>
              <a:buNone/>
            </a:pPr>
            <a:r>
              <a:rPr lang="en"/>
              <a:t>Independent: amount of coffee consumed (2 cups vs. none)</a:t>
            </a:r>
            <a:endParaRPr/>
          </a:p>
          <a:p>
            <a:pPr indent="0" lvl="0" marL="0" rtl="0" algn="l">
              <a:lnSpc>
                <a:spcPct val="100000"/>
              </a:lnSpc>
              <a:spcBef>
                <a:spcPts val="0"/>
              </a:spcBef>
              <a:spcAft>
                <a:spcPts val="0"/>
              </a:spcAft>
              <a:buSzPts val="1100"/>
              <a:buNone/>
            </a:pPr>
            <a:r>
              <a:rPr lang="en"/>
              <a:t>Possible confounding: </a:t>
            </a:r>
            <a:endParaRPr/>
          </a:p>
          <a:p>
            <a:pPr indent="0" lvl="0" marL="0" rtl="0" algn="l">
              <a:lnSpc>
                <a:spcPct val="100000"/>
              </a:lnSpc>
              <a:spcBef>
                <a:spcPts val="0"/>
              </a:spcBef>
              <a:spcAft>
                <a:spcPts val="0"/>
              </a:spcAft>
              <a:buSzPts val="1100"/>
              <a:buNone/>
            </a:pPr>
            <a:r>
              <a:rPr lang="en"/>
              <a:t>*Baseline caffeine tolerance</a:t>
            </a:r>
            <a:endParaRPr/>
          </a:p>
          <a:p>
            <a:pPr indent="0" lvl="0" marL="0" rtl="0" algn="l">
              <a:lnSpc>
                <a:spcPct val="100000"/>
              </a:lnSpc>
              <a:spcBef>
                <a:spcPts val="0"/>
              </a:spcBef>
              <a:spcAft>
                <a:spcPts val="0"/>
              </a:spcAft>
              <a:buClr>
                <a:schemeClr val="dk1"/>
              </a:buClr>
              <a:buSzPts val="1100"/>
              <a:buFont typeface="Arial"/>
              <a:buNone/>
            </a:pPr>
            <a:r>
              <a:rPr lang="en"/>
              <a:t>*Exercise habits</a:t>
            </a:r>
            <a:endParaRPr/>
          </a:p>
          <a:p>
            <a:pPr indent="0" lvl="0" marL="0" rtl="0" algn="l">
              <a:lnSpc>
                <a:spcPct val="100000"/>
              </a:lnSpc>
              <a:spcBef>
                <a:spcPts val="0"/>
              </a:spcBef>
              <a:spcAft>
                <a:spcPts val="0"/>
              </a:spcAft>
              <a:buClr>
                <a:schemeClr val="dk1"/>
              </a:buClr>
              <a:buSzPts val="1100"/>
              <a:buFont typeface="Arial"/>
              <a:buNone/>
            </a:pPr>
            <a:r>
              <a:rPr lang="en"/>
              <a:t>*Stress levels</a:t>
            </a:r>
            <a:br>
              <a:rPr lang="en"/>
            </a:br>
            <a:r>
              <a:rPr lang="en"/>
              <a:t>*Sleep quality</a:t>
            </a:r>
            <a:endParaRPr/>
          </a:p>
          <a:p>
            <a:pPr indent="0" lvl="0" marL="0" rtl="0" algn="l">
              <a:lnSpc>
                <a:spcPct val="100000"/>
              </a:lnSpc>
              <a:spcBef>
                <a:spcPts val="0"/>
              </a:spcBef>
              <a:spcAft>
                <a:spcPts val="0"/>
              </a:spcAft>
              <a:buClr>
                <a:schemeClr val="dk1"/>
              </a:buClr>
              <a:buSzPts val="1100"/>
              <a:buFont typeface="Arial"/>
              <a:buNone/>
            </a:pPr>
            <a:r>
              <a:rPr lang="en"/>
              <a:t>*Diet</a:t>
            </a:r>
            <a:endParaRPr/>
          </a:p>
          <a:p>
            <a:pPr indent="0" lvl="0" marL="0" rtl="0" algn="l">
              <a:lnSpc>
                <a:spcPct val="100000"/>
              </a:lnSpc>
              <a:spcBef>
                <a:spcPts val="0"/>
              </a:spcBef>
              <a:spcAft>
                <a:spcPts val="0"/>
              </a:spcAft>
              <a:buClr>
                <a:schemeClr val="dk1"/>
              </a:buClr>
              <a:buSzPts val="1100"/>
              <a:buFont typeface="Arial"/>
              <a:buNone/>
            </a:pPr>
            <a:r>
              <a:rPr lang="en"/>
              <a:t>*Nicotine use</a:t>
            </a:r>
            <a:endParaRPr/>
          </a:p>
          <a:p>
            <a:pPr indent="0" lvl="0" marL="0" rtl="0" algn="l">
              <a:lnSpc>
                <a:spcPct val="100000"/>
              </a:lnSpc>
              <a:spcBef>
                <a:spcPts val="0"/>
              </a:spcBef>
              <a:spcAft>
                <a:spcPts val="0"/>
              </a:spcAft>
              <a:buClr>
                <a:schemeClr val="dk1"/>
              </a:buClr>
              <a:buSzPts val="1100"/>
              <a:buFont typeface="Arial"/>
              <a:buNone/>
            </a:pPr>
            <a:r>
              <a:rPr lang="en"/>
              <a:t>*Medications</a:t>
            </a:r>
            <a:endParaRPr/>
          </a:p>
          <a:p>
            <a:pPr indent="0" lvl="0" marL="0" rtl="0" algn="l">
              <a:lnSpc>
                <a:spcPct val="100000"/>
              </a:lnSpc>
              <a:spcBef>
                <a:spcPts val="0"/>
              </a:spcBef>
              <a:spcAft>
                <a:spcPts val="0"/>
              </a:spcAft>
              <a:buSzPts val="1100"/>
              <a:buNone/>
            </a:pPr>
            <a:r>
              <a:rPr lang="en"/>
              <a:t>*Hydration</a:t>
            </a:r>
            <a:endParaRPr/>
          </a:p>
          <a:p>
            <a:pPr indent="0" lvl="0" marL="0" rtl="0" algn="l">
              <a:lnSpc>
                <a:spcPct val="100000"/>
              </a:lnSpc>
              <a:spcBef>
                <a:spcPts val="0"/>
              </a:spcBef>
              <a:spcAft>
                <a:spcPts val="0"/>
              </a:spcAft>
              <a:buSzPts val="1100"/>
              <a:buNone/>
            </a:pPr>
            <a:r>
              <a:rPr lang="en"/>
              <a:t>Possible questions:</a:t>
            </a:r>
            <a:endParaRPr/>
          </a:p>
          <a:p>
            <a:pPr indent="0" lvl="0" marL="0" rtl="0" algn="l">
              <a:lnSpc>
                <a:spcPct val="100000"/>
              </a:lnSpc>
              <a:spcBef>
                <a:spcPts val="0"/>
              </a:spcBef>
              <a:spcAft>
                <a:spcPts val="0"/>
              </a:spcAft>
              <a:buSzPts val="1100"/>
              <a:buNone/>
            </a:pPr>
            <a:r>
              <a:rPr lang="en"/>
              <a:t>Did they use a control group? Yes- no coffee</a:t>
            </a:r>
            <a:endParaRPr/>
          </a:p>
          <a:p>
            <a:pPr indent="0" lvl="0" marL="0" rtl="0" algn="l">
              <a:lnSpc>
                <a:spcPct val="100000"/>
              </a:lnSpc>
              <a:spcBef>
                <a:spcPts val="0"/>
              </a:spcBef>
              <a:spcAft>
                <a:spcPts val="0"/>
              </a:spcAft>
              <a:buClr>
                <a:schemeClr val="dk1"/>
              </a:buClr>
              <a:buSzPts val="1100"/>
              <a:buFont typeface="Arial"/>
              <a:buNone/>
            </a:pPr>
            <a:r>
              <a:rPr lang="en"/>
              <a:t>How would you change or add to this study?</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4" name="Google Shape;34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8" name="Google Shape;35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Outlier: A data point much higher or lower than the rest that doesn’t fit the pattern; important because it can affect averages, trends, and conclusions, and may reveal errors or unusual cases.</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5" name="Google Shape;36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This is important when interpreting data</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f6429ab5ef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1" name="Google Shape;371;g3f6429ab5ef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Go to the website and click random- it will continue to bring up random correlations. </a:t>
            </a:r>
            <a:endParaRPr/>
          </a:p>
          <a:p>
            <a:pPr indent="0" lvl="0" marL="0" rtl="0" algn="l">
              <a:lnSpc>
                <a:spcPct val="100000"/>
              </a:lnSpc>
              <a:spcBef>
                <a:spcPts val="0"/>
              </a:spcBef>
              <a:spcAft>
                <a:spcPts val="0"/>
              </a:spcAft>
              <a:buSzPts val="1100"/>
              <a:buNone/>
            </a:pPr>
            <a:r>
              <a:rPr lang="en"/>
              <a:t>Try to come up with a confounding variable that could account for the correlation.</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f6429ab5ef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7" name="Google Shape;377;g3f6429ab5ef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Go to the website and click random- it will continue to bring up random correlations. </a:t>
            </a:r>
            <a:endParaRPr/>
          </a:p>
          <a:p>
            <a:pPr indent="0" lvl="0" marL="0" rtl="0" algn="l">
              <a:lnSpc>
                <a:spcPct val="100000"/>
              </a:lnSpc>
              <a:spcBef>
                <a:spcPts val="0"/>
              </a:spcBef>
              <a:spcAft>
                <a:spcPts val="0"/>
              </a:spcAft>
              <a:buSzPts val="1100"/>
              <a:buNone/>
            </a:pPr>
            <a:r>
              <a:rPr lang="en"/>
              <a:t>Try to come up with a confounding variable that could account for the correlation.</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f6429ab5ef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f6429ab5ef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f6429ab5ef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f6429ab5ef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5" name="Google Shape;39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2" name="Google Shape;40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Sensory example: Seeing a lightning flash before it disappears.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Short-term example: Remembering a phone number long enough to dial it.</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9" name="Google Shape;40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Episodic example: Your last birthday party</a:t>
            </a:r>
            <a:endParaRPr/>
          </a:p>
          <a:p>
            <a:pPr indent="0" lvl="0" marL="0" rtl="0" algn="l">
              <a:lnSpc>
                <a:spcPct val="100000"/>
              </a:lnSpc>
              <a:spcBef>
                <a:spcPts val="0"/>
              </a:spcBef>
              <a:spcAft>
                <a:spcPts val="0"/>
              </a:spcAft>
              <a:buSzPts val="1100"/>
              <a:buNone/>
            </a:pPr>
            <a:r>
              <a:rPr lang="en"/>
              <a:t>Semantic example: Knowing the capital of France is Paris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Implicit example: Riding a bike, brushing your teeth</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7" name="Google Shape;41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Encoding example: Reading a friend’s phone number and mentally storing it.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Storage example: Remembering facts from a history class for months.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Retrieval example: Recalling the answer to a test question or your friend’s phone number.</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4" name="Google Shape;42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Pen and paper needed.</a:t>
            </a:r>
            <a:endParaRPr/>
          </a:p>
          <a:p>
            <a:pPr indent="0" lvl="0" marL="0" rtl="0" algn="l">
              <a:lnSpc>
                <a:spcPct val="100000"/>
              </a:lnSpc>
              <a:spcBef>
                <a:spcPts val="0"/>
              </a:spcBef>
              <a:spcAft>
                <a:spcPts val="0"/>
              </a:spcAft>
              <a:buSzPts val="1100"/>
              <a:buNone/>
            </a:pPr>
            <a:r>
              <a:rPr lang="en"/>
              <a:t>Clarify that the Spanish list will be below the English one.</a:t>
            </a:r>
            <a:endParaRPr/>
          </a:p>
          <a:p>
            <a:pPr indent="0" lvl="0" marL="0" rtl="0" algn="l">
              <a:lnSpc>
                <a:spcPct val="100000"/>
              </a:lnSpc>
              <a:spcBef>
                <a:spcPts val="0"/>
              </a:spcBef>
              <a:spcAft>
                <a:spcPts val="0"/>
              </a:spcAft>
              <a:buSzPts val="1100"/>
              <a:buNone/>
            </a:pPr>
            <a:r>
              <a:rPr lang="en"/>
              <a:t>Start a timer for 20 seconds so you know when to click off.</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0" name="Google Shape;43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7" name="Google Shape;43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3" name="Google Shape;44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Chunking: Food, tools, travel, occupations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Visual imagery: Picturing a doctor with a suitcase eating a banana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Self-referencing: apple, banana, spinach → “These are all healthy foods I eat for breakfast.”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Mnemonics: “Passport, suitcase, ticket in place, ready for the race.”</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9" name="Google Shape;44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Retrograde example: Forgetting high school friends after a car accident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Anterograde example: Cannot remember meeting someone 5 minutes ago</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5" name="Google Shape;45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He had anterograde amnesia.</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4" name="Google Shape;464;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Both of these cases taught us the importance of the hippocampus on forming/encoding and recalling memories.</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0" name="Google Shape;47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4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4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4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7" name="Shape 17"/>
        <p:cNvGrpSpPr/>
        <p:nvPr/>
      </p:nvGrpSpPr>
      <p:grpSpPr>
        <a:xfrm>
          <a:off x="0" y="0"/>
          <a:ext cx="0" cy="0"/>
          <a:chOff x="0" y="0"/>
          <a:chExt cx="0" cy="0"/>
        </a:xfrm>
      </p:grpSpPr>
      <p:sp>
        <p:nvSpPr>
          <p:cNvPr id="18" name="Google Shape;18;p43"/>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9" name="Google Shape;19;p43"/>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0" name="Google Shape;20;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4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3" name="Google Shape;23;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4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7" name="Google Shape;27;p4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8" name="Google Shape;28;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4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 name="Google Shape;31;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4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4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4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4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4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4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5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5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pn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5.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hyperlink" Target="http://www.youtube.com/watch?v=fQnOkmvigi0" TargetMode="External"/><Relationship Id="rId4" Type="http://schemas.openxmlformats.org/officeDocument/2006/relationships/image" Target="../media/image8.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8.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9.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22.png"/><Relationship Id="rId4" Type="http://schemas.openxmlformats.org/officeDocument/2006/relationships/image" Target="../media/image13.png"/><Relationship Id="rId5" Type="http://schemas.openxmlformats.org/officeDocument/2006/relationships/image" Target="../media/image16.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8.png"/><Relationship Id="rId4" Type="http://schemas.openxmlformats.org/officeDocument/2006/relationships/image" Target="../media/image2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3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3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2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2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2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2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26.png"/><Relationship Id="rId4" Type="http://schemas.openxmlformats.org/officeDocument/2006/relationships/image" Target="../media/image29.png"/><Relationship Id="rId5" Type="http://schemas.openxmlformats.org/officeDocument/2006/relationships/image" Target="../media/image3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hyperlink" Target="http://www.youtube.com/watch?v=Vwigmktix2Y" TargetMode="External"/><Relationship Id="rId4" Type="http://schemas.openxmlformats.org/officeDocument/2006/relationships/image" Target="../media/image2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311708" y="575250"/>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b="1" lang="en">
                <a:latin typeface="Comfortaa"/>
                <a:ea typeface="Comfortaa"/>
                <a:cs typeface="Comfortaa"/>
                <a:sym typeface="Comfortaa"/>
              </a:rPr>
              <a:t>Psychology in Action</a:t>
            </a:r>
            <a:endParaRPr b="1">
              <a:latin typeface="Comfortaa"/>
              <a:ea typeface="Comfortaa"/>
              <a:cs typeface="Comfortaa"/>
              <a:sym typeface="Comfortaa"/>
            </a:endParaRPr>
          </a:p>
        </p:txBody>
      </p:sp>
      <p:sp>
        <p:nvSpPr>
          <p:cNvPr id="55" name="Google Shape;55;p1"/>
          <p:cNvSpPr txBox="1"/>
          <p:nvPr>
            <p:ph idx="1" type="subTitle"/>
          </p:nvPr>
        </p:nvSpPr>
        <p:spPr>
          <a:xfrm>
            <a:off x="311700" y="2627850"/>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b="1" lang="en" sz="3000">
                <a:solidFill>
                  <a:schemeClr val="accent1"/>
                </a:solidFill>
                <a:latin typeface="Comfortaa"/>
                <a:ea typeface="Comfortaa"/>
                <a:cs typeface="Comfortaa"/>
                <a:sym typeface="Comfortaa"/>
              </a:rPr>
              <a:t>La psicología en acción</a:t>
            </a:r>
            <a:endParaRPr b="1" sz="3000">
              <a:solidFill>
                <a:schemeClr val="accent1"/>
              </a:solidFill>
              <a:latin typeface="Comfortaa"/>
              <a:ea typeface="Comfortaa"/>
              <a:cs typeface="Comfortaa"/>
              <a:sym typeface="Comforta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g3f987ea88ee_0_23"/>
          <p:cNvSpPr txBox="1"/>
          <p:nvPr>
            <p:ph type="title"/>
          </p:nvPr>
        </p:nvSpPr>
        <p:spPr>
          <a:xfrm>
            <a:off x="312075" y="450150"/>
            <a:ext cx="85764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4600"/>
              <a:t>Hello! </a:t>
            </a:r>
            <a:r>
              <a:rPr lang="en" sz="4600"/>
              <a:t>Let's</a:t>
            </a:r>
            <a:r>
              <a:rPr lang="en" sz="4600"/>
              <a:t> introduce ourselves.</a:t>
            </a:r>
            <a:endParaRPr sz="4600"/>
          </a:p>
          <a:p>
            <a:pPr indent="0" lvl="0" marL="0" rtl="0" algn="l">
              <a:spcBef>
                <a:spcPts val="0"/>
              </a:spcBef>
              <a:spcAft>
                <a:spcPts val="0"/>
              </a:spcAft>
              <a:buNone/>
            </a:pPr>
            <a:r>
              <a:rPr lang="en" sz="4600"/>
              <a:t> </a:t>
            </a:r>
            <a:endParaRPr sz="4600"/>
          </a:p>
          <a:p>
            <a:pPr indent="0" lvl="0" marL="0" rtl="0" algn="l">
              <a:spcBef>
                <a:spcPts val="0"/>
              </a:spcBef>
              <a:spcAft>
                <a:spcPts val="0"/>
              </a:spcAft>
              <a:buNone/>
            </a:pPr>
            <a:r>
              <a:rPr lang="en" sz="4600"/>
              <a:t>¡Hola! Vamos a presentarnos.</a:t>
            </a:r>
            <a:endParaRPr sz="4600"/>
          </a:p>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g3f987ea88ee_0_27"/>
          <p:cNvSpPr txBox="1"/>
          <p:nvPr>
            <p:ph type="title"/>
          </p:nvPr>
        </p:nvSpPr>
        <p:spPr>
          <a:xfrm>
            <a:off x="312075" y="450150"/>
            <a:ext cx="85764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4300"/>
              <a:t>What’s new in science?</a:t>
            </a:r>
            <a:endParaRPr sz="4300"/>
          </a:p>
          <a:p>
            <a:pPr indent="0" lvl="0" marL="0" rtl="0" algn="l">
              <a:spcBef>
                <a:spcPts val="0"/>
              </a:spcBef>
              <a:spcAft>
                <a:spcPts val="0"/>
              </a:spcAft>
              <a:buNone/>
            </a:pPr>
            <a:r>
              <a:rPr lang="en" sz="4300"/>
              <a:t> </a:t>
            </a:r>
            <a:endParaRPr sz="4300"/>
          </a:p>
          <a:p>
            <a:pPr indent="0" lvl="0" marL="0" rtl="0" algn="l">
              <a:lnSpc>
                <a:spcPct val="115000"/>
              </a:lnSpc>
              <a:spcBef>
                <a:spcPts val="0"/>
              </a:spcBef>
              <a:spcAft>
                <a:spcPts val="0"/>
              </a:spcAft>
              <a:buNone/>
            </a:pPr>
            <a:r>
              <a:rPr lang="en" sz="4300"/>
              <a:t>¿Qué hay de nuevo en la ciencia?</a:t>
            </a:r>
            <a:endParaRPr sz="4300"/>
          </a:p>
          <a:p>
            <a:pPr indent="0" lvl="0" marL="0" rtl="0" algn="l">
              <a:spcBef>
                <a:spcPts val="120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g3f987ea88ee_0_8"/>
          <p:cNvSpPr txBox="1"/>
          <p:nvPr>
            <p:ph type="title"/>
          </p:nvPr>
        </p:nvSpPr>
        <p:spPr>
          <a:xfrm>
            <a:off x="311700" y="15999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SpaceX Rocket Stage Crashes into the Moon</a:t>
            </a:r>
            <a:endParaRPr/>
          </a:p>
        </p:txBody>
      </p:sp>
      <p:sp>
        <p:nvSpPr>
          <p:cNvPr id="71" name="Google Shape;71;g3f987ea88ee_0_8"/>
          <p:cNvSpPr txBox="1"/>
          <p:nvPr>
            <p:ph idx="1" type="body"/>
          </p:nvPr>
        </p:nvSpPr>
        <p:spPr>
          <a:xfrm>
            <a:off x="90700" y="867445"/>
            <a:ext cx="4134900" cy="36672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b="1" lang="en" sz="1200">
                <a:solidFill>
                  <a:schemeClr val="dk1"/>
                </a:solidFill>
              </a:rPr>
              <a:t>What happened?</a:t>
            </a:r>
            <a:endParaRPr b="1" sz="1200">
              <a:solidFill>
                <a:schemeClr val="dk1"/>
              </a:solidFill>
            </a:endParaRPr>
          </a:p>
          <a:p>
            <a:pPr indent="-304800" lvl="0" marL="457200" rtl="0" algn="l">
              <a:spcBef>
                <a:spcPts val="1200"/>
              </a:spcBef>
              <a:spcAft>
                <a:spcPts val="0"/>
              </a:spcAft>
              <a:buClr>
                <a:schemeClr val="dk1"/>
              </a:buClr>
              <a:buSzPts val="1200"/>
              <a:buChar char="●"/>
            </a:pPr>
            <a:r>
              <a:rPr lang="en" sz="1200">
                <a:solidFill>
                  <a:schemeClr val="dk1"/>
                </a:solidFill>
              </a:rPr>
              <a:t>A part of a </a:t>
            </a:r>
            <a:r>
              <a:rPr b="1" lang="en" sz="1200">
                <a:solidFill>
                  <a:schemeClr val="dk1"/>
                </a:solidFill>
              </a:rPr>
              <a:t>SpaceX Falcon 9 rocket</a:t>
            </a:r>
            <a:r>
              <a:rPr lang="en" sz="1200">
                <a:solidFill>
                  <a:schemeClr val="dk1"/>
                </a:solidFill>
              </a:rPr>
              <a:t> crashed into the Moon.</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This piece was the </a:t>
            </a:r>
            <a:r>
              <a:rPr b="1" lang="en" sz="1200">
                <a:solidFill>
                  <a:schemeClr val="dk1"/>
                </a:solidFill>
              </a:rPr>
              <a:t>upper stage</a:t>
            </a:r>
            <a:r>
              <a:rPr lang="en" sz="1200">
                <a:solidFill>
                  <a:schemeClr val="dk1"/>
                </a:solidFill>
              </a:rPr>
              <a:t>, the section that helps push satellites or spacecraft into space</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After completing its job, it drifted through space for </a:t>
            </a:r>
            <a:r>
              <a:rPr b="1" lang="en" sz="1200">
                <a:solidFill>
                  <a:schemeClr val="dk1"/>
                </a:solidFill>
              </a:rPr>
              <a:t>over a year</a:t>
            </a:r>
            <a:r>
              <a:rPr lang="en" sz="1200">
                <a:solidFill>
                  <a:schemeClr val="dk1"/>
                </a:solidFill>
              </a:rPr>
              <a:t> before eventually hitting the Moon</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The impact was expected and posed </a:t>
            </a:r>
            <a:r>
              <a:rPr b="1" lang="en" sz="1200">
                <a:solidFill>
                  <a:schemeClr val="dk1"/>
                </a:solidFill>
              </a:rPr>
              <a:t>no risk to Earth</a:t>
            </a:r>
            <a:r>
              <a:rPr lang="en" sz="1200">
                <a:solidFill>
                  <a:schemeClr val="dk1"/>
                </a:solidFill>
              </a:rPr>
              <a:t>.</a:t>
            </a:r>
            <a:endParaRPr sz="1200">
              <a:solidFill>
                <a:schemeClr val="dk1"/>
              </a:solidFill>
            </a:endParaRPr>
          </a:p>
          <a:p>
            <a:pPr indent="0" lvl="0" marL="0" rtl="0" algn="l">
              <a:spcBef>
                <a:spcPts val="1400"/>
              </a:spcBef>
              <a:spcAft>
                <a:spcPts val="0"/>
              </a:spcAft>
              <a:buClr>
                <a:schemeClr val="dk1"/>
              </a:buClr>
              <a:buSzPts val="1100"/>
              <a:buFont typeface="Arial"/>
              <a:buNone/>
            </a:pPr>
            <a:r>
              <a:rPr b="1" lang="en" sz="1200">
                <a:solidFill>
                  <a:schemeClr val="dk1"/>
                </a:solidFill>
              </a:rPr>
              <a:t>Why is this interesting?</a:t>
            </a:r>
            <a:endParaRPr b="1" sz="1200">
              <a:solidFill>
                <a:schemeClr val="dk1"/>
              </a:solidFill>
            </a:endParaRPr>
          </a:p>
          <a:p>
            <a:pPr indent="-304800" lvl="0" marL="457200" rtl="0" algn="l">
              <a:spcBef>
                <a:spcPts val="1200"/>
              </a:spcBef>
              <a:spcAft>
                <a:spcPts val="0"/>
              </a:spcAft>
              <a:buClr>
                <a:schemeClr val="dk1"/>
              </a:buClr>
              <a:buSzPts val="1200"/>
              <a:buChar char="●"/>
            </a:pPr>
            <a:r>
              <a:rPr lang="en" sz="1200">
                <a:solidFill>
                  <a:schemeClr val="dk1"/>
                </a:solidFill>
              </a:rPr>
              <a:t>The crash created a </a:t>
            </a:r>
            <a:r>
              <a:rPr b="1" lang="en" sz="1200">
                <a:solidFill>
                  <a:schemeClr val="dk1"/>
                </a:solidFill>
              </a:rPr>
              <a:t>new crater</a:t>
            </a:r>
            <a:r>
              <a:rPr lang="en" sz="1200">
                <a:solidFill>
                  <a:schemeClr val="dk1"/>
                </a:solidFill>
              </a:rPr>
              <a:t> and blasted lunar dust and rocks into the air </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Scientists can study the crater to learn what lies beneath the Moon's surface and more about the Moon's geology and history</a:t>
            </a:r>
            <a:endParaRPr sz="1200"/>
          </a:p>
        </p:txBody>
      </p:sp>
      <p:sp>
        <p:nvSpPr>
          <p:cNvPr id="72" name="Google Shape;72;g3f987ea88ee_0_8"/>
          <p:cNvSpPr txBox="1"/>
          <p:nvPr>
            <p:ph idx="1" type="body"/>
          </p:nvPr>
        </p:nvSpPr>
        <p:spPr>
          <a:xfrm>
            <a:off x="4225600" y="867450"/>
            <a:ext cx="4856700" cy="366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rPr>
              <a:t>¿Qué pasó?</a:t>
            </a:r>
            <a:endParaRPr b="1" sz="1200">
              <a:solidFill>
                <a:schemeClr val="dk1"/>
              </a:solidFill>
            </a:endParaRPr>
          </a:p>
          <a:p>
            <a:pPr indent="-304800" lvl="0" marL="457200" rtl="0" algn="l">
              <a:spcBef>
                <a:spcPts val="1200"/>
              </a:spcBef>
              <a:spcAft>
                <a:spcPts val="0"/>
              </a:spcAft>
              <a:buClr>
                <a:schemeClr val="dk1"/>
              </a:buClr>
              <a:buSzPts val="1200"/>
              <a:buChar char="●"/>
            </a:pPr>
            <a:r>
              <a:rPr lang="en" sz="1200">
                <a:solidFill>
                  <a:schemeClr val="dk1"/>
                </a:solidFill>
              </a:rPr>
              <a:t>Una parte de un cohete</a:t>
            </a:r>
            <a:r>
              <a:rPr b="1" lang="en" sz="1200">
                <a:solidFill>
                  <a:schemeClr val="dk1"/>
                </a:solidFill>
              </a:rPr>
              <a:t> Falcon 9 de SpaceX</a:t>
            </a:r>
            <a:r>
              <a:rPr lang="en" sz="1200">
                <a:solidFill>
                  <a:schemeClr val="dk1"/>
                </a:solidFill>
              </a:rPr>
              <a:t> se estrelló contra la Luna.</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Esta parte era </a:t>
            </a:r>
            <a:r>
              <a:rPr b="1" lang="en" sz="1200">
                <a:solidFill>
                  <a:schemeClr val="dk1"/>
                </a:solidFill>
              </a:rPr>
              <a:t>la etapa superior,</a:t>
            </a:r>
            <a:r>
              <a:rPr lang="en" sz="1200">
                <a:solidFill>
                  <a:schemeClr val="dk1"/>
                </a:solidFill>
              </a:rPr>
              <a:t> la sección que ayuda a impulsar satélites o naves espaciales hacia el espacio.</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Después de completar su misión, permaneció flotando en el espacio </a:t>
            </a:r>
            <a:r>
              <a:rPr b="1" lang="en" sz="1200">
                <a:solidFill>
                  <a:schemeClr val="dk1"/>
                </a:solidFill>
              </a:rPr>
              <a:t>durante más de un año</a:t>
            </a:r>
            <a:r>
              <a:rPr lang="en" sz="1200">
                <a:solidFill>
                  <a:schemeClr val="dk1"/>
                </a:solidFill>
              </a:rPr>
              <a:t> antes de finalmente impactar la Luna.</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El impacto era esperado y no representó</a:t>
            </a:r>
            <a:r>
              <a:rPr b="1" lang="en" sz="1200">
                <a:solidFill>
                  <a:schemeClr val="dk1"/>
                </a:solidFill>
              </a:rPr>
              <a:t> ningún riesgo para la Tierra.</a:t>
            </a:r>
            <a:endParaRPr b="1" sz="1200">
              <a:solidFill>
                <a:schemeClr val="dk1"/>
              </a:solidFill>
            </a:endParaRPr>
          </a:p>
          <a:p>
            <a:pPr indent="0" lvl="0" marL="0" rtl="0" algn="l">
              <a:spcBef>
                <a:spcPts val="1200"/>
              </a:spcBef>
              <a:spcAft>
                <a:spcPts val="0"/>
              </a:spcAft>
              <a:buNone/>
            </a:pPr>
            <a:r>
              <a:rPr b="1" lang="en" sz="1200">
                <a:solidFill>
                  <a:schemeClr val="dk1"/>
                </a:solidFill>
              </a:rPr>
              <a:t>¿Por qué es interesante?</a:t>
            </a:r>
            <a:endParaRPr b="1" sz="1200">
              <a:solidFill>
                <a:schemeClr val="dk1"/>
              </a:solidFill>
            </a:endParaRPr>
          </a:p>
          <a:p>
            <a:pPr indent="-304800" lvl="0" marL="457200" rtl="0" algn="l">
              <a:spcBef>
                <a:spcPts val="1200"/>
              </a:spcBef>
              <a:spcAft>
                <a:spcPts val="0"/>
              </a:spcAft>
              <a:buClr>
                <a:schemeClr val="dk1"/>
              </a:buClr>
              <a:buSzPts val="1200"/>
              <a:buChar char="●"/>
            </a:pPr>
            <a:r>
              <a:rPr lang="en" sz="1200">
                <a:solidFill>
                  <a:schemeClr val="dk1"/>
                </a:solidFill>
              </a:rPr>
              <a:t>El impacto creó un</a:t>
            </a:r>
            <a:r>
              <a:rPr b="1" lang="en" sz="1200">
                <a:solidFill>
                  <a:schemeClr val="dk1"/>
                </a:solidFill>
              </a:rPr>
              <a:t> nuevo cráter</a:t>
            </a:r>
            <a:r>
              <a:rPr lang="en" sz="1200">
                <a:solidFill>
                  <a:schemeClr val="dk1"/>
                </a:solidFill>
              </a:rPr>
              <a:t> y lanzó polvo y rocas lunares al aire.</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Los científicos pueden estudiar el cráter para aprender qué hay debajo de la superficie de la Luna y conocer más sobre su geología e historia.</a:t>
            </a:r>
            <a:endParaRPr sz="12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g3f987ea88ee_0_15"/>
          <p:cNvSpPr txBox="1"/>
          <p:nvPr>
            <p:ph type="title"/>
          </p:nvPr>
        </p:nvSpPr>
        <p:spPr>
          <a:xfrm>
            <a:off x="311700" y="15999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SpaceX Rocket Stage Crashes into the Moon</a:t>
            </a:r>
            <a:endParaRPr/>
          </a:p>
        </p:txBody>
      </p:sp>
      <p:pic>
        <p:nvPicPr>
          <p:cNvPr id="78" name="Google Shape;78;g3f987ea88ee_0_15"/>
          <p:cNvPicPr preferRelativeResize="0"/>
          <p:nvPr/>
        </p:nvPicPr>
        <p:blipFill>
          <a:blip r:embed="rId3">
            <a:alphaModFix/>
          </a:blip>
          <a:stretch>
            <a:fillRect/>
          </a:stretch>
        </p:blipFill>
        <p:spPr>
          <a:xfrm>
            <a:off x="5049850" y="893950"/>
            <a:ext cx="3486875" cy="4060751"/>
          </a:xfrm>
          <a:prstGeom prst="rect">
            <a:avLst/>
          </a:prstGeom>
          <a:noFill/>
          <a:ln>
            <a:noFill/>
          </a:ln>
        </p:spPr>
      </p:pic>
      <p:pic>
        <p:nvPicPr>
          <p:cNvPr id="79" name="Google Shape;79;g3f987ea88ee_0_15"/>
          <p:cNvPicPr preferRelativeResize="0"/>
          <p:nvPr/>
        </p:nvPicPr>
        <p:blipFill>
          <a:blip r:embed="rId4">
            <a:alphaModFix/>
          </a:blip>
          <a:stretch>
            <a:fillRect/>
          </a:stretch>
        </p:blipFill>
        <p:spPr>
          <a:xfrm>
            <a:off x="922625" y="1398763"/>
            <a:ext cx="3810176" cy="30511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3f6012627a2_0_0"/>
          <p:cNvSpPr txBox="1"/>
          <p:nvPr>
            <p:ph type="ctrTitle"/>
          </p:nvPr>
        </p:nvSpPr>
        <p:spPr>
          <a:xfrm>
            <a:off x="311708" y="575250"/>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b="1" lang="en">
                <a:latin typeface="Comfortaa"/>
                <a:ea typeface="Comfortaa"/>
                <a:cs typeface="Comfortaa"/>
                <a:sym typeface="Comfortaa"/>
              </a:rPr>
              <a:t>What is Psychology</a:t>
            </a:r>
            <a:endParaRPr b="1">
              <a:latin typeface="Comfortaa"/>
              <a:ea typeface="Comfortaa"/>
              <a:cs typeface="Comfortaa"/>
              <a:sym typeface="Comfortaa"/>
            </a:endParaRPr>
          </a:p>
        </p:txBody>
      </p:sp>
      <p:sp>
        <p:nvSpPr>
          <p:cNvPr id="85" name="Google Shape;85;g3f6012627a2_0_0"/>
          <p:cNvSpPr txBox="1"/>
          <p:nvPr>
            <p:ph idx="1" type="subTitle"/>
          </p:nvPr>
        </p:nvSpPr>
        <p:spPr>
          <a:xfrm>
            <a:off x="311700" y="2627850"/>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b="1" lang="en" sz="3000">
                <a:solidFill>
                  <a:schemeClr val="accent1"/>
                </a:solidFill>
                <a:latin typeface="Comfortaa"/>
                <a:ea typeface="Comfortaa"/>
                <a:cs typeface="Comfortaa"/>
                <a:sym typeface="Comfortaa"/>
              </a:rPr>
              <a:t>¿Qué es la psicología?</a:t>
            </a:r>
            <a:endParaRPr b="1" sz="3000">
              <a:solidFill>
                <a:schemeClr val="accent1"/>
              </a:solidFill>
              <a:latin typeface="Comfortaa"/>
              <a:ea typeface="Comfortaa"/>
              <a:cs typeface="Comfortaa"/>
              <a:sym typeface="Comforta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g3f6012627a2_0_1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000000"/>
                </a:solidFill>
                <a:latin typeface="Comfortaa"/>
                <a:ea typeface="Comfortaa"/>
                <a:cs typeface="Comfortaa"/>
                <a:sym typeface="Comfortaa"/>
              </a:rPr>
              <a:t>Psychology </a:t>
            </a:r>
            <a:r>
              <a:rPr b="1" lang="en">
                <a:solidFill>
                  <a:srgbClr val="000000"/>
                </a:solidFill>
                <a:latin typeface="Comfortaa"/>
                <a:ea typeface="Comfortaa"/>
                <a:cs typeface="Comfortaa"/>
                <a:sym typeface="Comfortaa"/>
              </a:rPr>
              <a:t>Introduction</a:t>
            </a:r>
            <a:endParaRPr b="1">
              <a:solidFill>
                <a:srgbClr val="000000"/>
              </a:solidFill>
              <a:latin typeface="Comfortaa"/>
              <a:ea typeface="Comfortaa"/>
              <a:cs typeface="Comfortaa"/>
              <a:sym typeface="Comfortaa"/>
            </a:endParaRPr>
          </a:p>
        </p:txBody>
      </p:sp>
      <p:sp>
        <p:nvSpPr>
          <p:cNvPr id="91" name="Google Shape;91;g3f6012627a2_0_11"/>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000000"/>
                </a:solidFill>
                <a:latin typeface="Comfortaa"/>
                <a:ea typeface="Comfortaa"/>
                <a:cs typeface="Comfortaa"/>
                <a:sym typeface="Comfortaa"/>
              </a:rPr>
              <a:t>Psychology:</a:t>
            </a:r>
            <a:r>
              <a:rPr lang="en">
                <a:solidFill>
                  <a:srgbClr val="000000"/>
                </a:solidFill>
                <a:latin typeface="Comfortaa"/>
                <a:ea typeface="Comfortaa"/>
                <a:cs typeface="Comfortaa"/>
                <a:sym typeface="Comfortaa"/>
              </a:rPr>
              <a:t> The </a:t>
            </a:r>
            <a:r>
              <a:rPr lang="en">
                <a:solidFill>
                  <a:srgbClr val="000000"/>
                </a:solidFill>
                <a:latin typeface="Comfortaa"/>
                <a:ea typeface="Comfortaa"/>
                <a:cs typeface="Comfortaa"/>
                <a:sym typeface="Comfortaa"/>
              </a:rPr>
              <a:t>study</a:t>
            </a:r>
            <a:r>
              <a:rPr lang="en">
                <a:solidFill>
                  <a:srgbClr val="000000"/>
                </a:solidFill>
                <a:latin typeface="Comfortaa"/>
                <a:ea typeface="Comfortaa"/>
                <a:cs typeface="Comfortaa"/>
                <a:sym typeface="Comfortaa"/>
              </a:rPr>
              <a:t> of the mind, behavior, emotions, and mental processes.</a:t>
            </a:r>
            <a:endParaRPr>
              <a:solidFill>
                <a:srgbClr val="000000"/>
              </a:solidFill>
              <a:latin typeface="Comfortaa"/>
              <a:ea typeface="Comfortaa"/>
              <a:cs typeface="Comfortaa"/>
              <a:sym typeface="Comfortaa"/>
            </a:endParaRPr>
          </a:p>
          <a:p>
            <a:pPr indent="0" lvl="0" marL="0" rtl="0" algn="l">
              <a:spcBef>
                <a:spcPts val="0"/>
              </a:spcBef>
              <a:spcAft>
                <a:spcPts val="0"/>
              </a:spcAft>
              <a:buNone/>
            </a:pPr>
            <a:r>
              <a:t/>
            </a:r>
            <a:endParaRPr>
              <a:solidFill>
                <a:srgbClr val="000000"/>
              </a:solidFill>
              <a:latin typeface="Comfortaa"/>
              <a:ea typeface="Comfortaa"/>
              <a:cs typeface="Comfortaa"/>
              <a:sym typeface="Comfortaa"/>
            </a:endParaRPr>
          </a:p>
          <a:p>
            <a:pPr indent="0" lvl="0" marL="0" rtl="0" algn="l">
              <a:spcBef>
                <a:spcPts val="0"/>
              </a:spcBef>
              <a:spcAft>
                <a:spcPts val="0"/>
              </a:spcAft>
              <a:buNone/>
            </a:pPr>
            <a:r>
              <a:rPr b="1" lang="en">
                <a:solidFill>
                  <a:srgbClr val="000000"/>
                </a:solidFill>
                <a:latin typeface="Comfortaa"/>
                <a:ea typeface="Comfortaa"/>
                <a:cs typeface="Comfortaa"/>
                <a:sym typeface="Comfortaa"/>
              </a:rPr>
              <a:t>Psychologist:</a:t>
            </a:r>
            <a:r>
              <a:rPr lang="en">
                <a:solidFill>
                  <a:srgbClr val="000000"/>
                </a:solidFill>
                <a:latin typeface="Comfortaa"/>
                <a:ea typeface="Comfortaa"/>
                <a:cs typeface="Comfortaa"/>
                <a:sym typeface="Comfortaa"/>
              </a:rPr>
              <a:t> A trained professional who studies psychology.</a:t>
            </a:r>
            <a:endParaRPr>
              <a:solidFill>
                <a:srgbClr val="000000"/>
              </a:solidFill>
              <a:latin typeface="Comfortaa"/>
              <a:ea typeface="Comfortaa"/>
              <a:cs typeface="Comfortaa"/>
              <a:sym typeface="Comfortaa"/>
            </a:endParaRPr>
          </a:p>
          <a:p>
            <a:pPr indent="0" lvl="0" marL="0" rtl="0" algn="l">
              <a:spcBef>
                <a:spcPts val="0"/>
              </a:spcBef>
              <a:spcAft>
                <a:spcPts val="0"/>
              </a:spcAft>
              <a:buNone/>
            </a:pPr>
            <a:r>
              <a:t/>
            </a:r>
            <a:endParaRPr>
              <a:solidFill>
                <a:srgbClr val="000000"/>
              </a:solidFill>
              <a:latin typeface="Comfortaa"/>
              <a:ea typeface="Comfortaa"/>
              <a:cs typeface="Comfortaa"/>
              <a:sym typeface="Comfortaa"/>
            </a:endParaRPr>
          </a:p>
          <a:p>
            <a:pPr indent="0" lvl="0" marL="0" rtl="0" algn="l">
              <a:spcBef>
                <a:spcPts val="0"/>
              </a:spcBef>
              <a:spcAft>
                <a:spcPts val="0"/>
              </a:spcAft>
              <a:buNone/>
            </a:pPr>
            <a:r>
              <a:rPr lang="en">
                <a:solidFill>
                  <a:srgbClr val="000000"/>
                </a:solidFill>
                <a:latin typeface="Comfortaa"/>
                <a:ea typeface="Comfortaa"/>
                <a:cs typeface="Comfortaa"/>
                <a:sym typeface="Comfortaa"/>
              </a:rPr>
              <a:t>There are many fields of psychology. </a:t>
            </a:r>
            <a:endParaRPr>
              <a:solidFill>
                <a:srgbClr val="000000"/>
              </a:solidFill>
              <a:latin typeface="Comfortaa"/>
              <a:ea typeface="Comfortaa"/>
              <a:cs typeface="Comfortaa"/>
              <a:sym typeface="Comfortaa"/>
            </a:endParaRPr>
          </a:p>
        </p:txBody>
      </p:sp>
      <p:sp>
        <p:nvSpPr>
          <p:cNvPr id="92" name="Google Shape;92;g3f6012627a2_0_11"/>
          <p:cNvSpPr txBox="1"/>
          <p:nvPr>
            <p:ph idx="1" type="body"/>
          </p:nvPr>
        </p:nvSpPr>
        <p:spPr>
          <a:xfrm>
            <a:off x="4572000" y="1152475"/>
            <a:ext cx="42603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a:solidFill>
                  <a:schemeClr val="accent1"/>
                </a:solidFill>
                <a:latin typeface="Comfortaa"/>
                <a:ea typeface="Comfortaa"/>
                <a:cs typeface="Comfortaa"/>
                <a:sym typeface="Comfortaa"/>
              </a:rPr>
              <a:t>Psicología:</a:t>
            </a:r>
            <a:r>
              <a:rPr lang="en">
                <a:solidFill>
                  <a:schemeClr val="accent1"/>
                </a:solidFill>
                <a:latin typeface="Comfortaa"/>
                <a:ea typeface="Comfortaa"/>
                <a:cs typeface="Comfortaa"/>
                <a:sym typeface="Comfortaa"/>
              </a:rPr>
              <a:t> El estudio de la mente, el comportamiento, las emociones y los procesos mentales.</a:t>
            </a:r>
            <a:endParaRPr>
              <a:solidFill>
                <a:schemeClr val="accent1"/>
              </a:solidFill>
              <a:latin typeface="Comfortaa"/>
              <a:ea typeface="Comfortaa"/>
              <a:cs typeface="Comfortaa"/>
              <a:sym typeface="Comfortaa"/>
            </a:endParaRPr>
          </a:p>
          <a:p>
            <a:pPr indent="0" lvl="0" marL="0" rtl="0" algn="l">
              <a:spcBef>
                <a:spcPts val="1200"/>
              </a:spcBef>
              <a:spcAft>
                <a:spcPts val="0"/>
              </a:spcAft>
              <a:buClr>
                <a:schemeClr val="dk1"/>
              </a:buClr>
              <a:buSzPts val="1100"/>
              <a:buFont typeface="Arial"/>
              <a:buNone/>
            </a:pPr>
            <a:r>
              <a:rPr b="1" lang="en">
                <a:solidFill>
                  <a:schemeClr val="accent1"/>
                </a:solidFill>
                <a:latin typeface="Comfortaa"/>
                <a:ea typeface="Comfortaa"/>
                <a:cs typeface="Comfortaa"/>
                <a:sym typeface="Comfortaa"/>
              </a:rPr>
              <a:t>Psicólogo(a): </a:t>
            </a:r>
            <a:r>
              <a:rPr lang="en">
                <a:solidFill>
                  <a:schemeClr val="accent1"/>
                </a:solidFill>
                <a:latin typeface="Comfortaa"/>
                <a:ea typeface="Comfortaa"/>
                <a:cs typeface="Comfortaa"/>
                <a:sym typeface="Comfortaa"/>
              </a:rPr>
              <a:t>Un profesional capacitado que estudia la psicología.</a:t>
            </a:r>
            <a:endParaRPr>
              <a:solidFill>
                <a:schemeClr val="accent1"/>
              </a:solidFill>
              <a:latin typeface="Comfortaa"/>
              <a:ea typeface="Comfortaa"/>
              <a:cs typeface="Comfortaa"/>
              <a:sym typeface="Comfortaa"/>
            </a:endParaRPr>
          </a:p>
          <a:p>
            <a:pPr indent="0" lvl="0" marL="0" rtl="0" algn="l">
              <a:spcBef>
                <a:spcPts val="1200"/>
              </a:spcBef>
              <a:spcAft>
                <a:spcPts val="1200"/>
              </a:spcAft>
              <a:buNone/>
            </a:pPr>
            <a:r>
              <a:rPr lang="en">
                <a:solidFill>
                  <a:schemeClr val="accent1"/>
                </a:solidFill>
                <a:latin typeface="Comfortaa"/>
                <a:ea typeface="Comfortaa"/>
                <a:cs typeface="Comfortaa"/>
                <a:sym typeface="Comfortaa"/>
              </a:rPr>
              <a:t>Hay muchos campos de la psicología.</a:t>
            </a:r>
            <a:endParaRPr>
              <a:solidFill>
                <a:schemeClr val="accent1"/>
              </a:solidFill>
              <a:latin typeface="Comfortaa"/>
              <a:ea typeface="Comfortaa"/>
              <a:cs typeface="Comfortaa"/>
              <a:sym typeface="Comforta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g3f6012627a2_0_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000000"/>
                </a:solidFill>
                <a:latin typeface="Comfortaa"/>
                <a:ea typeface="Comfortaa"/>
                <a:cs typeface="Comfortaa"/>
                <a:sym typeface="Comfortaa"/>
              </a:rPr>
              <a:t>Psychology Fields</a:t>
            </a:r>
            <a:endParaRPr b="1">
              <a:solidFill>
                <a:srgbClr val="000000"/>
              </a:solidFill>
              <a:latin typeface="Comfortaa"/>
              <a:ea typeface="Comfortaa"/>
              <a:cs typeface="Comfortaa"/>
              <a:sym typeface="Comfortaa"/>
            </a:endParaRPr>
          </a:p>
        </p:txBody>
      </p:sp>
      <p:sp>
        <p:nvSpPr>
          <p:cNvPr id="98" name="Google Shape;98;g3f6012627a2_0_18"/>
          <p:cNvSpPr txBox="1"/>
          <p:nvPr>
            <p:ph idx="1" type="body"/>
          </p:nvPr>
        </p:nvSpPr>
        <p:spPr>
          <a:xfrm>
            <a:off x="311700" y="1152475"/>
            <a:ext cx="4260300" cy="399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000000"/>
                </a:solidFill>
                <a:latin typeface="Comfortaa"/>
                <a:ea typeface="Comfortaa"/>
                <a:cs typeface="Comfortaa"/>
                <a:sym typeface="Comfortaa"/>
              </a:rPr>
              <a:t>Clinical</a:t>
            </a:r>
            <a:r>
              <a:rPr b="1" lang="en" sz="1200">
                <a:solidFill>
                  <a:srgbClr val="000000"/>
                </a:solidFill>
                <a:latin typeface="Comfortaa"/>
                <a:ea typeface="Comfortaa"/>
                <a:cs typeface="Comfortaa"/>
                <a:sym typeface="Comfortaa"/>
              </a:rPr>
              <a:t> Psychology:</a:t>
            </a:r>
            <a:r>
              <a:rPr lang="en" sz="1200">
                <a:solidFill>
                  <a:srgbClr val="000000"/>
                </a:solidFill>
                <a:latin typeface="Comfortaa"/>
                <a:ea typeface="Comfortaa"/>
                <a:cs typeface="Comfortaa"/>
                <a:sym typeface="Comfortaa"/>
              </a:rPr>
              <a:t> Focuses on studying and treating mental health problems.</a:t>
            </a:r>
            <a:endParaRPr sz="1200">
              <a:solidFill>
                <a:srgbClr val="000000"/>
              </a:solidFill>
              <a:latin typeface="Comfortaa"/>
              <a:ea typeface="Comfortaa"/>
              <a:cs typeface="Comfortaa"/>
              <a:sym typeface="Comfortaa"/>
            </a:endParaRPr>
          </a:p>
        </p:txBody>
      </p:sp>
      <p:sp>
        <p:nvSpPr>
          <p:cNvPr id="99" name="Google Shape;99;g3f6012627a2_0_18"/>
          <p:cNvSpPr txBox="1"/>
          <p:nvPr>
            <p:ph idx="1" type="body"/>
          </p:nvPr>
        </p:nvSpPr>
        <p:spPr>
          <a:xfrm>
            <a:off x="4572000" y="1152475"/>
            <a:ext cx="4260300" cy="3990900"/>
          </a:xfrm>
          <a:prstGeom prst="rect">
            <a:avLst/>
          </a:prstGeom>
        </p:spPr>
        <p:txBody>
          <a:bodyPr anchorCtr="0" anchor="t" bIns="91425" lIns="91425" spcFirstLastPara="1" rIns="91425" wrap="square" tIns="91425">
            <a:noAutofit/>
          </a:bodyPr>
          <a:lstStyle/>
          <a:p>
            <a:pPr indent="0" lvl="0" marL="0" rtl="0" algn="l">
              <a:spcBef>
                <a:spcPts val="1200"/>
              </a:spcBef>
              <a:spcAft>
                <a:spcPts val="1200"/>
              </a:spcAft>
              <a:buClr>
                <a:schemeClr val="dk1"/>
              </a:buClr>
              <a:buSzPts val="1100"/>
              <a:buFont typeface="Arial"/>
              <a:buNone/>
            </a:pPr>
            <a:r>
              <a:rPr b="1" lang="en" sz="1200">
                <a:solidFill>
                  <a:schemeClr val="accent1"/>
                </a:solidFill>
                <a:latin typeface="Comfortaa"/>
                <a:ea typeface="Comfortaa"/>
                <a:cs typeface="Comfortaa"/>
                <a:sym typeface="Comfortaa"/>
              </a:rPr>
              <a:t>Psicología clínica:</a:t>
            </a:r>
            <a:r>
              <a:rPr lang="en" sz="1200">
                <a:solidFill>
                  <a:schemeClr val="accent1"/>
                </a:solidFill>
                <a:latin typeface="Comfortaa"/>
                <a:ea typeface="Comfortaa"/>
                <a:cs typeface="Comfortaa"/>
                <a:sym typeface="Comfortaa"/>
              </a:rPr>
              <a:t> Se enfoca en el estudio y tratamiento de los problemas de salud mental.</a:t>
            </a:r>
            <a:endParaRPr sz="1200">
              <a:solidFill>
                <a:schemeClr val="accent1"/>
              </a:solidFill>
              <a:latin typeface="Comfortaa"/>
              <a:ea typeface="Comfortaa"/>
              <a:cs typeface="Comfortaa"/>
              <a:sym typeface="Comforta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3f6429ab5ef_0_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000000"/>
                </a:solidFill>
                <a:latin typeface="Comfortaa"/>
                <a:ea typeface="Comfortaa"/>
                <a:cs typeface="Comfortaa"/>
                <a:sym typeface="Comfortaa"/>
              </a:rPr>
              <a:t>Psychology Fields</a:t>
            </a:r>
            <a:endParaRPr b="1">
              <a:solidFill>
                <a:srgbClr val="000000"/>
              </a:solidFill>
              <a:latin typeface="Comfortaa"/>
              <a:ea typeface="Comfortaa"/>
              <a:cs typeface="Comfortaa"/>
              <a:sym typeface="Comfortaa"/>
            </a:endParaRPr>
          </a:p>
        </p:txBody>
      </p:sp>
      <p:sp>
        <p:nvSpPr>
          <p:cNvPr id="105" name="Google Shape;105;g3f6429ab5ef_0_0"/>
          <p:cNvSpPr txBox="1"/>
          <p:nvPr>
            <p:ph idx="1" type="body"/>
          </p:nvPr>
        </p:nvSpPr>
        <p:spPr>
          <a:xfrm>
            <a:off x="311700" y="1152475"/>
            <a:ext cx="4260300" cy="399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000000"/>
                </a:solidFill>
                <a:latin typeface="Comfortaa"/>
                <a:ea typeface="Comfortaa"/>
                <a:cs typeface="Comfortaa"/>
                <a:sym typeface="Comfortaa"/>
              </a:rPr>
              <a:t>Clinical Psychology:</a:t>
            </a:r>
            <a:r>
              <a:rPr lang="en" sz="1200">
                <a:solidFill>
                  <a:srgbClr val="000000"/>
                </a:solidFill>
                <a:latin typeface="Comfortaa"/>
                <a:ea typeface="Comfortaa"/>
                <a:cs typeface="Comfortaa"/>
                <a:sym typeface="Comfortaa"/>
              </a:rPr>
              <a:t> Focuses on studying and treating mental health problems.</a:t>
            </a:r>
            <a:endParaRPr sz="1200">
              <a:solidFill>
                <a:srgbClr val="000000"/>
              </a:solidFill>
              <a:latin typeface="Comfortaa"/>
              <a:ea typeface="Comfortaa"/>
              <a:cs typeface="Comfortaa"/>
              <a:sym typeface="Comfortaa"/>
            </a:endParaRPr>
          </a:p>
          <a:p>
            <a:pPr indent="0" lvl="0" marL="0" rtl="0" algn="l">
              <a:spcBef>
                <a:spcPts val="0"/>
              </a:spcBef>
              <a:spcAft>
                <a:spcPts val="0"/>
              </a:spcAft>
              <a:buNone/>
            </a:pPr>
            <a:r>
              <a:t/>
            </a:r>
            <a:endParaRPr sz="1200">
              <a:solidFill>
                <a:srgbClr val="000000"/>
              </a:solidFill>
              <a:latin typeface="Comfortaa"/>
              <a:ea typeface="Comfortaa"/>
              <a:cs typeface="Comfortaa"/>
              <a:sym typeface="Comfortaa"/>
            </a:endParaRPr>
          </a:p>
          <a:p>
            <a:pPr indent="0" lvl="0" marL="0" rtl="0" algn="l">
              <a:spcBef>
                <a:spcPts val="0"/>
              </a:spcBef>
              <a:spcAft>
                <a:spcPts val="0"/>
              </a:spcAft>
              <a:buNone/>
            </a:pPr>
            <a:r>
              <a:rPr b="1" lang="en" sz="1200">
                <a:solidFill>
                  <a:srgbClr val="000000"/>
                </a:solidFill>
                <a:latin typeface="Comfortaa"/>
                <a:ea typeface="Comfortaa"/>
                <a:cs typeface="Comfortaa"/>
                <a:sym typeface="Comfortaa"/>
              </a:rPr>
              <a:t>Cognitive Psychology:</a:t>
            </a:r>
            <a:r>
              <a:rPr lang="en" sz="1200">
                <a:solidFill>
                  <a:srgbClr val="000000"/>
                </a:solidFill>
                <a:latin typeface="Comfortaa"/>
                <a:ea typeface="Comfortaa"/>
                <a:cs typeface="Comfortaa"/>
                <a:sym typeface="Comfortaa"/>
              </a:rPr>
              <a:t> The study of mental processes and how people think.</a:t>
            </a:r>
            <a:endParaRPr sz="1200">
              <a:solidFill>
                <a:srgbClr val="000000"/>
              </a:solidFill>
              <a:latin typeface="Comfortaa"/>
              <a:ea typeface="Comfortaa"/>
              <a:cs typeface="Comfortaa"/>
              <a:sym typeface="Comfortaa"/>
            </a:endParaRPr>
          </a:p>
        </p:txBody>
      </p:sp>
      <p:sp>
        <p:nvSpPr>
          <p:cNvPr id="106" name="Google Shape;106;g3f6429ab5ef_0_0"/>
          <p:cNvSpPr txBox="1"/>
          <p:nvPr>
            <p:ph idx="1" type="body"/>
          </p:nvPr>
        </p:nvSpPr>
        <p:spPr>
          <a:xfrm>
            <a:off x="4572000" y="1152475"/>
            <a:ext cx="4260300" cy="39909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b="1" lang="en" sz="1200">
                <a:solidFill>
                  <a:schemeClr val="accent1"/>
                </a:solidFill>
                <a:latin typeface="Comfortaa"/>
                <a:ea typeface="Comfortaa"/>
                <a:cs typeface="Comfortaa"/>
                <a:sym typeface="Comfortaa"/>
              </a:rPr>
              <a:t>Psicología clínica:</a:t>
            </a:r>
            <a:r>
              <a:rPr lang="en" sz="1200">
                <a:solidFill>
                  <a:schemeClr val="accent1"/>
                </a:solidFill>
                <a:latin typeface="Comfortaa"/>
                <a:ea typeface="Comfortaa"/>
                <a:cs typeface="Comfortaa"/>
                <a:sym typeface="Comfortaa"/>
              </a:rPr>
              <a:t> Se enfoca en el estudio y tratamiento de los problemas de salud mental.</a:t>
            </a:r>
            <a:endParaRPr sz="1200">
              <a:solidFill>
                <a:schemeClr val="accent1"/>
              </a:solidFill>
              <a:latin typeface="Comfortaa"/>
              <a:ea typeface="Comfortaa"/>
              <a:cs typeface="Comfortaa"/>
              <a:sym typeface="Comfortaa"/>
            </a:endParaRPr>
          </a:p>
          <a:p>
            <a:pPr indent="0" lvl="0" marL="0" rtl="0" algn="l">
              <a:spcBef>
                <a:spcPts val="1200"/>
              </a:spcBef>
              <a:spcAft>
                <a:spcPts val="1200"/>
              </a:spcAft>
              <a:buClr>
                <a:schemeClr val="dk1"/>
              </a:buClr>
              <a:buSzPts val="1100"/>
              <a:buFont typeface="Arial"/>
              <a:buNone/>
            </a:pPr>
            <a:r>
              <a:rPr b="1" lang="en" sz="1200">
                <a:solidFill>
                  <a:schemeClr val="accent1"/>
                </a:solidFill>
                <a:latin typeface="Comfortaa"/>
                <a:ea typeface="Comfortaa"/>
                <a:cs typeface="Comfortaa"/>
                <a:sym typeface="Comfortaa"/>
              </a:rPr>
              <a:t>Psicología cognitiva: </a:t>
            </a:r>
            <a:r>
              <a:rPr lang="en" sz="1200">
                <a:solidFill>
                  <a:schemeClr val="accent1"/>
                </a:solidFill>
                <a:latin typeface="Comfortaa"/>
                <a:ea typeface="Comfortaa"/>
                <a:cs typeface="Comfortaa"/>
                <a:sym typeface="Comfortaa"/>
              </a:rPr>
              <a:t>El estudio de los procesos mentales y de cómo las personas piensan.</a:t>
            </a:r>
            <a:endParaRPr sz="1200">
              <a:solidFill>
                <a:schemeClr val="accent1"/>
              </a:solidFill>
              <a:latin typeface="Comfortaa"/>
              <a:ea typeface="Comfortaa"/>
              <a:cs typeface="Comfortaa"/>
              <a:sym typeface="Comforta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3f6429ab5ef_0_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000000"/>
                </a:solidFill>
                <a:latin typeface="Comfortaa"/>
                <a:ea typeface="Comfortaa"/>
                <a:cs typeface="Comfortaa"/>
                <a:sym typeface="Comfortaa"/>
              </a:rPr>
              <a:t>Psychology Fields</a:t>
            </a:r>
            <a:endParaRPr b="1">
              <a:solidFill>
                <a:srgbClr val="000000"/>
              </a:solidFill>
              <a:latin typeface="Comfortaa"/>
              <a:ea typeface="Comfortaa"/>
              <a:cs typeface="Comfortaa"/>
              <a:sym typeface="Comfortaa"/>
            </a:endParaRPr>
          </a:p>
        </p:txBody>
      </p:sp>
      <p:sp>
        <p:nvSpPr>
          <p:cNvPr id="112" name="Google Shape;112;g3f6429ab5ef_0_6"/>
          <p:cNvSpPr txBox="1"/>
          <p:nvPr>
            <p:ph idx="1" type="body"/>
          </p:nvPr>
        </p:nvSpPr>
        <p:spPr>
          <a:xfrm>
            <a:off x="311700" y="1152475"/>
            <a:ext cx="4260300" cy="399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000000"/>
                </a:solidFill>
                <a:latin typeface="Comfortaa"/>
                <a:ea typeface="Comfortaa"/>
                <a:cs typeface="Comfortaa"/>
                <a:sym typeface="Comfortaa"/>
              </a:rPr>
              <a:t>Clinical Psychology:</a:t>
            </a:r>
            <a:r>
              <a:rPr lang="en" sz="1200">
                <a:solidFill>
                  <a:srgbClr val="000000"/>
                </a:solidFill>
                <a:latin typeface="Comfortaa"/>
                <a:ea typeface="Comfortaa"/>
                <a:cs typeface="Comfortaa"/>
                <a:sym typeface="Comfortaa"/>
              </a:rPr>
              <a:t> Focuses on studying and treating mental health problems.</a:t>
            </a:r>
            <a:endParaRPr sz="1200">
              <a:solidFill>
                <a:srgbClr val="000000"/>
              </a:solidFill>
              <a:latin typeface="Comfortaa"/>
              <a:ea typeface="Comfortaa"/>
              <a:cs typeface="Comfortaa"/>
              <a:sym typeface="Comfortaa"/>
            </a:endParaRPr>
          </a:p>
          <a:p>
            <a:pPr indent="0" lvl="0" marL="0" rtl="0" algn="l">
              <a:spcBef>
                <a:spcPts val="0"/>
              </a:spcBef>
              <a:spcAft>
                <a:spcPts val="0"/>
              </a:spcAft>
              <a:buNone/>
            </a:pPr>
            <a:r>
              <a:t/>
            </a:r>
            <a:endParaRPr sz="1200">
              <a:solidFill>
                <a:srgbClr val="000000"/>
              </a:solidFill>
              <a:latin typeface="Comfortaa"/>
              <a:ea typeface="Comfortaa"/>
              <a:cs typeface="Comfortaa"/>
              <a:sym typeface="Comfortaa"/>
            </a:endParaRPr>
          </a:p>
          <a:p>
            <a:pPr indent="0" lvl="0" marL="0" rtl="0" algn="l">
              <a:spcBef>
                <a:spcPts val="0"/>
              </a:spcBef>
              <a:spcAft>
                <a:spcPts val="0"/>
              </a:spcAft>
              <a:buNone/>
            </a:pPr>
            <a:r>
              <a:rPr b="1" lang="en" sz="1200">
                <a:solidFill>
                  <a:srgbClr val="000000"/>
                </a:solidFill>
                <a:latin typeface="Comfortaa"/>
                <a:ea typeface="Comfortaa"/>
                <a:cs typeface="Comfortaa"/>
                <a:sym typeface="Comfortaa"/>
              </a:rPr>
              <a:t>Cognitive Psychology:</a:t>
            </a:r>
            <a:r>
              <a:rPr lang="en" sz="1200">
                <a:solidFill>
                  <a:srgbClr val="000000"/>
                </a:solidFill>
                <a:latin typeface="Comfortaa"/>
                <a:ea typeface="Comfortaa"/>
                <a:cs typeface="Comfortaa"/>
                <a:sym typeface="Comfortaa"/>
              </a:rPr>
              <a:t> The study of mental processes and how people think.</a:t>
            </a:r>
            <a:endParaRPr sz="1200">
              <a:solidFill>
                <a:srgbClr val="000000"/>
              </a:solidFill>
              <a:latin typeface="Comfortaa"/>
              <a:ea typeface="Comfortaa"/>
              <a:cs typeface="Comfortaa"/>
              <a:sym typeface="Comfortaa"/>
            </a:endParaRPr>
          </a:p>
          <a:p>
            <a:pPr indent="0" lvl="0" marL="0" rtl="0" algn="l">
              <a:spcBef>
                <a:spcPts val="0"/>
              </a:spcBef>
              <a:spcAft>
                <a:spcPts val="0"/>
              </a:spcAft>
              <a:buNone/>
            </a:pPr>
            <a:r>
              <a:t/>
            </a:r>
            <a:endParaRPr sz="1200">
              <a:solidFill>
                <a:srgbClr val="000000"/>
              </a:solidFill>
              <a:latin typeface="Comfortaa"/>
              <a:ea typeface="Comfortaa"/>
              <a:cs typeface="Comfortaa"/>
              <a:sym typeface="Comfortaa"/>
            </a:endParaRPr>
          </a:p>
          <a:p>
            <a:pPr indent="0" lvl="0" marL="0" rtl="0" algn="l">
              <a:spcBef>
                <a:spcPts val="0"/>
              </a:spcBef>
              <a:spcAft>
                <a:spcPts val="0"/>
              </a:spcAft>
              <a:buNone/>
            </a:pPr>
            <a:r>
              <a:rPr b="1" lang="en" sz="1200">
                <a:solidFill>
                  <a:srgbClr val="000000"/>
                </a:solidFill>
                <a:latin typeface="Comfortaa"/>
                <a:ea typeface="Comfortaa"/>
                <a:cs typeface="Comfortaa"/>
                <a:sym typeface="Comfortaa"/>
              </a:rPr>
              <a:t>Developmental Psychology:</a:t>
            </a:r>
            <a:r>
              <a:rPr lang="en" sz="1200">
                <a:solidFill>
                  <a:srgbClr val="000000"/>
                </a:solidFill>
                <a:latin typeface="Comfortaa"/>
                <a:ea typeface="Comfortaa"/>
                <a:cs typeface="Comfortaa"/>
                <a:sym typeface="Comfortaa"/>
              </a:rPr>
              <a:t> Study how psychology of people changes over time. </a:t>
            </a:r>
            <a:endParaRPr sz="1200">
              <a:solidFill>
                <a:srgbClr val="000000"/>
              </a:solidFill>
              <a:latin typeface="Comfortaa"/>
              <a:ea typeface="Comfortaa"/>
              <a:cs typeface="Comfortaa"/>
              <a:sym typeface="Comfortaa"/>
            </a:endParaRPr>
          </a:p>
        </p:txBody>
      </p:sp>
      <p:sp>
        <p:nvSpPr>
          <p:cNvPr id="113" name="Google Shape;113;g3f6429ab5ef_0_6"/>
          <p:cNvSpPr txBox="1"/>
          <p:nvPr>
            <p:ph idx="1" type="body"/>
          </p:nvPr>
        </p:nvSpPr>
        <p:spPr>
          <a:xfrm>
            <a:off x="4572000" y="1152475"/>
            <a:ext cx="4260300" cy="39909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b="1" lang="en" sz="1200">
                <a:solidFill>
                  <a:schemeClr val="accent1"/>
                </a:solidFill>
                <a:latin typeface="Comfortaa"/>
                <a:ea typeface="Comfortaa"/>
                <a:cs typeface="Comfortaa"/>
                <a:sym typeface="Comfortaa"/>
              </a:rPr>
              <a:t>Psicología clínica:</a:t>
            </a:r>
            <a:r>
              <a:rPr lang="en" sz="1200">
                <a:solidFill>
                  <a:schemeClr val="accent1"/>
                </a:solidFill>
                <a:latin typeface="Comfortaa"/>
                <a:ea typeface="Comfortaa"/>
                <a:cs typeface="Comfortaa"/>
                <a:sym typeface="Comfortaa"/>
              </a:rPr>
              <a:t> Se enfoca en el estudio y tratamiento de los problemas de salud mental.</a:t>
            </a:r>
            <a:endParaRPr sz="1200">
              <a:solidFill>
                <a:schemeClr val="accent1"/>
              </a:solidFill>
              <a:latin typeface="Comfortaa"/>
              <a:ea typeface="Comfortaa"/>
              <a:cs typeface="Comfortaa"/>
              <a:sym typeface="Comfortaa"/>
            </a:endParaRPr>
          </a:p>
          <a:p>
            <a:pPr indent="0" lvl="0" marL="0" rtl="0" algn="l">
              <a:spcBef>
                <a:spcPts val="1200"/>
              </a:spcBef>
              <a:spcAft>
                <a:spcPts val="0"/>
              </a:spcAft>
              <a:buClr>
                <a:schemeClr val="dk1"/>
              </a:buClr>
              <a:buSzPts val="1100"/>
              <a:buFont typeface="Arial"/>
              <a:buNone/>
            </a:pPr>
            <a:r>
              <a:rPr b="1" lang="en" sz="1200">
                <a:solidFill>
                  <a:schemeClr val="accent1"/>
                </a:solidFill>
                <a:latin typeface="Comfortaa"/>
                <a:ea typeface="Comfortaa"/>
                <a:cs typeface="Comfortaa"/>
                <a:sym typeface="Comfortaa"/>
              </a:rPr>
              <a:t>Psicología cognitiva: </a:t>
            </a:r>
            <a:r>
              <a:rPr lang="en" sz="1200">
                <a:solidFill>
                  <a:schemeClr val="accent1"/>
                </a:solidFill>
                <a:latin typeface="Comfortaa"/>
                <a:ea typeface="Comfortaa"/>
                <a:cs typeface="Comfortaa"/>
                <a:sym typeface="Comfortaa"/>
              </a:rPr>
              <a:t>El estudio de los procesos mentales y de cómo las personas piensan.</a:t>
            </a:r>
            <a:endParaRPr sz="1200">
              <a:solidFill>
                <a:schemeClr val="accent1"/>
              </a:solidFill>
              <a:latin typeface="Comfortaa"/>
              <a:ea typeface="Comfortaa"/>
              <a:cs typeface="Comfortaa"/>
              <a:sym typeface="Comfortaa"/>
            </a:endParaRPr>
          </a:p>
          <a:p>
            <a:pPr indent="0" lvl="0" marL="0" rtl="0" algn="l">
              <a:spcBef>
                <a:spcPts val="1200"/>
              </a:spcBef>
              <a:spcAft>
                <a:spcPts val="1200"/>
              </a:spcAft>
              <a:buClr>
                <a:schemeClr val="dk1"/>
              </a:buClr>
              <a:buSzPts val="1100"/>
              <a:buFont typeface="Arial"/>
              <a:buNone/>
            </a:pPr>
            <a:r>
              <a:rPr b="1" lang="en" sz="1200">
                <a:solidFill>
                  <a:schemeClr val="accent1"/>
                </a:solidFill>
                <a:latin typeface="Comfortaa"/>
                <a:ea typeface="Comfortaa"/>
                <a:cs typeface="Comfortaa"/>
                <a:sym typeface="Comfortaa"/>
              </a:rPr>
              <a:t>Psicología del desarrollo: </a:t>
            </a:r>
            <a:r>
              <a:rPr lang="en" sz="1200">
                <a:solidFill>
                  <a:schemeClr val="accent1"/>
                </a:solidFill>
                <a:latin typeface="Comfortaa"/>
                <a:ea typeface="Comfortaa"/>
                <a:cs typeface="Comfortaa"/>
                <a:sym typeface="Comfortaa"/>
              </a:rPr>
              <a:t>Estudia cómo la psicología de las personas cambia con el tiempo.</a:t>
            </a:r>
            <a:endParaRPr sz="1200">
              <a:solidFill>
                <a:schemeClr val="accent1"/>
              </a:solidFill>
              <a:latin typeface="Comfortaa"/>
              <a:ea typeface="Comfortaa"/>
              <a:cs typeface="Comfortaa"/>
              <a:sym typeface="Comforta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g3f6429ab5ef_0_1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000000"/>
                </a:solidFill>
                <a:latin typeface="Comfortaa"/>
                <a:ea typeface="Comfortaa"/>
                <a:cs typeface="Comfortaa"/>
                <a:sym typeface="Comfortaa"/>
              </a:rPr>
              <a:t>Psychology Fields</a:t>
            </a:r>
            <a:endParaRPr b="1">
              <a:solidFill>
                <a:srgbClr val="000000"/>
              </a:solidFill>
              <a:latin typeface="Comfortaa"/>
              <a:ea typeface="Comfortaa"/>
              <a:cs typeface="Comfortaa"/>
              <a:sym typeface="Comfortaa"/>
            </a:endParaRPr>
          </a:p>
        </p:txBody>
      </p:sp>
      <p:sp>
        <p:nvSpPr>
          <p:cNvPr id="119" name="Google Shape;119;g3f6429ab5ef_0_12"/>
          <p:cNvSpPr txBox="1"/>
          <p:nvPr>
            <p:ph idx="1" type="body"/>
          </p:nvPr>
        </p:nvSpPr>
        <p:spPr>
          <a:xfrm>
            <a:off x="311700" y="1152475"/>
            <a:ext cx="4260300" cy="399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000000"/>
                </a:solidFill>
                <a:latin typeface="Comfortaa"/>
                <a:ea typeface="Comfortaa"/>
                <a:cs typeface="Comfortaa"/>
                <a:sym typeface="Comfortaa"/>
              </a:rPr>
              <a:t>Clinical Psychology:</a:t>
            </a:r>
            <a:r>
              <a:rPr lang="en" sz="1200">
                <a:solidFill>
                  <a:srgbClr val="000000"/>
                </a:solidFill>
                <a:latin typeface="Comfortaa"/>
                <a:ea typeface="Comfortaa"/>
                <a:cs typeface="Comfortaa"/>
                <a:sym typeface="Comfortaa"/>
              </a:rPr>
              <a:t> Focuses on studying and treating mental health problems.</a:t>
            </a:r>
            <a:endParaRPr sz="1200">
              <a:solidFill>
                <a:srgbClr val="000000"/>
              </a:solidFill>
              <a:latin typeface="Comfortaa"/>
              <a:ea typeface="Comfortaa"/>
              <a:cs typeface="Comfortaa"/>
              <a:sym typeface="Comfortaa"/>
            </a:endParaRPr>
          </a:p>
          <a:p>
            <a:pPr indent="0" lvl="0" marL="0" rtl="0" algn="l">
              <a:spcBef>
                <a:spcPts val="0"/>
              </a:spcBef>
              <a:spcAft>
                <a:spcPts val="0"/>
              </a:spcAft>
              <a:buNone/>
            </a:pPr>
            <a:r>
              <a:t/>
            </a:r>
            <a:endParaRPr sz="1200">
              <a:solidFill>
                <a:srgbClr val="000000"/>
              </a:solidFill>
              <a:latin typeface="Comfortaa"/>
              <a:ea typeface="Comfortaa"/>
              <a:cs typeface="Comfortaa"/>
              <a:sym typeface="Comfortaa"/>
            </a:endParaRPr>
          </a:p>
          <a:p>
            <a:pPr indent="0" lvl="0" marL="0" rtl="0" algn="l">
              <a:spcBef>
                <a:spcPts val="0"/>
              </a:spcBef>
              <a:spcAft>
                <a:spcPts val="0"/>
              </a:spcAft>
              <a:buNone/>
            </a:pPr>
            <a:r>
              <a:rPr b="1" lang="en" sz="1200">
                <a:solidFill>
                  <a:srgbClr val="000000"/>
                </a:solidFill>
                <a:latin typeface="Comfortaa"/>
                <a:ea typeface="Comfortaa"/>
                <a:cs typeface="Comfortaa"/>
                <a:sym typeface="Comfortaa"/>
              </a:rPr>
              <a:t>Cognitive Psychology:</a:t>
            </a:r>
            <a:r>
              <a:rPr lang="en" sz="1200">
                <a:solidFill>
                  <a:srgbClr val="000000"/>
                </a:solidFill>
                <a:latin typeface="Comfortaa"/>
                <a:ea typeface="Comfortaa"/>
                <a:cs typeface="Comfortaa"/>
                <a:sym typeface="Comfortaa"/>
              </a:rPr>
              <a:t> The study of mental processes and how people think.</a:t>
            </a:r>
            <a:endParaRPr sz="1200">
              <a:solidFill>
                <a:srgbClr val="000000"/>
              </a:solidFill>
              <a:latin typeface="Comfortaa"/>
              <a:ea typeface="Comfortaa"/>
              <a:cs typeface="Comfortaa"/>
              <a:sym typeface="Comfortaa"/>
            </a:endParaRPr>
          </a:p>
          <a:p>
            <a:pPr indent="0" lvl="0" marL="0" rtl="0" algn="l">
              <a:spcBef>
                <a:spcPts val="0"/>
              </a:spcBef>
              <a:spcAft>
                <a:spcPts val="0"/>
              </a:spcAft>
              <a:buNone/>
            </a:pPr>
            <a:r>
              <a:t/>
            </a:r>
            <a:endParaRPr sz="1200">
              <a:solidFill>
                <a:srgbClr val="000000"/>
              </a:solidFill>
              <a:latin typeface="Comfortaa"/>
              <a:ea typeface="Comfortaa"/>
              <a:cs typeface="Comfortaa"/>
              <a:sym typeface="Comfortaa"/>
            </a:endParaRPr>
          </a:p>
          <a:p>
            <a:pPr indent="0" lvl="0" marL="0" rtl="0" algn="l">
              <a:spcBef>
                <a:spcPts val="0"/>
              </a:spcBef>
              <a:spcAft>
                <a:spcPts val="0"/>
              </a:spcAft>
              <a:buNone/>
            </a:pPr>
            <a:r>
              <a:rPr b="1" lang="en" sz="1200">
                <a:solidFill>
                  <a:srgbClr val="000000"/>
                </a:solidFill>
                <a:latin typeface="Comfortaa"/>
                <a:ea typeface="Comfortaa"/>
                <a:cs typeface="Comfortaa"/>
                <a:sym typeface="Comfortaa"/>
              </a:rPr>
              <a:t>Developmental Psychology:</a:t>
            </a:r>
            <a:r>
              <a:rPr lang="en" sz="1200">
                <a:solidFill>
                  <a:srgbClr val="000000"/>
                </a:solidFill>
                <a:latin typeface="Comfortaa"/>
                <a:ea typeface="Comfortaa"/>
                <a:cs typeface="Comfortaa"/>
                <a:sym typeface="Comfortaa"/>
              </a:rPr>
              <a:t> Study how psychology of people changes over time. </a:t>
            </a:r>
            <a:endParaRPr sz="1200">
              <a:solidFill>
                <a:srgbClr val="000000"/>
              </a:solidFill>
              <a:latin typeface="Comfortaa"/>
              <a:ea typeface="Comfortaa"/>
              <a:cs typeface="Comfortaa"/>
              <a:sym typeface="Comfortaa"/>
            </a:endParaRPr>
          </a:p>
          <a:p>
            <a:pPr indent="0" lvl="0" marL="0" rtl="0" algn="l">
              <a:spcBef>
                <a:spcPts val="0"/>
              </a:spcBef>
              <a:spcAft>
                <a:spcPts val="0"/>
              </a:spcAft>
              <a:buNone/>
            </a:pPr>
            <a:r>
              <a:t/>
            </a:r>
            <a:endParaRPr sz="1200">
              <a:solidFill>
                <a:srgbClr val="000000"/>
              </a:solidFill>
              <a:latin typeface="Comfortaa"/>
              <a:ea typeface="Comfortaa"/>
              <a:cs typeface="Comfortaa"/>
              <a:sym typeface="Comfortaa"/>
            </a:endParaRPr>
          </a:p>
          <a:p>
            <a:pPr indent="0" lvl="0" marL="0" rtl="0" algn="l">
              <a:spcBef>
                <a:spcPts val="0"/>
              </a:spcBef>
              <a:spcAft>
                <a:spcPts val="0"/>
              </a:spcAft>
              <a:buNone/>
            </a:pPr>
            <a:r>
              <a:rPr b="1" lang="en" sz="1200">
                <a:solidFill>
                  <a:srgbClr val="000000"/>
                </a:solidFill>
                <a:latin typeface="Comfortaa"/>
                <a:ea typeface="Comfortaa"/>
                <a:cs typeface="Comfortaa"/>
                <a:sym typeface="Comfortaa"/>
              </a:rPr>
              <a:t>Social Psychology: </a:t>
            </a:r>
            <a:r>
              <a:rPr lang="en" sz="1200">
                <a:solidFill>
                  <a:srgbClr val="000000"/>
                </a:solidFill>
                <a:latin typeface="Comfortaa"/>
                <a:ea typeface="Comfortaa"/>
                <a:cs typeface="Comfortaa"/>
                <a:sym typeface="Comfortaa"/>
              </a:rPr>
              <a:t>Study how people’s thoughts and behavior are influenced by society. </a:t>
            </a:r>
            <a:endParaRPr sz="1200">
              <a:solidFill>
                <a:srgbClr val="000000"/>
              </a:solidFill>
              <a:latin typeface="Comfortaa"/>
              <a:ea typeface="Comfortaa"/>
              <a:cs typeface="Comfortaa"/>
              <a:sym typeface="Comfortaa"/>
            </a:endParaRPr>
          </a:p>
        </p:txBody>
      </p:sp>
      <p:sp>
        <p:nvSpPr>
          <p:cNvPr id="120" name="Google Shape;120;g3f6429ab5ef_0_12"/>
          <p:cNvSpPr txBox="1"/>
          <p:nvPr>
            <p:ph idx="1" type="body"/>
          </p:nvPr>
        </p:nvSpPr>
        <p:spPr>
          <a:xfrm>
            <a:off x="4572000" y="1152475"/>
            <a:ext cx="4260300" cy="39909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b="1" lang="en" sz="1200">
                <a:solidFill>
                  <a:schemeClr val="accent1"/>
                </a:solidFill>
                <a:latin typeface="Comfortaa"/>
                <a:ea typeface="Comfortaa"/>
                <a:cs typeface="Comfortaa"/>
                <a:sym typeface="Comfortaa"/>
              </a:rPr>
              <a:t>Psicología clínica:</a:t>
            </a:r>
            <a:r>
              <a:rPr lang="en" sz="1200">
                <a:solidFill>
                  <a:schemeClr val="accent1"/>
                </a:solidFill>
                <a:latin typeface="Comfortaa"/>
                <a:ea typeface="Comfortaa"/>
                <a:cs typeface="Comfortaa"/>
                <a:sym typeface="Comfortaa"/>
              </a:rPr>
              <a:t> Se enfoca en el estudio y tratamiento de los problemas de salud mental.</a:t>
            </a:r>
            <a:endParaRPr sz="1200">
              <a:solidFill>
                <a:schemeClr val="accent1"/>
              </a:solidFill>
              <a:latin typeface="Comfortaa"/>
              <a:ea typeface="Comfortaa"/>
              <a:cs typeface="Comfortaa"/>
              <a:sym typeface="Comfortaa"/>
            </a:endParaRPr>
          </a:p>
          <a:p>
            <a:pPr indent="0" lvl="0" marL="0" rtl="0" algn="l">
              <a:spcBef>
                <a:spcPts val="1200"/>
              </a:spcBef>
              <a:spcAft>
                <a:spcPts val="0"/>
              </a:spcAft>
              <a:buClr>
                <a:schemeClr val="dk1"/>
              </a:buClr>
              <a:buSzPts val="1100"/>
              <a:buFont typeface="Arial"/>
              <a:buNone/>
            </a:pPr>
            <a:r>
              <a:rPr b="1" lang="en" sz="1200">
                <a:solidFill>
                  <a:schemeClr val="accent1"/>
                </a:solidFill>
                <a:latin typeface="Comfortaa"/>
                <a:ea typeface="Comfortaa"/>
                <a:cs typeface="Comfortaa"/>
                <a:sym typeface="Comfortaa"/>
              </a:rPr>
              <a:t>Psicología cognitiva: </a:t>
            </a:r>
            <a:r>
              <a:rPr lang="en" sz="1200">
                <a:solidFill>
                  <a:schemeClr val="accent1"/>
                </a:solidFill>
                <a:latin typeface="Comfortaa"/>
                <a:ea typeface="Comfortaa"/>
                <a:cs typeface="Comfortaa"/>
                <a:sym typeface="Comfortaa"/>
              </a:rPr>
              <a:t>El estudio de los procesos mentales y de cómo las personas piensan.</a:t>
            </a:r>
            <a:endParaRPr sz="1200">
              <a:solidFill>
                <a:schemeClr val="accent1"/>
              </a:solidFill>
              <a:latin typeface="Comfortaa"/>
              <a:ea typeface="Comfortaa"/>
              <a:cs typeface="Comfortaa"/>
              <a:sym typeface="Comfortaa"/>
            </a:endParaRPr>
          </a:p>
          <a:p>
            <a:pPr indent="0" lvl="0" marL="0" rtl="0" algn="l">
              <a:spcBef>
                <a:spcPts val="1200"/>
              </a:spcBef>
              <a:spcAft>
                <a:spcPts val="0"/>
              </a:spcAft>
              <a:buClr>
                <a:schemeClr val="dk1"/>
              </a:buClr>
              <a:buSzPts val="1100"/>
              <a:buFont typeface="Arial"/>
              <a:buNone/>
            </a:pPr>
            <a:r>
              <a:rPr b="1" lang="en" sz="1200">
                <a:solidFill>
                  <a:schemeClr val="accent1"/>
                </a:solidFill>
                <a:latin typeface="Comfortaa"/>
                <a:ea typeface="Comfortaa"/>
                <a:cs typeface="Comfortaa"/>
                <a:sym typeface="Comfortaa"/>
              </a:rPr>
              <a:t>Psicología del desarrollo: </a:t>
            </a:r>
            <a:r>
              <a:rPr lang="en" sz="1200">
                <a:solidFill>
                  <a:schemeClr val="accent1"/>
                </a:solidFill>
                <a:latin typeface="Comfortaa"/>
                <a:ea typeface="Comfortaa"/>
                <a:cs typeface="Comfortaa"/>
                <a:sym typeface="Comfortaa"/>
              </a:rPr>
              <a:t>Estudia cómo la psicología de las personas cambia con el tiempo.</a:t>
            </a:r>
            <a:endParaRPr sz="1200">
              <a:solidFill>
                <a:schemeClr val="accent1"/>
              </a:solidFill>
              <a:latin typeface="Comfortaa"/>
              <a:ea typeface="Comfortaa"/>
              <a:cs typeface="Comfortaa"/>
              <a:sym typeface="Comfortaa"/>
            </a:endParaRPr>
          </a:p>
          <a:p>
            <a:pPr indent="0" lvl="0" marL="0" rtl="0" algn="l">
              <a:spcBef>
                <a:spcPts val="1200"/>
              </a:spcBef>
              <a:spcAft>
                <a:spcPts val="1200"/>
              </a:spcAft>
              <a:buClr>
                <a:schemeClr val="dk1"/>
              </a:buClr>
              <a:buSzPts val="1100"/>
              <a:buFont typeface="Arial"/>
              <a:buNone/>
            </a:pPr>
            <a:r>
              <a:rPr b="1" lang="en" sz="1200">
                <a:solidFill>
                  <a:schemeClr val="accent1"/>
                </a:solidFill>
                <a:latin typeface="Comfortaa"/>
                <a:ea typeface="Comfortaa"/>
                <a:cs typeface="Comfortaa"/>
                <a:sym typeface="Comfortaa"/>
              </a:rPr>
              <a:t>Psicología social: </a:t>
            </a:r>
            <a:r>
              <a:rPr lang="en" sz="1200">
                <a:solidFill>
                  <a:schemeClr val="accent1"/>
                </a:solidFill>
                <a:latin typeface="Comfortaa"/>
                <a:ea typeface="Comfortaa"/>
                <a:cs typeface="Comfortaa"/>
                <a:sym typeface="Comfortaa"/>
              </a:rPr>
              <a:t>Estudia cómo los pensamientos y el comportamiento de las personas son influenciados por la sociedad.</a:t>
            </a:r>
            <a:endParaRPr sz="1200">
              <a:solidFill>
                <a:schemeClr val="accent1"/>
              </a:solidFill>
              <a:latin typeface="Comfortaa"/>
              <a:ea typeface="Comfortaa"/>
              <a:cs typeface="Comfortaa"/>
              <a:sym typeface="Comforta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g3f6429ab5ef_0_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000000"/>
                </a:solidFill>
                <a:latin typeface="Comfortaa"/>
                <a:ea typeface="Comfortaa"/>
                <a:cs typeface="Comfortaa"/>
                <a:sym typeface="Comfortaa"/>
              </a:rPr>
              <a:t>Psychology Fields</a:t>
            </a:r>
            <a:endParaRPr b="1">
              <a:solidFill>
                <a:srgbClr val="000000"/>
              </a:solidFill>
              <a:latin typeface="Comfortaa"/>
              <a:ea typeface="Comfortaa"/>
              <a:cs typeface="Comfortaa"/>
              <a:sym typeface="Comfortaa"/>
            </a:endParaRPr>
          </a:p>
        </p:txBody>
      </p:sp>
      <p:sp>
        <p:nvSpPr>
          <p:cNvPr id="126" name="Google Shape;126;g3f6429ab5ef_0_18"/>
          <p:cNvSpPr txBox="1"/>
          <p:nvPr>
            <p:ph idx="1" type="body"/>
          </p:nvPr>
        </p:nvSpPr>
        <p:spPr>
          <a:xfrm>
            <a:off x="311700" y="1152475"/>
            <a:ext cx="4260300" cy="399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000000"/>
                </a:solidFill>
                <a:latin typeface="Comfortaa"/>
                <a:ea typeface="Comfortaa"/>
                <a:cs typeface="Comfortaa"/>
                <a:sym typeface="Comfortaa"/>
              </a:rPr>
              <a:t>Clinical Psychology:</a:t>
            </a:r>
            <a:r>
              <a:rPr lang="en" sz="1200">
                <a:solidFill>
                  <a:srgbClr val="000000"/>
                </a:solidFill>
                <a:latin typeface="Comfortaa"/>
                <a:ea typeface="Comfortaa"/>
                <a:cs typeface="Comfortaa"/>
                <a:sym typeface="Comfortaa"/>
              </a:rPr>
              <a:t> Focuses on studying and treating mental health problems.</a:t>
            </a:r>
            <a:endParaRPr sz="1200">
              <a:solidFill>
                <a:srgbClr val="000000"/>
              </a:solidFill>
              <a:latin typeface="Comfortaa"/>
              <a:ea typeface="Comfortaa"/>
              <a:cs typeface="Comfortaa"/>
              <a:sym typeface="Comfortaa"/>
            </a:endParaRPr>
          </a:p>
          <a:p>
            <a:pPr indent="0" lvl="0" marL="0" rtl="0" algn="l">
              <a:spcBef>
                <a:spcPts val="0"/>
              </a:spcBef>
              <a:spcAft>
                <a:spcPts val="0"/>
              </a:spcAft>
              <a:buNone/>
            </a:pPr>
            <a:r>
              <a:t/>
            </a:r>
            <a:endParaRPr sz="1200">
              <a:solidFill>
                <a:srgbClr val="000000"/>
              </a:solidFill>
              <a:latin typeface="Comfortaa"/>
              <a:ea typeface="Comfortaa"/>
              <a:cs typeface="Comfortaa"/>
              <a:sym typeface="Comfortaa"/>
            </a:endParaRPr>
          </a:p>
          <a:p>
            <a:pPr indent="0" lvl="0" marL="0" rtl="0" algn="l">
              <a:spcBef>
                <a:spcPts val="0"/>
              </a:spcBef>
              <a:spcAft>
                <a:spcPts val="0"/>
              </a:spcAft>
              <a:buNone/>
            </a:pPr>
            <a:r>
              <a:rPr b="1" lang="en" sz="1200">
                <a:solidFill>
                  <a:srgbClr val="000000"/>
                </a:solidFill>
                <a:latin typeface="Comfortaa"/>
                <a:ea typeface="Comfortaa"/>
                <a:cs typeface="Comfortaa"/>
                <a:sym typeface="Comfortaa"/>
              </a:rPr>
              <a:t>Cognitive Psychology:</a:t>
            </a:r>
            <a:r>
              <a:rPr lang="en" sz="1200">
                <a:solidFill>
                  <a:srgbClr val="000000"/>
                </a:solidFill>
                <a:latin typeface="Comfortaa"/>
                <a:ea typeface="Comfortaa"/>
                <a:cs typeface="Comfortaa"/>
                <a:sym typeface="Comfortaa"/>
              </a:rPr>
              <a:t> The study of mental processes and how people think.</a:t>
            </a:r>
            <a:endParaRPr sz="1200">
              <a:solidFill>
                <a:srgbClr val="000000"/>
              </a:solidFill>
              <a:latin typeface="Comfortaa"/>
              <a:ea typeface="Comfortaa"/>
              <a:cs typeface="Comfortaa"/>
              <a:sym typeface="Comfortaa"/>
            </a:endParaRPr>
          </a:p>
          <a:p>
            <a:pPr indent="0" lvl="0" marL="0" rtl="0" algn="l">
              <a:spcBef>
                <a:spcPts val="0"/>
              </a:spcBef>
              <a:spcAft>
                <a:spcPts val="0"/>
              </a:spcAft>
              <a:buNone/>
            </a:pPr>
            <a:r>
              <a:t/>
            </a:r>
            <a:endParaRPr sz="1200">
              <a:solidFill>
                <a:srgbClr val="000000"/>
              </a:solidFill>
              <a:latin typeface="Comfortaa"/>
              <a:ea typeface="Comfortaa"/>
              <a:cs typeface="Comfortaa"/>
              <a:sym typeface="Comfortaa"/>
            </a:endParaRPr>
          </a:p>
          <a:p>
            <a:pPr indent="0" lvl="0" marL="0" rtl="0" algn="l">
              <a:spcBef>
                <a:spcPts val="0"/>
              </a:spcBef>
              <a:spcAft>
                <a:spcPts val="0"/>
              </a:spcAft>
              <a:buNone/>
            </a:pPr>
            <a:r>
              <a:rPr b="1" lang="en" sz="1200">
                <a:solidFill>
                  <a:srgbClr val="000000"/>
                </a:solidFill>
                <a:latin typeface="Comfortaa"/>
                <a:ea typeface="Comfortaa"/>
                <a:cs typeface="Comfortaa"/>
                <a:sym typeface="Comfortaa"/>
              </a:rPr>
              <a:t>Developmental Psychology:</a:t>
            </a:r>
            <a:r>
              <a:rPr lang="en" sz="1200">
                <a:solidFill>
                  <a:srgbClr val="000000"/>
                </a:solidFill>
                <a:latin typeface="Comfortaa"/>
                <a:ea typeface="Comfortaa"/>
                <a:cs typeface="Comfortaa"/>
                <a:sym typeface="Comfortaa"/>
              </a:rPr>
              <a:t> Study how psychology of people changes over time. </a:t>
            </a:r>
            <a:endParaRPr sz="1200">
              <a:solidFill>
                <a:srgbClr val="000000"/>
              </a:solidFill>
              <a:latin typeface="Comfortaa"/>
              <a:ea typeface="Comfortaa"/>
              <a:cs typeface="Comfortaa"/>
              <a:sym typeface="Comfortaa"/>
            </a:endParaRPr>
          </a:p>
          <a:p>
            <a:pPr indent="0" lvl="0" marL="0" rtl="0" algn="l">
              <a:spcBef>
                <a:spcPts val="0"/>
              </a:spcBef>
              <a:spcAft>
                <a:spcPts val="0"/>
              </a:spcAft>
              <a:buNone/>
            </a:pPr>
            <a:r>
              <a:t/>
            </a:r>
            <a:endParaRPr sz="1200">
              <a:solidFill>
                <a:srgbClr val="000000"/>
              </a:solidFill>
              <a:latin typeface="Comfortaa"/>
              <a:ea typeface="Comfortaa"/>
              <a:cs typeface="Comfortaa"/>
              <a:sym typeface="Comfortaa"/>
            </a:endParaRPr>
          </a:p>
          <a:p>
            <a:pPr indent="0" lvl="0" marL="0" rtl="0" algn="l">
              <a:spcBef>
                <a:spcPts val="0"/>
              </a:spcBef>
              <a:spcAft>
                <a:spcPts val="0"/>
              </a:spcAft>
              <a:buNone/>
            </a:pPr>
            <a:r>
              <a:rPr b="1" lang="en" sz="1200">
                <a:solidFill>
                  <a:srgbClr val="000000"/>
                </a:solidFill>
                <a:latin typeface="Comfortaa"/>
                <a:ea typeface="Comfortaa"/>
                <a:cs typeface="Comfortaa"/>
                <a:sym typeface="Comfortaa"/>
              </a:rPr>
              <a:t>Social Psychology: </a:t>
            </a:r>
            <a:r>
              <a:rPr lang="en" sz="1200">
                <a:solidFill>
                  <a:srgbClr val="000000"/>
                </a:solidFill>
                <a:latin typeface="Comfortaa"/>
                <a:ea typeface="Comfortaa"/>
                <a:cs typeface="Comfortaa"/>
                <a:sym typeface="Comfortaa"/>
              </a:rPr>
              <a:t>Study how people’s thoughts and behavior are influenced by society. </a:t>
            </a:r>
            <a:endParaRPr sz="1200">
              <a:solidFill>
                <a:srgbClr val="000000"/>
              </a:solidFill>
              <a:latin typeface="Comfortaa"/>
              <a:ea typeface="Comfortaa"/>
              <a:cs typeface="Comfortaa"/>
              <a:sym typeface="Comfortaa"/>
            </a:endParaRPr>
          </a:p>
          <a:p>
            <a:pPr indent="0" lvl="0" marL="0" rtl="0" algn="l">
              <a:spcBef>
                <a:spcPts val="0"/>
              </a:spcBef>
              <a:spcAft>
                <a:spcPts val="0"/>
              </a:spcAft>
              <a:buNone/>
            </a:pPr>
            <a:r>
              <a:t/>
            </a:r>
            <a:endParaRPr sz="1200">
              <a:solidFill>
                <a:srgbClr val="000000"/>
              </a:solidFill>
              <a:latin typeface="Comfortaa"/>
              <a:ea typeface="Comfortaa"/>
              <a:cs typeface="Comfortaa"/>
              <a:sym typeface="Comfortaa"/>
            </a:endParaRPr>
          </a:p>
          <a:p>
            <a:pPr indent="0" lvl="0" marL="0" rtl="0" algn="l">
              <a:spcBef>
                <a:spcPts val="0"/>
              </a:spcBef>
              <a:spcAft>
                <a:spcPts val="0"/>
              </a:spcAft>
              <a:buNone/>
            </a:pPr>
            <a:r>
              <a:rPr b="1" lang="en" sz="1200">
                <a:solidFill>
                  <a:srgbClr val="000000"/>
                </a:solidFill>
                <a:latin typeface="Comfortaa"/>
                <a:ea typeface="Comfortaa"/>
                <a:cs typeface="Comfortaa"/>
                <a:sym typeface="Comfortaa"/>
              </a:rPr>
              <a:t>Educational Psychology: </a:t>
            </a:r>
            <a:r>
              <a:rPr lang="en" sz="1200">
                <a:solidFill>
                  <a:srgbClr val="000000"/>
                </a:solidFill>
                <a:latin typeface="Comfortaa"/>
                <a:ea typeface="Comfortaa"/>
                <a:cs typeface="Comfortaa"/>
                <a:sym typeface="Comfortaa"/>
              </a:rPr>
              <a:t>Focuses on how people learn and teaching.</a:t>
            </a:r>
            <a:endParaRPr sz="1200">
              <a:solidFill>
                <a:srgbClr val="000000"/>
              </a:solidFill>
              <a:latin typeface="Comfortaa"/>
              <a:ea typeface="Comfortaa"/>
              <a:cs typeface="Comfortaa"/>
              <a:sym typeface="Comfortaa"/>
            </a:endParaRPr>
          </a:p>
          <a:p>
            <a:pPr indent="0" lvl="0" marL="0" rtl="0" algn="l">
              <a:spcBef>
                <a:spcPts val="0"/>
              </a:spcBef>
              <a:spcAft>
                <a:spcPts val="0"/>
              </a:spcAft>
              <a:buNone/>
            </a:pPr>
            <a:r>
              <a:t/>
            </a:r>
            <a:endParaRPr sz="1200">
              <a:solidFill>
                <a:srgbClr val="000000"/>
              </a:solidFill>
              <a:latin typeface="Comfortaa"/>
              <a:ea typeface="Comfortaa"/>
              <a:cs typeface="Comfortaa"/>
              <a:sym typeface="Comfortaa"/>
            </a:endParaRPr>
          </a:p>
          <a:p>
            <a:pPr indent="0" lvl="0" marL="0" rtl="0" algn="l">
              <a:spcBef>
                <a:spcPts val="0"/>
              </a:spcBef>
              <a:spcAft>
                <a:spcPts val="0"/>
              </a:spcAft>
              <a:buNone/>
            </a:pPr>
            <a:r>
              <a:rPr lang="en" sz="1200">
                <a:solidFill>
                  <a:srgbClr val="000000"/>
                </a:solidFill>
                <a:latin typeface="Comfortaa"/>
                <a:ea typeface="Comfortaa"/>
                <a:cs typeface="Comfortaa"/>
                <a:sym typeface="Comfortaa"/>
              </a:rPr>
              <a:t>There are many other fields and subfields of psychology.</a:t>
            </a:r>
            <a:endParaRPr sz="1200">
              <a:solidFill>
                <a:srgbClr val="000000"/>
              </a:solidFill>
              <a:latin typeface="Comfortaa"/>
              <a:ea typeface="Comfortaa"/>
              <a:cs typeface="Comfortaa"/>
              <a:sym typeface="Comfortaa"/>
            </a:endParaRPr>
          </a:p>
        </p:txBody>
      </p:sp>
      <p:sp>
        <p:nvSpPr>
          <p:cNvPr id="127" name="Google Shape;127;g3f6429ab5ef_0_18"/>
          <p:cNvSpPr txBox="1"/>
          <p:nvPr>
            <p:ph idx="1" type="body"/>
          </p:nvPr>
        </p:nvSpPr>
        <p:spPr>
          <a:xfrm>
            <a:off x="4572000" y="1152475"/>
            <a:ext cx="4260300" cy="39909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b="1" lang="en" sz="1200">
                <a:solidFill>
                  <a:schemeClr val="accent1"/>
                </a:solidFill>
                <a:latin typeface="Comfortaa"/>
                <a:ea typeface="Comfortaa"/>
                <a:cs typeface="Comfortaa"/>
                <a:sym typeface="Comfortaa"/>
              </a:rPr>
              <a:t>Psicología clínica:</a:t>
            </a:r>
            <a:r>
              <a:rPr lang="en" sz="1200">
                <a:solidFill>
                  <a:schemeClr val="accent1"/>
                </a:solidFill>
                <a:latin typeface="Comfortaa"/>
                <a:ea typeface="Comfortaa"/>
                <a:cs typeface="Comfortaa"/>
                <a:sym typeface="Comfortaa"/>
              </a:rPr>
              <a:t> Se enfoca en el estudio y tratamiento de los problemas de salud mental.</a:t>
            </a:r>
            <a:endParaRPr sz="1200">
              <a:solidFill>
                <a:schemeClr val="accent1"/>
              </a:solidFill>
              <a:latin typeface="Comfortaa"/>
              <a:ea typeface="Comfortaa"/>
              <a:cs typeface="Comfortaa"/>
              <a:sym typeface="Comfortaa"/>
            </a:endParaRPr>
          </a:p>
          <a:p>
            <a:pPr indent="0" lvl="0" marL="0" rtl="0" algn="l">
              <a:spcBef>
                <a:spcPts val="1200"/>
              </a:spcBef>
              <a:spcAft>
                <a:spcPts val="0"/>
              </a:spcAft>
              <a:buClr>
                <a:schemeClr val="dk1"/>
              </a:buClr>
              <a:buSzPts val="1100"/>
              <a:buFont typeface="Arial"/>
              <a:buNone/>
            </a:pPr>
            <a:r>
              <a:rPr b="1" lang="en" sz="1200">
                <a:solidFill>
                  <a:schemeClr val="accent1"/>
                </a:solidFill>
                <a:latin typeface="Comfortaa"/>
                <a:ea typeface="Comfortaa"/>
                <a:cs typeface="Comfortaa"/>
                <a:sym typeface="Comfortaa"/>
              </a:rPr>
              <a:t>Psicología cognitiva: </a:t>
            </a:r>
            <a:r>
              <a:rPr lang="en" sz="1200">
                <a:solidFill>
                  <a:schemeClr val="accent1"/>
                </a:solidFill>
                <a:latin typeface="Comfortaa"/>
                <a:ea typeface="Comfortaa"/>
                <a:cs typeface="Comfortaa"/>
                <a:sym typeface="Comfortaa"/>
              </a:rPr>
              <a:t>El estudio de los procesos mentales y de cómo las personas piensan.</a:t>
            </a:r>
            <a:endParaRPr sz="1200">
              <a:solidFill>
                <a:schemeClr val="accent1"/>
              </a:solidFill>
              <a:latin typeface="Comfortaa"/>
              <a:ea typeface="Comfortaa"/>
              <a:cs typeface="Comfortaa"/>
              <a:sym typeface="Comfortaa"/>
            </a:endParaRPr>
          </a:p>
          <a:p>
            <a:pPr indent="0" lvl="0" marL="0" rtl="0" algn="l">
              <a:spcBef>
                <a:spcPts val="1200"/>
              </a:spcBef>
              <a:spcAft>
                <a:spcPts val="0"/>
              </a:spcAft>
              <a:buClr>
                <a:schemeClr val="dk1"/>
              </a:buClr>
              <a:buSzPts val="1100"/>
              <a:buFont typeface="Arial"/>
              <a:buNone/>
            </a:pPr>
            <a:r>
              <a:rPr b="1" lang="en" sz="1200">
                <a:solidFill>
                  <a:schemeClr val="accent1"/>
                </a:solidFill>
                <a:latin typeface="Comfortaa"/>
                <a:ea typeface="Comfortaa"/>
                <a:cs typeface="Comfortaa"/>
                <a:sym typeface="Comfortaa"/>
              </a:rPr>
              <a:t>Psicología del desarrollo: </a:t>
            </a:r>
            <a:r>
              <a:rPr lang="en" sz="1200">
                <a:solidFill>
                  <a:schemeClr val="accent1"/>
                </a:solidFill>
                <a:latin typeface="Comfortaa"/>
                <a:ea typeface="Comfortaa"/>
                <a:cs typeface="Comfortaa"/>
                <a:sym typeface="Comfortaa"/>
              </a:rPr>
              <a:t>Estudia cómo la psicología de las personas cambia con el tiempo.</a:t>
            </a:r>
            <a:endParaRPr sz="1200">
              <a:solidFill>
                <a:schemeClr val="accent1"/>
              </a:solidFill>
              <a:latin typeface="Comfortaa"/>
              <a:ea typeface="Comfortaa"/>
              <a:cs typeface="Comfortaa"/>
              <a:sym typeface="Comfortaa"/>
            </a:endParaRPr>
          </a:p>
          <a:p>
            <a:pPr indent="0" lvl="0" marL="0" rtl="0" algn="l">
              <a:spcBef>
                <a:spcPts val="1200"/>
              </a:spcBef>
              <a:spcAft>
                <a:spcPts val="0"/>
              </a:spcAft>
              <a:buClr>
                <a:schemeClr val="dk1"/>
              </a:buClr>
              <a:buSzPts val="1100"/>
              <a:buFont typeface="Arial"/>
              <a:buNone/>
            </a:pPr>
            <a:r>
              <a:rPr b="1" lang="en" sz="1200">
                <a:solidFill>
                  <a:schemeClr val="accent1"/>
                </a:solidFill>
                <a:latin typeface="Comfortaa"/>
                <a:ea typeface="Comfortaa"/>
                <a:cs typeface="Comfortaa"/>
                <a:sym typeface="Comfortaa"/>
              </a:rPr>
              <a:t>Psicología social: </a:t>
            </a:r>
            <a:r>
              <a:rPr lang="en" sz="1200">
                <a:solidFill>
                  <a:schemeClr val="accent1"/>
                </a:solidFill>
                <a:latin typeface="Comfortaa"/>
                <a:ea typeface="Comfortaa"/>
                <a:cs typeface="Comfortaa"/>
                <a:sym typeface="Comfortaa"/>
              </a:rPr>
              <a:t>Estudia cómo los pensamientos y el comportamiento de las personas son influenciados por la sociedad.</a:t>
            </a:r>
            <a:endParaRPr sz="1200">
              <a:solidFill>
                <a:schemeClr val="accent1"/>
              </a:solidFill>
              <a:latin typeface="Comfortaa"/>
              <a:ea typeface="Comfortaa"/>
              <a:cs typeface="Comfortaa"/>
              <a:sym typeface="Comfortaa"/>
            </a:endParaRPr>
          </a:p>
          <a:p>
            <a:pPr indent="0" lvl="0" marL="0" rtl="0" algn="l">
              <a:spcBef>
                <a:spcPts val="1200"/>
              </a:spcBef>
              <a:spcAft>
                <a:spcPts val="0"/>
              </a:spcAft>
              <a:buClr>
                <a:schemeClr val="dk1"/>
              </a:buClr>
              <a:buSzPts val="1100"/>
              <a:buFont typeface="Arial"/>
              <a:buNone/>
            </a:pPr>
            <a:r>
              <a:rPr b="1" lang="en" sz="1200">
                <a:solidFill>
                  <a:schemeClr val="accent1"/>
                </a:solidFill>
                <a:latin typeface="Comfortaa"/>
                <a:ea typeface="Comfortaa"/>
                <a:cs typeface="Comfortaa"/>
                <a:sym typeface="Comfortaa"/>
              </a:rPr>
              <a:t>Psicología educativa: </a:t>
            </a:r>
            <a:r>
              <a:rPr lang="en" sz="1200">
                <a:solidFill>
                  <a:schemeClr val="accent1"/>
                </a:solidFill>
                <a:latin typeface="Comfortaa"/>
                <a:ea typeface="Comfortaa"/>
                <a:cs typeface="Comfortaa"/>
                <a:sym typeface="Comfortaa"/>
              </a:rPr>
              <a:t>Se enfoca en cómo aprenden las personas y en la enseñanza.</a:t>
            </a:r>
            <a:endParaRPr sz="1200">
              <a:solidFill>
                <a:schemeClr val="accent1"/>
              </a:solidFill>
              <a:latin typeface="Comfortaa"/>
              <a:ea typeface="Comfortaa"/>
              <a:cs typeface="Comfortaa"/>
              <a:sym typeface="Comfortaa"/>
            </a:endParaRPr>
          </a:p>
          <a:p>
            <a:pPr indent="0" lvl="0" marL="0" rtl="0" algn="l">
              <a:spcBef>
                <a:spcPts val="1200"/>
              </a:spcBef>
              <a:spcAft>
                <a:spcPts val="1200"/>
              </a:spcAft>
              <a:buNone/>
            </a:pPr>
            <a:r>
              <a:rPr lang="en" sz="1200">
                <a:solidFill>
                  <a:schemeClr val="accent1"/>
                </a:solidFill>
                <a:latin typeface="Comfortaa"/>
                <a:ea typeface="Comfortaa"/>
                <a:cs typeface="Comfortaa"/>
                <a:sym typeface="Comfortaa"/>
              </a:rPr>
              <a:t>Hay muchos otros campos y subcampos de la psicología.</a:t>
            </a:r>
            <a:endParaRPr sz="1200">
              <a:solidFill>
                <a:schemeClr val="accent1"/>
              </a:solidFill>
              <a:latin typeface="Comfortaa"/>
              <a:ea typeface="Comfortaa"/>
              <a:cs typeface="Comfortaa"/>
              <a:sym typeface="Comforta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37"/>
          <p:cNvSpPr txBox="1"/>
          <p:nvPr>
            <p:ph idx="4294967295" type="ctrTitle"/>
          </p:nvPr>
        </p:nvSpPr>
        <p:spPr>
          <a:xfrm>
            <a:off x="311700" y="608825"/>
            <a:ext cx="8520600" cy="913200"/>
          </a:xfrm>
          <a:prstGeom prst="rect">
            <a:avLst/>
          </a:prstGeom>
          <a:noFill/>
          <a:ln>
            <a:noFill/>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Clr>
                <a:schemeClr val="dk1"/>
              </a:buClr>
              <a:buSzPts val="2800"/>
              <a:buFont typeface="Arial"/>
              <a:buNone/>
            </a:pPr>
            <a:r>
              <a:rPr b="0" i="0" lang="en" sz="4400" u="none" cap="none" strike="noStrike">
                <a:solidFill>
                  <a:schemeClr val="dk1"/>
                </a:solidFill>
                <a:latin typeface="Arial"/>
                <a:ea typeface="Arial"/>
                <a:cs typeface="Arial"/>
                <a:sym typeface="Arial"/>
              </a:rPr>
              <a:t>Psychology </a:t>
            </a:r>
            <a:r>
              <a:rPr lang="en" sz="4400"/>
              <a:t>T</a:t>
            </a:r>
            <a:r>
              <a:rPr b="0" i="0" lang="en" sz="4400" u="none" cap="none" strike="noStrike">
                <a:solidFill>
                  <a:schemeClr val="dk1"/>
                </a:solidFill>
                <a:latin typeface="Arial"/>
                <a:ea typeface="Arial"/>
                <a:cs typeface="Arial"/>
                <a:sym typeface="Arial"/>
              </a:rPr>
              <a:t>oday</a:t>
            </a:r>
            <a:endParaRPr b="0" i="0" sz="4400" u="none" cap="none" strike="noStrike">
              <a:solidFill>
                <a:schemeClr val="dk1"/>
              </a:solidFill>
              <a:latin typeface="Arial"/>
              <a:ea typeface="Arial"/>
              <a:cs typeface="Arial"/>
              <a:sym typeface="Arial"/>
            </a:endParaRPr>
          </a:p>
        </p:txBody>
      </p:sp>
      <p:pic>
        <p:nvPicPr>
          <p:cNvPr id="133" name="Google Shape;133;p37"/>
          <p:cNvPicPr preferRelativeResize="0"/>
          <p:nvPr/>
        </p:nvPicPr>
        <p:blipFill rotWithShape="1">
          <a:blip r:embed="rId3">
            <a:alphaModFix/>
          </a:blip>
          <a:srcRect b="0" l="4516" r="0" t="0"/>
          <a:stretch/>
        </p:blipFill>
        <p:spPr>
          <a:xfrm>
            <a:off x="2214850" y="1669350"/>
            <a:ext cx="4948300" cy="33166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3f6456eb57b_0_22"/>
          <p:cNvSpPr txBox="1"/>
          <p:nvPr>
            <p:ph type="title"/>
          </p:nvPr>
        </p:nvSpPr>
        <p:spPr>
          <a:xfrm>
            <a:off x="311700" y="792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latin typeface="Comfortaa"/>
                <a:ea typeface="Comfortaa"/>
                <a:cs typeface="Comfortaa"/>
                <a:sym typeface="Comfortaa"/>
              </a:rPr>
              <a:t>Trends in Current Psychology Research</a:t>
            </a:r>
            <a:endParaRPr b="1">
              <a:latin typeface="Comfortaa"/>
              <a:ea typeface="Comfortaa"/>
              <a:cs typeface="Comfortaa"/>
              <a:sym typeface="Comfortaa"/>
            </a:endParaRPr>
          </a:p>
          <a:p>
            <a:pPr indent="0" lvl="0" marL="0" rtl="0" algn="l">
              <a:lnSpc>
                <a:spcPct val="100000"/>
              </a:lnSpc>
              <a:spcBef>
                <a:spcPts val="0"/>
              </a:spcBef>
              <a:spcAft>
                <a:spcPts val="0"/>
              </a:spcAft>
              <a:buSzPct val="153863"/>
              <a:buNone/>
            </a:pPr>
            <a:r>
              <a:rPr b="1" lang="en" sz="2022">
                <a:solidFill>
                  <a:schemeClr val="accent1"/>
                </a:solidFill>
                <a:latin typeface="Comfortaa"/>
                <a:ea typeface="Comfortaa"/>
                <a:cs typeface="Comfortaa"/>
                <a:sym typeface="Comfortaa"/>
              </a:rPr>
              <a:t>Tendencias en la investigación psicológica actual</a:t>
            </a:r>
            <a:endParaRPr b="1" sz="2022">
              <a:solidFill>
                <a:schemeClr val="accent1"/>
              </a:solidFill>
              <a:latin typeface="Comfortaa"/>
              <a:ea typeface="Comfortaa"/>
              <a:cs typeface="Comfortaa"/>
              <a:sym typeface="Comfortaa"/>
            </a:endParaRPr>
          </a:p>
        </p:txBody>
      </p:sp>
      <p:sp>
        <p:nvSpPr>
          <p:cNvPr id="139" name="Google Shape;139;g3f6456eb57b_0_22"/>
          <p:cNvSpPr txBox="1"/>
          <p:nvPr>
            <p:ph idx="1" type="body"/>
          </p:nvPr>
        </p:nvSpPr>
        <p:spPr>
          <a:xfrm>
            <a:off x="311700" y="857700"/>
            <a:ext cx="8520600" cy="26364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Clr>
                <a:schemeClr val="dk1"/>
              </a:buClr>
              <a:buSzPts val="1400"/>
              <a:buAutoNum type="arabicPeriod"/>
            </a:pPr>
            <a:r>
              <a:rPr b="1" lang="en" sz="1400">
                <a:solidFill>
                  <a:schemeClr val="dk1"/>
                </a:solidFill>
                <a:latin typeface="Comfortaa"/>
                <a:ea typeface="Comfortaa"/>
                <a:cs typeface="Comfortaa"/>
                <a:sym typeface="Comfortaa"/>
              </a:rPr>
              <a:t>Neuroscience &amp; Brain Imaging:</a:t>
            </a:r>
            <a:r>
              <a:rPr lang="en" sz="1400">
                <a:solidFill>
                  <a:schemeClr val="dk1"/>
                </a:solidFill>
                <a:latin typeface="Comfortaa"/>
                <a:ea typeface="Comfortaa"/>
                <a:cs typeface="Comfortaa"/>
                <a:sym typeface="Comfortaa"/>
              </a:rPr>
              <a:t> Using fMRI, EEG, and other brain scans to study thoughts, emotions, and behavior.</a:t>
            </a:r>
            <a:endParaRPr sz="1400">
              <a:solidFill>
                <a:schemeClr val="dk1"/>
              </a:solidFill>
              <a:latin typeface="Comfortaa"/>
              <a:ea typeface="Comfortaa"/>
              <a:cs typeface="Comfortaa"/>
              <a:sym typeface="Comfortaa"/>
            </a:endParaRPr>
          </a:p>
          <a:p>
            <a:pPr indent="0" lvl="0" marL="0" rtl="0" algn="l">
              <a:lnSpc>
                <a:spcPct val="115000"/>
              </a:lnSpc>
              <a:spcBef>
                <a:spcPts val="0"/>
              </a:spcBef>
              <a:spcAft>
                <a:spcPts val="0"/>
              </a:spcAft>
              <a:buNone/>
            </a:pPr>
            <a:r>
              <a:t/>
            </a:r>
            <a:endParaRPr sz="1400">
              <a:solidFill>
                <a:schemeClr val="dk1"/>
              </a:solidFill>
              <a:latin typeface="Comfortaa"/>
              <a:ea typeface="Comfortaa"/>
              <a:cs typeface="Comfortaa"/>
              <a:sym typeface="Comfortaa"/>
            </a:endParaRPr>
          </a:p>
          <a:p>
            <a:pPr indent="0" lvl="0" marL="0" rtl="0" algn="l">
              <a:lnSpc>
                <a:spcPct val="115000"/>
              </a:lnSpc>
              <a:spcBef>
                <a:spcPts val="0"/>
              </a:spcBef>
              <a:spcAft>
                <a:spcPts val="0"/>
              </a:spcAft>
              <a:buNone/>
            </a:pPr>
            <a:r>
              <a:t/>
            </a:r>
            <a:endParaRPr sz="1400">
              <a:solidFill>
                <a:schemeClr val="dk1"/>
              </a:solidFill>
              <a:latin typeface="Comfortaa"/>
              <a:ea typeface="Comfortaa"/>
              <a:cs typeface="Comfortaa"/>
              <a:sym typeface="Comfortaa"/>
            </a:endParaRPr>
          </a:p>
        </p:txBody>
      </p:sp>
      <p:sp>
        <p:nvSpPr>
          <p:cNvPr id="140" name="Google Shape;140;g3f6456eb57b_0_22"/>
          <p:cNvSpPr txBox="1"/>
          <p:nvPr>
            <p:ph idx="1" type="body"/>
          </p:nvPr>
        </p:nvSpPr>
        <p:spPr>
          <a:xfrm>
            <a:off x="311700" y="2942325"/>
            <a:ext cx="8520600" cy="2262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accent1"/>
              </a:buClr>
              <a:buSzPts val="1400"/>
              <a:buFont typeface="Comfortaa"/>
              <a:buAutoNum type="arabicPeriod"/>
            </a:pPr>
            <a:r>
              <a:rPr b="1" lang="en" sz="1400">
                <a:solidFill>
                  <a:schemeClr val="accent1"/>
                </a:solidFill>
                <a:latin typeface="Comfortaa"/>
                <a:ea typeface="Comfortaa"/>
                <a:cs typeface="Comfortaa"/>
                <a:sym typeface="Comfortaa"/>
              </a:rPr>
              <a:t>Neurociencia y Neuroimagen:</a:t>
            </a:r>
            <a:r>
              <a:rPr lang="en" sz="1400">
                <a:solidFill>
                  <a:schemeClr val="accent1"/>
                </a:solidFill>
                <a:latin typeface="Comfortaa"/>
                <a:ea typeface="Comfortaa"/>
                <a:cs typeface="Comfortaa"/>
                <a:sym typeface="Comfortaa"/>
              </a:rPr>
              <a:t> Uso de fMRI, EEG y otros escaneos cerebrales para estudiar pensamientos, emociones y comportamiento.</a:t>
            </a:r>
            <a:endParaRPr sz="1400">
              <a:solidFill>
                <a:schemeClr val="accent1"/>
              </a:solidFill>
              <a:latin typeface="Comfortaa"/>
              <a:ea typeface="Comfortaa"/>
              <a:cs typeface="Comfortaa"/>
              <a:sym typeface="Comfortaa"/>
            </a:endParaRPr>
          </a:p>
          <a:p>
            <a:pPr indent="0" lvl="0" marL="0" rtl="0" algn="l">
              <a:lnSpc>
                <a:spcPct val="115000"/>
              </a:lnSpc>
              <a:spcBef>
                <a:spcPts val="0"/>
              </a:spcBef>
              <a:spcAft>
                <a:spcPts val="0"/>
              </a:spcAft>
              <a:buNone/>
            </a:pPr>
            <a:r>
              <a:t/>
            </a:r>
            <a:endParaRPr sz="1400">
              <a:solidFill>
                <a:schemeClr val="accent1"/>
              </a:solidFill>
              <a:latin typeface="Comfortaa"/>
              <a:ea typeface="Comfortaa"/>
              <a:cs typeface="Comfortaa"/>
              <a:sym typeface="Comforta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f6456eb57b_0_16"/>
          <p:cNvSpPr txBox="1"/>
          <p:nvPr>
            <p:ph type="title"/>
          </p:nvPr>
        </p:nvSpPr>
        <p:spPr>
          <a:xfrm>
            <a:off x="311700" y="792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latin typeface="Comfortaa"/>
                <a:ea typeface="Comfortaa"/>
                <a:cs typeface="Comfortaa"/>
                <a:sym typeface="Comfortaa"/>
              </a:rPr>
              <a:t>Trends in Current Psychology Research</a:t>
            </a:r>
            <a:endParaRPr b="1">
              <a:latin typeface="Comfortaa"/>
              <a:ea typeface="Comfortaa"/>
              <a:cs typeface="Comfortaa"/>
              <a:sym typeface="Comfortaa"/>
            </a:endParaRPr>
          </a:p>
          <a:p>
            <a:pPr indent="0" lvl="0" marL="0" rtl="0" algn="l">
              <a:lnSpc>
                <a:spcPct val="100000"/>
              </a:lnSpc>
              <a:spcBef>
                <a:spcPts val="0"/>
              </a:spcBef>
              <a:spcAft>
                <a:spcPts val="0"/>
              </a:spcAft>
              <a:buSzPct val="153863"/>
              <a:buNone/>
            </a:pPr>
            <a:r>
              <a:rPr b="1" lang="en" sz="2022">
                <a:solidFill>
                  <a:schemeClr val="accent1"/>
                </a:solidFill>
                <a:latin typeface="Comfortaa"/>
                <a:ea typeface="Comfortaa"/>
                <a:cs typeface="Comfortaa"/>
                <a:sym typeface="Comfortaa"/>
              </a:rPr>
              <a:t>Tendencias en la investigación psicológica actual</a:t>
            </a:r>
            <a:endParaRPr b="1" sz="2022">
              <a:solidFill>
                <a:schemeClr val="accent1"/>
              </a:solidFill>
              <a:latin typeface="Comfortaa"/>
              <a:ea typeface="Comfortaa"/>
              <a:cs typeface="Comfortaa"/>
              <a:sym typeface="Comfortaa"/>
            </a:endParaRPr>
          </a:p>
        </p:txBody>
      </p:sp>
      <p:sp>
        <p:nvSpPr>
          <p:cNvPr id="146" name="Google Shape;146;g3f6456eb57b_0_16"/>
          <p:cNvSpPr txBox="1"/>
          <p:nvPr>
            <p:ph idx="1" type="body"/>
          </p:nvPr>
        </p:nvSpPr>
        <p:spPr>
          <a:xfrm>
            <a:off x="311700" y="857700"/>
            <a:ext cx="8520600" cy="26364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Clr>
                <a:schemeClr val="dk1"/>
              </a:buClr>
              <a:buSzPts val="1400"/>
              <a:buAutoNum type="arabicPeriod"/>
            </a:pPr>
            <a:r>
              <a:rPr b="1" lang="en" sz="1400">
                <a:solidFill>
                  <a:schemeClr val="dk1"/>
                </a:solidFill>
                <a:latin typeface="Comfortaa"/>
                <a:ea typeface="Comfortaa"/>
                <a:cs typeface="Comfortaa"/>
                <a:sym typeface="Comfortaa"/>
              </a:rPr>
              <a:t>Neuroscience &amp; Brain Imaging:</a:t>
            </a:r>
            <a:r>
              <a:rPr lang="en" sz="1400">
                <a:solidFill>
                  <a:schemeClr val="dk1"/>
                </a:solidFill>
                <a:latin typeface="Comfortaa"/>
                <a:ea typeface="Comfortaa"/>
                <a:cs typeface="Comfortaa"/>
                <a:sym typeface="Comfortaa"/>
              </a:rPr>
              <a:t> Using fMRI, EEG, and other brain scans to study thoughts, emotions, and behavior.</a:t>
            </a:r>
            <a:endParaRPr sz="1400">
              <a:solidFill>
                <a:schemeClr val="dk1"/>
              </a:solidFill>
              <a:latin typeface="Comfortaa"/>
              <a:ea typeface="Comfortaa"/>
              <a:cs typeface="Comfortaa"/>
              <a:sym typeface="Comfortaa"/>
            </a:endParaRPr>
          </a:p>
          <a:p>
            <a:pPr indent="-317500" lvl="0" marL="457200" rtl="0" algn="l">
              <a:lnSpc>
                <a:spcPct val="115000"/>
              </a:lnSpc>
              <a:spcBef>
                <a:spcPts val="0"/>
              </a:spcBef>
              <a:spcAft>
                <a:spcPts val="0"/>
              </a:spcAft>
              <a:buClr>
                <a:schemeClr val="dk1"/>
              </a:buClr>
              <a:buSzPts val="1400"/>
              <a:buFont typeface="Comfortaa"/>
              <a:buAutoNum type="arabicPeriod"/>
            </a:pPr>
            <a:r>
              <a:rPr b="1" lang="en" sz="1400">
                <a:solidFill>
                  <a:schemeClr val="dk1"/>
                </a:solidFill>
                <a:latin typeface="Comfortaa"/>
                <a:ea typeface="Comfortaa"/>
                <a:cs typeface="Comfortaa"/>
                <a:sym typeface="Comfortaa"/>
              </a:rPr>
              <a:t>Genetics &amp; Epigenetics:</a:t>
            </a:r>
            <a:r>
              <a:rPr lang="en" sz="1400">
                <a:solidFill>
                  <a:schemeClr val="dk1"/>
                </a:solidFill>
                <a:latin typeface="Comfortaa"/>
                <a:ea typeface="Comfortaa"/>
                <a:cs typeface="Comfortaa"/>
                <a:sym typeface="Comfortaa"/>
              </a:rPr>
              <a:t> Studying how genes and environment interact to influence mental health and behavior.</a:t>
            </a:r>
            <a:endParaRPr sz="1400">
              <a:solidFill>
                <a:schemeClr val="dk1"/>
              </a:solidFill>
              <a:latin typeface="Comfortaa"/>
              <a:ea typeface="Comfortaa"/>
              <a:cs typeface="Comfortaa"/>
              <a:sym typeface="Comfortaa"/>
            </a:endParaRPr>
          </a:p>
          <a:p>
            <a:pPr indent="0" lvl="0" marL="0" rtl="0" algn="l">
              <a:lnSpc>
                <a:spcPct val="115000"/>
              </a:lnSpc>
              <a:spcBef>
                <a:spcPts val="0"/>
              </a:spcBef>
              <a:spcAft>
                <a:spcPts val="0"/>
              </a:spcAft>
              <a:buNone/>
            </a:pPr>
            <a:r>
              <a:t/>
            </a:r>
            <a:endParaRPr sz="1400">
              <a:solidFill>
                <a:schemeClr val="dk1"/>
              </a:solidFill>
              <a:latin typeface="Comfortaa"/>
              <a:ea typeface="Comfortaa"/>
              <a:cs typeface="Comfortaa"/>
              <a:sym typeface="Comfortaa"/>
            </a:endParaRPr>
          </a:p>
        </p:txBody>
      </p:sp>
      <p:sp>
        <p:nvSpPr>
          <p:cNvPr id="147" name="Google Shape;147;g3f6456eb57b_0_16"/>
          <p:cNvSpPr txBox="1"/>
          <p:nvPr>
            <p:ph idx="1" type="body"/>
          </p:nvPr>
        </p:nvSpPr>
        <p:spPr>
          <a:xfrm>
            <a:off x="311700" y="2942325"/>
            <a:ext cx="8520600" cy="2262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accent1"/>
              </a:buClr>
              <a:buSzPts val="1400"/>
              <a:buFont typeface="Comfortaa"/>
              <a:buAutoNum type="arabicPeriod"/>
            </a:pPr>
            <a:r>
              <a:rPr b="1" lang="en" sz="1400">
                <a:solidFill>
                  <a:schemeClr val="accent1"/>
                </a:solidFill>
                <a:latin typeface="Comfortaa"/>
                <a:ea typeface="Comfortaa"/>
                <a:cs typeface="Comfortaa"/>
                <a:sym typeface="Comfortaa"/>
              </a:rPr>
              <a:t>Neurociencia y Neuroimagen:</a:t>
            </a:r>
            <a:r>
              <a:rPr lang="en" sz="1400">
                <a:solidFill>
                  <a:schemeClr val="accent1"/>
                </a:solidFill>
                <a:latin typeface="Comfortaa"/>
                <a:ea typeface="Comfortaa"/>
                <a:cs typeface="Comfortaa"/>
                <a:sym typeface="Comfortaa"/>
              </a:rPr>
              <a:t> Uso de fMRI, EEG y otros escaneos cerebrales para estudiar pensamientos, emociones y comportamiento.</a:t>
            </a:r>
            <a:endParaRPr sz="1400">
              <a:solidFill>
                <a:schemeClr val="accent1"/>
              </a:solidFill>
              <a:latin typeface="Comfortaa"/>
              <a:ea typeface="Comfortaa"/>
              <a:cs typeface="Comfortaa"/>
              <a:sym typeface="Comfortaa"/>
            </a:endParaRPr>
          </a:p>
          <a:p>
            <a:pPr indent="-317500" lvl="0" marL="457200" rtl="0" algn="l">
              <a:lnSpc>
                <a:spcPct val="115000"/>
              </a:lnSpc>
              <a:spcBef>
                <a:spcPts val="0"/>
              </a:spcBef>
              <a:spcAft>
                <a:spcPts val="0"/>
              </a:spcAft>
              <a:buClr>
                <a:schemeClr val="accent1"/>
              </a:buClr>
              <a:buSzPts val="1400"/>
              <a:buFont typeface="Comfortaa"/>
              <a:buAutoNum type="arabicPeriod"/>
            </a:pPr>
            <a:r>
              <a:rPr b="1" lang="en" sz="1400">
                <a:solidFill>
                  <a:schemeClr val="accent1"/>
                </a:solidFill>
                <a:latin typeface="Comfortaa"/>
                <a:ea typeface="Comfortaa"/>
                <a:cs typeface="Comfortaa"/>
                <a:sym typeface="Comfortaa"/>
              </a:rPr>
              <a:t>Genética y Epigenética:</a:t>
            </a:r>
            <a:r>
              <a:rPr lang="en" sz="1400">
                <a:solidFill>
                  <a:schemeClr val="accent1"/>
                </a:solidFill>
                <a:latin typeface="Comfortaa"/>
                <a:ea typeface="Comfortaa"/>
                <a:cs typeface="Comfortaa"/>
                <a:sym typeface="Comfortaa"/>
              </a:rPr>
              <a:t> Estudio de cómo los genes y el ambiente interactúan para influir en la salud mental y el comportamiento.</a:t>
            </a:r>
            <a:endParaRPr sz="1400">
              <a:solidFill>
                <a:schemeClr val="accent1"/>
              </a:solidFill>
              <a:latin typeface="Comfortaa"/>
              <a:ea typeface="Comfortaa"/>
              <a:cs typeface="Comfortaa"/>
              <a:sym typeface="Comforta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f6456eb57b_0_10"/>
          <p:cNvSpPr txBox="1"/>
          <p:nvPr>
            <p:ph type="title"/>
          </p:nvPr>
        </p:nvSpPr>
        <p:spPr>
          <a:xfrm>
            <a:off x="311700" y="792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latin typeface="Comfortaa"/>
                <a:ea typeface="Comfortaa"/>
                <a:cs typeface="Comfortaa"/>
                <a:sym typeface="Comfortaa"/>
              </a:rPr>
              <a:t>Trends in Current Psychology Research</a:t>
            </a:r>
            <a:endParaRPr b="1">
              <a:latin typeface="Comfortaa"/>
              <a:ea typeface="Comfortaa"/>
              <a:cs typeface="Comfortaa"/>
              <a:sym typeface="Comfortaa"/>
            </a:endParaRPr>
          </a:p>
          <a:p>
            <a:pPr indent="0" lvl="0" marL="0" rtl="0" algn="l">
              <a:lnSpc>
                <a:spcPct val="100000"/>
              </a:lnSpc>
              <a:spcBef>
                <a:spcPts val="0"/>
              </a:spcBef>
              <a:spcAft>
                <a:spcPts val="0"/>
              </a:spcAft>
              <a:buSzPct val="153863"/>
              <a:buNone/>
            </a:pPr>
            <a:r>
              <a:rPr b="1" lang="en" sz="2022">
                <a:solidFill>
                  <a:schemeClr val="accent1"/>
                </a:solidFill>
                <a:latin typeface="Comfortaa"/>
                <a:ea typeface="Comfortaa"/>
                <a:cs typeface="Comfortaa"/>
                <a:sym typeface="Comfortaa"/>
              </a:rPr>
              <a:t>Tendencias en la investigación psicológica actual</a:t>
            </a:r>
            <a:endParaRPr b="1" sz="2022">
              <a:solidFill>
                <a:schemeClr val="accent1"/>
              </a:solidFill>
              <a:latin typeface="Comfortaa"/>
              <a:ea typeface="Comfortaa"/>
              <a:cs typeface="Comfortaa"/>
              <a:sym typeface="Comfortaa"/>
            </a:endParaRPr>
          </a:p>
        </p:txBody>
      </p:sp>
      <p:sp>
        <p:nvSpPr>
          <p:cNvPr id="153" name="Google Shape;153;g3f6456eb57b_0_10"/>
          <p:cNvSpPr txBox="1"/>
          <p:nvPr>
            <p:ph idx="1" type="body"/>
          </p:nvPr>
        </p:nvSpPr>
        <p:spPr>
          <a:xfrm>
            <a:off x="311700" y="857700"/>
            <a:ext cx="8520600" cy="26364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Clr>
                <a:schemeClr val="dk1"/>
              </a:buClr>
              <a:buSzPts val="1400"/>
              <a:buAutoNum type="arabicPeriod"/>
            </a:pPr>
            <a:r>
              <a:rPr b="1" lang="en" sz="1400">
                <a:solidFill>
                  <a:schemeClr val="dk1"/>
                </a:solidFill>
                <a:latin typeface="Comfortaa"/>
                <a:ea typeface="Comfortaa"/>
                <a:cs typeface="Comfortaa"/>
                <a:sym typeface="Comfortaa"/>
              </a:rPr>
              <a:t>Neuroscience &amp; Brain Imaging:</a:t>
            </a:r>
            <a:r>
              <a:rPr lang="en" sz="1400">
                <a:solidFill>
                  <a:schemeClr val="dk1"/>
                </a:solidFill>
                <a:latin typeface="Comfortaa"/>
                <a:ea typeface="Comfortaa"/>
                <a:cs typeface="Comfortaa"/>
                <a:sym typeface="Comfortaa"/>
              </a:rPr>
              <a:t> Using fMRI, EEG, and other brain scans to study thoughts, emotions, and behavior.</a:t>
            </a:r>
            <a:endParaRPr sz="1400">
              <a:solidFill>
                <a:schemeClr val="dk1"/>
              </a:solidFill>
              <a:latin typeface="Comfortaa"/>
              <a:ea typeface="Comfortaa"/>
              <a:cs typeface="Comfortaa"/>
              <a:sym typeface="Comfortaa"/>
            </a:endParaRPr>
          </a:p>
          <a:p>
            <a:pPr indent="-317500" lvl="0" marL="457200" rtl="0" algn="l">
              <a:lnSpc>
                <a:spcPct val="115000"/>
              </a:lnSpc>
              <a:spcBef>
                <a:spcPts val="0"/>
              </a:spcBef>
              <a:spcAft>
                <a:spcPts val="0"/>
              </a:spcAft>
              <a:buClr>
                <a:schemeClr val="dk1"/>
              </a:buClr>
              <a:buSzPts val="1400"/>
              <a:buFont typeface="Comfortaa"/>
              <a:buAutoNum type="arabicPeriod"/>
            </a:pPr>
            <a:r>
              <a:rPr b="1" lang="en" sz="1400">
                <a:solidFill>
                  <a:schemeClr val="dk1"/>
                </a:solidFill>
                <a:latin typeface="Comfortaa"/>
                <a:ea typeface="Comfortaa"/>
                <a:cs typeface="Comfortaa"/>
                <a:sym typeface="Comfortaa"/>
              </a:rPr>
              <a:t>Genetics &amp; Epigenetics:</a:t>
            </a:r>
            <a:r>
              <a:rPr lang="en" sz="1400">
                <a:solidFill>
                  <a:schemeClr val="dk1"/>
                </a:solidFill>
                <a:latin typeface="Comfortaa"/>
                <a:ea typeface="Comfortaa"/>
                <a:cs typeface="Comfortaa"/>
                <a:sym typeface="Comfortaa"/>
              </a:rPr>
              <a:t> Studying how genes and environment interact to influence mental health and behavior.</a:t>
            </a:r>
            <a:endParaRPr sz="1400">
              <a:solidFill>
                <a:schemeClr val="dk1"/>
              </a:solidFill>
              <a:latin typeface="Comfortaa"/>
              <a:ea typeface="Comfortaa"/>
              <a:cs typeface="Comfortaa"/>
              <a:sym typeface="Comfortaa"/>
            </a:endParaRPr>
          </a:p>
          <a:p>
            <a:pPr indent="-317500" lvl="0" marL="457200" rtl="0" algn="l">
              <a:lnSpc>
                <a:spcPct val="115000"/>
              </a:lnSpc>
              <a:spcBef>
                <a:spcPts val="0"/>
              </a:spcBef>
              <a:spcAft>
                <a:spcPts val="0"/>
              </a:spcAft>
              <a:buClr>
                <a:schemeClr val="dk1"/>
              </a:buClr>
              <a:buSzPts val="1400"/>
              <a:buFont typeface="Comfortaa"/>
              <a:buAutoNum type="arabicPeriod"/>
            </a:pPr>
            <a:r>
              <a:rPr b="1" lang="en" sz="1400">
                <a:solidFill>
                  <a:schemeClr val="dk1"/>
                </a:solidFill>
                <a:latin typeface="Comfortaa"/>
                <a:ea typeface="Comfortaa"/>
                <a:cs typeface="Comfortaa"/>
                <a:sym typeface="Comfortaa"/>
              </a:rPr>
              <a:t>Cross-Cultural Psychology:</a:t>
            </a:r>
            <a:r>
              <a:rPr lang="en" sz="1400">
                <a:solidFill>
                  <a:schemeClr val="dk1"/>
                </a:solidFill>
                <a:latin typeface="Comfortaa"/>
                <a:ea typeface="Comfortaa"/>
                <a:cs typeface="Comfortaa"/>
                <a:sym typeface="Comfortaa"/>
              </a:rPr>
              <a:t> Researching how culture affects cognition, emotion, and social behavior.</a:t>
            </a:r>
            <a:endParaRPr sz="1400">
              <a:solidFill>
                <a:schemeClr val="dk1"/>
              </a:solidFill>
              <a:latin typeface="Comfortaa"/>
              <a:ea typeface="Comfortaa"/>
              <a:cs typeface="Comfortaa"/>
              <a:sym typeface="Comfortaa"/>
            </a:endParaRPr>
          </a:p>
          <a:p>
            <a:pPr indent="0" lvl="0" marL="0" rtl="0" algn="l">
              <a:lnSpc>
                <a:spcPct val="115000"/>
              </a:lnSpc>
              <a:spcBef>
                <a:spcPts val="0"/>
              </a:spcBef>
              <a:spcAft>
                <a:spcPts val="0"/>
              </a:spcAft>
              <a:buNone/>
            </a:pPr>
            <a:r>
              <a:t/>
            </a:r>
            <a:endParaRPr sz="1400">
              <a:solidFill>
                <a:schemeClr val="dk1"/>
              </a:solidFill>
              <a:latin typeface="Comfortaa"/>
              <a:ea typeface="Comfortaa"/>
              <a:cs typeface="Comfortaa"/>
              <a:sym typeface="Comfortaa"/>
            </a:endParaRPr>
          </a:p>
        </p:txBody>
      </p:sp>
      <p:sp>
        <p:nvSpPr>
          <p:cNvPr id="154" name="Google Shape;154;g3f6456eb57b_0_10"/>
          <p:cNvSpPr txBox="1"/>
          <p:nvPr>
            <p:ph idx="1" type="body"/>
          </p:nvPr>
        </p:nvSpPr>
        <p:spPr>
          <a:xfrm>
            <a:off x="311700" y="2942325"/>
            <a:ext cx="8520600" cy="2262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accent1"/>
              </a:buClr>
              <a:buSzPts val="1400"/>
              <a:buFont typeface="Comfortaa"/>
              <a:buAutoNum type="arabicPeriod"/>
            </a:pPr>
            <a:r>
              <a:rPr b="1" lang="en" sz="1400">
                <a:solidFill>
                  <a:schemeClr val="accent1"/>
                </a:solidFill>
                <a:latin typeface="Comfortaa"/>
                <a:ea typeface="Comfortaa"/>
                <a:cs typeface="Comfortaa"/>
                <a:sym typeface="Comfortaa"/>
              </a:rPr>
              <a:t>Neurociencia y Neuroimagen:</a:t>
            </a:r>
            <a:r>
              <a:rPr lang="en" sz="1400">
                <a:solidFill>
                  <a:schemeClr val="accent1"/>
                </a:solidFill>
                <a:latin typeface="Comfortaa"/>
                <a:ea typeface="Comfortaa"/>
                <a:cs typeface="Comfortaa"/>
                <a:sym typeface="Comfortaa"/>
              </a:rPr>
              <a:t> Uso de fMRI, EEG y otros escaneos cerebrales para estudiar pensamientos, emociones y comportamiento.</a:t>
            </a:r>
            <a:endParaRPr sz="1400">
              <a:solidFill>
                <a:schemeClr val="accent1"/>
              </a:solidFill>
              <a:latin typeface="Comfortaa"/>
              <a:ea typeface="Comfortaa"/>
              <a:cs typeface="Comfortaa"/>
              <a:sym typeface="Comfortaa"/>
            </a:endParaRPr>
          </a:p>
          <a:p>
            <a:pPr indent="-317500" lvl="0" marL="457200" rtl="0" algn="l">
              <a:lnSpc>
                <a:spcPct val="115000"/>
              </a:lnSpc>
              <a:spcBef>
                <a:spcPts val="0"/>
              </a:spcBef>
              <a:spcAft>
                <a:spcPts val="0"/>
              </a:spcAft>
              <a:buClr>
                <a:schemeClr val="accent1"/>
              </a:buClr>
              <a:buSzPts val="1400"/>
              <a:buFont typeface="Comfortaa"/>
              <a:buAutoNum type="arabicPeriod"/>
            </a:pPr>
            <a:r>
              <a:rPr b="1" lang="en" sz="1400">
                <a:solidFill>
                  <a:schemeClr val="accent1"/>
                </a:solidFill>
                <a:latin typeface="Comfortaa"/>
                <a:ea typeface="Comfortaa"/>
                <a:cs typeface="Comfortaa"/>
                <a:sym typeface="Comfortaa"/>
              </a:rPr>
              <a:t>Genética y Epigenética:</a:t>
            </a:r>
            <a:r>
              <a:rPr lang="en" sz="1400">
                <a:solidFill>
                  <a:schemeClr val="accent1"/>
                </a:solidFill>
                <a:latin typeface="Comfortaa"/>
                <a:ea typeface="Comfortaa"/>
                <a:cs typeface="Comfortaa"/>
                <a:sym typeface="Comfortaa"/>
              </a:rPr>
              <a:t> Estudio de cómo los genes y el ambiente interactúan para influir en la salud mental y el comportamiento.</a:t>
            </a:r>
            <a:endParaRPr sz="1400">
              <a:solidFill>
                <a:schemeClr val="accent1"/>
              </a:solidFill>
              <a:latin typeface="Comfortaa"/>
              <a:ea typeface="Comfortaa"/>
              <a:cs typeface="Comfortaa"/>
              <a:sym typeface="Comfortaa"/>
            </a:endParaRPr>
          </a:p>
          <a:p>
            <a:pPr indent="-317500" lvl="0" marL="457200" rtl="0" algn="l">
              <a:lnSpc>
                <a:spcPct val="115000"/>
              </a:lnSpc>
              <a:spcBef>
                <a:spcPts val="0"/>
              </a:spcBef>
              <a:spcAft>
                <a:spcPts val="0"/>
              </a:spcAft>
              <a:buClr>
                <a:schemeClr val="accent1"/>
              </a:buClr>
              <a:buSzPts val="1400"/>
              <a:buFont typeface="Comfortaa"/>
              <a:buAutoNum type="arabicPeriod"/>
            </a:pPr>
            <a:r>
              <a:rPr b="1" lang="en" sz="1400">
                <a:solidFill>
                  <a:schemeClr val="accent1"/>
                </a:solidFill>
                <a:latin typeface="Comfortaa"/>
                <a:ea typeface="Comfortaa"/>
                <a:cs typeface="Comfortaa"/>
                <a:sym typeface="Comfortaa"/>
              </a:rPr>
              <a:t>Psicología transcultural:</a:t>
            </a:r>
            <a:r>
              <a:rPr lang="en" sz="1400">
                <a:solidFill>
                  <a:schemeClr val="accent1"/>
                </a:solidFill>
                <a:latin typeface="Comfortaa"/>
                <a:ea typeface="Comfortaa"/>
                <a:cs typeface="Comfortaa"/>
                <a:sym typeface="Comfortaa"/>
              </a:rPr>
              <a:t> Investigación sobre cómo la cultura afecta la cognición, las emociones y el comportamiento social.</a:t>
            </a:r>
            <a:endParaRPr sz="1400">
              <a:solidFill>
                <a:schemeClr val="accent1"/>
              </a:solidFill>
              <a:latin typeface="Comfortaa"/>
              <a:ea typeface="Comfortaa"/>
              <a:cs typeface="Comfortaa"/>
              <a:sym typeface="Comfortaa"/>
            </a:endParaRPr>
          </a:p>
          <a:p>
            <a:pPr indent="0" lvl="0" marL="457200" rtl="0" algn="l">
              <a:lnSpc>
                <a:spcPct val="115000"/>
              </a:lnSpc>
              <a:spcBef>
                <a:spcPts val="0"/>
              </a:spcBef>
              <a:spcAft>
                <a:spcPts val="0"/>
              </a:spcAft>
              <a:buNone/>
            </a:pPr>
            <a:r>
              <a:t/>
            </a:r>
            <a:endParaRPr sz="1400">
              <a:solidFill>
                <a:schemeClr val="accent1"/>
              </a:solidFill>
              <a:latin typeface="Comfortaa"/>
              <a:ea typeface="Comfortaa"/>
              <a:cs typeface="Comfortaa"/>
              <a:sym typeface="Comforta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8"/>
          <p:cNvSpPr txBox="1"/>
          <p:nvPr>
            <p:ph type="title"/>
          </p:nvPr>
        </p:nvSpPr>
        <p:spPr>
          <a:xfrm>
            <a:off x="311700" y="792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latin typeface="Comfortaa"/>
                <a:ea typeface="Comfortaa"/>
                <a:cs typeface="Comfortaa"/>
                <a:sym typeface="Comfortaa"/>
              </a:rPr>
              <a:t>Trends in Current Psychology Research</a:t>
            </a:r>
            <a:endParaRPr b="1">
              <a:latin typeface="Comfortaa"/>
              <a:ea typeface="Comfortaa"/>
              <a:cs typeface="Comfortaa"/>
              <a:sym typeface="Comfortaa"/>
            </a:endParaRPr>
          </a:p>
          <a:p>
            <a:pPr indent="0" lvl="0" marL="0" rtl="0" algn="l">
              <a:lnSpc>
                <a:spcPct val="100000"/>
              </a:lnSpc>
              <a:spcBef>
                <a:spcPts val="0"/>
              </a:spcBef>
              <a:spcAft>
                <a:spcPts val="0"/>
              </a:spcAft>
              <a:buSzPct val="153863"/>
              <a:buNone/>
            </a:pPr>
            <a:r>
              <a:rPr b="1" lang="en" sz="2022">
                <a:solidFill>
                  <a:schemeClr val="accent1"/>
                </a:solidFill>
                <a:latin typeface="Comfortaa"/>
                <a:ea typeface="Comfortaa"/>
                <a:cs typeface="Comfortaa"/>
                <a:sym typeface="Comfortaa"/>
              </a:rPr>
              <a:t>Tendencias en la investigación psicológica actual</a:t>
            </a:r>
            <a:endParaRPr b="1" sz="2022">
              <a:solidFill>
                <a:schemeClr val="accent1"/>
              </a:solidFill>
              <a:latin typeface="Comfortaa"/>
              <a:ea typeface="Comfortaa"/>
              <a:cs typeface="Comfortaa"/>
              <a:sym typeface="Comfortaa"/>
            </a:endParaRPr>
          </a:p>
        </p:txBody>
      </p:sp>
      <p:sp>
        <p:nvSpPr>
          <p:cNvPr id="160" name="Google Shape;160;p38"/>
          <p:cNvSpPr txBox="1"/>
          <p:nvPr>
            <p:ph idx="1" type="body"/>
          </p:nvPr>
        </p:nvSpPr>
        <p:spPr>
          <a:xfrm>
            <a:off x="311700" y="857700"/>
            <a:ext cx="8520600" cy="26364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Clr>
                <a:schemeClr val="dk1"/>
              </a:buClr>
              <a:buSzPts val="1400"/>
              <a:buAutoNum type="arabicPeriod"/>
            </a:pPr>
            <a:r>
              <a:rPr b="1" lang="en" sz="1400">
                <a:solidFill>
                  <a:schemeClr val="dk1"/>
                </a:solidFill>
                <a:latin typeface="Comfortaa"/>
                <a:ea typeface="Comfortaa"/>
                <a:cs typeface="Comfortaa"/>
                <a:sym typeface="Comfortaa"/>
              </a:rPr>
              <a:t>Neuroscience &amp; Brain Imaging:</a:t>
            </a:r>
            <a:r>
              <a:rPr lang="en" sz="1400">
                <a:solidFill>
                  <a:schemeClr val="dk1"/>
                </a:solidFill>
                <a:latin typeface="Comfortaa"/>
                <a:ea typeface="Comfortaa"/>
                <a:cs typeface="Comfortaa"/>
                <a:sym typeface="Comfortaa"/>
              </a:rPr>
              <a:t> Using fMRI, EEG, and other brain scans to study thoughts, emotions, and behavior.</a:t>
            </a:r>
            <a:endParaRPr sz="1400">
              <a:solidFill>
                <a:schemeClr val="dk1"/>
              </a:solidFill>
              <a:latin typeface="Comfortaa"/>
              <a:ea typeface="Comfortaa"/>
              <a:cs typeface="Comfortaa"/>
              <a:sym typeface="Comfortaa"/>
            </a:endParaRPr>
          </a:p>
          <a:p>
            <a:pPr indent="-317500" lvl="0" marL="457200" rtl="0" algn="l">
              <a:lnSpc>
                <a:spcPct val="115000"/>
              </a:lnSpc>
              <a:spcBef>
                <a:spcPts val="0"/>
              </a:spcBef>
              <a:spcAft>
                <a:spcPts val="0"/>
              </a:spcAft>
              <a:buClr>
                <a:schemeClr val="dk1"/>
              </a:buClr>
              <a:buSzPts val="1400"/>
              <a:buFont typeface="Comfortaa"/>
              <a:buAutoNum type="arabicPeriod"/>
            </a:pPr>
            <a:r>
              <a:rPr b="1" lang="en" sz="1400">
                <a:solidFill>
                  <a:schemeClr val="dk1"/>
                </a:solidFill>
                <a:latin typeface="Comfortaa"/>
                <a:ea typeface="Comfortaa"/>
                <a:cs typeface="Comfortaa"/>
                <a:sym typeface="Comfortaa"/>
              </a:rPr>
              <a:t>Genetics &amp; Epigenetics:</a:t>
            </a:r>
            <a:r>
              <a:rPr lang="en" sz="1400">
                <a:solidFill>
                  <a:schemeClr val="dk1"/>
                </a:solidFill>
                <a:latin typeface="Comfortaa"/>
                <a:ea typeface="Comfortaa"/>
                <a:cs typeface="Comfortaa"/>
                <a:sym typeface="Comfortaa"/>
              </a:rPr>
              <a:t> Studying how genes and environment interact to influence mental health and behavior.</a:t>
            </a:r>
            <a:endParaRPr sz="1400">
              <a:solidFill>
                <a:schemeClr val="dk1"/>
              </a:solidFill>
              <a:latin typeface="Comfortaa"/>
              <a:ea typeface="Comfortaa"/>
              <a:cs typeface="Comfortaa"/>
              <a:sym typeface="Comfortaa"/>
            </a:endParaRPr>
          </a:p>
          <a:p>
            <a:pPr indent="-317500" lvl="0" marL="457200" rtl="0" algn="l">
              <a:lnSpc>
                <a:spcPct val="115000"/>
              </a:lnSpc>
              <a:spcBef>
                <a:spcPts val="0"/>
              </a:spcBef>
              <a:spcAft>
                <a:spcPts val="0"/>
              </a:spcAft>
              <a:buClr>
                <a:schemeClr val="dk1"/>
              </a:buClr>
              <a:buSzPts val="1400"/>
              <a:buFont typeface="Comfortaa"/>
              <a:buAutoNum type="arabicPeriod"/>
            </a:pPr>
            <a:r>
              <a:rPr b="1" lang="en" sz="1400">
                <a:solidFill>
                  <a:schemeClr val="dk1"/>
                </a:solidFill>
                <a:latin typeface="Comfortaa"/>
                <a:ea typeface="Comfortaa"/>
                <a:cs typeface="Comfortaa"/>
                <a:sym typeface="Comfortaa"/>
              </a:rPr>
              <a:t>Cross-Cultural Psychology:</a:t>
            </a:r>
            <a:r>
              <a:rPr lang="en" sz="1400">
                <a:solidFill>
                  <a:schemeClr val="dk1"/>
                </a:solidFill>
                <a:latin typeface="Comfortaa"/>
                <a:ea typeface="Comfortaa"/>
                <a:cs typeface="Comfortaa"/>
                <a:sym typeface="Comfortaa"/>
              </a:rPr>
              <a:t> Researching how culture affects cognition, emotion, and social behavior.</a:t>
            </a:r>
            <a:endParaRPr sz="1400">
              <a:solidFill>
                <a:schemeClr val="dk1"/>
              </a:solidFill>
              <a:latin typeface="Comfortaa"/>
              <a:ea typeface="Comfortaa"/>
              <a:cs typeface="Comfortaa"/>
              <a:sym typeface="Comfortaa"/>
            </a:endParaRPr>
          </a:p>
          <a:p>
            <a:pPr indent="-317500" lvl="0" marL="457200" rtl="0" algn="l">
              <a:lnSpc>
                <a:spcPct val="115000"/>
              </a:lnSpc>
              <a:spcBef>
                <a:spcPts val="0"/>
              </a:spcBef>
              <a:spcAft>
                <a:spcPts val="0"/>
              </a:spcAft>
              <a:buClr>
                <a:schemeClr val="dk1"/>
              </a:buClr>
              <a:buSzPts val="1400"/>
              <a:buFont typeface="Comfortaa"/>
              <a:buAutoNum type="arabicPeriod"/>
            </a:pPr>
            <a:r>
              <a:rPr b="1" lang="en" sz="1400">
                <a:solidFill>
                  <a:schemeClr val="dk1"/>
                </a:solidFill>
                <a:latin typeface="Comfortaa"/>
                <a:ea typeface="Comfortaa"/>
                <a:cs typeface="Comfortaa"/>
                <a:sym typeface="Comfortaa"/>
              </a:rPr>
              <a:t>Clinical &amp; Translational Research:</a:t>
            </a:r>
            <a:r>
              <a:rPr lang="en" sz="1400">
                <a:solidFill>
                  <a:schemeClr val="dk1"/>
                </a:solidFill>
                <a:latin typeface="Comfortaa"/>
                <a:ea typeface="Comfortaa"/>
                <a:cs typeface="Comfortaa"/>
                <a:sym typeface="Comfortaa"/>
              </a:rPr>
              <a:t> Developing new treatments for mental health disorders and testing them in real-world settings.</a:t>
            </a:r>
            <a:endParaRPr sz="1400">
              <a:solidFill>
                <a:schemeClr val="dk1"/>
              </a:solidFill>
              <a:latin typeface="Comfortaa"/>
              <a:ea typeface="Comfortaa"/>
              <a:cs typeface="Comfortaa"/>
              <a:sym typeface="Comfortaa"/>
            </a:endParaRPr>
          </a:p>
        </p:txBody>
      </p:sp>
      <p:sp>
        <p:nvSpPr>
          <p:cNvPr id="161" name="Google Shape;161;p38"/>
          <p:cNvSpPr txBox="1"/>
          <p:nvPr>
            <p:ph idx="1" type="body"/>
          </p:nvPr>
        </p:nvSpPr>
        <p:spPr>
          <a:xfrm>
            <a:off x="311700" y="2942325"/>
            <a:ext cx="8520600" cy="2262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accent1"/>
              </a:buClr>
              <a:buSzPts val="1400"/>
              <a:buFont typeface="Comfortaa"/>
              <a:buAutoNum type="arabicPeriod"/>
            </a:pPr>
            <a:r>
              <a:rPr b="1" lang="en" sz="1400">
                <a:solidFill>
                  <a:schemeClr val="accent1"/>
                </a:solidFill>
                <a:latin typeface="Comfortaa"/>
                <a:ea typeface="Comfortaa"/>
                <a:cs typeface="Comfortaa"/>
                <a:sym typeface="Comfortaa"/>
              </a:rPr>
              <a:t>Neurociencia y Neuroimagen:</a:t>
            </a:r>
            <a:r>
              <a:rPr lang="en" sz="1400">
                <a:solidFill>
                  <a:schemeClr val="accent1"/>
                </a:solidFill>
                <a:latin typeface="Comfortaa"/>
                <a:ea typeface="Comfortaa"/>
                <a:cs typeface="Comfortaa"/>
                <a:sym typeface="Comfortaa"/>
              </a:rPr>
              <a:t> Uso de fMRI, EEG y otros escaneos cerebrales para estudiar pensamientos, emociones y comportamiento.</a:t>
            </a:r>
            <a:endParaRPr sz="1400">
              <a:solidFill>
                <a:schemeClr val="accent1"/>
              </a:solidFill>
              <a:latin typeface="Comfortaa"/>
              <a:ea typeface="Comfortaa"/>
              <a:cs typeface="Comfortaa"/>
              <a:sym typeface="Comfortaa"/>
            </a:endParaRPr>
          </a:p>
          <a:p>
            <a:pPr indent="-317500" lvl="0" marL="457200" rtl="0" algn="l">
              <a:lnSpc>
                <a:spcPct val="115000"/>
              </a:lnSpc>
              <a:spcBef>
                <a:spcPts val="0"/>
              </a:spcBef>
              <a:spcAft>
                <a:spcPts val="0"/>
              </a:spcAft>
              <a:buClr>
                <a:schemeClr val="accent1"/>
              </a:buClr>
              <a:buSzPts val="1400"/>
              <a:buFont typeface="Comfortaa"/>
              <a:buAutoNum type="arabicPeriod"/>
            </a:pPr>
            <a:r>
              <a:rPr b="1" lang="en" sz="1400">
                <a:solidFill>
                  <a:schemeClr val="accent1"/>
                </a:solidFill>
                <a:latin typeface="Comfortaa"/>
                <a:ea typeface="Comfortaa"/>
                <a:cs typeface="Comfortaa"/>
                <a:sym typeface="Comfortaa"/>
              </a:rPr>
              <a:t>Genética y Epigenética:</a:t>
            </a:r>
            <a:r>
              <a:rPr lang="en" sz="1400">
                <a:solidFill>
                  <a:schemeClr val="accent1"/>
                </a:solidFill>
                <a:latin typeface="Comfortaa"/>
                <a:ea typeface="Comfortaa"/>
                <a:cs typeface="Comfortaa"/>
                <a:sym typeface="Comfortaa"/>
              </a:rPr>
              <a:t> Estudio de cómo los genes y el ambiente interactúan para influir en la salud mental y el comportamiento.</a:t>
            </a:r>
            <a:endParaRPr sz="1400">
              <a:solidFill>
                <a:schemeClr val="accent1"/>
              </a:solidFill>
              <a:latin typeface="Comfortaa"/>
              <a:ea typeface="Comfortaa"/>
              <a:cs typeface="Comfortaa"/>
              <a:sym typeface="Comfortaa"/>
            </a:endParaRPr>
          </a:p>
          <a:p>
            <a:pPr indent="-317500" lvl="0" marL="457200" rtl="0" algn="l">
              <a:lnSpc>
                <a:spcPct val="115000"/>
              </a:lnSpc>
              <a:spcBef>
                <a:spcPts val="0"/>
              </a:spcBef>
              <a:spcAft>
                <a:spcPts val="0"/>
              </a:spcAft>
              <a:buClr>
                <a:schemeClr val="accent1"/>
              </a:buClr>
              <a:buSzPts val="1400"/>
              <a:buFont typeface="Comfortaa"/>
              <a:buAutoNum type="arabicPeriod"/>
            </a:pPr>
            <a:r>
              <a:rPr b="1" lang="en" sz="1400">
                <a:solidFill>
                  <a:schemeClr val="accent1"/>
                </a:solidFill>
                <a:latin typeface="Comfortaa"/>
                <a:ea typeface="Comfortaa"/>
                <a:cs typeface="Comfortaa"/>
                <a:sym typeface="Comfortaa"/>
              </a:rPr>
              <a:t>Psicología transcultural:</a:t>
            </a:r>
            <a:r>
              <a:rPr lang="en" sz="1400">
                <a:solidFill>
                  <a:schemeClr val="accent1"/>
                </a:solidFill>
                <a:latin typeface="Comfortaa"/>
                <a:ea typeface="Comfortaa"/>
                <a:cs typeface="Comfortaa"/>
                <a:sym typeface="Comfortaa"/>
              </a:rPr>
              <a:t> Investigación sobre cómo la cultura afecta la cognición, las emociones y el comportamiento social.</a:t>
            </a:r>
            <a:endParaRPr sz="1400">
              <a:solidFill>
                <a:schemeClr val="accent1"/>
              </a:solidFill>
              <a:latin typeface="Comfortaa"/>
              <a:ea typeface="Comfortaa"/>
              <a:cs typeface="Comfortaa"/>
              <a:sym typeface="Comfortaa"/>
            </a:endParaRPr>
          </a:p>
          <a:p>
            <a:pPr indent="-317500" lvl="0" marL="457200" rtl="0" algn="l">
              <a:lnSpc>
                <a:spcPct val="115000"/>
              </a:lnSpc>
              <a:spcBef>
                <a:spcPts val="0"/>
              </a:spcBef>
              <a:spcAft>
                <a:spcPts val="0"/>
              </a:spcAft>
              <a:buClr>
                <a:schemeClr val="accent1"/>
              </a:buClr>
              <a:buSzPts val="1400"/>
              <a:buFont typeface="Comfortaa"/>
              <a:buAutoNum type="arabicPeriod"/>
            </a:pPr>
            <a:r>
              <a:rPr b="1" lang="en" sz="1400">
                <a:solidFill>
                  <a:schemeClr val="accent1"/>
                </a:solidFill>
                <a:latin typeface="Comfortaa"/>
                <a:ea typeface="Comfortaa"/>
                <a:cs typeface="Comfortaa"/>
                <a:sym typeface="Comfortaa"/>
              </a:rPr>
              <a:t>Investigación clínica y traslacional: </a:t>
            </a:r>
            <a:r>
              <a:rPr lang="en" sz="1400">
                <a:solidFill>
                  <a:schemeClr val="accent1"/>
                </a:solidFill>
                <a:latin typeface="Comfortaa"/>
                <a:ea typeface="Comfortaa"/>
                <a:cs typeface="Comfortaa"/>
                <a:sym typeface="Comfortaa"/>
              </a:rPr>
              <a:t>Desarrollo de nuevos tratamientos para trastornos de salud mental y su prueba en entornos del mundo real.</a:t>
            </a:r>
            <a:endParaRPr sz="1400">
              <a:solidFill>
                <a:schemeClr val="accent1"/>
              </a:solidFill>
              <a:latin typeface="Comfortaa"/>
              <a:ea typeface="Comfortaa"/>
              <a:cs typeface="Comfortaa"/>
              <a:sym typeface="Comforta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f6456eb57b_0_58"/>
          <p:cNvSpPr txBox="1"/>
          <p:nvPr>
            <p:ph type="title"/>
          </p:nvPr>
        </p:nvSpPr>
        <p:spPr>
          <a:xfrm>
            <a:off x="0" y="0"/>
            <a:ext cx="3726300" cy="7590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latin typeface="Comfortaa"/>
                <a:ea typeface="Comfortaa"/>
                <a:cs typeface="Comfortaa"/>
                <a:sym typeface="Comfortaa"/>
              </a:rPr>
              <a:t>Psychology Careers</a:t>
            </a:r>
            <a:endParaRPr b="1">
              <a:latin typeface="Comfortaa"/>
              <a:ea typeface="Comfortaa"/>
              <a:cs typeface="Comfortaa"/>
              <a:sym typeface="Comfortaa"/>
            </a:endParaRPr>
          </a:p>
          <a:p>
            <a:pPr indent="0" lvl="0" marL="0" rtl="0" algn="l">
              <a:lnSpc>
                <a:spcPct val="100000"/>
              </a:lnSpc>
              <a:spcBef>
                <a:spcPts val="0"/>
              </a:spcBef>
              <a:spcAft>
                <a:spcPts val="0"/>
              </a:spcAft>
              <a:buSzPct val="153863"/>
              <a:buNone/>
            </a:pPr>
            <a:r>
              <a:rPr b="1" lang="en" sz="2022">
                <a:solidFill>
                  <a:schemeClr val="accent1"/>
                </a:solidFill>
                <a:latin typeface="Comfortaa"/>
                <a:ea typeface="Comfortaa"/>
                <a:cs typeface="Comfortaa"/>
                <a:sym typeface="Comfortaa"/>
              </a:rPr>
              <a:t>Carreras en psicología</a:t>
            </a:r>
            <a:endParaRPr b="1" sz="2022">
              <a:solidFill>
                <a:schemeClr val="accent1"/>
              </a:solidFill>
              <a:latin typeface="Comfortaa"/>
              <a:ea typeface="Comfortaa"/>
              <a:cs typeface="Comfortaa"/>
              <a:sym typeface="Comfortaa"/>
            </a:endParaRPr>
          </a:p>
        </p:txBody>
      </p:sp>
      <p:sp>
        <p:nvSpPr>
          <p:cNvPr id="167" name="Google Shape;167;g3f6456eb57b_0_58"/>
          <p:cNvSpPr txBox="1"/>
          <p:nvPr>
            <p:ph idx="1" type="body"/>
          </p:nvPr>
        </p:nvSpPr>
        <p:spPr>
          <a:xfrm>
            <a:off x="0" y="871500"/>
            <a:ext cx="4572000" cy="374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853"/>
              <a:buNone/>
            </a:pPr>
            <a:r>
              <a:rPr b="1" lang="en" sz="1600">
                <a:solidFill>
                  <a:schemeClr val="dk1"/>
                </a:solidFill>
                <a:latin typeface="Comfortaa"/>
                <a:ea typeface="Comfortaa"/>
                <a:cs typeface="Comfortaa"/>
                <a:sym typeface="Comfortaa"/>
              </a:rPr>
              <a:t>Psychiatric Technician/Mental Health Technician: </a:t>
            </a:r>
            <a:r>
              <a:rPr lang="en" sz="1600">
                <a:solidFill>
                  <a:schemeClr val="dk1"/>
                </a:solidFill>
                <a:latin typeface="Comfortaa"/>
                <a:ea typeface="Comfortaa"/>
                <a:cs typeface="Comfortaa"/>
                <a:sym typeface="Comfortaa"/>
              </a:rPr>
              <a:t>Work in hospitals, clinics, or residential facilities assisting people with mental health challenges.</a:t>
            </a:r>
            <a:endParaRPr sz="16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rPr lang="en" sz="1300">
                <a:solidFill>
                  <a:schemeClr val="accent1"/>
                </a:solidFill>
                <a:latin typeface="Comfortaa"/>
                <a:ea typeface="Comfortaa"/>
                <a:cs typeface="Comfortaa"/>
                <a:sym typeface="Comfortaa"/>
              </a:rPr>
              <a:t>Técnico psiquiátrico/Técnico en salud mental</a:t>
            </a:r>
            <a:endParaRPr sz="1300">
              <a:solidFill>
                <a:schemeClr val="accent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t/>
            </a:r>
            <a:endParaRPr sz="5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t/>
            </a:r>
            <a:endParaRPr sz="1300">
              <a:solidFill>
                <a:schemeClr val="accent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t/>
            </a:r>
            <a:endParaRPr sz="5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t/>
            </a:r>
            <a:endParaRPr sz="16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t/>
            </a:r>
            <a:endParaRPr sz="1600">
              <a:solidFill>
                <a:schemeClr val="dk1"/>
              </a:solidFill>
              <a:latin typeface="Comfortaa"/>
              <a:ea typeface="Comfortaa"/>
              <a:cs typeface="Comfortaa"/>
              <a:sym typeface="Comfortaa"/>
            </a:endParaRPr>
          </a:p>
        </p:txBody>
      </p:sp>
      <p:sp>
        <p:nvSpPr>
          <p:cNvPr id="168" name="Google Shape;168;g3f6456eb57b_0_58"/>
          <p:cNvSpPr txBox="1"/>
          <p:nvPr/>
        </p:nvSpPr>
        <p:spPr>
          <a:xfrm>
            <a:off x="4533900" y="0"/>
            <a:ext cx="4610100" cy="530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Comfortaa"/>
              <a:ea typeface="Comfortaa"/>
              <a:cs typeface="Comfortaa"/>
              <a:sym typeface="Comforta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f6456eb57b_0_52"/>
          <p:cNvSpPr txBox="1"/>
          <p:nvPr>
            <p:ph type="title"/>
          </p:nvPr>
        </p:nvSpPr>
        <p:spPr>
          <a:xfrm>
            <a:off x="0" y="0"/>
            <a:ext cx="3726300" cy="7590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latin typeface="Comfortaa"/>
                <a:ea typeface="Comfortaa"/>
                <a:cs typeface="Comfortaa"/>
                <a:sym typeface="Comfortaa"/>
              </a:rPr>
              <a:t>Psychology Careers</a:t>
            </a:r>
            <a:endParaRPr b="1">
              <a:latin typeface="Comfortaa"/>
              <a:ea typeface="Comfortaa"/>
              <a:cs typeface="Comfortaa"/>
              <a:sym typeface="Comfortaa"/>
            </a:endParaRPr>
          </a:p>
          <a:p>
            <a:pPr indent="0" lvl="0" marL="0" rtl="0" algn="l">
              <a:lnSpc>
                <a:spcPct val="100000"/>
              </a:lnSpc>
              <a:spcBef>
                <a:spcPts val="0"/>
              </a:spcBef>
              <a:spcAft>
                <a:spcPts val="0"/>
              </a:spcAft>
              <a:buSzPct val="153863"/>
              <a:buNone/>
            </a:pPr>
            <a:r>
              <a:rPr b="1" lang="en" sz="2022">
                <a:solidFill>
                  <a:schemeClr val="accent1"/>
                </a:solidFill>
                <a:latin typeface="Comfortaa"/>
                <a:ea typeface="Comfortaa"/>
                <a:cs typeface="Comfortaa"/>
                <a:sym typeface="Comfortaa"/>
              </a:rPr>
              <a:t>Carreras en psicología</a:t>
            </a:r>
            <a:endParaRPr b="1" sz="2022">
              <a:solidFill>
                <a:schemeClr val="accent1"/>
              </a:solidFill>
              <a:latin typeface="Comfortaa"/>
              <a:ea typeface="Comfortaa"/>
              <a:cs typeface="Comfortaa"/>
              <a:sym typeface="Comfortaa"/>
            </a:endParaRPr>
          </a:p>
        </p:txBody>
      </p:sp>
      <p:sp>
        <p:nvSpPr>
          <p:cNvPr id="174" name="Google Shape;174;g3f6456eb57b_0_52"/>
          <p:cNvSpPr txBox="1"/>
          <p:nvPr>
            <p:ph idx="1" type="body"/>
          </p:nvPr>
        </p:nvSpPr>
        <p:spPr>
          <a:xfrm>
            <a:off x="0" y="871500"/>
            <a:ext cx="4572000" cy="374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853"/>
              <a:buNone/>
            </a:pPr>
            <a:r>
              <a:rPr b="1" lang="en" sz="1600">
                <a:solidFill>
                  <a:schemeClr val="dk1"/>
                </a:solidFill>
                <a:latin typeface="Comfortaa"/>
                <a:ea typeface="Comfortaa"/>
                <a:cs typeface="Comfortaa"/>
                <a:sym typeface="Comfortaa"/>
              </a:rPr>
              <a:t>Psychiatric Technician/Mental Health Technician: </a:t>
            </a:r>
            <a:r>
              <a:rPr lang="en" sz="1600">
                <a:solidFill>
                  <a:schemeClr val="dk1"/>
                </a:solidFill>
                <a:latin typeface="Comfortaa"/>
                <a:ea typeface="Comfortaa"/>
                <a:cs typeface="Comfortaa"/>
                <a:sym typeface="Comfortaa"/>
              </a:rPr>
              <a:t>Work in hospitals, clinics, or residential facilities assisting people with mental health challenges.</a:t>
            </a:r>
            <a:endParaRPr sz="16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rPr lang="en" sz="1300">
                <a:solidFill>
                  <a:schemeClr val="accent1"/>
                </a:solidFill>
                <a:latin typeface="Comfortaa"/>
                <a:ea typeface="Comfortaa"/>
                <a:cs typeface="Comfortaa"/>
                <a:sym typeface="Comfortaa"/>
              </a:rPr>
              <a:t>Técnico psiquiátrico/Técnico en salud mental</a:t>
            </a:r>
            <a:endParaRPr sz="1300">
              <a:solidFill>
                <a:schemeClr val="accent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t/>
            </a:r>
            <a:endParaRPr sz="5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rPr b="1" lang="en" sz="1600">
                <a:solidFill>
                  <a:schemeClr val="dk1"/>
                </a:solidFill>
                <a:latin typeface="Comfortaa"/>
                <a:ea typeface="Comfortaa"/>
                <a:cs typeface="Comfortaa"/>
                <a:sym typeface="Comfortaa"/>
              </a:rPr>
              <a:t>Substance Abuse Counselor/Addiction Support Worker: </a:t>
            </a:r>
            <a:r>
              <a:rPr lang="en" sz="1600">
                <a:solidFill>
                  <a:schemeClr val="dk1"/>
                </a:solidFill>
                <a:latin typeface="Comfortaa"/>
                <a:ea typeface="Comfortaa"/>
                <a:cs typeface="Comfortaa"/>
                <a:sym typeface="Comfortaa"/>
              </a:rPr>
              <a:t>Help people recover from addiction through counseling, support groups, or rehab programs.</a:t>
            </a:r>
            <a:endParaRPr sz="16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rPr lang="en" sz="1300">
                <a:solidFill>
                  <a:schemeClr val="accent1"/>
                </a:solidFill>
                <a:latin typeface="Comfortaa"/>
                <a:ea typeface="Comfortaa"/>
                <a:cs typeface="Comfortaa"/>
                <a:sym typeface="Comfortaa"/>
              </a:rPr>
              <a:t>Consejero de abuso de sustancias/Trabajador de apoyo en adicciones</a:t>
            </a:r>
            <a:endParaRPr sz="1300">
              <a:solidFill>
                <a:schemeClr val="accent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t/>
            </a:r>
            <a:endParaRPr sz="5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t/>
            </a:r>
            <a:endParaRPr sz="16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t/>
            </a:r>
            <a:endParaRPr sz="1600">
              <a:solidFill>
                <a:schemeClr val="dk1"/>
              </a:solidFill>
              <a:latin typeface="Comfortaa"/>
              <a:ea typeface="Comfortaa"/>
              <a:cs typeface="Comfortaa"/>
              <a:sym typeface="Comfortaa"/>
            </a:endParaRPr>
          </a:p>
        </p:txBody>
      </p:sp>
      <p:sp>
        <p:nvSpPr>
          <p:cNvPr id="175" name="Google Shape;175;g3f6456eb57b_0_52"/>
          <p:cNvSpPr txBox="1"/>
          <p:nvPr/>
        </p:nvSpPr>
        <p:spPr>
          <a:xfrm>
            <a:off x="4533900" y="0"/>
            <a:ext cx="4610100" cy="530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Comfortaa"/>
              <a:ea typeface="Comfortaa"/>
              <a:cs typeface="Comfortaa"/>
              <a:sym typeface="Comforta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3f6456eb57b_0_46"/>
          <p:cNvSpPr txBox="1"/>
          <p:nvPr>
            <p:ph type="title"/>
          </p:nvPr>
        </p:nvSpPr>
        <p:spPr>
          <a:xfrm>
            <a:off x="0" y="0"/>
            <a:ext cx="3726300" cy="7590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latin typeface="Comfortaa"/>
                <a:ea typeface="Comfortaa"/>
                <a:cs typeface="Comfortaa"/>
                <a:sym typeface="Comfortaa"/>
              </a:rPr>
              <a:t>Psychology Careers</a:t>
            </a:r>
            <a:endParaRPr b="1">
              <a:latin typeface="Comfortaa"/>
              <a:ea typeface="Comfortaa"/>
              <a:cs typeface="Comfortaa"/>
              <a:sym typeface="Comfortaa"/>
            </a:endParaRPr>
          </a:p>
          <a:p>
            <a:pPr indent="0" lvl="0" marL="0" rtl="0" algn="l">
              <a:lnSpc>
                <a:spcPct val="100000"/>
              </a:lnSpc>
              <a:spcBef>
                <a:spcPts val="0"/>
              </a:spcBef>
              <a:spcAft>
                <a:spcPts val="0"/>
              </a:spcAft>
              <a:buSzPct val="153863"/>
              <a:buNone/>
            </a:pPr>
            <a:r>
              <a:rPr b="1" lang="en" sz="2022">
                <a:solidFill>
                  <a:schemeClr val="accent1"/>
                </a:solidFill>
                <a:latin typeface="Comfortaa"/>
                <a:ea typeface="Comfortaa"/>
                <a:cs typeface="Comfortaa"/>
                <a:sym typeface="Comfortaa"/>
              </a:rPr>
              <a:t>Carreras en psicología</a:t>
            </a:r>
            <a:endParaRPr b="1" sz="2022">
              <a:solidFill>
                <a:schemeClr val="accent1"/>
              </a:solidFill>
              <a:latin typeface="Comfortaa"/>
              <a:ea typeface="Comfortaa"/>
              <a:cs typeface="Comfortaa"/>
              <a:sym typeface="Comfortaa"/>
            </a:endParaRPr>
          </a:p>
        </p:txBody>
      </p:sp>
      <p:sp>
        <p:nvSpPr>
          <p:cNvPr id="181" name="Google Shape;181;g3f6456eb57b_0_46"/>
          <p:cNvSpPr txBox="1"/>
          <p:nvPr>
            <p:ph idx="1" type="body"/>
          </p:nvPr>
        </p:nvSpPr>
        <p:spPr>
          <a:xfrm>
            <a:off x="0" y="871500"/>
            <a:ext cx="4572000" cy="374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853"/>
              <a:buNone/>
            </a:pPr>
            <a:r>
              <a:rPr b="1" lang="en" sz="1600">
                <a:solidFill>
                  <a:schemeClr val="dk1"/>
                </a:solidFill>
                <a:latin typeface="Comfortaa"/>
                <a:ea typeface="Comfortaa"/>
                <a:cs typeface="Comfortaa"/>
                <a:sym typeface="Comfortaa"/>
              </a:rPr>
              <a:t>Psychiatric Technician/Mental Health Technician: </a:t>
            </a:r>
            <a:r>
              <a:rPr lang="en" sz="1600">
                <a:solidFill>
                  <a:schemeClr val="dk1"/>
                </a:solidFill>
                <a:latin typeface="Comfortaa"/>
                <a:ea typeface="Comfortaa"/>
                <a:cs typeface="Comfortaa"/>
                <a:sym typeface="Comfortaa"/>
              </a:rPr>
              <a:t>Work in hospitals, clinics, or residential facilities assisting people with mental health challenges.</a:t>
            </a:r>
            <a:endParaRPr sz="16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rPr lang="en" sz="1300">
                <a:solidFill>
                  <a:schemeClr val="accent1"/>
                </a:solidFill>
                <a:latin typeface="Comfortaa"/>
                <a:ea typeface="Comfortaa"/>
                <a:cs typeface="Comfortaa"/>
                <a:sym typeface="Comfortaa"/>
              </a:rPr>
              <a:t>Técnico psiquiátrico/Técnico en salud mental</a:t>
            </a:r>
            <a:endParaRPr sz="1300">
              <a:solidFill>
                <a:schemeClr val="accent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t/>
            </a:r>
            <a:endParaRPr sz="5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rPr b="1" lang="en" sz="1600">
                <a:solidFill>
                  <a:schemeClr val="dk1"/>
                </a:solidFill>
                <a:latin typeface="Comfortaa"/>
                <a:ea typeface="Comfortaa"/>
                <a:cs typeface="Comfortaa"/>
                <a:sym typeface="Comfortaa"/>
              </a:rPr>
              <a:t>Substance Abuse Counselor/Addiction Support Worker: </a:t>
            </a:r>
            <a:r>
              <a:rPr lang="en" sz="1600">
                <a:solidFill>
                  <a:schemeClr val="dk1"/>
                </a:solidFill>
                <a:latin typeface="Comfortaa"/>
                <a:ea typeface="Comfortaa"/>
                <a:cs typeface="Comfortaa"/>
                <a:sym typeface="Comfortaa"/>
              </a:rPr>
              <a:t>Help people recover from addiction through counseling, support groups, or rehab programs.</a:t>
            </a:r>
            <a:endParaRPr sz="16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rPr lang="en" sz="1300">
                <a:solidFill>
                  <a:schemeClr val="accent1"/>
                </a:solidFill>
                <a:latin typeface="Comfortaa"/>
                <a:ea typeface="Comfortaa"/>
                <a:cs typeface="Comfortaa"/>
                <a:sym typeface="Comfortaa"/>
              </a:rPr>
              <a:t>Consejero de abuso de sustancias/Trabajador de apoyo en adicciones</a:t>
            </a:r>
            <a:endParaRPr sz="1300">
              <a:solidFill>
                <a:schemeClr val="accent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t/>
            </a:r>
            <a:endParaRPr sz="5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rPr b="1" lang="en" sz="1600">
                <a:solidFill>
                  <a:schemeClr val="dk1"/>
                </a:solidFill>
                <a:latin typeface="Comfortaa"/>
                <a:ea typeface="Comfortaa"/>
                <a:cs typeface="Comfortaa"/>
                <a:sym typeface="Comfortaa"/>
              </a:rPr>
              <a:t>Behavioral Health Aide/Peer Support Specialist:</a:t>
            </a:r>
            <a:r>
              <a:rPr lang="en" sz="1600">
                <a:solidFill>
                  <a:schemeClr val="dk1"/>
                </a:solidFill>
                <a:latin typeface="Comfortaa"/>
                <a:ea typeface="Comfortaa"/>
                <a:cs typeface="Comfortaa"/>
                <a:sym typeface="Comfortaa"/>
              </a:rPr>
              <a:t> Use personal experience to support others in recovery.</a:t>
            </a:r>
            <a:endParaRPr sz="16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rPr lang="en" sz="1300">
                <a:solidFill>
                  <a:schemeClr val="accent1"/>
                </a:solidFill>
                <a:latin typeface="Comfortaa"/>
                <a:ea typeface="Comfortaa"/>
                <a:cs typeface="Comfortaa"/>
                <a:sym typeface="Comfortaa"/>
              </a:rPr>
              <a:t>Asistente de salud conductual/Especialista en apoyo entre pares</a:t>
            </a:r>
            <a:endParaRPr sz="1300">
              <a:solidFill>
                <a:schemeClr val="accent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t/>
            </a:r>
            <a:endParaRPr sz="16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t/>
            </a:r>
            <a:endParaRPr sz="1600">
              <a:solidFill>
                <a:schemeClr val="dk1"/>
              </a:solidFill>
              <a:latin typeface="Comfortaa"/>
              <a:ea typeface="Comfortaa"/>
              <a:cs typeface="Comfortaa"/>
              <a:sym typeface="Comfortaa"/>
            </a:endParaRPr>
          </a:p>
        </p:txBody>
      </p:sp>
      <p:sp>
        <p:nvSpPr>
          <p:cNvPr id="182" name="Google Shape;182;g3f6456eb57b_0_46"/>
          <p:cNvSpPr txBox="1"/>
          <p:nvPr/>
        </p:nvSpPr>
        <p:spPr>
          <a:xfrm>
            <a:off x="4533900" y="0"/>
            <a:ext cx="4610100" cy="530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Comfortaa"/>
              <a:ea typeface="Comfortaa"/>
              <a:cs typeface="Comfortaa"/>
              <a:sym typeface="Comforta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3f6456eb57b_0_40"/>
          <p:cNvSpPr txBox="1"/>
          <p:nvPr>
            <p:ph type="title"/>
          </p:nvPr>
        </p:nvSpPr>
        <p:spPr>
          <a:xfrm>
            <a:off x="0" y="0"/>
            <a:ext cx="3726300" cy="7590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latin typeface="Comfortaa"/>
                <a:ea typeface="Comfortaa"/>
                <a:cs typeface="Comfortaa"/>
                <a:sym typeface="Comfortaa"/>
              </a:rPr>
              <a:t>Psychology Careers</a:t>
            </a:r>
            <a:endParaRPr b="1">
              <a:latin typeface="Comfortaa"/>
              <a:ea typeface="Comfortaa"/>
              <a:cs typeface="Comfortaa"/>
              <a:sym typeface="Comfortaa"/>
            </a:endParaRPr>
          </a:p>
          <a:p>
            <a:pPr indent="0" lvl="0" marL="0" rtl="0" algn="l">
              <a:lnSpc>
                <a:spcPct val="100000"/>
              </a:lnSpc>
              <a:spcBef>
                <a:spcPts val="0"/>
              </a:spcBef>
              <a:spcAft>
                <a:spcPts val="0"/>
              </a:spcAft>
              <a:buSzPct val="153863"/>
              <a:buNone/>
            </a:pPr>
            <a:r>
              <a:rPr b="1" lang="en" sz="2022">
                <a:solidFill>
                  <a:schemeClr val="accent1"/>
                </a:solidFill>
                <a:latin typeface="Comfortaa"/>
                <a:ea typeface="Comfortaa"/>
                <a:cs typeface="Comfortaa"/>
                <a:sym typeface="Comfortaa"/>
              </a:rPr>
              <a:t>Carreras en psicología</a:t>
            </a:r>
            <a:endParaRPr b="1" sz="2022">
              <a:solidFill>
                <a:schemeClr val="accent1"/>
              </a:solidFill>
              <a:latin typeface="Comfortaa"/>
              <a:ea typeface="Comfortaa"/>
              <a:cs typeface="Comfortaa"/>
              <a:sym typeface="Comfortaa"/>
            </a:endParaRPr>
          </a:p>
        </p:txBody>
      </p:sp>
      <p:sp>
        <p:nvSpPr>
          <p:cNvPr id="188" name="Google Shape;188;g3f6456eb57b_0_40"/>
          <p:cNvSpPr txBox="1"/>
          <p:nvPr>
            <p:ph idx="1" type="body"/>
          </p:nvPr>
        </p:nvSpPr>
        <p:spPr>
          <a:xfrm>
            <a:off x="0" y="871500"/>
            <a:ext cx="4572000" cy="374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853"/>
              <a:buNone/>
            </a:pPr>
            <a:r>
              <a:rPr b="1" lang="en" sz="1600">
                <a:solidFill>
                  <a:schemeClr val="dk1"/>
                </a:solidFill>
                <a:latin typeface="Comfortaa"/>
                <a:ea typeface="Comfortaa"/>
                <a:cs typeface="Comfortaa"/>
                <a:sym typeface="Comfortaa"/>
              </a:rPr>
              <a:t>Psychiatric Technician/Mental Health Technician: </a:t>
            </a:r>
            <a:r>
              <a:rPr lang="en" sz="1600">
                <a:solidFill>
                  <a:schemeClr val="dk1"/>
                </a:solidFill>
                <a:latin typeface="Comfortaa"/>
                <a:ea typeface="Comfortaa"/>
                <a:cs typeface="Comfortaa"/>
                <a:sym typeface="Comfortaa"/>
              </a:rPr>
              <a:t>Work in hospitals, clinics, or residential facilities assisting people with mental health challenges.</a:t>
            </a:r>
            <a:endParaRPr sz="16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rPr lang="en" sz="1300">
                <a:solidFill>
                  <a:schemeClr val="accent1"/>
                </a:solidFill>
                <a:latin typeface="Comfortaa"/>
                <a:ea typeface="Comfortaa"/>
                <a:cs typeface="Comfortaa"/>
                <a:sym typeface="Comfortaa"/>
              </a:rPr>
              <a:t>Técnico psiquiátrico/Técnico en salud mental</a:t>
            </a:r>
            <a:endParaRPr sz="1300">
              <a:solidFill>
                <a:schemeClr val="accent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t/>
            </a:r>
            <a:endParaRPr sz="5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rPr b="1" lang="en" sz="1600">
                <a:solidFill>
                  <a:schemeClr val="dk1"/>
                </a:solidFill>
                <a:latin typeface="Comfortaa"/>
                <a:ea typeface="Comfortaa"/>
                <a:cs typeface="Comfortaa"/>
                <a:sym typeface="Comfortaa"/>
              </a:rPr>
              <a:t>Substance Abuse Counselor/Addiction Support Worker: </a:t>
            </a:r>
            <a:r>
              <a:rPr lang="en" sz="1600">
                <a:solidFill>
                  <a:schemeClr val="dk1"/>
                </a:solidFill>
                <a:latin typeface="Comfortaa"/>
                <a:ea typeface="Comfortaa"/>
                <a:cs typeface="Comfortaa"/>
                <a:sym typeface="Comfortaa"/>
              </a:rPr>
              <a:t>Help people recover from addiction through counseling, support groups, or rehab programs.</a:t>
            </a:r>
            <a:endParaRPr sz="16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rPr lang="en" sz="1300">
                <a:solidFill>
                  <a:schemeClr val="accent1"/>
                </a:solidFill>
                <a:latin typeface="Comfortaa"/>
                <a:ea typeface="Comfortaa"/>
                <a:cs typeface="Comfortaa"/>
                <a:sym typeface="Comfortaa"/>
              </a:rPr>
              <a:t>Consejero de abuso de sustancias/Trabajador de apoyo en adicciones</a:t>
            </a:r>
            <a:endParaRPr sz="1300">
              <a:solidFill>
                <a:schemeClr val="accent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t/>
            </a:r>
            <a:endParaRPr sz="5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rPr b="1" lang="en" sz="1600">
                <a:solidFill>
                  <a:schemeClr val="dk1"/>
                </a:solidFill>
                <a:latin typeface="Comfortaa"/>
                <a:ea typeface="Comfortaa"/>
                <a:cs typeface="Comfortaa"/>
                <a:sym typeface="Comfortaa"/>
              </a:rPr>
              <a:t>Behavioral Health Aide/Peer Support Specialist:</a:t>
            </a:r>
            <a:r>
              <a:rPr lang="en" sz="1600">
                <a:solidFill>
                  <a:schemeClr val="dk1"/>
                </a:solidFill>
                <a:latin typeface="Comfortaa"/>
                <a:ea typeface="Comfortaa"/>
                <a:cs typeface="Comfortaa"/>
                <a:sym typeface="Comfortaa"/>
              </a:rPr>
              <a:t> Use personal experience to support others in recovery.</a:t>
            </a:r>
            <a:endParaRPr sz="16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rPr lang="en" sz="1300">
                <a:solidFill>
                  <a:schemeClr val="accent1"/>
                </a:solidFill>
                <a:latin typeface="Comfortaa"/>
                <a:ea typeface="Comfortaa"/>
                <a:cs typeface="Comfortaa"/>
                <a:sym typeface="Comfortaa"/>
              </a:rPr>
              <a:t>Asistente de salud conductual/Especialista en apoyo entre pares</a:t>
            </a:r>
            <a:endParaRPr sz="1300">
              <a:solidFill>
                <a:schemeClr val="accent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t/>
            </a:r>
            <a:endParaRPr sz="16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t/>
            </a:r>
            <a:endParaRPr sz="1600">
              <a:solidFill>
                <a:schemeClr val="dk1"/>
              </a:solidFill>
              <a:latin typeface="Comfortaa"/>
              <a:ea typeface="Comfortaa"/>
              <a:cs typeface="Comfortaa"/>
              <a:sym typeface="Comfortaa"/>
            </a:endParaRPr>
          </a:p>
        </p:txBody>
      </p:sp>
      <p:sp>
        <p:nvSpPr>
          <p:cNvPr id="189" name="Google Shape;189;g3f6456eb57b_0_40"/>
          <p:cNvSpPr txBox="1"/>
          <p:nvPr/>
        </p:nvSpPr>
        <p:spPr>
          <a:xfrm>
            <a:off x="4533900" y="0"/>
            <a:ext cx="4610100" cy="5303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600"/>
              <a:buFont typeface="Arial"/>
              <a:buNone/>
            </a:pPr>
            <a:r>
              <a:rPr b="1" i="0" lang="en" sz="1600" u="none" cap="none" strike="noStrike">
                <a:solidFill>
                  <a:schemeClr val="dk1"/>
                </a:solidFill>
                <a:latin typeface="Comfortaa"/>
                <a:ea typeface="Comfortaa"/>
                <a:cs typeface="Comfortaa"/>
                <a:sym typeface="Comfortaa"/>
              </a:rPr>
              <a:t>Case Manager/Social Services Assistant: </a:t>
            </a:r>
            <a:r>
              <a:rPr b="0" i="0" lang="en" sz="1600" u="none" cap="none" strike="noStrike">
                <a:solidFill>
                  <a:schemeClr val="dk1"/>
                </a:solidFill>
                <a:latin typeface="Comfortaa"/>
                <a:ea typeface="Comfortaa"/>
                <a:cs typeface="Comfortaa"/>
                <a:sym typeface="Comfortaa"/>
              </a:rPr>
              <a:t>Help clients navigate social services, housing, and healthcare.</a:t>
            </a:r>
            <a:endParaRPr b="0" i="0" sz="1600" u="none" cap="none" strike="noStrike">
              <a:solidFill>
                <a:schemeClr val="dk1"/>
              </a:solidFill>
              <a:latin typeface="Comfortaa"/>
              <a:ea typeface="Comfortaa"/>
              <a:cs typeface="Comfortaa"/>
              <a:sym typeface="Comfortaa"/>
            </a:endParaRPr>
          </a:p>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accent1"/>
                </a:solidFill>
                <a:latin typeface="Comfortaa"/>
                <a:ea typeface="Comfortaa"/>
                <a:cs typeface="Comfortaa"/>
                <a:sym typeface="Comfortaa"/>
              </a:rPr>
              <a:t>Administrador de casos/Asistente de servicios sociales</a:t>
            </a:r>
            <a:endParaRPr b="0" i="0" sz="1200" u="none" cap="none" strike="noStrike">
              <a:solidFill>
                <a:schemeClr val="accent1"/>
              </a:solidFill>
              <a:latin typeface="Comfortaa"/>
              <a:ea typeface="Comfortaa"/>
              <a:cs typeface="Comfortaa"/>
              <a:sym typeface="Comfortaa"/>
            </a:endParaRPr>
          </a:p>
          <a:p>
            <a:pPr indent="0" lvl="0" marL="0" marR="0" rtl="0" algn="l">
              <a:lnSpc>
                <a:spcPct val="115000"/>
              </a:lnSpc>
              <a:spcBef>
                <a:spcPts val="0"/>
              </a:spcBef>
              <a:spcAft>
                <a:spcPts val="0"/>
              </a:spcAft>
              <a:buClr>
                <a:schemeClr val="dk1"/>
              </a:buClr>
              <a:buSzPts val="1100"/>
              <a:buFont typeface="Arial"/>
              <a:buNone/>
            </a:pPr>
            <a:r>
              <a:t/>
            </a:r>
            <a:endParaRPr b="0" i="0" sz="5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Comfortaa"/>
              <a:ea typeface="Comfortaa"/>
              <a:cs typeface="Comfortaa"/>
              <a:sym typeface="Comforta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3f6456eb57b_0_34"/>
          <p:cNvSpPr txBox="1"/>
          <p:nvPr>
            <p:ph type="title"/>
          </p:nvPr>
        </p:nvSpPr>
        <p:spPr>
          <a:xfrm>
            <a:off x="0" y="0"/>
            <a:ext cx="3726300" cy="7590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latin typeface="Comfortaa"/>
                <a:ea typeface="Comfortaa"/>
                <a:cs typeface="Comfortaa"/>
                <a:sym typeface="Comfortaa"/>
              </a:rPr>
              <a:t>Psychology Careers</a:t>
            </a:r>
            <a:endParaRPr b="1">
              <a:latin typeface="Comfortaa"/>
              <a:ea typeface="Comfortaa"/>
              <a:cs typeface="Comfortaa"/>
              <a:sym typeface="Comfortaa"/>
            </a:endParaRPr>
          </a:p>
          <a:p>
            <a:pPr indent="0" lvl="0" marL="0" rtl="0" algn="l">
              <a:lnSpc>
                <a:spcPct val="100000"/>
              </a:lnSpc>
              <a:spcBef>
                <a:spcPts val="0"/>
              </a:spcBef>
              <a:spcAft>
                <a:spcPts val="0"/>
              </a:spcAft>
              <a:buSzPct val="153863"/>
              <a:buNone/>
            </a:pPr>
            <a:r>
              <a:rPr b="1" lang="en" sz="2022">
                <a:solidFill>
                  <a:schemeClr val="accent1"/>
                </a:solidFill>
                <a:latin typeface="Comfortaa"/>
                <a:ea typeface="Comfortaa"/>
                <a:cs typeface="Comfortaa"/>
                <a:sym typeface="Comfortaa"/>
              </a:rPr>
              <a:t>Carreras en psicología</a:t>
            </a:r>
            <a:endParaRPr b="1" sz="2022">
              <a:solidFill>
                <a:schemeClr val="accent1"/>
              </a:solidFill>
              <a:latin typeface="Comfortaa"/>
              <a:ea typeface="Comfortaa"/>
              <a:cs typeface="Comfortaa"/>
              <a:sym typeface="Comfortaa"/>
            </a:endParaRPr>
          </a:p>
        </p:txBody>
      </p:sp>
      <p:sp>
        <p:nvSpPr>
          <p:cNvPr id="195" name="Google Shape;195;g3f6456eb57b_0_34"/>
          <p:cNvSpPr txBox="1"/>
          <p:nvPr>
            <p:ph idx="1" type="body"/>
          </p:nvPr>
        </p:nvSpPr>
        <p:spPr>
          <a:xfrm>
            <a:off x="0" y="871500"/>
            <a:ext cx="4572000" cy="374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853"/>
              <a:buNone/>
            </a:pPr>
            <a:r>
              <a:rPr b="1" lang="en" sz="1600">
                <a:solidFill>
                  <a:schemeClr val="dk1"/>
                </a:solidFill>
                <a:latin typeface="Comfortaa"/>
                <a:ea typeface="Comfortaa"/>
                <a:cs typeface="Comfortaa"/>
                <a:sym typeface="Comfortaa"/>
              </a:rPr>
              <a:t>Psychiatric Technician/Mental Health Technician: </a:t>
            </a:r>
            <a:r>
              <a:rPr lang="en" sz="1600">
                <a:solidFill>
                  <a:schemeClr val="dk1"/>
                </a:solidFill>
                <a:latin typeface="Comfortaa"/>
                <a:ea typeface="Comfortaa"/>
                <a:cs typeface="Comfortaa"/>
                <a:sym typeface="Comfortaa"/>
              </a:rPr>
              <a:t>Work in hospitals, clinics, or residential facilities assisting people with mental health challenges.</a:t>
            </a:r>
            <a:endParaRPr sz="16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rPr lang="en" sz="1300">
                <a:solidFill>
                  <a:schemeClr val="accent1"/>
                </a:solidFill>
                <a:latin typeface="Comfortaa"/>
                <a:ea typeface="Comfortaa"/>
                <a:cs typeface="Comfortaa"/>
                <a:sym typeface="Comfortaa"/>
              </a:rPr>
              <a:t>Técnico psiquiátrico/Técnico en salud mental</a:t>
            </a:r>
            <a:endParaRPr sz="1300">
              <a:solidFill>
                <a:schemeClr val="accent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t/>
            </a:r>
            <a:endParaRPr sz="5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rPr b="1" lang="en" sz="1600">
                <a:solidFill>
                  <a:schemeClr val="dk1"/>
                </a:solidFill>
                <a:latin typeface="Comfortaa"/>
                <a:ea typeface="Comfortaa"/>
                <a:cs typeface="Comfortaa"/>
                <a:sym typeface="Comfortaa"/>
              </a:rPr>
              <a:t>Substance Abuse Counselor/Addiction Support Worker: </a:t>
            </a:r>
            <a:r>
              <a:rPr lang="en" sz="1600">
                <a:solidFill>
                  <a:schemeClr val="dk1"/>
                </a:solidFill>
                <a:latin typeface="Comfortaa"/>
                <a:ea typeface="Comfortaa"/>
                <a:cs typeface="Comfortaa"/>
                <a:sym typeface="Comfortaa"/>
              </a:rPr>
              <a:t>Help people recover from addiction through counseling, support groups, or rehab programs.</a:t>
            </a:r>
            <a:endParaRPr sz="16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rPr lang="en" sz="1300">
                <a:solidFill>
                  <a:schemeClr val="accent1"/>
                </a:solidFill>
                <a:latin typeface="Comfortaa"/>
                <a:ea typeface="Comfortaa"/>
                <a:cs typeface="Comfortaa"/>
                <a:sym typeface="Comfortaa"/>
              </a:rPr>
              <a:t>Consejero de abuso de sustancias/Trabajador de apoyo en adicciones</a:t>
            </a:r>
            <a:endParaRPr sz="1300">
              <a:solidFill>
                <a:schemeClr val="accent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t/>
            </a:r>
            <a:endParaRPr sz="5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rPr b="1" lang="en" sz="1600">
                <a:solidFill>
                  <a:schemeClr val="dk1"/>
                </a:solidFill>
                <a:latin typeface="Comfortaa"/>
                <a:ea typeface="Comfortaa"/>
                <a:cs typeface="Comfortaa"/>
                <a:sym typeface="Comfortaa"/>
              </a:rPr>
              <a:t>Behavioral Health Aide/Peer Support Specialist:</a:t>
            </a:r>
            <a:r>
              <a:rPr lang="en" sz="1600">
                <a:solidFill>
                  <a:schemeClr val="dk1"/>
                </a:solidFill>
                <a:latin typeface="Comfortaa"/>
                <a:ea typeface="Comfortaa"/>
                <a:cs typeface="Comfortaa"/>
                <a:sym typeface="Comfortaa"/>
              </a:rPr>
              <a:t> Use personal experience to support others in recovery.</a:t>
            </a:r>
            <a:endParaRPr sz="16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rPr lang="en" sz="1300">
                <a:solidFill>
                  <a:schemeClr val="accent1"/>
                </a:solidFill>
                <a:latin typeface="Comfortaa"/>
                <a:ea typeface="Comfortaa"/>
                <a:cs typeface="Comfortaa"/>
                <a:sym typeface="Comfortaa"/>
              </a:rPr>
              <a:t>Asistente de salud conductual/Especialista en apoyo entre pares</a:t>
            </a:r>
            <a:endParaRPr sz="1300">
              <a:solidFill>
                <a:schemeClr val="accent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t/>
            </a:r>
            <a:endParaRPr sz="16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t/>
            </a:r>
            <a:endParaRPr sz="1600">
              <a:solidFill>
                <a:schemeClr val="dk1"/>
              </a:solidFill>
              <a:latin typeface="Comfortaa"/>
              <a:ea typeface="Comfortaa"/>
              <a:cs typeface="Comfortaa"/>
              <a:sym typeface="Comfortaa"/>
            </a:endParaRPr>
          </a:p>
        </p:txBody>
      </p:sp>
      <p:sp>
        <p:nvSpPr>
          <p:cNvPr id="196" name="Google Shape;196;g3f6456eb57b_0_34"/>
          <p:cNvSpPr txBox="1"/>
          <p:nvPr/>
        </p:nvSpPr>
        <p:spPr>
          <a:xfrm>
            <a:off x="4533900" y="0"/>
            <a:ext cx="4610100" cy="5303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600"/>
              <a:buFont typeface="Arial"/>
              <a:buNone/>
            </a:pPr>
            <a:r>
              <a:rPr b="1" i="0" lang="en" sz="1600" u="none" cap="none" strike="noStrike">
                <a:solidFill>
                  <a:schemeClr val="dk1"/>
                </a:solidFill>
                <a:latin typeface="Comfortaa"/>
                <a:ea typeface="Comfortaa"/>
                <a:cs typeface="Comfortaa"/>
                <a:sym typeface="Comfortaa"/>
              </a:rPr>
              <a:t>Case Manager/Social Services Assistant: </a:t>
            </a:r>
            <a:r>
              <a:rPr b="0" i="0" lang="en" sz="1600" u="none" cap="none" strike="noStrike">
                <a:solidFill>
                  <a:schemeClr val="dk1"/>
                </a:solidFill>
                <a:latin typeface="Comfortaa"/>
                <a:ea typeface="Comfortaa"/>
                <a:cs typeface="Comfortaa"/>
                <a:sym typeface="Comfortaa"/>
              </a:rPr>
              <a:t>Help clients navigate social services, housing, and healthcare.</a:t>
            </a:r>
            <a:endParaRPr b="0" i="0" sz="1600" u="none" cap="none" strike="noStrike">
              <a:solidFill>
                <a:schemeClr val="dk1"/>
              </a:solidFill>
              <a:latin typeface="Comfortaa"/>
              <a:ea typeface="Comfortaa"/>
              <a:cs typeface="Comfortaa"/>
              <a:sym typeface="Comfortaa"/>
            </a:endParaRPr>
          </a:p>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accent1"/>
                </a:solidFill>
                <a:latin typeface="Comfortaa"/>
                <a:ea typeface="Comfortaa"/>
                <a:cs typeface="Comfortaa"/>
                <a:sym typeface="Comfortaa"/>
              </a:rPr>
              <a:t>Administrador de casos/Asistente de servicios sociales</a:t>
            </a:r>
            <a:endParaRPr b="0" i="0" sz="1200" u="none" cap="none" strike="noStrike">
              <a:solidFill>
                <a:schemeClr val="accent1"/>
              </a:solidFill>
              <a:latin typeface="Comfortaa"/>
              <a:ea typeface="Comfortaa"/>
              <a:cs typeface="Comfortaa"/>
              <a:sym typeface="Comfortaa"/>
            </a:endParaRPr>
          </a:p>
          <a:p>
            <a:pPr indent="0" lvl="0" marL="0" marR="0" rtl="0" algn="l">
              <a:lnSpc>
                <a:spcPct val="115000"/>
              </a:lnSpc>
              <a:spcBef>
                <a:spcPts val="0"/>
              </a:spcBef>
              <a:spcAft>
                <a:spcPts val="0"/>
              </a:spcAft>
              <a:buClr>
                <a:schemeClr val="dk1"/>
              </a:buClr>
              <a:buSzPts val="1100"/>
              <a:buFont typeface="Arial"/>
              <a:buNone/>
            </a:pPr>
            <a:r>
              <a:t/>
            </a:r>
            <a:endParaRPr b="0" i="0" sz="500" u="none" cap="none" strike="noStrike">
              <a:solidFill>
                <a:schemeClr val="dk1"/>
              </a:solidFill>
              <a:latin typeface="Comfortaa"/>
              <a:ea typeface="Comfortaa"/>
              <a:cs typeface="Comfortaa"/>
              <a:sym typeface="Comfortaa"/>
            </a:endParaRPr>
          </a:p>
          <a:p>
            <a:pPr indent="0" lvl="0" marL="0" marR="0" rtl="0" algn="l">
              <a:lnSpc>
                <a:spcPct val="115000"/>
              </a:lnSpc>
              <a:spcBef>
                <a:spcPts val="0"/>
              </a:spcBef>
              <a:spcAft>
                <a:spcPts val="0"/>
              </a:spcAft>
              <a:buClr>
                <a:srgbClr val="000000"/>
              </a:buClr>
              <a:buSzPts val="1600"/>
              <a:buFont typeface="Arial"/>
              <a:buNone/>
            </a:pPr>
            <a:r>
              <a:rPr b="1" i="0" lang="en" sz="1600" u="none" cap="none" strike="noStrike">
                <a:solidFill>
                  <a:schemeClr val="dk1"/>
                </a:solidFill>
                <a:latin typeface="Comfortaa"/>
                <a:ea typeface="Comfortaa"/>
                <a:cs typeface="Comfortaa"/>
                <a:sym typeface="Comfortaa"/>
              </a:rPr>
              <a:t>Residential Counselor/Group Home Staff: </a:t>
            </a:r>
            <a:r>
              <a:rPr b="0" i="0" lang="en" sz="1600" u="none" cap="none" strike="noStrike">
                <a:solidFill>
                  <a:schemeClr val="dk1"/>
                </a:solidFill>
                <a:latin typeface="Comfortaa"/>
                <a:ea typeface="Comfortaa"/>
                <a:cs typeface="Comfortaa"/>
                <a:sym typeface="Comfortaa"/>
              </a:rPr>
              <a:t>Work in halfway houses, shelters, or group homes supporting residents’ daily routines and personal growth.</a:t>
            </a:r>
            <a:endParaRPr b="0" i="0" sz="1600" u="none" cap="none" strike="noStrike">
              <a:solidFill>
                <a:schemeClr val="dk1"/>
              </a:solidFill>
              <a:latin typeface="Comfortaa"/>
              <a:ea typeface="Comfortaa"/>
              <a:cs typeface="Comfortaa"/>
              <a:sym typeface="Comfortaa"/>
            </a:endParaRPr>
          </a:p>
          <a:p>
            <a:pPr indent="0" lvl="0" marL="0" marR="0" rtl="0" algn="l">
              <a:lnSpc>
                <a:spcPct val="115000"/>
              </a:lnSpc>
              <a:spcBef>
                <a:spcPts val="0"/>
              </a:spcBef>
              <a:spcAft>
                <a:spcPts val="0"/>
              </a:spcAft>
              <a:buClr>
                <a:srgbClr val="000000"/>
              </a:buClr>
              <a:buSzPts val="1300"/>
              <a:buFont typeface="Arial"/>
              <a:buNone/>
            </a:pPr>
            <a:r>
              <a:rPr b="0" i="0" lang="en" sz="1300" u="none" cap="none" strike="noStrike">
                <a:solidFill>
                  <a:schemeClr val="accent1"/>
                </a:solidFill>
                <a:latin typeface="Comfortaa"/>
                <a:ea typeface="Comfortaa"/>
                <a:cs typeface="Comfortaa"/>
                <a:sym typeface="Comfortaa"/>
              </a:rPr>
              <a:t>Consejero residencial / Personal de hogar grupal</a:t>
            </a:r>
            <a:endParaRPr b="0" i="0" sz="1300" u="none" cap="none" strike="noStrike">
              <a:solidFill>
                <a:schemeClr val="accent1"/>
              </a:solidFill>
              <a:latin typeface="Comfortaa"/>
              <a:ea typeface="Comfortaa"/>
              <a:cs typeface="Comfortaa"/>
              <a:sym typeface="Comfortaa"/>
            </a:endParaRPr>
          </a:p>
          <a:p>
            <a:pPr indent="0" lvl="0" marL="0" marR="0" rtl="0" algn="l">
              <a:lnSpc>
                <a:spcPct val="115000"/>
              </a:lnSpc>
              <a:spcBef>
                <a:spcPts val="0"/>
              </a:spcBef>
              <a:spcAft>
                <a:spcPts val="0"/>
              </a:spcAft>
              <a:buClr>
                <a:schemeClr val="dk1"/>
              </a:buClr>
              <a:buSzPts val="1100"/>
              <a:buFont typeface="Arial"/>
              <a:buNone/>
            </a:pPr>
            <a:r>
              <a:t/>
            </a:r>
            <a:endParaRPr b="0" i="0" sz="5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Comfortaa"/>
              <a:ea typeface="Comfortaa"/>
              <a:cs typeface="Comfortaa"/>
              <a:sym typeface="Comforta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3f6456eb57b_0_28"/>
          <p:cNvSpPr txBox="1"/>
          <p:nvPr>
            <p:ph type="title"/>
          </p:nvPr>
        </p:nvSpPr>
        <p:spPr>
          <a:xfrm>
            <a:off x="0" y="0"/>
            <a:ext cx="3726300" cy="7590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latin typeface="Comfortaa"/>
                <a:ea typeface="Comfortaa"/>
                <a:cs typeface="Comfortaa"/>
                <a:sym typeface="Comfortaa"/>
              </a:rPr>
              <a:t>Psychology Careers</a:t>
            </a:r>
            <a:endParaRPr b="1">
              <a:latin typeface="Comfortaa"/>
              <a:ea typeface="Comfortaa"/>
              <a:cs typeface="Comfortaa"/>
              <a:sym typeface="Comfortaa"/>
            </a:endParaRPr>
          </a:p>
          <a:p>
            <a:pPr indent="0" lvl="0" marL="0" rtl="0" algn="l">
              <a:lnSpc>
                <a:spcPct val="100000"/>
              </a:lnSpc>
              <a:spcBef>
                <a:spcPts val="0"/>
              </a:spcBef>
              <a:spcAft>
                <a:spcPts val="0"/>
              </a:spcAft>
              <a:buSzPct val="153863"/>
              <a:buNone/>
            </a:pPr>
            <a:r>
              <a:rPr b="1" lang="en" sz="2022">
                <a:solidFill>
                  <a:schemeClr val="accent1"/>
                </a:solidFill>
                <a:latin typeface="Comfortaa"/>
                <a:ea typeface="Comfortaa"/>
                <a:cs typeface="Comfortaa"/>
                <a:sym typeface="Comfortaa"/>
              </a:rPr>
              <a:t>Carreras en psicología</a:t>
            </a:r>
            <a:endParaRPr b="1" sz="2022">
              <a:solidFill>
                <a:schemeClr val="accent1"/>
              </a:solidFill>
              <a:latin typeface="Comfortaa"/>
              <a:ea typeface="Comfortaa"/>
              <a:cs typeface="Comfortaa"/>
              <a:sym typeface="Comfortaa"/>
            </a:endParaRPr>
          </a:p>
        </p:txBody>
      </p:sp>
      <p:sp>
        <p:nvSpPr>
          <p:cNvPr id="202" name="Google Shape;202;g3f6456eb57b_0_28"/>
          <p:cNvSpPr txBox="1"/>
          <p:nvPr>
            <p:ph idx="1" type="body"/>
          </p:nvPr>
        </p:nvSpPr>
        <p:spPr>
          <a:xfrm>
            <a:off x="0" y="871500"/>
            <a:ext cx="4572000" cy="374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853"/>
              <a:buNone/>
            </a:pPr>
            <a:r>
              <a:rPr b="1" lang="en" sz="1600">
                <a:solidFill>
                  <a:schemeClr val="dk1"/>
                </a:solidFill>
                <a:latin typeface="Comfortaa"/>
                <a:ea typeface="Comfortaa"/>
                <a:cs typeface="Comfortaa"/>
                <a:sym typeface="Comfortaa"/>
              </a:rPr>
              <a:t>Psychiatric Technician/Mental Health Technician: </a:t>
            </a:r>
            <a:r>
              <a:rPr lang="en" sz="1600">
                <a:solidFill>
                  <a:schemeClr val="dk1"/>
                </a:solidFill>
                <a:latin typeface="Comfortaa"/>
                <a:ea typeface="Comfortaa"/>
                <a:cs typeface="Comfortaa"/>
                <a:sym typeface="Comfortaa"/>
              </a:rPr>
              <a:t>Work in hospitals, clinics, or residential facilities assisting people with mental health challenges.</a:t>
            </a:r>
            <a:endParaRPr sz="16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rPr lang="en" sz="1300">
                <a:solidFill>
                  <a:schemeClr val="accent1"/>
                </a:solidFill>
                <a:latin typeface="Comfortaa"/>
                <a:ea typeface="Comfortaa"/>
                <a:cs typeface="Comfortaa"/>
                <a:sym typeface="Comfortaa"/>
              </a:rPr>
              <a:t>Técnico psiquiátrico/Técnico en salud mental</a:t>
            </a:r>
            <a:endParaRPr sz="1300">
              <a:solidFill>
                <a:schemeClr val="accent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t/>
            </a:r>
            <a:endParaRPr sz="5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rPr b="1" lang="en" sz="1600">
                <a:solidFill>
                  <a:schemeClr val="dk1"/>
                </a:solidFill>
                <a:latin typeface="Comfortaa"/>
                <a:ea typeface="Comfortaa"/>
                <a:cs typeface="Comfortaa"/>
                <a:sym typeface="Comfortaa"/>
              </a:rPr>
              <a:t>Substance Abuse Counselor/Addiction Support Worker: </a:t>
            </a:r>
            <a:r>
              <a:rPr lang="en" sz="1600">
                <a:solidFill>
                  <a:schemeClr val="dk1"/>
                </a:solidFill>
                <a:latin typeface="Comfortaa"/>
                <a:ea typeface="Comfortaa"/>
                <a:cs typeface="Comfortaa"/>
                <a:sym typeface="Comfortaa"/>
              </a:rPr>
              <a:t>Help people recover from addiction through counseling, support groups, or rehab programs.</a:t>
            </a:r>
            <a:endParaRPr sz="16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rPr lang="en" sz="1300">
                <a:solidFill>
                  <a:schemeClr val="accent1"/>
                </a:solidFill>
                <a:latin typeface="Comfortaa"/>
                <a:ea typeface="Comfortaa"/>
                <a:cs typeface="Comfortaa"/>
                <a:sym typeface="Comfortaa"/>
              </a:rPr>
              <a:t>Consejero de abuso de sustancias/Trabajador de apoyo en adicciones</a:t>
            </a:r>
            <a:endParaRPr sz="1300">
              <a:solidFill>
                <a:schemeClr val="accent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t/>
            </a:r>
            <a:endParaRPr sz="5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rPr b="1" lang="en" sz="1600">
                <a:solidFill>
                  <a:schemeClr val="dk1"/>
                </a:solidFill>
                <a:latin typeface="Comfortaa"/>
                <a:ea typeface="Comfortaa"/>
                <a:cs typeface="Comfortaa"/>
                <a:sym typeface="Comfortaa"/>
              </a:rPr>
              <a:t>Behavioral Health Aide/Peer Support Specialist:</a:t>
            </a:r>
            <a:r>
              <a:rPr lang="en" sz="1600">
                <a:solidFill>
                  <a:schemeClr val="dk1"/>
                </a:solidFill>
                <a:latin typeface="Comfortaa"/>
                <a:ea typeface="Comfortaa"/>
                <a:cs typeface="Comfortaa"/>
                <a:sym typeface="Comfortaa"/>
              </a:rPr>
              <a:t> Use personal experience to support others in recovery.</a:t>
            </a:r>
            <a:endParaRPr sz="16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rPr lang="en" sz="1300">
                <a:solidFill>
                  <a:schemeClr val="accent1"/>
                </a:solidFill>
                <a:latin typeface="Comfortaa"/>
                <a:ea typeface="Comfortaa"/>
                <a:cs typeface="Comfortaa"/>
                <a:sym typeface="Comfortaa"/>
              </a:rPr>
              <a:t>Asistente de salud conductual/Especialista en apoyo entre pares</a:t>
            </a:r>
            <a:endParaRPr sz="1300">
              <a:solidFill>
                <a:schemeClr val="accent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t/>
            </a:r>
            <a:endParaRPr sz="16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t/>
            </a:r>
            <a:endParaRPr sz="1600">
              <a:solidFill>
                <a:schemeClr val="dk1"/>
              </a:solidFill>
              <a:latin typeface="Comfortaa"/>
              <a:ea typeface="Comfortaa"/>
              <a:cs typeface="Comfortaa"/>
              <a:sym typeface="Comfortaa"/>
            </a:endParaRPr>
          </a:p>
        </p:txBody>
      </p:sp>
      <p:sp>
        <p:nvSpPr>
          <p:cNvPr id="203" name="Google Shape;203;g3f6456eb57b_0_28"/>
          <p:cNvSpPr txBox="1"/>
          <p:nvPr/>
        </p:nvSpPr>
        <p:spPr>
          <a:xfrm>
            <a:off x="4533900" y="0"/>
            <a:ext cx="4610100" cy="5303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600"/>
              <a:buFont typeface="Arial"/>
              <a:buNone/>
            </a:pPr>
            <a:r>
              <a:rPr b="1" i="0" lang="en" sz="1600" u="none" cap="none" strike="noStrike">
                <a:solidFill>
                  <a:schemeClr val="dk1"/>
                </a:solidFill>
                <a:latin typeface="Comfortaa"/>
                <a:ea typeface="Comfortaa"/>
                <a:cs typeface="Comfortaa"/>
                <a:sym typeface="Comfortaa"/>
              </a:rPr>
              <a:t>Case Manager/Social Services Assistant: </a:t>
            </a:r>
            <a:r>
              <a:rPr b="0" i="0" lang="en" sz="1600" u="none" cap="none" strike="noStrike">
                <a:solidFill>
                  <a:schemeClr val="dk1"/>
                </a:solidFill>
                <a:latin typeface="Comfortaa"/>
                <a:ea typeface="Comfortaa"/>
                <a:cs typeface="Comfortaa"/>
                <a:sym typeface="Comfortaa"/>
              </a:rPr>
              <a:t>Help clients navigate social services, housing, and healthcare.</a:t>
            </a:r>
            <a:endParaRPr b="0" i="0" sz="1600" u="none" cap="none" strike="noStrike">
              <a:solidFill>
                <a:schemeClr val="dk1"/>
              </a:solidFill>
              <a:latin typeface="Comfortaa"/>
              <a:ea typeface="Comfortaa"/>
              <a:cs typeface="Comfortaa"/>
              <a:sym typeface="Comfortaa"/>
            </a:endParaRPr>
          </a:p>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accent1"/>
                </a:solidFill>
                <a:latin typeface="Comfortaa"/>
                <a:ea typeface="Comfortaa"/>
                <a:cs typeface="Comfortaa"/>
                <a:sym typeface="Comfortaa"/>
              </a:rPr>
              <a:t>Administrador de casos/Asistente de servicios sociales</a:t>
            </a:r>
            <a:endParaRPr b="0" i="0" sz="1200" u="none" cap="none" strike="noStrike">
              <a:solidFill>
                <a:schemeClr val="accent1"/>
              </a:solidFill>
              <a:latin typeface="Comfortaa"/>
              <a:ea typeface="Comfortaa"/>
              <a:cs typeface="Comfortaa"/>
              <a:sym typeface="Comfortaa"/>
            </a:endParaRPr>
          </a:p>
          <a:p>
            <a:pPr indent="0" lvl="0" marL="0" marR="0" rtl="0" algn="l">
              <a:lnSpc>
                <a:spcPct val="115000"/>
              </a:lnSpc>
              <a:spcBef>
                <a:spcPts val="0"/>
              </a:spcBef>
              <a:spcAft>
                <a:spcPts val="0"/>
              </a:spcAft>
              <a:buClr>
                <a:schemeClr val="dk1"/>
              </a:buClr>
              <a:buSzPts val="1100"/>
              <a:buFont typeface="Arial"/>
              <a:buNone/>
            </a:pPr>
            <a:r>
              <a:t/>
            </a:r>
            <a:endParaRPr b="0" i="0" sz="500" u="none" cap="none" strike="noStrike">
              <a:solidFill>
                <a:schemeClr val="dk1"/>
              </a:solidFill>
              <a:latin typeface="Comfortaa"/>
              <a:ea typeface="Comfortaa"/>
              <a:cs typeface="Comfortaa"/>
              <a:sym typeface="Comfortaa"/>
            </a:endParaRPr>
          </a:p>
          <a:p>
            <a:pPr indent="0" lvl="0" marL="0" marR="0" rtl="0" algn="l">
              <a:lnSpc>
                <a:spcPct val="115000"/>
              </a:lnSpc>
              <a:spcBef>
                <a:spcPts val="0"/>
              </a:spcBef>
              <a:spcAft>
                <a:spcPts val="0"/>
              </a:spcAft>
              <a:buClr>
                <a:srgbClr val="000000"/>
              </a:buClr>
              <a:buSzPts val="1600"/>
              <a:buFont typeface="Arial"/>
              <a:buNone/>
            </a:pPr>
            <a:r>
              <a:rPr b="1" i="0" lang="en" sz="1600" u="none" cap="none" strike="noStrike">
                <a:solidFill>
                  <a:schemeClr val="dk1"/>
                </a:solidFill>
                <a:latin typeface="Comfortaa"/>
                <a:ea typeface="Comfortaa"/>
                <a:cs typeface="Comfortaa"/>
                <a:sym typeface="Comfortaa"/>
              </a:rPr>
              <a:t>Residential Counselor/Group Home Staff: </a:t>
            </a:r>
            <a:r>
              <a:rPr b="0" i="0" lang="en" sz="1600" u="none" cap="none" strike="noStrike">
                <a:solidFill>
                  <a:schemeClr val="dk1"/>
                </a:solidFill>
                <a:latin typeface="Comfortaa"/>
                <a:ea typeface="Comfortaa"/>
                <a:cs typeface="Comfortaa"/>
                <a:sym typeface="Comfortaa"/>
              </a:rPr>
              <a:t>Work in halfway houses, shelters, or group homes supporting residents’ daily routines and personal growth.</a:t>
            </a:r>
            <a:endParaRPr b="0" i="0" sz="1600" u="none" cap="none" strike="noStrike">
              <a:solidFill>
                <a:schemeClr val="dk1"/>
              </a:solidFill>
              <a:latin typeface="Comfortaa"/>
              <a:ea typeface="Comfortaa"/>
              <a:cs typeface="Comfortaa"/>
              <a:sym typeface="Comfortaa"/>
            </a:endParaRPr>
          </a:p>
          <a:p>
            <a:pPr indent="0" lvl="0" marL="0" marR="0" rtl="0" algn="l">
              <a:lnSpc>
                <a:spcPct val="115000"/>
              </a:lnSpc>
              <a:spcBef>
                <a:spcPts val="0"/>
              </a:spcBef>
              <a:spcAft>
                <a:spcPts val="0"/>
              </a:spcAft>
              <a:buClr>
                <a:srgbClr val="000000"/>
              </a:buClr>
              <a:buSzPts val="1300"/>
              <a:buFont typeface="Arial"/>
              <a:buNone/>
            </a:pPr>
            <a:r>
              <a:rPr b="0" i="0" lang="en" sz="1300" u="none" cap="none" strike="noStrike">
                <a:solidFill>
                  <a:schemeClr val="accent1"/>
                </a:solidFill>
                <a:latin typeface="Comfortaa"/>
                <a:ea typeface="Comfortaa"/>
                <a:cs typeface="Comfortaa"/>
                <a:sym typeface="Comfortaa"/>
              </a:rPr>
              <a:t>Consejero residencial / Personal de hogar grupal</a:t>
            </a:r>
            <a:endParaRPr b="0" i="0" sz="1300" u="none" cap="none" strike="noStrike">
              <a:solidFill>
                <a:schemeClr val="accent1"/>
              </a:solidFill>
              <a:latin typeface="Comfortaa"/>
              <a:ea typeface="Comfortaa"/>
              <a:cs typeface="Comfortaa"/>
              <a:sym typeface="Comfortaa"/>
            </a:endParaRPr>
          </a:p>
          <a:p>
            <a:pPr indent="0" lvl="0" marL="0" marR="0" rtl="0" algn="l">
              <a:lnSpc>
                <a:spcPct val="115000"/>
              </a:lnSpc>
              <a:spcBef>
                <a:spcPts val="0"/>
              </a:spcBef>
              <a:spcAft>
                <a:spcPts val="0"/>
              </a:spcAft>
              <a:buClr>
                <a:schemeClr val="dk1"/>
              </a:buClr>
              <a:buSzPts val="1100"/>
              <a:buFont typeface="Arial"/>
              <a:buNone/>
            </a:pPr>
            <a:r>
              <a:t/>
            </a:r>
            <a:endParaRPr b="0" i="0" sz="500" u="none" cap="none" strike="noStrike">
              <a:solidFill>
                <a:schemeClr val="dk1"/>
              </a:solidFill>
              <a:latin typeface="Comfortaa"/>
              <a:ea typeface="Comfortaa"/>
              <a:cs typeface="Comfortaa"/>
              <a:sym typeface="Comfortaa"/>
            </a:endParaRPr>
          </a:p>
          <a:p>
            <a:pPr indent="0" lvl="0" marL="0" marR="0" rtl="0" algn="l">
              <a:lnSpc>
                <a:spcPct val="115000"/>
              </a:lnSpc>
              <a:spcBef>
                <a:spcPts val="0"/>
              </a:spcBef>
              <a:spcAft>
                <a:spcPts val="0"/>
              </a:spcAft>
              <a:buClr>
                <a:srgbClr val="000000"/>
              </a:buClr>
              <a:buSzPts val="1600"/>
              <a:buFont typeface="Arial"/>
              <a:buNone/>
            </a:pPr>
            <a:r>
              <a:rPr b="1" i="0" lang="en" sz="1600" u="none" cap="none" strike="noStrike">
                <a:solidFill>
                  <a:schemeClr val="dk1"/>
                </a:solidFill>
                <a:latin typeface="Comfortaa"/>
                <a:ea typeface="Comfortaa"/>
                <a:cs typeface="Comfortaa"/>
                <a:sym typeface="Comfortaa"/>
              </a:rPr>
              <a:t>Rehabilitation Specialist: </a:t>
            </a:r>
            <a:r>
              <a:rPr b="0" i="0" lang="en" sz="1600" u="none" cap="none" strike="noStrike">
                <a:solidFill>
                  <a:schemeClr val="dk1"/>
                </a:solidFill>
                <a:latin typeface="Comfortaa"/>
                <a:ea typeface="Comfortaa"/>
                <a:cs typeface="Comfortaa"/>
                <a:sym typeface="Comfortaa"/>
              </a:rPr>
              <a:t>Assist people with mental health or substance abuse issues in returning to work or school.</a:t>
            </a:r>
            <a:endParaRPr b="0" i="0" sz="1600" u="none" cap="none" strike="noStrike">
              <a:solidFill>
                <a:schemeClr val="dk1"/>
              </a:solidFill>
              <a:latin typeface="Comfortaa"/>
              <a:ea typeface="Comfortaa"/>
              <a:cs typeface="Comfortaa"/>
              <a:sym typeface="Comfortaa"/>
            </a:endParaRPr>
          </a:p>
          <a:p>
            <a:pPr indent="0" lvl="0" marL="0" marR="0" rtl="0" algn="l">
              <a:lnSpc>
                <a:spcPct val="115000"/>
              </a:lnSpc>
              <a:spcBef>
                <a:spcPts val="0"/>
              </a:spcBef>
              <a:spcAft>
                <a:spcPts val="0"/>
              </a:spcAft>
              <a:buClr>
                <a:srgbClr val="000000"/>
              </a:buClr>
              <a:buSzPts val="1300"/>
              <a:buFont typeface="Arial"/>
              <a:buNone/>
            </a:pPr>
            <a:r>
              <a:rPr b="0" i="0" lang="en" sz="1300" u="none" cap="none" strike="noStrike">
                <a:solidFill>
                  <a:schemeClr val="accent1"/>
                </a:solidFill>
                <a:latin typeface="Comfortaa"/>
                <a:ea typeface="Comfortaa"/>
                <a:cs typeface="Comfortaa"/>
                <a:sym typeface="Comfortaa"/>
              </a:rPr>
              <a:t>Especialista en rehabilitación</a:t>
            </a:r>
            <a:endParaRPr b="0" i="0" sz="1300" u="none" cap="none" strike="noStrike">
              <a:solidFill>
                <a:schemeClr val="accent1"/>
              </a:solidFill>
              <a:latin typeface="Comfortaa"/>
              <a:ea typeface="Comfortaa"/>
              <a:cs typeface="Comfortaa"/>
              <a:sym typeface="Comfortaa"/>
            </a:endParaRPr>
          </a:p>
          <a:p>
            <a:pPr indent="0" lvl="0" marL="0" marR="0" rtl="0" algn="l">
              <a:lnSpc>
                <a:spcPct val="115000"/>
              </a:lnSpc>
              <a:spcBef>
                <a:spcPts val="0"/>
              </a:spcBef>
              <a:spcAft>
                <a:spcPts val="0"/>
              </a:spcAft>
              <a:buClr>
                <a:schemeClr val="dk1"/>
              </a:buClr>
              <a:buSzPts val="1100"/>
              <a:buFont typeface="Arial"/>
              <a:buNone/>
            </a:pPr>
            <a:r>
              <a:t/>
            </a:r>
            <a:endParaRPr b="0" i="0" sz="5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Comfortaa"/>
              <a:ea typeface="Comfortaa"/>
              <a:cs typeface="Comfortaa"/>
              <a:sym typeface="Comfortaa"/>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9"/>
          <p:cNvSpPr txBox="1"/>
          <p:nvPr>
            <p:ph type="title"/>
          </p:nvPr>
        </p:nvSpPr>
        <p:spPr>
          <a:xfrm>
            <a:off x="0" y="0"/>
            <a:ext cx="3726300" cy="7590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latin typeface="Comfortaa"/>
                <a:ea typeface="Comfortaa"/>
                <a:cs typeface="Comfortaa"/>
                <a:sym typeface="Comfortaa"/>
              </a:rPr>
              <a:t>Psychology Careers</a:t>
            </a:r>
            <a:endParaRPr b="1">
              <a:latin typeface="Comfortaa"/>
              <a:ea typeface="Comfortaa"/>
              <a:cs typeface="Comfortaa"/>
              <a:sym typeface="Comfortaa"/>
            </a:endParaRPr>
          </a:p>
          <a:p>
            <a:pPr indent="0" lvl="0" marL="0" rtl="0" algn="l">
              <a:lnSpc>
                <a:spcPct val="100000"/>
              </a:lnSpc>
              <a:spcBef>
                <a:spcPts val="0"/>
              </a:spcBef>
              <a:spcAft>
                <a:spcPts val="0"/>
              </a:spcAft>
              <a:buSzPct val="153863"/>
              <a:buNone/>
            </a:pPr>
            <a:r>
              <a:rPr b="1" lang="en" sz="2022">
                <a:solidFill>
                  <a:schemeClr val="accent1"/>
                </a:solidFill>
                <a:latin typeface="Comfortaa"/>
                <a:ea typeface="Comfortaa"/>
                <a:cs typeface="Comfortaa"/>
                <a:sym typeface="Comfortaa"/>
              </a:rPr>
              <a:t>Carreras en psicología</a:t>
            </a:r>
            <a:endParaRPr b="1" sz="2022">
              <a:solidFill>
                <a:schemeClr val="accent1"/>
              </a:solidFill>
              <a:latin typeface="Comfortaa"/>
              <a:ea typeface="Comfortaa"/>
              <a:cs typeface="Comfortaa"/>
              <a:sym typeface="Comfortaa"/>
            </a:endParaRPr>
          </a:p>
        </p:txBody>
      </p:sp>
      <p:sp>
        <p:nvSpPr>
          <p:cNvPr id="209" name="Google Shape;209;p39"/>
          <p:cNvSpPr txBox="1"/>
          <p:nvPr>
            <p:ph idx="1" type="body"/>
          </p:nvPr>
        </p:nvSpPr>
        <p:spPr>
          <a:xfrm>
            <a:off x="0" y="871500"/>
            <a:ext cx="4572000" cy="374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853"/>
              <a:buNone/>
            </a:pPr>
            <a:r>
              <a:rPr b="1" lang="en" sz="1600">
                <a:solidFill>
                  <a:schemeClr val="dk1"/>
                </a:solidFill>
                <a:latin typeface="Comfortaa"/>
                <a:ea typeface="Comfortaa"/>
                <a:cs typeface="Comfortaa"/>
                <a:sym typeface="Comfortaa"/>
              </a:rPr>
              <a:t>Psychiatric Technician/Mental Health Technician: </a:t>
            </a:r>
            <a:r>
              <a:rPr lang="en" sz="1600">
                <a:solidFill>
                  <a:schemeClr val="dk1"/>
                </a:solidFill>
                <a:latin typeface="Comfortaa"/>
                <a:ea typeface="Comfortaa"/>
                <a:cs typeface="Comfortaa"/>
                <a:sym typeface="Comfortaa"/>
              </a:rPr>
              <a:t>Work in hospitals, clinics, or residential facilities assisting people with mental health challenges.</a:t>
            </a:r>
            <a:endParaRPr sz="16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rPr lang="en" sz="1300">
                <a:solidFill>
                  <a:schemeClr val="accent1"/>
                </a:solidFill>
                <a:latin typeface="Comfortaa"/>
                <a:ea typeface="Comfortaa"/>
                <a:cs typeface="Comfortaa"/>
                <a:sym typeface="Comfortaa"/>
              </a:rPr>
              <a:t>Técnico psiquiátrico/Técnico en salud mental</a:t>
            </a:r>
            <a:endParaRPr sz="1300">
              <a:solidFill>
                <a:schemeClr val="accent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t/>
            </a:r>
            <a:endParaRPr sz="5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rPr b="1" lang="en" sz="1600">
                <a:solidFill>
                  <a:schemeClr val="dk1"/>
                </a:solidFill>
                <a:latin typeface="Comfortaa"/>
                <a:ea typeface="Comfortaa"/>
                <a:cs typeface="Comfortaa"/>
                <a:sym typeface="Comfortaa"/>
              </a:rPr>
              <a:t>Substance Abuse Counselor/Addiction Support Worker: </a:t>
            </a:r>
            <a:r>
              <a:rPr lang="en" sz="1600">
                <a:solidFill>
                  <a:schemeClr val="dk1"/>
                </a:solidFill>
                <a:latin typeface="Comfortaa"/>
                <a:ea typeface="Comfortaa"/>
                <a:cs typeface="Comfortaa"/>
                <a:sym typeface="Comfortaa"/>
              </a:rPr>
              <a:t>Help people recover from addiction through counseling, support groups, or rehab programs.</a:t>
            </a:r>
            <a:endParaRPr sz="16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rPr lang="en" sz="1300">
                <a:solidFill>
                  <a:schemeClr val="accent1"/>
                </a:solidFill>
                <a:latin typeface="Comfortaa"/>
                <a:ea typeface="Comfortaa"/>
                <a:cs typeface="Comfortaa"/>
                <a:sym typeface="Comfortaa"/>
              </a:rPr>
              <a:t>Consejero de abuso de sustancias/Trabajador de apoyo en adicciones</a:t>
            </a:r>
            <a:endParaRPr sz="1300">
              <a:solidFill>
                <a:schemeClr val="accent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t/>
            </a:r>
            <a:endParaRPr sz="5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rPr b="1" lang="en" sz="1600">
                <a:solidFill>
                  <a:schemeClr val="dk1"/>
                </a:solidFill>
                <a:latin typeface="Comfortaa"/>
                <a:ea typeface="Comfortaa"/>
                <a:cs typeface="Comfortaa"/>
                <a:sym typeface="Comfortaa"/>
              </a:rPr>
              <a:t>Behavioral Health Aide/Peer Support Specialist:</a:t>
            </a:r>
            <a:r>
              <a:rPr lang="en" sz="1600">
                <a:solidFill>
                  <a:schemeClr val="dk1"/>
                </a:solidFill>
                <a:latin typeface="Comfortaa"/>
                <a:ea typeface="Comfortaa"/>
                <a:cs typeface="Comfortaa"/>
                <a:sym typeface="Comfortaa"/>
              </a:rPr>
              <a:t> Use personal experience to support others in recovery.</a:t>
            </a:r>
            <a:endParaRPr sz="16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rPr lang="en" sz="1300">
                <a:solidFill>
                  <a:schemeClr val="accent1"/>
                </a:solidFill>
                <a:latin typeface="Comfortaa"/>
                <a:ea typeface="Comfortaa"/>
                <a:cs typeface="Comfortaa"/>
                <a:sym typeface="Comfortaa"/>
              </a:rPr>
              <a:t>Asistente de salud conductual/Especialista en apoyo entre pares</a:t>
            </a:r>
            <a:endParaRPr sz="1300">
              <a:solidFill>
                <a:schemeClr val="accent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t/>
            </a:r>
            <a:endParaRPr sz="1600">
              <a:solidFill>
                <a:schemeClr val="dk1"/>
              </a:solidFill>
              <a:latin typeface="Comfortaa"/>
              <a:ea typeface="Comfortaa"/>
              <a:cs typeface="Comfortaa"/>
              <a:sym typeface="Comfortaa"/>
            </a:endParaRPr>
          </a:p>
          <a:p>
            <a:pPr indent="0" lvl="0" marL="0" rtl="0" algn="l">
              <a:lnSpc>
                <a:spcPct val="105000"/>
              </a:lnSpc>
              <a:spcBef>
                <a:spcPts val="0"/>
              </a:spcBef>
              <a:spcAft>
                <a:spcPts val="0"/>
              </a:spcAft>
              <a:buSzPts val="853"/>
              <a:buNone/>
            </a:pPr>
            <a:r>
              <a:t/>
            </a:r>
            <a:endParaRPr sz="1600">
              <a:solidFill>
                <a:schemeClr val="dk1"/>
              </a:solidFill>
              <a:latin typeface="Comfortaa"/>
              <a:ea typeface="Comfortaa"/>
              <a:cs typeface="Comfortaa"/>
              <a:sym typeface="Comfortaa"/>
            </a:endParaRPr>
          </a:p>
        </p:txBody>
      </p:sp>
      <p:sp>
        <p:nvSpPr>
          <p:cNvPr id="210" name="Google Shape;210;p39"/>
          <p:cNvSpPr txBox="1"/>
          <p:nvPr/>
        </p:nvSpPr>
        <p:spPr>
          <a:xfrm>
            <a:off x="4533900" y="0"/>
            <a:ext cx="4610100" cy="5303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600"/>
              <a:buFont typeface="Arial"/>
              <a:buNone/>
            </a:pPr>
            <a:r>
              <a:rPr b="1" i="0" lang="en" sz="1600" u="none" cap="none" strike="noStrike">
                <a:solidFill>
                  <a:schemeClr val="dk1"/>
                </a:solidFill>
                <a:latin typeface="Comfortaa"/>
                <a:ea typeface="Comfortaa"/>
                <a:cs typeface="Comfortaa"/>
                <a:sym typeface="Comfortaa"/>
              </a:rPr>
              <a:t>Case Manager/Social Services Assistant: </a:t>
            </a:r>
            <a:r>
              <a:rPr b="0" i="0" lang="en" sz="1600" u="none" cap="none" strike="noStrike">
                <a:solidFill>
                  <a:schemeClr val="dk1"/>
                </a:solidFill>
                <a:latin typeface="Comfortaa"/>
                <a:ea typeface="Comfortaa"/>
                <a:cs typeface="Comfortaa"/>
                <a:sym typeface="Comfortaa"/>
              </a:rPr>
              <a:t>Help clients navigate social services, housing, and healthcare.</a:t>
            </a:r>
            <a:endParaRPr b="0" i="0" sz="1600" u="none" cap="none" strike="noStrike">
              <a:solidFill>
                <a:schemeClr val="dk1"/>
              </a:solidFill>
              <a:latin typeface="Comfortaa"/>
              <a:ea typeface="Comfortaa"/>
              <a:cs typeface="Comfortaa"/>
              <a:sym typeface="Comfortaa"/>
            </a:endParaRPr>
          </a:p>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accent1"/>
                </a:solidFill>
                <a:latin typeface="Comfortaa"/>
                <a:ea typeface="Comfortaa"/>
                <a:cs typeface="Comfortaa"/>
                <a:sym typeface="Comfortaa"/>
              </a:rPr>
              <a:t>Administrador de casos/Asistente de servicios sociales</a:t>
            </a:r>
            <a:endParaRPr b="0" i="0" sz="1200" u="none" cap="none" strike="noStrike">
              <a:solidFill>
                <a:schemeClr val="accent1"/>
              </a:solidFill>
              <a:latin typeface="Comfortaa"/>
              <a:ea typeface="Comfortaa"/>
              <a:cs typeface="Comfortaa"/>
              <a:sym typeface="Comfortaa"/>
            </a:endParaRPr>
          </a:p>
          <a:p>
            <a:pPr indent="0" lvl="0" marL="0" marR="0" rtl="0" algn="l">
              <a:lnSpc>
                <a:spcPct val="115000"/>
              </a:lnSpc>
              <a:spcBef>
                <a:spcPts val="0"/>
              </a:spcBef>
              <a:spcAft>
                <a:spcPts val="0"/>
              </a:spcAft>
              <a:buClr>
                <a:schemeClr val="dk1"/>
              </a:buClr>
              <a:buSzPts val="1100"/>
              <a:buFont typeface="Arial"/>
              <a:buNone/>
            </a:pPr>
            <a:r>
              <a:t/>
            </a:r>
            <a:endParaRPr b="0" i="0" sz="500" u="none" cap="none" strike="noStrike">
              <a:solidFill>
                <a:schemeClr val="dk1"/>
              </a:solidFill>
              <a:latin typeface="Comfortaa"/>
              <a:ea typeface="Comfortaa"/>
              <a:cs typeface="Comfortaa"/>
              <a:sym typeface="Comfortaa"/>
            </a:endParaRPr>
          </a:p>
          <a:p>
            <a:pPr indent="0" lvl="0" marL="0" marR="0" rtl="0" algn="l">
              <a:lnSpc>
                <a:spcPct val="115000"/>
              </a:lnSpc>
              <a:spcBef>
                <a:spcPts val="0"/>
              </a:spcBef>
              <a:spcAft>
                <a:spcPts val="0"/>
              </a:spcAft>
              <a:buClr>
                <a:srgbClr val="000000"/>
              </a:buClr>
              <a:buSzPts val="1600"/>
              <a:buFont typeface="Arial"/>
              <a:buNone/>
            </a:pPr>
            <a:r>
              <a:rPr b="1" i="0" lang="en" sz="1600" u="none" cap="none" strike="noStrike">
                <a:solidFill>
                  <a:schemeClr val="dk1"/>
                </a:solidFill>
                <a:latin typeface="Comfortaa"/>
                <a:ea typeface="Comfortaa"/>
                <a:cs typeface="Comfortaa"/>
                <a:sym typeface="Comfortaa"/>
              </a:rPr>
              <a:t>Residential Counselor/Group Home Staff: </a:t>
            </a:r>
            <a:r>
              <a:rPr b="0" i="0" lang="en" sz="1600" u="none" cap="none" strike="noStrike">
                <a:solidFill>
                  <a:schemeClr val="dk1"/>
                </a:solidFill>
                <a:latin typeface="Comfortaa"/>
                <a:ea typeface="Comfortaa"/>
                <a:cs typeface="Comfortaa"/>
                <a:sym typeface="Comfortaa"/>
              </a:rPr>
              <a:t>Work in halfway houses, shelters, or group homes supporting residents’ daily routines and personal growth.</a:t>
            </a:r>
            <a:endParaRPr b="0" i="0" sz="1600" u="none" cap="none" strike="noStrike">
              <a:solidFill>
                <a:schemeClr val="dk1"/>
              </a:solidFill>
              <a:latin typeface="Comfortaa"/>
              <a:ea typeface="Comfortaa"/>
              <a:cs typeface="Comfortaa"/>
              <a:sym typeface="Comfortaa"/>
            </a:endParaRPr>
          </a:p>
          <a:p>
            <a:pPr indent="0" lvl="0" marL="0" marR="0" rtl="0" algn="l">
              <a:lnSpc>
                <a:spcPct val="115000"/>
              </a:lnSpc>
              <a:spcBef>
                <a:spcPts val="0"/>
              </a:spcBef>
              <a:spcAft>
                <a:spcPts val="0"/>
              </a:spcAft>
              <a:buClr>
                <a:srgbClr val="000000"/>
              </a:buClr>
              <a:buSzPts val="1300"/>
              <a:buFont typeface="Arial"/>
              <a:buNone/>
            </a:pPr>
            <a:r>
              <a:rPr b="0" i="0" lang="en" sz="1300" u="none" cap="none" strike="noStrike">
                <a:solidFill>
                  <a:schemeClr val="accent1"/>
                </a:solidFill>
                <a:latin typeface="Comfortaa"/>
                <a:ea typeface="Comfortaa"/>
                <a:cs typeface="Comfortaa"/>
                <a:sym typeface="Comfortaa"/>
              </a:rPr>
              <a:t>Consejero residencial / Personal de hogar grupal</a:t>
            </a:r>
            <a:endParaRPr b="0" i="0" sz="1300" u="none" cap="none" strike="noStrike">
              <a:solidFill>
                <a:schemeClr val="accent1"/>
              </a:solidFill>
              <a:latin typeface="Comfortaa"/>
              <a:ea typeface="Comfortaa"/>
              <a:cs typeface="Comfortaa"/>
              <a:sym typeface="Comfortaa"/>
            </a:endParaRPr>
          </a:p>
          <a:p>
            <a:pPr indent="0" lvl="0" marL="0" marR="0" rtl="0" algn="l">
              <a:lnSpc>
                <a:spcPct val="115000"/>
              </a:lnSpc>
              <a:spcBef>
                <a:spcPts val="0"/>
              </a:spcBef>
              <a:spcAft>
                <a:spcPts val="0"/>
              </a:spcAft>
              <a:buClr>
                <a:schemeClr val="dk1"/>
              </a:buClr>
              <a:buSzPts val="1100"/>
              <a:buFont typeface="Arial"/>
              <a:buNone/>
            </a:pPr>
            <a:r>
              <a:t/>
            </a:r>
            <a:endParaRPr b="0" i="0" sz="500" u="none" cap="none" strike="noStrike">
              <a:solidFill>
                <a:schemeClr val="dk1"/>
              </a:solidFill>
              <a:latin typeface="Comfortaa"/>
              <a:ea typeface="Comfortaa"/>
              <a:cs typeface="Comfortaa"/>
              <a:sym typeface="Comfortaa"/>
            </a:endParaRPr>
          </a:p>
          <a:p>
            <a:pPr indent="0" lvl="0" marL="0" marR="0" rtl="0" algn="l">
              <a:lnSpc>
                <a:spcPct val="115000"/>
              </a:lnSpc>
              <a:spcBef>
                <a:spcPts val="0"/>
              </a:spcBef>
              <a:spcAft>
                <a:spcPts val="0"/>
              </a:spcAft>
              <a:buClr>
                <a:srgbClr val="000000"/>
              </a:buClr>
              <a:buSzPts val="1600"/>
              <a:buFont typeface="Arial"/>
              <a:buNone/>
            </a:pPr>
            <a:r>
              <a:rPr b="1" i="0" lang="en" sz="1600" u="none" cap="none" strike="noStrike">
                <a:solidFill>
                  <a:schemeClr val="dk1"/>
                </a:solidFill>
                <a:latin typeface="Comfortaa"/>
                <a:ea typeface="Comfortaa"/>
                <a:cs typeface="Comfortaa"/>
                <a:sym typeface="Comfortaa"/>
              </a:rPr>
              <a:t>Rehabilitation Specialist: </a:t>
            </a:r>
            <a:r>
              <a:rPr b="0" i="0" lang="en" sz="1600" u="none" cap="none" strike="noStrike">
                <a:solidFill>
                  <a:schemeClr val="dk1"/>
                </a:solidFill>
                <a:latin typeface="Comfortaa"/>
                <a:ea typeface="Comfortaa"/>
                <a:cs typeface="Comfortaa"/>
                <a:sym typeface="Comfortaa"/>
              </a:rPr>
              <a:t>Assist people with mental health or substance abuse issues in returning to work or school.</a:t>
            </a:r>
            <a:endParaRPr b="0" i="0" sz="1600" u="none" cap="none" strike="noStrike">
              <a:solidFill>
                <a:schemeClr val="dk1"/>
              </a:solidFill>
              <a:latin typeface="Comfortaa"/>
              <a:ea typeface="Comfortaa"/>
              <a:cs typeface="Comfortaa"/>
              <a:sym typeface="Comfortaa"/>
            </a:endParaRPr>
          </a:p>
          <a:p>
            <a:pPr indent="0" lvl="0" marL="0" marR="0" rtl="0" algn="l">
              <a:lnSpc>
                <a:spcPct val="115000"/>
              </a:lnSpc>
              <a:spcBef>
                <a:spcPts val="0"/>
              </a:spcBef>
              <a:spcAft>
                <a:spcPts val="0"/>
              </a:spcAft>
              <a:buClr>
                <a:srgbClr val="000000"/>
              </a:buClr>
              <a:buSzPts val="1300"/>
              <a:buFont typeface="Arial"/>
              <a:buNone/>
            </a:pPr>
            <a:r>
              <a:rPr b="0" i="0" lang="en" sz="1300" u="none" cap="none" strike="noStrike">
                <a:solidFill>
                  <a:schemeClr val="accent1"/>
                </a:solidFill>
                <a:latin typeface="Comfortaa"/>
                <a:ea typeface="Comfortaa"/>
                <a:cs typeface="Comfortaa"/>
                <a:sym typeface="Comfortaa"/>
              </a:rPr>
              <a:t>Especialista en rehabilitación</a:t>
            </a:r>
            <a:endParaRPr b="0" i="0" sz="1300" u="none" cap="none" strike="noStrike">
              <a:solidFill>
                <a:schemeClr val="accent1"/>
              </a:solidFill>
              <a:latin typeface="Comfortaa"/>
              <a:ea typeface="Comfortaa"/>
              <a:cs typeface="Comfortaa"/>
              <a:sym typeface="Comfortaa"/>
            </a:endParaRPr>
          </a:p>
          <a:p>
            <a:pPr indent="0" lvl="0" marL="0" marR="0" rtl="0" algn="l">
              <a:lnSpc>
                <a:spcPct val="115000"/>
              </a:lnSpc>
              <a:spcBef>
                <a:spcPts val="0"/>
              </a:spcBef>
              <a:spcAft>
                <a:spcPts val="0"/>
              </a:spcAft>
              <a:buClr>
                <a:schemeClr val="dk1"/>
              </a:buClr>
              <a:buSzPts val="1100"/>
              <a:buFont typeface="Arial"/>
              <a:buNone/>
            </a:pPr>
            <a:r>
              <a:t/>
            </a:r>
            <a:endParaRPr b="0" i="0" sz="500" u="none" cap="none" strike="noStrike">
              <a:solidFill>
                <a:schemeClr val="dk1"/>
              </a:solidFill>
              <a:latin typeface="Comfortaa"/>
              <a:ea typeface="Comfortaa"/>
              <a:cs typeface="Comfortaa"/>
              <a:sym typeface="Comfortaa"/>
            </a:endParaRPr>
          </a:p>
          <a:p>
            <a:pPr indent="0" lvl="0" marL="0" marR="0" rtl="0" algn="l">
              <a:lnSpc>
                <a:spcPct val="115000"/>
              </a:lnSpc>
              <a:spcBef>
                <a:spcPts val="0"/>
              </a:spcBef>
              <a:spcAft>
                <a:spcPts val="0"/>
              </a:spcAft>
              <a:buClr>
                <a:srgbClr val="000000"/>
              </a:buClr>
              <a:buSzPts val="1600"/>
              <a:buFont typeface="Arial"/>
              <a:buNone/>
            </a:pPr>
            <a:r>
              <a:rPr b="1" i="0" lang="en" sz="1600" u="none" cap="none" strike="noStrike">
                <a:solidFill>
                  <a:schemeClr val="dk1"/>
                </a:solidFill>
                <a:latin typeface="Comfortaa"/>
                <a:ea typeface="Comfortaa"/>
                <a:cs typeface="Comfortaa"/>
                <a:sym typeface="Comfortaa"/>
              </a:rPr>
              <a:t>Administrative Roles in Mental Health Organizations: </a:t>
            </a:r>
            <a:r>
              <a:rPr b="0" i="0" lang="en" sz="1600" u="none" cap="none" strike="noStrike">
                <a:solidFill>
                  <a:schemeClr val="dk1"/>
                </a:solidFill>
                <a:latin typeface="Comfortaa"/>
                <a:ea typeface="Comfortaa"/>
                <a:cs typeface="Comfortaa"/>
                <a:sym typeface="Comfortaa"/>
              </a:rPr>
              <a:t>Scheduling, intake, or office work at clinics and treatment centers.</a:t>
            </a:r>
            <a:endParaRPr b="0" i="0" sz="1600" u="none" cap="none" strike="noStrike">
              <a:solidFill>
                <a:schemeClr val="dk1"/>
              </a:solidFill>
              <a:latin typeface="Comfortaa"/>
              <a:ea typeface="Comfortaa"/>
              <a:cs typeface="Comfortaa"/>
              <a:sym typeface="Comfortaa"/>
            </a:endParaRPr>
          </a:p>
          <a:p>
            <a:pPr indent="0" lvl="0" marL="0" marR="0" rtl="0" algn="l">
              <a:lnSpc>
                <a:spcPct val="115000"/>
              </a:lnSpc>
              <a:spcBef>
                <a:spcPts val="0"/>
              </a:spcBef>
              <a:spcAft>
                <a:spcPts val="0"/>
              </a:spcAft>
              <a:buClr>
                <a:schemeClr val="dk1"/>
              </a:buClr>
              <a:buSzPts val="1100"/>
              <a:buFont typeface="Arial"/>
              <a:buNone/>
            </a:pPr>
            <a:r>
              <a:rPr b="0" i="0" lang="en" sz="1300" u="none" cap="none" strike="noStrike">
                <a:solidFill>
                  <a:schemeClr val="accent1"/>
                </a:solidFill>
                <a:latin typeface="Comfortaa"/>
                <a:ea typeface="Comfortaa"/>
                <a:cs typeface="Comfortaa"/>
                <a:sym typeface="Comfortaa"/>
              </a:rPr>
              <a:t>Roles administrativos en salud mental</a:t>
            </a:r>
            <a:endParaRPr b="0" i="0" sz="1300" u="none" cap="none" strike="noStrike">
              <a:solidFill>
                <a:schemeClr val="accent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Comfortaa"/>
              <a:ea typeface="Comfortaa"/>
              <a:cs typeface="Comfortaa"/>
              <a:sym typeface="Comforta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1"/>
          <p:cNvSpPr txBox="1"/>
          <p:nvPr>
            <p:ph idx="4294967295" type="ctrTitle"/>
          </p:nvPr>
        </p:nvSpPr>
        <p:spPr>
          <a:xfrm>
            <a:off x="311700" y="608825"/>
            <a:ext cx="8520600" cy="913200"/>
          </a:xfrm>
          <a:prstGeom prst="rect">
            <a:avLst/>
          </a:prstGeom>
          <a:noFill/>
          <a:ln>
            <a:noFill/>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Clr>
                <a:schemeClr val="dk1"/>
              </a:buClr>
              <a:buSzPts val="2800"/>
              <a:buFont typeface="Arial"/>
              <a:buNone/>
            </a:pPr>
            <a:r>
              <a:rPr b="0" i="0" lang="en" sz="4400" u="none" cap="none" strike="noStrike">
                <a:solidFill>
                  <a:schemeClr val="dk1"/>
                </a:solidFill>
                <a:latin typeface="Arial"/>
                <a:ea typeface="Arial"/>
                <a:cs typeface="Arial"/>
                <a:sym typeface="Arial"/>
              </a:rPr>
              <a:t>Impactful </a:t>
            </a:r>
            <a:r>
              <a:rPr lang="en" sz="4400"/>
              <a:t>E</a:t>
            </a:r>
            <a:r>
              <a:rPr b="0" i="0" lang="en" sz="4400" u="none" cap="none" strike="noStrike">
                <a:solidFill>
                  <a:schemeClr val="dk1"/>
                </a:solidFill>
                <a:latin typeface="Arial"/>
                <a:ea typeface="Arial"/>
                <a:cs typeface="Arial"/>
                <a:sym typeface="Arial"/>
              </a:rPr>
              <a:t>xperiments</a:t>
            </a:r>
            <a:endParaRPr b="0" i="0" sz="4400" u="none" cap="none" strike="noStrike">
              <a:solidFill>
                <a:schemeClr val="dk1"/>
              </a:solidFill>
              <a:latin typeface="Arial"/>
              <a:ea typeface="Arial"/>
              <a:cs typeface="Arial"/>
              <a:sym typeface="Arial"/>
            </a:endParaRPr>
          </a:p>
        </p:txBody>
      </p:sp>
      <p:pic>
        <p:nvPicPr>
          <p:cNvPr id="216" name="Google Shape;216;p21"/>
          <p:cNvPicPr preferRelativeResize="0"/>
          <p:nvPr/>
        </p:nvPicPr>
        <p:blipFill rotWithShape="1">
          <a:blip r:embed="rId3">
            <a:alphaModFix/>
          </a:blip>
          <a:srcRect b="0" l="4516" r="0" t="0"/>
          <a:stretch/>
        </p:blipFill>
        <p:spPr>
          <a:xfrm>
            <a:off x="2214850" y="1669350"/>
            <a:ext cx="4948300" cy="33166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id="221" name="Google Shape;221;p22"/>
          <p:cNvPicPr preferRelativeResize="0"/>
          <p:nvPr/>
        </p:nvPicPr>
        <p:blipFill rotWithShape="1">
          <a:blip r:embed="rId3">
            <a:alphaModFix/>
          </a:blip>
          <a:srcRect b="0" l="0" r="0" t="0"/>
          <a:stretch/>
        </p:blipFill>
        <p:spPr>
          <a:xfrm>
            <a:off x="6781850" y="216000"/>
            <a:ext cx="2301201" cy="1756202"/>
          </a:xfrm>
          <a:prstGeom prst="rect">
            <a:avLst/>
          </a:prstGeom>
          <a:noFill/>
          <a:ln>
            <a:noFill/>
          </a:ln>
        </p:spPr>
      </p:pic>
      <p:pic>
        <p:nvPicPr>
          <p:cNvPr id="222" name="Google Shape;222;p22"/>
          <p:cNvPicPr preferRelativeResize="0"/>
          <p:nvPr/>
        </p:nvPicPr>
        <p:blipFill rotWithShape="1">
          <a:blip r:embed="rId4">
            <a:alphaModFix/>
          </a:blip>
          <a:srcRect b="0" l="0" r="0" t="0"/>
          <a:stretch/>
        </p:blipFill>
        <p:spPr>
          <a:xfrm>
            <a:off x="6973200" y="2293025"/>
            <a:ext cx="1919325" cy="2612950"/>
          </a:xfrm>
          <a:prstGeom prst="rect">
            <a:avLst/>
          </a:prstGeom>
          <a:noFill/>
          <a:ln>
            <a:noFill/>
          </a:ln>
        </p:spPr>
      </p:pic>
      <p:sp>
        <p:nvSpPr>
          <p:cNvPr id="223" name="Google Shape;223;p22"/>
          <p:cNvSpPr txBox="1"/>
          <p:nvPr/>
        </p:nvSpPr>
        <p:spPr>
          <a:xfrm>
            <a:off x="232550" y="115800"/>
            <a:ext cx="6549300" cy="338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Comfortaa"/>
                <a:ea typeface="Comfortaa"/>
                <a:cs typeface="Comfortaa"/>
                <a:sym typeface="Comfortaa"/>
              </a:rPr>
              <a:t>Roger Sperry</a:t>
            </a:r>
            <a:endParaRPr b="1" i="0" sz="25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omfortaa"/>
              <a:ea typeface="Comfortaa"/>
              <a:cs typeface="Comfortaa"/>
              <a:sym typeface="Comfortaa"/>
            </a:endParaRPr>
          </a:p>
          <a:p>
            <a:pPr indent="-342900" lvl="0" marL="457200" marR="0" rtl="0" algn="l">
              <a:lnSpc>
                <a:spcPct val="100000"/>
              </a:lnSpc>
              <a:spcBef>
                <a:spcPts val="0"/>
              </a:spcBef>
              <a:spcAft>
                <a:spcPts val="0"/>
              </a:spcAft>
              <a:buClr>
                <a:schemeClr val="dk1"/>
              </a:buClr>
              <a:buSzPts val="1800"/>
              <a:buFont typeface="Comfortaa"/>
              <a:buChar char="●"/>
            </a:pPr>
            <a:r>
              <a:rPr b="0" i="0" lang="en" sz="1800" u="none" cap="none" strike="noStrike">
                <a:solidFill>
                  <a:schemeClr val="dk1"/>
                </a:solidFill>
                <a:latin typeface="Comfortaa"/>
                <a:ea typeface="Comfortaa"/>
                <a:cs typeface="Comfortaa"/>
                <a:sym typeface="Comfortaa"/>
              </a:rPr>
              <a:t>Studied people whose right and left hemispheres were surgically disconnected</a:t>
            </a:r>
            <a:endParaRPr b="0" i="0" sz="18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accent1"/>
                </a:solidFill>
                <a:latin typeface="Comfortaa"/>
                <a:ea typeface="Comfortaa"/>
                <a:cs typeface="Comfortaa"/>
                <a:sym typeface="Comfortaa"/>
              </a:rPr>
              <a:t>Estudió a personas cuyos hemisferios derecho e izquierdo estaban quirúrgicamente desconectados</a:t>
            </a:r>
            <a:endParaRPr b="0" i="0" sz="1600" u="none" cap="none" strike="noStrike">
              <a:solidFill>
                <a:schemeClr val="accent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omfortaa"/>
              <a:ea typeface="Comfortaa"/>
              <a:cs typeface="Comfortaa"/>
              <a:sym typeface="Comfortaa"/>
            </a:endParaRPr>
          </a:p>
          <a:p>
            <a:pPr indent="-342900" lvl="0" marL="457200" marR="0" rtl="0" algn="l">
              <a:lnSpc>
                <a:spcPct val="100000"/>
              </a:lnSpc>
              <a:spcBef>
                <a:spcPts val="0"/>
              </a:spcBef>
              <a:spcAft>
                <a:spcPts val="0"/>
              </a:spcAft>
              <a:buClr>
                <a:schemeClr val="dk1"/>
              </a:buClr>
              <a:buSzPts val="1800"/>
              <a:buFont typeface="Comfortaa"/>
              <a:buChar char="●"/>
            </a:pPr>
            <a:r>
              <a:rPr b="0" i="0" lang="en" sz="1800" u="none" cap="none" strike="noStrike">
                <a:solidFill>
                  <a:schemeClr val="dk1"/>
                </a:solidFill>
                <a:latin typeface="Comfortaa"/>
                <a:ea typeface="Comfortaa"/>
                <a:cs typeface="Comfortaa"/>
                <a:sym typeface="Comfortaa"/>
              </a:rPr>
              <a:t>Discovered that people could only understand language presented to their left brain</a:t>
            </a:r>
            <a:endParaRPr b="0" i="0" sz="18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accent1"/>
                </a:solidFill>
                <a:latin typeface="Comfortaa"/>
                <a:ea typeface="Comfortaa"/>
                <a:cs typeface="Comfortaa"/>
                <a:sym typeface="Comfortaa"/>
              </a:rPr>
              <a:t>Descubrió que las personas solo podían comprender el lenguaje que se les presentaba al hemisferio izquierdo</a:t>
            </a:r>
            <a:endParaRPr b="0" i="0" sz="1600" u="none" cap="none" strike="noStrike">
              <a:solidFill>
                <a:schemeClr val="accent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omfortaa"/>
              <a:ea typeface="Comfortaa"/>
              <a:cs typeface="Comfortaa"/>
              <a:sym typeface="Comfortaa"/>
            </a:endParaRPr>
          </a:p>
          <a:p>
            <a:pPr indent="-355600" lvl="0" marL="457200" marR="0" rtl="0" algn="l">
              <a:lnSpc>
                <a:spcPct val="100000"/>
              </a:lnSpc>
              <a:spcBef>
                <a:spcPts val="0"/>
              </a:spcBef>
              <a:spcAft>
                <a:spcPts val="0"/>
              </a:spcAft>
              <a:buClr>
                <a:schemeClr val="dk1"/>
              </a:buClr>
              <a:buSzPts val="2000"/>
              <a:buFont typeface="Comfortaa"/>
              <a:buChar char="●"/>
            </a:pPr>
            <a:r>
              <a:rPr b="0" i="0" lang="en" sz="1800" u="none" cap="none" strike="noStrike">
                <a:solidFill>
                  <a:schemeClr val="dk1"/>
                </a:solidFill>
                <a:latin typeface="Comfortaa"/>
                <a:ea typeface="Comfortaa"/>
                <a:cs typeface="Comfortaa"/>
                <a:sym typeface="Comfortaa"/>
              </a:rPr>
              <a:t>When an image was presented to the person's right brain, the subject would say “I didn’t see anything”, but then they could draw the image</a:t>
            </a:r>
            <a:endParaRPr b="0" i="0" sz="18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accent1"/>
                </a:solidFill>
                <a:latin typeface="Comfortaa"/>
                <a:ea typeface="Comfortaa"/>
                <a:cs typeface="Comfortaa"/>
                <a:sym typeface="Comfortaa"/>
              </a:rPr>
              <a:t>Cuando se le presentaba una imagen al hemisferio derecho de la persona, el sujeto decía “No vi nada”, pero luego podía dibujar la imagen.</a:t>
            </a:r>
            <a:endParaRPr b="0" i="0" sz="1600" u="none" cap="none" strike="noStrike">
              <a:solidFill>
                <a:schemeClr val="accent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omfortaa"/>
              <a:ea typeface="Comfortaa"/>
              <a:cs typeface="Comfortaa"/>
              <a:sym typeface="Comforta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3"/>
          <p:cNvSpPr txBox="1"/>
          <p:nvPr/>
        </p:nvSpPr>
        <p:spPr>
          <a:xfrm>
            <a:off x="1414875" y="1600200"/>
            <a:ext cx="6403200" cy="1943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500"/>
              <a:buFont typeface="Arial"/>
              <a:buNone/>
            </a:pPr>
            <a:r>
              <a:rPr b="1" i="0" lang="en" sz="3500" u="none" cap="none" strike="noStrike">
                <a:solidFill>
                  <a:schemeClr val="dk1"/>
                </a:solidFill>
                <a:latin typeface="Comfortaa"/>
                <a:ea typeface="Comfortaa"/>
                <a:cs typeface="Comfortaa"/>
                <a:sym typeface="Comfortaa"/>
              </a:rPr>
              <a:t>Activity: Stroop Effect</a:t>
            </a:r>
            <a:endParaRPr b="1" i="0" sz="3500" u="none" cap="none" strike="noStrike">
              <a:solidFill>
                <a:schemeClr val="dk1"/>
              </a:solidFill>
              <a:latin typeface="Comfortaa"/>
              <a:ea typeface="Comfortaa"/>
              <a:cs typeface="Comfortaa"/>
              <a:sym typeface="Comfortaa"/>
            </a:endParaRPr>
          </a:p>
          <a:p>
            <a:pPr indent="0" lvl="0" marL="0" marR="0" rtl="0" algn="ctr">
              <a:lnSpc>
                <a:spcPct val="100000"/>
              </a:lnSpc>
              <a:spcBef>
                <a:spcPts val="0"/>
              </a:spcBef>
              <a:spcAft>
                <a:spcPts val="0"/>
              </a:spcAft>
              <a:buClr>
                <a:srgbClr val="000000"/>
              </a:buClr>
              <a:buSzPts val="3500"/>
              <a:buFont typeface="Arial"/>
              <a:buNone/>
            </a:pPr>
            <a:r>
              <a:t/>
            </a:r>
            <a:endParaRPr b="1" i="0" sz="3500" u="none" cap="none" strike="noStrike">
              <a:solidFill>
                <a:schemeClr val="dk1"/>
              </a:solidFill>
              <a:latin typeface="Comfortaa"/>
              <a:ea typeface="Comfortaa"/>
              <a:cs typeface="Comfortaa"/>
              <a:sym typeface="Comfortaa"/>
            </a:endParaRPr>
          </a:p>
          <a:p>
            <a:pPr indent="0" lvl="0" marL="0" marR="0" rtl="0" algn="ctr">
              <a:lnSpc>
                <a:spcPct val="100000"/>
              </a:lnSpc>
              <a:spcBef>
                <a:spcPts val="0"/>
              </a:spcBef>
              <a:spcAft>
                <a:spcPts val="0"/>
              </a:spcAft>
              <a:buClr>
                <a:srgbClr val="000000"/>
              </a:buClr>
              <a:buSzPts val="3200"/>
              <a:buFont typeface="Arial"/>
              <a:buNone/>
            </a:pPr>
            <a:r>
              <a:rPr b="1" i="0" lang="en" sz="3200" u="none" cap="none" strike="noStrike">
                <a:solidFill>
                  <a:schemeClr val="accent1"/>
                </a:solidFill>
                <a:latin typeface="Comfortaa"/>
                <a:ea typeface="Comfortaa"/>
                <a:cs typeface="Comfortaa"/>
                <a:sym typeface="Comfortaa"/>
              </a:rPr>
              <a:t>Actividad: Efecto Stroop</a:t>
            </a:r>
            <a:endParaRPr b="1" i="0" sz="3200" u="none" cap="none" strike="noStrike">
              <a:solidFill>
                <a:schemeClr val="accent1"/>
              </a:solidFill>
              <a:latin typeface="Comfortaa"/>
              <a:ea typeface="Comfortaa"/>
              <a:cs typeface="Comfortaa"/>
              <a:sym typeface="Comfortaa"/>
            </a:endParaRPr>
          </a:p>
          <a:p>
            <a:pPr indent="0" lvl="0" marL="0" marR="0" rtl="0" algn="ctr">
              <a:lnSpc>
                <a:spcPct val="100000"/>
              </a:lnSpc>
              <a:spcBef>
                <a:spcPts val="0"/>
              </a:spcBef>
              <a:spcAft>
                <a:spcPts val="0"/>
              </a:spcAft>
              <a:buClr>
                <a:srgbClr val="000000"/>
              </a:buClr>
              <a:buSzPts val="3500"/>
              <a:buFont typeface="Arial"/>
              <a:buNone/>
            </a:pPr>
            <a:r>
              <a:t/>
            </a:r>
            <a:endParaRPr b="1" i="0" sz="3500" u="none" cap="none" strike="noStrike">
              <a:solidFill>
                <a:schemeClr val="dk1"/>
              </a:solidFill>
              <a:latin typeface="Comfortaa"/>
              <a:ea typeface="Comfortaa"/>
              <a:cs typeface="Comfortaa"/>
              <a:sym typeface="Comfortaa"/>
            </a:endParaRPr>
          </a:p>
          <a:p>
            <a:pPr indent="0" lvl="0" marL="0" marR="0" rtl="0" algn="ctr">
              <a:lnSpc>
                <a:spcPct val="100000"/>
              </a:lnSpc>
              <a:spcBef>
                <a:spcPts val="0"/>
              </a:spcBef>
              <a:spcAft>
                <a:spcPts val="0"/>
              </a:spcAft>
              <a:buClr>
                <a:srgbClr val="000000"/>
              </a:buClr>
              <a:buSzPts val="3500"/>
              <a:buFont typeface="Arial"/>
              <a:buNone/>
            </a:pPr>
            <a:r>
              <a:t/>
            </a:r>
            <a:endParaRPr b="1" i="0" sz="3500" u="none" cap="none" strike="noStrike">
              <a:solidFill>
                <a:schemeClr val="dk1"/>
              </a:solidFill>
              <a:latin typeface="Comfortaa"/>
              <a:ea typeface="Comfortaa"/>
              <a:cs typeface="Comfortaa"/>
              <a:sym typeface="Comfortaa"/>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4"/>
          <p:cNvSpPr txBox="1"/>
          <p:nvPr/>
        </p:nvSpPr>
        <p:spPr>
          <a:xfrm>
            <a:off x="0" y="338375"/>
            <a:ext cx="4572000" cy="948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300"/>
              <a:buFont typeface="Arial"/>
              <a:buNone/>
            </a:pPr>
            <a:r>
              <a:rPr b="1" i="0" lang="en" sz="3300" u="none" cap="none" strike="noStrike">
                <a:solidFill>
                  <a:srgbClr val="6AA84F"/>
                </a:solidFill>
                <a:latin typeface="Courier New"/>
                <a:ea typeface="Courier New"/>
                <a:cs typeface="Courier New"/>
                <a:sym typeface="Courier New"/>
              </a:rPr>
              <a:t>Green</a:t>
            </a:r>
            <a:endParaRPr b="1" i="0" sz="3300" u="none" cap="none" strike="noStrike">
              <a:solidFill>
                <a:srgbClr val="6AA84F"/>
              </a:solidFill>
              <a:latin typeface="Courier New"/>
              <a:ea typeface="Courier New"/>
              <a:cs typeface="Courier New"/>
              <a:sym typeface="Courier New"/>
            </a:endParaRPr>
          </a:p>
          <a:p>
            <a:pPr indent="0" lvl="0" marL="0" marR="0" rtl="0" algn="ctr">
              <a:lnSpc>
                <a:spcPct val="100000"/>
              </a:lnSpc>
              <a:spcBef>
                <a:spcPts val="0"/>
              </a:spcBef>
              <a:spcAft>
                <a:spcPts val="0"/>
              </a:spcAft>
              <a:buClr>
                <a:srgbClr val="000000"/>
              </a:buClr>
              <a:buSzPts val="3300"/>
              <a:buFont typeface="Arial"/>
              <a:buNone/>
            </a:pPr>
            <a:r>
              <a:rPr b="1" i="0" lang="en" sz="3300" u="none" cap="none" strike="noStrike">
                <a:solidFill>
                  <a:schemeClr val="dk1"/>
                </a:solidFill>
                <a:latin typeface="Courier New"/>
                <a:ea typeface="Courier New"/>
                <a:cs typeface="Courier New"/>
                <a:sym typeface="Courier New"/>
              </a:rPr>
              <a:t>Black</a:t>
            </a:r>
            <a:br>
              <a:rPr b="1" i="0" lang="en" sz="3300" u="none" cap="none" strike="noStrike">
                <a:solidFill>
                  <a:schemeClr val="dk1"/>
                </a:solidFill>
                <a:latin typeface="Courier New"/>
                <a:ea typeface="Courier New"/>
                <a:cs typeface="Courier New"/>
                <a:sym typeface="Courier New"/>
              </a:rPr>
            </a:br>
            <a:r>
              <a:rPr b="1" i="0" lang="en" sz="3300" u="none" cap="none" strike="noStrike">
                <a:solidFill>
                  <a:srgbClr val="FFD966"/>
                </a:solidFill>
                <a:latin typeface="Courier New"/>
                <a:ea typeface="Courier New"/>
                <a:cs typeface="Courier New"/>
                <a:sym typeface="Courier New"/>
              </a:rPr>
              <a:t>Yellow</a:t>
            </a:r>
            <a:endParaRPr b="1" i="0" sz="3300" u="none" cap="none" strike="noStrike">
              <a:solidFill>
                <a:srgbClr val="FFD966"/>
              </a:solidFill>
              <a:latin typeface="Courier New"/>
              <a:ea typeface="Courier New"/>
              <a:cs typeface="Courier New"/>
              <a:sym typeface="Courier New"/>
            </a:endParaRPr>
          </a:p>
          <a:p>
            <a:pPr indent="0" lvl="0" marL="0" marR="0" rtl="0" algn="ctr">
              <a:lnSpc>
                <a:spcPct val="100000"/>
              </a:lnSpc>
              <a:spcBef>
                <a:spcPts val="0"/>
              </a:spcBef>
              <a:spcAft>
                <a:spcPts val="0"/>
              </a:spcAft>
              <a:buClr>
                <a:srgbClr val="000000"/>
              </a:buClr>
              <a:buSzPts val="3300"/>
              <a:buFont typeface="Arial"/>
              <a:buNone/>
            </a:pPr>
            <a:r>
              <a:rPr b="1" i="0" lang="en" sz="3300" u="none" cap="none" strike="noStrike">
                <a:solidFill>
                  <a:srgbClr val="CC0000"/>
                </a:solidFill>
                <a:latin typeface="Courier New"/>
                <a:ea typeface="Courier New"/>
                <a:cs typeface="Courier New"/>
                <a:sym typeface="Courier New"/>
              </a:rPr>
              <a:t>Red</a:t>
            </a:r>
            <a:endParaRPr b="1" i="0" sz="3300" u="none" cap="none" strike="noStrike">
              <a:solidFill>
                <a:srgbClr val="CC0000"/>
              </a:solidFill>
              <a:latin typeface="Courier New"/>
              <a:ea typeface="Courier New"/>
              <a:cs typeface="Courier New"/>
              <a:sym typeface="Courier New"/>
            </a:endParaRPr>
          </a:p>
          <a:p>
            <a:pPr indent="0" lvl="0" marL="0" marR="0" rtl="0" algn="ctr">
              <a:lnSpc>
                <a:spcPct val="100000"/>
              </a:lnSpc>
              <a:spcBef>
                <a:spcPts val="0"/>
              </a:spcBef>
              <a:spcAft>
                <a:spcPts val="0"/>
              </a:spcAft>
              <a:buClr>
                <a:srgbClr val="000000"/>
              </a:buClr>
              <a:buSzPts val="3300"/>
              <a:buFont typeface="Arial"/>
              <a:buNone/>
            </a:pPr>
            <a:r>
              <a:rPr b="1" i="0" lang="en" sz="3300" u="none" cap="none" strike="noStrike">
                <a:solidFill>
                  <a:srgbClr val="1155CC"/>
                </a:solidFill>
                <a:latin typeface="Courier New"/>
                <a:ea typeface="Courier New"/>
                <a:cs typeface="Courier New"/>
                <a:sym typeface="Courier New"/>
              </a:rPr>
              <a:t>Blue</a:t>
            </a:r>
            <a:endParaRPr b="1" i="0" sz="3300" u="none" cap="none" strike="noStrike">
              <a:solidFill>
                <a:srgbClr val="1155CC"/>
              </a:solidFill>
              <a:latin typeface="Courier New"/>
              <a:ea typeface="Courier New"/>
              <a:cs typeface="Courier New"/>
              <a:sym typeface="Courier New"/>
            </a:endParaRPr>
          </a:p>
          <a:p>
            <a:pPr indent="0" lvl="0" marL="0" marR="0" rtl="0" algn="ctr">
              <a:lnSpc>
                <a:spcPct val="100000"/>
              </a:lnSpc>
              <a:spcBef>
                <a:spcPts val="0"/>
              </a:spcBef>
              <a:spcAft>
                <a:spcPts val="0"/>
              </a:spcAft>
              <a:buClr>
                <a:srgbClr val="000000"/>
              </a:buClr>
              <a:buSzPts val="3300"/>
              <a:buFont typeface="Arial"/>
              <a:buNone/>
            </a:pPr>
            <a:r>
              <a:rPr b="1" i="0" lang="en" sz="3300" u="none" cap="none" strike="noStrike">
                <a:solidFill>
                  <a:srgbClr val="E69138"/>
                </a:solidFill>
                <a:latin typeface="Courier New"/>
                <a:ea typeface="Courier New"/>
                <a:cs typeface="Courier New"/>
                <a:sym typeface="Courier New"/>
              </a:rPr>
              <a:t>Orange</a:t>
            </a:r>
            <a:endParaRPr b="1" i="0" sz="3300" u="none" cap="none" strike="noStrike">
              <a:solidFill>
                <a:srgbClr val="E69138"/>
              </a:solidFill>
              <a:latin typeface="Courier New"/>
              <a:ea typeface="Courier New"/>
              <a:cs typeface="Courier New"/>
              <a:sym typeface="Courier New"/>
            </a:endParaRPr>
          </a:p>
          <a:p>
            <a:pPr indent="0" lvl="0" marL="0" marR="0" rtl="0" algn="ctr">
              <a:lnSpc>
                <a:spcPct val="100000"/>
              </a:lnSpc>
              <a:spcBef>
                <a:spcPts val="0"/>
              </a:spcBef>
              <a:spcAft>
                <a:spcPts val="0"/>
              </a:spcAft>
              <a:buClr>
                <a:srgbClr val="000000"/>
              </a:buClr>
              <a:buSzPts val="3300"/>
              <a:buFont typeface="Arial"/>
              <a:buNone/>
            </a:pPr>
            <a:r>
              <a:rPr b="1" i="0" lang="en" sz="3300" u="none" cap="none" strike="noStrike">
                <a:solidFill>
                  <a:srgbClr val="9900FF"/>
                </a:solidFill>
                <a:latin typeface="Courier New"/>
                <a:ea typeface="Courier New"/>
                <a:cs typeface="Courier New"/>
                <a:sym typeface="Courier New"/>
              </a:rPr>
              <a:t>Purple</a:t>
            </a:r>
            <a:endParaRPr b="1" i="0" sz="3300" u="none" cap="none" strike="noStrike">
              <a:solidFill>
                <a:srgbClr val="9900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3300"/>
              <a:buFont typeface="Arial"/>
              <a:buNone/>
            </a:pPr>
            <a:r>
              <a:t/>
            </a:r>
            <a:endParaRPr b="1" i="0" sz="33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3300"/>
              <a:buFont typeface="Arial"/>
              <a:buNone/>
            </a:pPr>
            <a:r>
              <a:t/>
            </a:r>
            <a:endParaRPr b="1" i="0" sz="33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3300"/>
              <a:buFont typeface="Arial"/>
              <a:buNone/>
            </a:pPr>
            <a:r>
              <a:t/>
            </a:r>
            <a:endParaRPr b="1" i="0" sz="3300" u="none" cap="none" strike="noStrike">
              <a:solidFill>
                <a:schemeClr val="dk1"/>
              </a:solidFill>
              <a:latin typeface="Courier New"/>
              <a:ea typeface="Courier New"/>
              <a:cs typeface="Courier New"/>
              <a:sym typeface="Courier New"/>
            </a:endParaRPr>
          </a:p>
        </p:txBody>
      </p:sp>
      <p:sp>
        <p:nvSpPr>
          <p:cNvPr id="234" name="Google Shape;234;p24"/>
          <p:cNvSpPr txBox="1"/>
          <p:nvPr/>
        </p:nvSpPr>
        <p:spPr>
          <a:xfrm>
            <a:off x="4572000" y="338375"/>
            <a:ext cx="4572000" cy="948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300"/>
              <a:buFont typeface="Arial"/>
              <a:buNone/>
            </a:pPr>
            <a:r>
              <a:rPr b="1" i="0" lang="en" sz="3300" u="none" cap="none" strike="noStrike">
                <a:solidFill>
                  <a:srgbClr val="6AA84F"/>
                </a:solidFill>
                <a:latin typeface="Courier New"/>
                <a:ea typeface="Courier New"/>
                <a:cs typeface="Courier New"/>
                <a:sym typeface="Courier New"/>
              </a:rPr>
              <a:t>Verde</a:t>
            </a:r>
            <a:endParaRPr b="1" i="0" sz="3300" u="none" cap="none" strike="noStrike">
              <a:solidFill>
                <a:srgbClr val="6AA84F"/>
              </a:solidFill>
              <a:latin typeface="Courier New"/>
              <a:ea typeface="Courier New"/>
              <a:cs typeface="Courier New"/>
              <a:sym typeface="Courier New"/>
            </a:endParaRPr>
          </a:p>
          <a:p>
            <a:pPr indent="0" lvl="0" marL="0" marR="0" rtl="0" algn="ctr">
              <a:lnSpc>
                <a:spcPct val="100000"/>
              </a:lnSpc>
              <a:spcBef>
                <a:spcPts val="0"/>
              </a:spcBef>
              <a:spcAft>
                <a:spcPts val="0"/>
              </a:spcAft>
              <a:buClr>
                <a:srgbClr val="000000"/>
              </a:buClr>
              <a:buSzPts val="3300"/>
              <a:buFont typeface="Arial"/>
              <a:buNone/>
            </a:pPr>
            <a:r>
              <a:rPr b="1" i="0" lang="en" sz="3300" u="none" cap="none" strike="noStrike">
                <a:solidFill>
                  <a:schemeClr val="dk1"/>
                </a:solidFill>
                <a:latin typeface="Courier New"/>
                <a:ea typeface="Courier New"/>
                <a:cs typeface="Courier New"/>
                <a:sym typeface="Courier New"/>
              </a:rPr>
              <a:t>Negro</a:t>
            </a:r>
            <a:br>
              <a:rPr b="1" i="0" lang="en" sz="3300" u="none" cap="none" strike="noStrike">
                <a:solidFill>
                  <a:schemeClr val="dk1"/>
                </a:solidFill>
                <a:latin typeface="Courier New"/>
                <a:ea typeface="Courier New"/>
                <a:cs typeface="Courier New"/>
                <a:sym typeface="Courier New"/>
              </a:rPr>
            </a:br>
            <a:r>
              <a:rPr b="1" i="0" lang="en" sz="3300" u="none" cap="none" strike="noStrike">
                <a:solidFill>
                  <a:srgbClr val="FFD966"/>
                </a:solidFill>
                <a:latin typeface="Courier New"/>
                <a:ea typeface="Courier New"/>
                <a:cs typeface="Courier New"/>
                <a:sym typeface="Courier New"/>
              </a:rPr>
              <a:t>Amarillo</a:t>
            </a:r>
            <a:endParaRPr b="1" i="0" sz="3300" u="none" cap="none" strike="noStrike">
              <a:solidFill>
                <a:srgbClr val="FFD966"/>
              </a:solidFill>
              <a:latin typeface="Courier New"/>
              <a:ea typeface="Courier New"/>
              <a:cs typeface="Courier New"/>
              <a:sym typeface="Courier New"/>
            </a:endParaRPr>
          </a:p>
          <a:p>
            <a:pPr indent="0" lvl="0" marL="0" marR="0" rtl="0" algn="ctr">
              <a:lnSpc>
                <a:spcPct val="100000"/>
              </a:lnSpc>
              <a:spcBef>
                <a:spcPts val="0"/>
              </a:spcBef>
              <a:spcAft>
                <a:spcPts val="0"/>
              </a:spcAft>
              <a:buClr>
                <a:srgbClr val="000000"/>
              </a:buClr>
              <a:buSzPts val="3300"/>
              <a:buFont typeface="Arial"/>
              <a:buNone/>
            </a:pPr>
            <a:r>
              <a:rPr b="1" i="0" lang="en" sz="3300" u="none" cap="none" strike="noStrike">
                <a:solidFill>
                  <a:srgbClr val="CC0000"/>
                </a:solidFill>
                <a:latin typeface="Courier New"/>
                <a:ea typeface="Courier New"/>
                <a:cs typeface="Courier New"/>
                <a:sym typeface="Courier New"/>
              </a:rPr>
              <a:t>Rojo</a:t>
            </a:r>
            <a:endParaRPr b="1" i="0" sz="3300" u="none" cap="none" strike="noStrike">
              <a:solidFill>
                <a:srgbClr val="CC0000"/>
              </a:solidFill>
              <a:latin typeface="Courier New"/>
              <a:ea typeface="Courier New"/>
              <a:cs typeface="Courier New"/>
              <a:sym typeface="Courier New"/>
            </a:endParaRPr>
          </a:p>
          <a:p>
            <a:pPr indent="0" lvl="0" marL="0" marR="0" rtl="0" algn="ctr">
              <a:lnSpc>
                <a:spcPct val="100000"/>
              </a:lnSpc>
              <a:spcBef>
                <a:spcPts val="0"/>
              </a:spcBef>
              <a:spcAft>
                <a:spcPts val="0"/>
              </a:spcAft>
              <a:buClr>
                <a:srgbClr val="000000"/>
              </a:buClr>
              <a:buSzPts val="3300"/>
              <a:buFont typeface="Arial"/>
              <a:buNone/>
            </a:pPr>
            <a:r>
              <a:rPr b="1" i="0" lang="en" sz="3300" u="none" cap="none" strike="noStrike">
                <a:solidFill>
                  <a:srgbClr val="1155CC"/>
                </a:solidFill>
                <a:latin typeface="Courier New"/>
                <a:ea typeface="Courier New"/>
                <a:cs typeface="Courier New"/>
                <a:sym typeface="Courier New"/>
              </a:rPr>
              <a:t>Azul</a:t>
            </a:r>
            <a:endParaRPr b="1" i="0" sz="3300" u="none" cap="none" strike="noStrike">
              <a:solidFill>
                <a:srgbClr val="1155CC"/>
              </a:solidFill>
              <a:latin typeface="Courier New"/>
              <a:ea typeface="Courier New"/>
              <a:cs typeface="Courier New"/>
              <a:sym typeface="Courier New"/>
            </a:endParaRPr>
          </a:p>
          <a:p>
            <a:pPr indent="0" lvl="0" marL="0" marR="0" rtl="0" algn="ctr">
              <a:lnSpc>
                <a:spcPct val="100000"/>
              </a:lnSpc>
              <a:spcBef>
                <a:spcPts val="0"/>
              </a:spcBef>
              <a:spcAft>
                <a:spcPts val="0"/>
              </a:spcAft>
              <a:buClr>
                <a:srgbClr val="000000"/>
              </a:buClr>
              <a:buSzPts val="3300"/>
              <a:buFont typeface="Arial"/>
              <a:buNone/>
            </a:pPr>
            <a:r>
              <a:rPr b="1" i="0" lang="en" sz="3300" u="none" cap="none" strike="noStrike">
                <a:solidFill>
                  <a:srgbClr val="E69138"/>
                </a:solidFill>
                <a:latin typeface="Courier New"/>
                <a:ea typeface="Courier New"/>
                <a:cs typeface="Courier New"/>
                <a:sym typeface="Courier New"/>
              </a:rPr>
              <a:t>Naranja</a:t>
            </a:r>
            <a:endParaRPr b="1" i="0" sz="3300" u="none" cap="none" strike="noStrike">
              <a:solidFill>
                <a:srgbClr val="E69138"/>
              </a:solidFill>
              <a:latin typeface="Courier New"/>
              <a:ea typeface="Courier New"/>
              <a:cs typeface="Courier New"/>
              <a:sym typeface="Courier New"/>
            </a:endParaRPr>
          </a:p>
          <a:p>
            <a:pPr indent="0" lvl="0" marL="0" marR="0" rtl="0" algn="ctr">
              <a:lnSpc>
                <a:spcPct val="100000"/>
              </a:lnSpc>
              <a:spcBef>
                <a:spcPts val="0"/>
              </a:spcBef>
              <a:spcAft>
                <a:spcPts val="0"/>
              </a:spcAft>
              <a:buClr>
                <a:srgbClr val="000000"/>
              </a:buClr>
              <a:buSzPts val="3300"/>
              <a:buFont typeface="Arial"/>
              <a:buNone/>
            </a:pPr>
            <a:r>
              <a:rPr b="1" i="0" lang="en" sz="3300" u="none" cap="none" strike="noStrike">
                <a:solidFill>
                  <a:srgbClr val="9900FF"/>
                </a:solidFill>
                <a:latin typeface="Courier New"/>
                <a:ea typeface="Courier New"/>
                <a:cs typeface="Courier New"/>
                <a:sym typeface="Courier New"/>
              </a:rPr>
              <a:t>Morado</a:t>
            </a:r>
            <a:endParaRPr b="1" i="0" sz="3300" u="none" cap="none" strike="noStrike">
              <a:solidFill>
                <a:srgbClr val="9900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3300"/>
              <a:buFont typeface="Arial"/>
              <a:buNone/>
            </a:pPr>
            <a:r>
              <a:t/>
            </a:r>
            <a:endParaRPr b="1" i="0" sz="33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3300"/>
              <a:buFont typeface="Arial"/>
              <a:buNone/>
            </a:pPr>
            <a:r>
              <a:t/>
            </a:r>
            <a:endParaRPr b="1" i="0" sz="33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3300"/>
              <a:buFont typeface="Arial"/>
              <a:buNone/>
            </a:pPr>
            <a:r>
              <a:t/>
            </a:r>
            <a:endParaRPr b="1" i="0" sz="3300" u="none" cap="none" strike="noStrike">
              <a:solidFill>
                <a:schemeClr val="dk1"/>
              </a:solidFill>
              <a:latin typeface="Courier New"/>
              <a:ea typeface="Courier New"/>
              <a:cs typeface="Courier New"/>
              <a:sym typeface="Courier New"/>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5"/>
          <p:cNvSpPr txBox="1"/>
          <p:nvPr/>
        </p:nvSpPr>
        <p:spPr>
          <a:xfrm>
            <a:off x="0" y="437475"/>
            <a:ext cx="4572000" cy="948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300"/>
              <a:buFont typeface="Arial"/>
              <a:buNone/>
            </a:pPr>
            <a:r>
              <a:rPr b="1" i="0" lang="en" sz="3300" u="none" cap="none" strike="noStrike">
                <a:solidFill>
                  <a:srgbClr val="E69138"/>
                </a:solidFill>
                <a:latin typeface="Courier New"/>
                <a:ea typeface="Courier New"/>
                <a:cs typeface="Courier New"/>
                <a:sym typeface="Courier New"/>
              </a:rPr>
              <a:t>Purple</a:t>
            </a:r>
            <a:endParaRPr b="1" i="0" sz="3300" u="none" cap="none" strike="noStrike">
              <a:solidFill>
                <a:srgbClr val="E69138"/>
              </a:solidFill>
              <a:latin typeface="Courier New"/>
              <a:ea typeface="Courier New"/>
              <a:cs typeface="Courier New"/>
              <a:sym typeface="Courier New"/>
            </a:endParaRPr>
          </a:p>
          <a:p>
            <a:pPr indent="0" lvl="0" marL="0" marR="0" rtl="0" algn="ctr">
              <a:lnSpc>
                <a:spcPct val="100000"/>
              </a:lnSpc>
              <a:spcBef>
                <a:spcPts val="0"/>
              </a:spcBef>
              <a:spcAft>
                <a:spcPts val="0"/>
              </a:spcAft>
              <a:buClr>
                <a:srgbClr val="000000"/>
              </a:buClr>
              <a:buSzPts val="3300"/>
              <a:buFont typeface="Arial"/>
              <a:buNone/>
            </a:pPr>
            <a:r>
              <a:rPr b="1" i="0" lang="en" sz="3300" u="none" cap="none" strike="noStrike">
                <a:solidFill>
                  <a:srgbClr val="9900FF"/>
                </a:solidFill>
                <a:latin typeface="Courier New"/>
                <a:ea typeface="Courier New"/>
                <a:cs typeface="Courier New"/>
                <a:sym typeface="Courier New"/>
              </a:rPr>
              <a:t>Yellow</a:t>
            </a:r>
            <a:endParaRPr b="1" i="0" sz="3300" u="none" cap="none" strike="noStrike">
              <a:solidFill>
                <a:srgbClr val="9900FF"/>
              </a:solidFill>
              <a:latin typeface="Courier New"/>
              <a:ea typeface="Courier New"/>
              <a:cs typeface="Courier New"/>
              <a:sym typeface="Courier New"/>
            </a:endParaRPr>
          </a:p>
          <a:p>
            <a:pPr indent="0" lvl="0" marL="0" marR="0" rtl="0" algn="ctr">
              <a:lnSpc>
                <a:spcPct val="100000"/>
              </a:lnSpc>
              <a:spcBef>
                <a:spcPts val="0"/>
              </a:spcBef>
              <a:spcAft>
                <a:spcPts val="0"/>
              </a:spcAft>
              <a:buClr>
                <a:schemeClr val="dk1"/>
              </a:buClr>
              <a:buSzPts val="1100"/>
              <a:buFont typeface="Arial"/>
              <a:buNone/>
            </a:pPr>
            <a:r>
              <a:rPr b="1" i="0" lang="en" sz="3300" u="none" cap="none" strike="noStrike">
                <a:solidFill>
                  <a:srgbClr val="1155CC"/>
                </a:solidFill>
                <a:latin typeface="Courier New"/>
                <a:ea typeface="Courier New"/>
                <a:cs typeface="Courier New"/>
                <a:sym typeface="Courier New"/>
              </a:rPr>
              <a:t>Black</a:t>
            </a:r>
            <a:endParaRPr b="1" i="0" sz="3300" u="none" cap="none" strike="noStrike">
              <a:solidFill>
                <a:srgbClr val="9900FF"/>
              </a:solidFill>
              <a:latin typeface="Courier New"/>
              <a:ea typeface="Courier New"/>
              <a:cs typeface="Courier New"/>
              <a:sym typeface="Courier New"/>
            </a:endParaRPr>
          </a:p>
          <a:p>
            <a:pPr indent="0" lvl="0" marL="0" marR="0" rtl="0" algn="ctr">
              <a:lnSpc>
                <a:spcPct val="100000"/>
              </a:lnSpc>
              <a:spcBef>
                <a:spcPts val="0"/>
              </a:spcBef>
              <a:spcAft>
                <a:spcPts val="0"/>
              </a:spcAft>
              <a:buClr>
                <a:srgbClr val="000000"/>
              </a:buClr>
              <a:buSzPts val="3300"/>
              <a:buFont typeface="Arial"/>
              <a:buNone/>
            </a:pPr>
            <a:r>
              <a:rPr b="1" i="0" lang="en" sz="3300" u="none" cap="none" strike="noStrike">
                <a:solidFill>
                  <a:srgbClr val="CC0000"/>
                </a:solidFill>
                <a:latin typeface="Courier New"/>
                <a:ea typeface="Courier New"/>
                <a:cs typeface="Courier New"/>
                <a:sym typeface="Courier New"/>
              </a:rPr>
              <a:t>Green</a:t>
            </a:r>
            <a:endParaRPr b="1" i="0" sz="3300" u="none" cap="none" strike="noStrike">
              <a:solidFill>
                <a:srgbClr val="CC0000"/>
              </a:solidFill>
              <a:latin typeface="Courier New"/>
              <a:ea typeface="Courier New"/>
              <a:cs typeface="Courier New"/>
              <a:sym typeface="Courier New"/>
            </a:endParaRPr>
          </a:p>
          <a:p>
            <a:pPr indent="0" lvl="0" marL="0" marR="0" rtl="0" algn="ctr">
              <a:lnSpc>
                <a:spcPct val="100000"/>
              </a:lnSpc>
              <a:spcBef>
                <a:spcPts val="0"/>
              </a:spcBef>
              <a:spcAft>
                <a:spcPts val="0"/>
              </a:spcAft>
              <a:buClr>
                <a:srgbClr val="000000"/>
              </a:buClr>
              <a:buSzPts val="3300"/>
              <a:buFont typeface="Arial"/>
              <a:buNone/>
            </a:pPr>
            <a:r>
              <a:rPr b="1" i="0" lang="en" sz="3300" u="none" cap="none" strike="noStrike">
                <a:solidFill>
                  <a:srgbClr val="6AA84F"/>
                </a:solidFill>
                <a:latin typeface="Courier New"/>
                <a:ea typeface="Courier New"/>
                <a:cs typeface="Courier New"/>
                <a:sym typeface="Courier New"/>
              </a:rPr>
              <a:t>Red</a:t>
            </a:r>
            <a:endParaRPr b="1" i="0" sz="3300" u="none" cap="none" strike="noStrike">
              <a:solidFill>
                <a:srgbClr val="FFD966"/>
              </a:solidFill>
              <a:latin typeface="Courier New"/>
              <a:ea typeface="Courier New"/>
              <a:cs typeface="Courier New"/>
              <a:sym typeface="Courier New"/>
            </a:endParaRPr>
          </a:p>
          <a:p>
            <a:pPr indent="0" lvl="0" marL="0" marR="0" rtl="0" algn="ctr">
              <a:lnSpc>
                <a:spcPct val="100000"/>
              </a:lnSpc>
              <a:spcBef>
                <a:spcPts val="0"/>
              </a:spcBef>
              <a:spcAft>
                <a:spcPts val="0"/>
              </a:spcAft>
              <a:buClr>
                <a:srgbClr val="000000"/>
              </a:buClr>
              <a:buSzPts val="3300"/>
              <a:buFont typeface="Arial"/>
              <a:buNone/>
            </a:pPr>
            <a:r>
              <a:rPr b="1" i="0" lang="en" sz="3300" u="none" cap="none" strike="noStrike">
                <a:solidFill>
                  <a:schemeClr val="dk1"/>
                </a:solidFill>
                <a:latin typeface="Courier New"/>
                <a:ea typeface="Courier New"/>
                <a:cs typeface="Courier New"/>
                <a:sym typeface="Courier New"/>
              </a:rPr>
              <a:t>Orange</a:t>
            </a:r>
            <a:endParaRPr b="1" i="0" sz="3300" u="none" cap="none" strike="noStrike">
              <a:solidFill>
                <a:schemeClr val="dk1"/>
              </a:solidFill>
              <a:latin typeface="Courier New"/>
              <a:ea typeface="Courier New"/>
              <a:cs typeface="Courier New"/>
              <a:sym typeface="Courier New"/>
            </a:endParaRPr>
          </a:p>
          <a:p>
            <a:pPr indent="0" lvl="0" marL="0" marR="0" rtl="0" algn="ctr">
              <a:lnSpc>
                <a:spcPct val="100000"/>
              </a:lnSpc>
              <a:spcBef>
                <a:spcPts val="0"/>
              </a:spcBef>
              <a:spcAft>
                <a:spcPts val="0"/>
              </a:spcAft>
              <a:buClr>
                <a:schemeClr val="dk1"/>
              </a:buClr>
              <a:buSzPts val="1100"/>
              <a:buFont typeface="Arial"/>
              <a:buNone/>
            </a:pPr>
            <a:r>
              <a:rPr b="1" i="0" lang="en" sz="3300" u="none" cap="none" strike="noStrike">
                <a:solidFill>
                  <a:srgbClr val="FFD966"/>
                </a:solidFill>
                <a:latin typeface="Courier New"/>
                <a:ea typeface="Courier New"/>
                <a:cs typeface="Courier New"/>
                <a:sym typeface="Courier New"/>
              </a:rPr>
              <a:t>Blue</a:t>
            </a:r>
            <a:endParaRPr b="1" i="0" sz="3300" u="none" cap="none" strike="noStrike">
              <a:solidFill>
                <a:schemeClr val="dk1"/>
              </a:solidFill>
              <a:latin typeface="Courier New"/>
              <a:ea typeface="Courier New"/>
              <a:cs typeface="Courier New"/>
              <a:sym typeface="Courier New"/>
            </a:endParaRPr>
          </a:p>
          <a:p>
            <a:pPr indent="0" lvl="0" marL="0" marR="0" rtl="0" algn="ctr">
              <a:lnSpc>
                <a:spcPct val="100000"/>
              </a:lnSpc>
              <a:spcBef>
                <a:spcPts val="0"/>
              </a:spcBef>
              <a:spcAft>
                <a:spcPts val="0"/>
              </a:spcAft>
              <a:buClr>
                <a:srgbClr val="000000"/>
              </a:buClr>
              <a:buSzPts val="3300"/>
              <a:buFont typeface="Arial"/>
              <a:buNone/>
            </a:pPr>
            <a:r>
              <a:t/>
            </a:r>
            <a:endParaRPr b="1" i="0" sz="3300" u="none" cap="none" strike="noStrike">
              <a:solidFill>
                <a:srgbClr val="E69138"/>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3300"/>
              <a:buFont typeface="Arial"/>
              <a:buNone/>
            </a:pPr>
            <a:r>
              <a:t/>
            </a:r>
            <a:endParaRPr b="1" i="0" sz="33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3300"/>
              <a:buFont typeface="Arial"/>
              <a:buNone/>
            </a:pPr>
            <a:r>
              <a:t/>
            </a:r>
            <a:endParaRPr b="1" i="0" sz="33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3300"/>
              <a:buFont typeface="Arial"/>
              <a:buNone/>
            </a:pPr>
            <a:r>
              <a:t/>
            </a:r>
            <a:endParaRPr b="1" i="0" sz="3300" u="none" cap="none" strike="noStrike">
              <a:solidFill>
                <a:schemeClr val="dk1"/>
              </a:solidFill>
              <a:latin typeface="Courier New"/>
              <a:ea typeface="Courier New"/>
              <a:cs typeface="Courier New"/>
              <a:sym typeface="Courier New"/>
            </a:endParaRPr>
          </a:p>
        </p:txBody>
      </p:sp>
      <p:sp>
        <p:nvSpPr>
          <p:cNvPr id="240" name="Google Shape;240;p25"/>
          <p:cNvSpPr txBox="1"/>
          <p:nvPr/>
        </p:nvSpPr>
        <p:spPr>
          <a:xfrm>
            <a:off x="4572000" y="437475"/>
            <a:ext cx="4572000" cy="948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300"/>
              <a:buFont typeface="Arial"/>
              <a:buNone/>
            </a:pPr>
            <a:r>
              <a:rPr b="1" i="0" lang="en" sz="3300" u="none" cap="none" strike="noStrike">
                <a:solidFill>
                  <a:srgbClr val="E69138"/>
                </a:solidFill>
                <a:latin typeface="Courier New"/>
                <a:ea typeface="Courier New"/>
                <a:cs typeface="Courier New"/>
                <a:sym typeface="Courier New"/>
              </a:rPr>
              <a:t>Morado</a:t>
            </a:r>
            <a:endParaRPr b="1" i="0" sz="3300" u="none" cap="none" strike="noStrike">
              <a:solidFill>
                <a:srgbClr val="E69138"/>
              </a:solidFill>
              <a:latin typeface="Courier New"/>
              <a:ea typeface="Courier New"/>
              <a:cs typeface="Courier New"/>
              <a:sym typeface="Courier New"/>
            </a:endParaRPr>
          </a:p>
          <a:p>
            <a:pPr indent="0" lvl="0" marL="0" marR="0" rtl="0" algn="ctr">
              <a:lnSpc>
                <a:spcPct val="100000"/>
              </a:lnSpc>
              <a:spcBef>
                <a:spcPts val="0"/>
              </a:spcBef>
              <a:spcAft>
                <a:spcPts val="0"/>
              </a:spcAft>
              <a:buClr>
                <a:srgbClr val="000000"/>
              </a:buClr>
              <a:buSzPts val="3300"/>
              <a:buFont typeface="Arial"/>
              <a:buNone/>
            </a:pPr>
            <a:r>
              <a:rPr b="1" i="0" lang="en" sz="3300" u="none" cap="none" strike="noStrike">
                <a:solidFill>
                  <a:srgbClr val="9900FF"/>
                </a:solidFill>
                <a:latin typeface="Courier New"/>
                <a:ea typeface="Courier New"/>
                <a:cs typeface="Courier New"/>
                <a:sym typeface="Courier New"/>
              </a:rPr>
              <a:t>Amarillo</a:t>
            </a:r>
            <a:endParaRPr b="1" i="0" sz="3300" u="none" cap="none" strike="noStrike">
              <a:solidFill>
                <a:srgbClr val="9900FF"/>
              </a:solidFill>
              <a:latin typeface="Courier New"/>
              <a:ea typeface="Courier New"/>
              <a:cs typeface="Courier New"/>
              <a:sym typeface="Courier New"/>
            </a:endParaRPr>
          </a:p>
          <a:p>
            <a:pPr indent="0" lvl="0" marL="0" marR="0" rtl="0" algn="ctr">
              <a:lnSpc>
                <a:spcPct val="100000"/>
              </a:lnSpc>
              <a:spcBef>
                <a:spcPts val="0"/>
              </a:spcBef>
              <a:spcAft>
                <a:spcPts val="0"/>
              </a:spcAft>
              <a:buClr>
                <a:schemeClr val="dk1"/>
              </a:buClr>
              <a:buSzPts val="1100"/>
              <a:buFont typeface="Arial"/>
              <a:buNone/>
            </a:pPr>
            <a:r>
              <a:rPr b="1" i="0" lang="en" sz="3300" u="none" cap="none" strike="noStrike">
                <a:solidFill>
                  <a:srgbClr val="1155CC"/>
                </a:solidFill>
                <a:latin typeface="Courier New"/>
                <a:ea typeface="Courier New"/>
                <a:cs typeface="Courier New"/>
                <a:sym typeface="Courier New"/>
              </a:rPr>
              <a:t>Negro</a:t>
            </a:r>
            <a:endParaRPr b="1" i="0" sz="3300" u="none" cap="none" strike="noStrike">
              <a:solidFill>
                <a:srgbClr val="9900FF"/>
              </a:solidFill>
              <a:latin typeface="Courier New"/>
              <a:ea typeface="Courier New"/>
              <a:cs typeface="Courier New"/>
              <a:sym typeface="Courier New"/>
            </a:endParaRPr>
          </a:p>
          <a:p>
            <a:pPr indent="0" lvl="0" marL="0" marR="0" rtl="0" algn="ctr">
              <a:lnSpc>
                <a:spcPct val="100000"/>
              </a:lnSpc>
              <a:spcBef>
                <a:spcPts val="0"/>
              </a:spcBef>
              <a:spcAft>
                <a:spcPts val="0"/>
              </a:spcAft>
              <a:buClr>
                <a:srgbClr val="000000"/>
              </a:buClr>
              <a:buSzPts val="3300"/>
              <a:buFont typeface="Arial"/>
              <a:buNone/>
            </a:pPr>
            <a:r>
              <a:rPr b="1" i="0" lang="en" sz="3300" u="none" cap="none" strike="noStrike">
                <a:solidFill>
                  <a:srgbClr val="CC0000"/>
                </a:solidFill>
                <a:latin typeface="Courier New"/>
                <a:ea typeface="Courier New"/>
                <a:cs typeface="Courier New"/>
                <a:sym typeface="Courier New"/>
              </a:rPr>
              <a:t>Verde</a:t>
            </a:r>
            <a:endParaRPr b="1" i="0" sz="3300" u="none" cap="none" strike="noStrike">
              <a:solidFill>
                <a:srgbClr val="CC0000"/>
              </a:solidFill>
              <a:latin typeface="Courier New"/>
              <a:ea typeface="Courier New"/>
              <a:cs typeface="Courier New"/>
              <a:sym typeface="Courier New"/>
            </a:endParaRPr>
          </a:p>
          <a:p>
            <a:pPr indent="0" lvl="0" marL="0" marR="0" rtl="0" algn="ctr">
              <a:lnSpc>
                <a:spcPct val="100000"/>
              </a:lnSpc>
              <a:spcBef>
                <a:spcPts val="0"/>
              </a:spcBef>
              <a:spcAft>
                <a:spcPts val="0"/>
              </a:spcAft>
              <a:buClr>
                <a:srgbClr val="000000"/>
              </a:buClr>
              <a:buSzPts val="3300"/>
              <a:buFont typeface="Arial"/>
              <a:buNone/>
            </a:pPr>
            <a:r>
              <a:rPr b="1" i="0" lang="en" sz="3300" u="none" cap="none" strike="noStrike">
                <a:solidFill>
                  <a:srgbClr val="6AA84F"/>
                </a:solidFill>
                <a:latin typeface="Courier New"/>
                <a:ea typeface="Courier New"/>
                <a:cs typeface="Courier New"/>
                <a:sym typeface="Courier New"/>
              </a:rPr>
              <a:t>Rojo</a:t>
            </a:r>
            <a:endParaRPr b="1" i="0" sz="3300" u="none" cap="none" strike="noStrike">
              <a:solidFill>
                <a:srgbClr val="FFD966"/>
              </a:solidFill>
              <a:latin typeface="Courier New"/>
              <a:ea typeface="Courier New"/>
              <a:cs typeface="Courier New"/>
              <a:sym typeface="Courier New"/>
            </a:endParaRPr>
          </a:p>
          <a:p>
            <a:pPr indent="0" lvl="0" marL="0" marR="0" rtl="0" algn="ctr">
              <a:lnSpc>
                <a:spcPct val="100000"/>
              </a:lnSpc>
              <a:spcBef>
                <a:spcPts val="0"/>
              </a:spcBef>
              <a:spcAft>
                <a:spcPts val="0"/>
              </a:spcAft>
              <a:buClr>
                <a:srgbClr val="000000"/>
              </a:buClr>
              <a:buSzPts val="3300"/>
              <a:buFont typeface="Arial"/>
              <a:buNone/>
            </a:pPr>
            <a:r>
              <a:rPr b="1" i="0" lang="en" sz="3300" u="none" cap="none" strike="noStrike">
                <a:solidFill>
                  <a:schemeClr val="dk1"/>
                </a:solidFill>
                <a:latin typeface="Courier New"/>
                <a:ea typeface="Courier New"/>
                <a:cs typeface="Courier New"/>
                <a:sym typeface="Courier New"/>
              </a:rPr>
              <a:t>Naranja</a:t>
            </a:r>
            <a:endParaRPr b="1" i="0" sz="3300" u="none" cap="none" strike="noStrike">
              <a:solidFill>
                <a:schemeClr val="dk1"/>
              </a:solidFill>
              <a:latin typeface="Courier New"/>
              <a:ea typeface="Courier New"/>
              <a:cs typeface="Courier New"/>
              <a:sym typeface="Courier New"/>
            </a:endParaRPr>
          </a:p>
          <a:p>
            <a:pPr indent="0" lvl="0" marL="0" marR="0" rtl="0" algn="ctr">
              <a:lnSpc>
                <a:spcPct val="100000"/>
              </a:lnSpc>
              <a:spcBef>
                <a:spcPts val="0"/>
              </a:spcBef>
              <a:spcAft>
                <a:spcPts val="0"/>
              </a:spcAft>
              <a:buClr>
                <a:schemeClr val="dk1"/>
              </a:buClr>
              <a:buSzPts val="1100"/>
              <a:buFont typeface="Arial"/>
              <a:buNone/>
            </a:pPr>
            <a:r>
              <a:rPr b="1" i="0" lang="en" sz="3300" u="none" cap="none" strike="noStrike">
                <a:solidFill>
                  <a:srgbClr val="FFD966"/>
                </a:solidFill>
                <a:latin typeface="Courier New"/>
                <a:ea typeface="Courier New"/>
                <a:cs typeface="Courier New"/>
                <a:sym typeface="Courier New"/>
              </a:rPr>
              <a:t>Azul</a:t>
            </a:r>
            <a:endParaRPr b="1" i="0" sz="3300" u="none" cap="none" strike="noStrike">
              <a:solidFill>
                <a:schemeClr val="dk1"/>
              </a:solidFill>
              <a:latin typeface="Courier New"/>
              <a:ea typeface="Courier New"/>
              <a:cs typeface="Courier New"/>
              <a:sym typeface="Courier New"/>
            </a:endParaRPr>
          </a:p>
          <a:p>
            <a:pPr indent="0" lvl="0" marL="0" marR="0" rtl="0" algn="ctr">
              <a:lnSpc>
                <a:spcPct val="100000"/>
              </a:lnSpc>
              <a:spcBef>
                <a:spcPts val="0"/>
              </a:spcBef>
              <a:spcAft>
                <a:spcPts val="0"/>
              </a:spcAft>
              <a:buClr>
                <a:srgbClr val="000000"/>
              </a:buClr>
              <a:buSzPts val="3300"/>
              <a:buFont typeface="Arial"/>
              <a:buNone/>
            </a:pPr>
            <a:r>
              <a:t/>
            </a:r>
            <a:endParaRPr b="1" i="0" sz="3300" u="none" cap="none" strike="noStrike">
              <a:solidFill>
                <a:srgbClr val="E69138"/>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3300"/>
              <a:buFont typeface="Arial"/>
              <a:buNone/>
            </a:pPr>
            <a:r>
              <a:t/>
            </a:r>
            <a:endParaRPr b="1" i="0" sz="33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3300"/>
              <a:buFont typeface="Arial"/>
              <a:buNone/>
            </a:pPr>
            <a:r>
              <a:t/>
            </a:r>
            <a:endParaRPr b="1" i="0" sz="33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3300"/>
              <a:buFont typeface="Arial"/>
              <a:buNone/>
            </a:pPr>
            <a:r>
              <a:t/>
            </a:r>
            <a:endParaRPr b="1" i="0" sz="3300" u="none" cap="none" strike="noStrike">
              <a:solidFill>
                <a:schemeClr val="dk1"/>
              </a:solidFill>
              <a:latin typeface="Courier New"/>
              <a:ea typeface="Courier New"/>
              <a:cs typeface="Courier New"/>
              <a:sym typeface="Courier New"/>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6"/>
          <p:cNvSpPr txBox="1"/>
          <p:nvPr/>
        </p:nvSpPr>
        <p:spPr>
          <a:xfrm>
            <a:off x="1614450" y="962725"/>
            <a:ext cx="5915100" cy="948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500"/>
              <a:buFont typeface="Arial"/>
              <a:buNone/>
            </a:pPr>
            <a:r>
              <a:rPr b="1" i="0" lang="en" sz="3500" u="none" cap="none" strike="noStrike">
                <a:solidFill>
                  <a:schemeClr val="dk1"/>
                </a:solidFill>
                <a:latin typeface="Comfortaa"/>
                <a:ea typeface="Comfortaa"/>
                <a:cs typeface="Comfortaa"/>
                <a:sym typeface="Comfortaa"/>
              </a:rPr>
              <a:t>What is consciousness?</a:t>
            </a:r>
            <a:endParaRPr b="1" i="0" sz="3500" u="none" cap="none" strike="noStrike">
              <a:solidFill>
                <a:schemeClr val="dk1"/>
              </a:solidFill>
              <a:latin typeface="Comfortaa"/>
              <a:ea typeface="Comfortaa"/>
              <a:cs typeface="Comfortaa"/>
              <a:sym typeface="Comfortaa"/>
            </a:endParaRPr>
          </a:p>
          <a:p>
            <a:pPr indent="0" lvl="0" marL="0" marR="0" rtl="0" algn="ctr">
              <a:lnSpc>
                <a:spcPct val="100000"/>
              </a:lnSpc>
              <a:spcBef>
                <a:spcPts val="0"/>
              </a:spcBef>
              <a:spcAft>
                <a:spcPts val="0"/>
              </a:spcAft>
              <a:buClr>
                <a:srgbClr val="000000"/>
              </a:buClr>
              <a:buSzPts val="3500"/>
              <a:buFont typeface="Arial"/>
              <a:buNone/>
            </a:pPr>
            <a:r>
              <a:rPr b="1" i="0" lang="en" sz="3500" u="none" cap="none" strike="noStrike">
                <a:solidFill>
                  <a:schemeClr val="accent1"/>
                </a:solidFill>
                <a:latin typeface="Comfortaa"/>
                <a:ea typeface="Comfortaa"/>
                <a:cs typeface="Comfortaa"/>
                <a:sym typeface="Comfortaa"/>
              </a:rPr>
              <a:t>¿Qué es la conciencia?</a:t>
            </a:r>
            <a:endParaRPr b="1" i="0" sz="3500" u="none" cap="none" strike="noStrike">
              <a:solidFill>
                <a:schemeClr val="accent1"/>
              </a:solidFill>
              <a:latin typeface="Comfortaa"/>
              <a:ea typeface="Comfortaa"/>
              <a:cs typeface="Comfortaa"/>
              <a:sym typeface="Comfortaa"/>
            </a:endParaRPr>
          </a:p>
          <a:p>
            <a:pPr indent="0" lvl="0" marL="0" marR="0" rtl="0" algn="ctr">
              <a:lnSpc>
                <a:spcPct val="100000"/>
              </a:lnSpc>
              <a:spcBef>
                <a:spcPts val="0"/>
              </a:spcBef>
              <a:spcAft>
                <a:spcPts val="0"/>
              </a:spcAft>
              <a:buClr>
                <a:srgbClr val="000000"/>
              </a:buClr>
              <a:buSzPts val="3500"/>
              <a:buFont typeface="Arial"/>
              <a:buNone/>
            </a:pPr>
            <a:r>
              <a:t/>
            </a:r>
            <a:endParaRPr b="1" i="0" sz="3500" u="none" cap="none" strike="noStrike">
              <a:solidFill>
                <a:schemeClr val="dk1"/>
              </a:solidFill>
              <a:latin typeface="Comfortaa"/>
              <a:ea typeface="Comfortaa"/>
              <a:cs typeface="Comfortaa"/>
              <a:sym typeface="Comfortaa"/>
            </a:endParaRPr>
          </a:p>
          <a:p>
            <a:pPr indent="0" lvl="0" marL="0" marR="0" rtl="0" algn="ctr">
              <a:lnSpc>
                <a:spcPct val="100000"/>
              </a:lnSpc>
              <a:spcBef>
                <a:spcPts val="0"/>
              </a:spcBef>
              <a:spcAft>
                <a:spcPts val="0"/>
              </a:spcAft>
              <a:buClr>
                <a:srgbClr val="000000"/>
              </a:buClr>
              <a:buSzPts val="3500"/>
              <a:buFont typeface="Arial"/>
              <a:buNone/>
            </a:pPr>
            <a:r>
              <a:t/>
            </a:r>
            <a:endParaRPr b="1" i="0" sz="3500" u="none" cap="none" strike="noStrike">
              <a:solidFill>
                <a:schemeClr val="dk1"/>
              </a:solidFill>
              <a:latin typeface="Comfortaa"/>
              <a:ea typeface="Comfortaa"/>
              <a:cs typeface="Comfortaa"/>
              <a:sym typeface="Comfortaa"/>
            </a:endParaRPr>
          </a:p>
          <a:p>
            <a:pPr indent="0" lvl="0" marL="0" marR="0" rtl="0" algn="ctr">
              <a:lnSpc>
                <a:spcPct val="100000"/>
              </a:lnSpc>
              <a:spcBef>
                <a:spcPts val="0"/>
              </a:spcBef>
              <a:spcAft>
                <a:spcPts val="0"/>
              </a:spcAft>
              <a:buClr>
                <a:srgbClr val="000000"/>
              </a:buClr>
              <a:buSzPts val="3500"/>
              <a:buFont typeface="Arial"/>
              <a:buNone/>
            </a:pPr>
            <a:r>
              <a:t/>
            </a:r>
            <a:endParaRPr b="1" i="0" sz="3500" u="none" cap="none" strike="noStrike">
              <a:solidFill>
                <a:schemeClr val="dk1"/>
              </a:solidFill>
              <a:latin typeface="Comfortaa"/>
              <a:ea typeface="Comfortaa"/>
              <a:cs typeface="Comfortaa"/>
              <a:sym typeface="Comfortaa"/>
            </a:endParaRPr>
          </a:p>
        </p:txBody>
      </p:sp>
      <p:sp>
        <p:nvSpPr>
          <p:cNvPr id="246" name="Google Shape;246;p26"/>
          <p:cNvSpPr txBox="1"/>
          <p:nvPr/>
        </p:nvSpPr>
        <p:spPr>
          <a:xfrm>
            <a:off x="1030950" y="2571750"/>
            <a:ext cx="7082100" cy="948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500"/>
              <a:buFont typeface="Arial"/>
              <a:buNone/>
            </a:pPr>
            <a:r>
              <a:rPr b="1" i="0" lang="en" sz="3500" u="none" cap="none" strike="noStrike">
                <a:solidFill>
                  <a:schemeClr val="dk1"/>
                </a:solidFill>
                <a:latin typeface="Comfortaa"/>
                <a:ea typeface="Comfortaa"/>
                <a:cs typeface="Comfortaa"/>
                <a:sym typeface="Comfortaa"/>
              </a:rPr>
              <a:t>How did the color task feel?</a:t>
            </a:r>
            <a:endParaRPr b="1" i="0" sz="3500" u="none" cap="none" strike="noStrike">
              <a:solidFill>
                <a:schemeClr val="dk1"/>
              </a:solidFill>
              <a:latin typeface="Comfortaa"/>
              <a:ea typeface="Comfortaa"/>
              <a:cs typeface="Comfortaa"/>
              <a:sym typeface="Comfortaa"/>
            </a:endParaRPr>
          </a:p>
          <a:p>
            <a:pPr indent="0" lvl="0" marL="0" marR="0" rtl="0" algn="ctr">
              <a:lnSpc>
                <a:spcPct val="100000"/>
              </a:lnSpc>
              <a:spcBef>
                <a:spcPts val="0"/>
              </a:spcBef>
              <a:spcAft>
                <a:spcPts val="0"/>
              </a:spcAft>
              <a:buClr>
                <a:srgbClr val="000000"/>
              </a:buClr>
              <a:buSzPts val="3500"/>
              <a:buFont typeface="Arial"/>
              <a:buNone/>
            </a:pPr>
            <a:r>
              <a:rPr b="1" i="0" lang="en" sz="3500" u="none" cap="none" strike="noStrike">
                <a:solidFill>
                  <a:schemeClr val="accent1"/>
                </a:solidFill>
                <a:latin typeface="Comfortaa"/>
                <a:ea typeface="Comfortaa"/>
                <a:cs typeface="Comfortaa"/>
                <a:sym typeface="Comfortaa"/>
              </a:rPr>
              <a:t>¿Cómo se sintió la tarea de colores?</a:t>
            </a:r>
            <a:endParaRPr b="1" i="0" sz="3500" u="none" cap="none" strike="noStrike">
              <a:solidFill>
                <a:schemeClr val="accent1"/>
              </a:solidFill>
              <a:latin typeface="Comfortaa"/>
              <a:ea typeface="Comfortaa"/>
              <a:cs typeface="Comfortaa"/>
              <a:sym typeface="Comfortaa"/>
            </a:endParaRPr>
          </a:p>
          <a:p>
            <a:pPr indent="0" lvl="0" marL="0" marR="0" rtl="0" algn="ctr">
              <a:lnSpc>
                <a:spcPct val="100000"/>
              </a:lnSpc>
              <a:spcBef>
                <a:spcPts val="0"/>
              </a:spcBef>
              <a:spcAft>
                <a:spcPts val="0"/>
              </a:spcAft>
              <a:buClr>
                <a:srgbClr val="000000"/>
              </a:buClr>
              <a:buSzPts val="3500"/>
              <a:buFont typeface="Arial"/>
              <a:buNone/>
            </a:pPr>
            <a:r>
              <a:t/>
            </a:r>
            <a:endParaRPr b="1" i="0" sz="3500" u="none" cap="none" strike="noStrike">
              <a:solidFill>
                <a:schemeClr val="dk1"/>
              </a:solidFill>
              <a:latin typeface="Comfortaa"/>
              <a:ea typeface="Comfortaa"/>
              <a:cs typeface="Comfortaa"/>
              <a:sym typeface="Comfortaa"/>
            </a:endParaRPr>
          </a:p>
          <a:p>
            <a:pPr indent="0" lvl="0" marL="0" marR="0" rtl="0" algn="ctr">
              <a:lnSpc>
                <a:spcPct val="100000"/>
              </a:lnSpc>
              <a:spcBef>
                <a:spcPts val="0"/>
              </a:spcBef>
              <a:spcAft>
                <a:spcPts val="0"/>
              </a:spcAft>
              <a:buClr>
                <a:srgbClr val="000000"/>
              </a:buClr>
              <a:buSzPts val="3500"/>
              <a:buFont typeface="Arial"/>
              <a:buNone/>
            </a:pPr>
            <a:r>
              <a:t/>
            </a:r>
            <a:endParaRPr b="1" i="0" sz="3500" u="none" cap="none" strike="noStrike">
              <a:solidFill>
                <a:schemeClr val="dk1"/>
              </a:solidFill>
              <a:latin typeface="Comfortaa"/>
              <a:ea typeface="Comfortaa"/>
              <a:cs typeface="Comfortaa"/>
              <a:sym typeface="Comfortaa"/>
            </a:endParaRPr>
          </a:p>
          <a:p>
            <a:pPr indent="0" lvl="0" marL="0" marR="0" rtl="0" algn="ctr">
              <a:lnSpc>
                <a:spcPct val="100000"/>
              </a:lnSpc>
              <a:spcBef>
                <a:spcPts val="0"/>
              </a:spcBef>
              <a:spcAft>
                <a:spcPts val="0"/>
              </a:spcAft>
              <a:buClr>
                <a:srgbClr val="000000"/>
              </a:buClr>
              <a:buSzPts val="3500"/>
              <a:buFont typeface="Arial"/>
              <a:buNone/>
            </a:pPr>
            <a:r>
              <a:t/>
            </a:r>
            <a:endParaRPr b="1" i="0" sz="3500" u="none" cap="none" strike="noStrike">
              <a:solidFill>
                <a:schemeClr val="dk1"/>
              </a:solidFill>
              <a:latin typeface="Comfortaa"/>
              <a:ea typeface="Comfortaa"/>
              <a:cs typeface="Comfortaa"/>
              <a:sym typeface="Comfortaa"/>
            </a:endParaRPr>
          </a:p>
          <a:p>
            <a:pPr indent="0" lvl="0" marL="0" marR="0" rtl="0" algn="ctr">
              <a:lnSpc>
                <a:spcPct val="100000"/>
              </a:lnSpc>
              <a:spcBef>
                <a:spcPts val="0"/>
              </a:spcBef>
              <a:spcAft>
                <a:spcPts val="0"/>
              </a:spcAft>
              <a:buClr>
                <a:srgbClr val="000000"/>
              </a:buClr>
              <a:buSzPts val="3500"/>
              <a:buFont typeface="Arial"/>
              <a:buNone/>
            </a:pPr>
            <a:r>
              <a:t/>
            </a:r>
            <a:endParaRPr b="1" i="0" sz="3500" u="none" cap="none" strike="noStrike">
              <a:solidFill>
                <a:schemeClr val="dk1"/>
              </a:solidFill>
              <a:latin typeface="Comfortaa"/>
              <a:ea typeface="Comfortaa"/>
              <a:cs typeface="Comfortaa"/>
              <a:sym typeface="Comfortaa"/>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pic>
        <p:nvPicPr>
          <p:cNvPr id="251" name="Google Shape;251;p27"/>
          <p:cNvPicPr preferRelativeResize="0"/>
          <p:nvPr/>
        </p:nvPicPr>
        <p:blipFill rotWithShape="1">
          <a:blip r:embed="rId3">
            <a:alphaModFix/>
          </a:blip>
          <a:srcRect b="0" l="0" r="0" t="0"/>
          <a:stretch/>
        </p:blipFill>
        <p:spPr>
          <a:xfrm>
            <a:off x="-419100" y="0"/>
            <a:ext cx="4114789" cy="5143500"/>
          </a:xfrm>
          <a:prstGeom prst="rect">
            <a:avLst/>
          </a:prstGeom>
          <a:noFill/>
          <a:ln>
            <a:noFill/>
          </a:ln>
        </p:spPr>
      </p:pic>
      <p:sp>
        <p:nvSpPr>
          <p:cNvPr id="252" name="Google Shape;252;p27"/>
          <p:cNvSpPr txBox="1"/>
          <p:nvPr/>
        </p:nvSpPr>
        <p:spPr>
          <a:xfrm>
            <a:off x="3787125" y="63675"/>
            <a:ext cx="5280600" cy="520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100"/>
              <a:buFont typeface="Arial"/>
              <a:buNone/>
            </a:pPr>
            <a:r>
              <a:rPr b="1" i="0" lang="en" sz="3100" u="none" cap="none" strike="noStrike">
                <a:solidFill>
                  <a:schemeClr val="dk1"/>
                </a:solidFill>
                <a:latin typeface="Comfortaa"/>
                <a:ea typeface="Comfortaa"/>
                <a:cs typeface="Comfortaa"/>
                <a:sym typeface="Comfortaa"/>
              </a:rPr>
              <a:t>Little Albert (1920)</a:t>
            </a:r>
            <a:endParaRPr b="1" i="0" sz="31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Comfortaa"/>
                <a:ea typeface="Comfortaa"/>
                <a:cs typeface="Comfortaa"/>
                <a:sym typeface="Comfortaa"/>
              </a:rPr>
              <a:t>Methods: </a:t>
            </a:r>
            <a:r>
              <a:rPr b="0" i="0" lang="en" sz="1800" u="none" cap="none" strike="noStrike">
                <a:solidFill>
                  <a:schemeClr val="dk1"/>
                </a:solidFill>
                <a:latin typeface="Comfortaa"/>
                <a:ea typeface="Comfortaa"/>
                <a:cs typeface="Comfortaa"/>
                <a:sym typeface="Comfortaa"/>
              </a:rPr>
              <a:t>Albert was shown several animals: a dog, monkey, bunny, and rat. Initially, he showed no fear of any of them. Each time Albert touched the white rat, the experimenters struck a hammer against a metal bar, creating a loud, frightening noise. </a:t>
            </a:r>
            <a:endParaRPr sz="1800">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2500"/>
              <a:buFont typeface="Arial"/>
              <a:buNone/>
            </a:pPr>
            <a:r>
              <a:t/>
            </a:r>
            <a:endParaRPr sz="1800">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accent1"/>
                </a:solidFill>
                <a:latin typeface="Comfortaa"/>
                <a:ea typeface="Comfortaa"/>
                <a:cs typeface="Comfortaa"/>
                <a:sym typeface="Comfortaa"/>
              </a:rPr>
              <a:t>Métodos:</a:t>
            </a:r>
            <a:r>
              <a:rPr b="0" i="0" lang="en" sz="1600" u="none" cap="none" strike="noStrike">
                <a:solidFill>
                  <a:schemeClr val="accent1"/>
                </a:solidFill>
                <a:latin typeface="Comfortaa"/>
                <a:ea typeface="Comfortaa"/>
                <a:cs typeface="Comfortaa"/>
                <a:sym typeface="Comfortaa"/>
              </a:rPr>
              <a:t> A Albert se le mostraron varios animales: un perro, un mono, un conejo y una rata. Al principio, no mostraba miedo de ninguno de ellos. Cada vez que Albert tocaba la rata blanca, los experimentadores golpeaban un martillo contra una barra de metal, creando un ruido fuerte y aterrador.</a:t>
            </a:r>
            <a:endParaRPr b="0" i="0" sz="1600" u="none" cap="none" strike="noStrike">
              <a:solidFill>
                <a:schemeClr val="accent1"/>
              </a:solidFill>
              <a:latin typeface="Comfortaa"/>
              <a:ea typeface="Comfortaa"/>
              <a:cs typeface="Comfortaa"/>
              <a:sym typeface="Comfortaa"/>
            </a:endParaRPr>
          </a:p>
          <a:p>
            <a:pPr indent="0" lvl="0" marL="0" marR="0" rtl="0" algn="l">
              <a:lnSpc>
                <a:spcPct val="100000"/>
              </a:lnSpc>
              <a:spcBef>
                <a:spcPts val="0"/>
              </a:spcBef>
              <a:spcAft>
                <a:spcPts val="0"/>
              </a:spcAft>
              <a:buClr>
                <a:schemeClr val="dk1"/>
              </a:buClr>
              <a:buSzPts val="1100"/>
              <a:buFont typeface="Arial"/>
              <a:buNone/>
            </a:pPr>
            <a:r>
              <a:t/>
            </a:r>
            <a:endParaRPr b="0" i="0" sz="18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chemeClr val="dk1"/>
              </a:solidFill>
              <a:latin typeface="Comfortaa"/>
              <a:ea typeface="Comfortaa"/>
              <a:cs typeface="Comfortaa"/>
              <a:sym typeface="Comfortaa"/>
            </a:endParaRPr>
          </a:p>
          <a:p>
            <a:pPr indent="0" lvl="0" marL="457200" marR="0" rtl="0" algn="l">
              <a:lnSpc>
                <a:spcPct val="100000"/>
              </a:lnSpc>
              <a:spcBef>
                <a:spcPts val="0"/>
              </a:spcBef>
              <a:spcAft>
                <a:spcPts val="0"/>
              </a:spcAft>
              <a:buClr>
                <a:srgbClr val="000000"/>
              </a:buClr>
              <a:buSzPts val="3600"/>
              <a:buFont typeface="Arial"/>
              <a:buNone/>
            </a:pPr>
            <a:r>
              <a:t/>
            </a:r>
            <a:endParaRPr b="1" i="0" sz="36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chemeClr val="dk1"/>
              </a:solidFill>
              <a:latin typeface="Comfortaa"/>
              <a:ea typeface="Comfortaa"/>
              <a:cs typeface="Comfortaa"/>
              <a:sym typeface="Comfortaa"/>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8"/>
          <p:cNvSpPr txBox="1"/>
          <p:nvPr/>
        </p:nvSpPr>
        <p:spPr>
          <a:xfrm>
            <a:off x="266700" y="297175"/>
            <a:ext cx="8519100" cy="3086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Comfortaa"/>
                <a:ea typeface="Comfortaa"/>
                <a:cs typeface="Comfortaa"/>
                <a:sym typeface="Comfortaa"/>
              </a:rPr>
              <a:t>Results: </a:t>
            </a:r>
            <a:r>
              <a:rPr b="0" i="0" lang="en" sz="1800" u="none" cap="none" strike="noStrike">
                <a:solidFill>
                  <a:schemeClr val="dk1"/>
                </a:solidFill>
                <a:latin typeface="Comfortaa"/>
                <a:ea typeface="Comfortaa"/>
                <a:cs typeface="Comfortaa"/>
                <a:sym typeface="Comfortaa"/>
              </a:rPr>
              <a:t>After a few repetitions, Albert began to cry and show fear whenever he saw the rat, even without the loud noise.</a:t>
            </a:r>
            <a:endParaRPr b="0" i="0" sz="18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accent1"/>
                </a:solidFill>
                <a:latin typeface="Comfortaa"/>
                <a:ea typeface="Comfortaa"/>
                <a:cs typeface="Comfortaa"/>
                <a:sym typeface="Comfortaa"/>
              </a:rPr>
              <a:t>Resultados:</a:t>
            </a:r>
            <a:r>
              <a:rPr b="0" i="0" lang="en" sz="1600" u="none" cap="none" strike="noStrike">
                <a:solidFill>
                  <a:schemeClr val="accent1"/>
                </a:solidFill>
                <a:latin typeface="Comfortaa"/>
                <a:ea typeface="Comfortaa"/>
                <a:cs typeface="Comfortaa"/>
                <a:sym typeface="Comfortaa"/>
              </a:rPr>
              <a:t> Después de algunas repeticiones, Albert comenzó a llorar y mostrar miedo cada vez que veía la rata, incluso sin el ruido fuerte.</a:t>
            </a:r>
            <a:endParaRPr b="0" i="0" sz="1600" u="none" cap="none" strike="noStrike">
              <a:solidFill>
                <a:schemeClr val="accent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Comfortaa"/>
                <a:ea typeface="Comfortaa"/>
                <a:cs typeface="Comfortaa"/>
                <a:sym typeface="Comfortaa"/>
              </a:rPr>
              <a:t>Takeaway:</a:t>
            </a:r>
            <a:endParaRPr b="1" i="0" sz="2500" u="none" cap="none" strike="noStrike">
              <a:solidFill>
                <a:schemeClr val="dk1"/>
              </a:solidFill>
              <a:latin typeface="Comfortaa"/>
              <a:ea typeface="Comfortaa"/>
              <a:cs typeface="Comfortaa"/>
              <a:sym typeface="Comfortaa"/>
            </a:endParaRPr>
          </a:p>
          <a:p>
            <a:pPr indent="-342900" lvl="0" marL="457200" marR="0" rtl="0" algn="l">
              <a:lnSpc>
                <a:spcPct val="100000"/>
              </a:lnSpc>
              <a:spcBef>
                <a:spcPts val="0"/>
              </a:spcBef>
              <a:spcAft>
                <a:spcPts val="0"/>
              </a:spcAft>
              <a:buClr>
                <a:schemeClr val="dk1"/>
              </a:buClr>
              <a:buSzPts val="1800"/>
              <a:buFont typeface="Comfortaa"/>
              <a:buAutoNum type="arabicPeriod"/>
            </a:pPr>
            <a:r>
              <a:rPr b="1" i="0" lang="en" sz="1800" u="none" cap="none" strike="noStrike">
                <a:solidFill>
                  <a:schemeClr val="dk1"/>
                </a:solidFill>
                <a:latin typeface="Comfortaa"/>
                <a:ea typeface="Comfortaa"/>
                <a:cs typeface="Comfortaa"/>
                <a:sym typeface="Comfortaa"/>
              </a:rPr>
              <a:t>Classical conditioning:</a:t>
            </a:r>
            <a:r>
              <a:rPr b="0" i="0" lang="en" sz="1800" u="none" cap="none" strike="noStrike">
                <a:solidFill>
                  <a:schemeClr val="dk1"/>
                </a:solidFill>
                <a:latin typeface="Comfortaa"/>
                <a:ea typeface="Comfortaa"/>
                <a:cs typeface="Comfortaa"/>
                <a:sym typeface="Comfortaa"/>
              </a:rPr>
              <a:t> Little Albert learned to fear the rat because the rat was repeatedly paired with the loud noise. </a:t>
            </a:r>
            <a:endParaRPr b="0" i="0" sz="1800" u="none" cap="none" strike="noStrike">
              <a:solidFill>
                <a:schemeClr val="dk1"/>
              </a:solidFill>
              <a:latin typeface="Comfortaa"/>
              <a:ea typeface="Comfortaa"/>
              <a:cs typeface="Comfortaa"/>
              <a:sym typeface="Comfortaa"/>
            </a:endParaRPr>
          </a:p>
          <a:p>
            <a:pPr indent="-342900" lvl="0" marL="457200" marR="0" rtl="0" algn="l">
              <a:lnSpc>
                <a:spcPct val="100000"/>
              </a:lnSpc>
              <a:spcBef>
                <a:spcPts val="0"/>
              </a:spcBef>
              <a:spcAft>
                <a:spcPts val="0"/>
              </a:spcAft>
              <a:buClr>
                <a:schemeClr val="dk1"/>
              </a:buClr>
              <a:buSzPts val="1800"/>
              <a:buFont typeface="Comfortaa"/>
              <a:buAutoNum type="arabicPeriod"/>
            </a:pPr>
            <a:r>
              <a:rPr b="1" i="0" lang="en" sz="1800" u="none" cap="none" strike="noStrike">
                <a:solidFill>
                  <a:schemeClr val="dk1"/>
                </a:solidFill>
                <a:latin typeface="Comfortaa"/>
                <a:ea typeface="Comfortaa"/>
                <a:cs typeface="Comfortaa"/>
                <a:sym typeface="Comfortaa"/>
              </a:rPr>
              <a:t>Generalization:</a:t>
            </a:r>
            <a:r>
              <a:rPr b="0" i="0" lang="en" sz="1800" u="none" cap="none" strike="noStrike">
                <a:solidFill>
                  <a:schemeClr val="dk1"/>
                </a:solidFill>
                <a:latin typeface="Comfortaa"/>
                <a:ea typeface="Comfortaa"/>
                <a:cs typeface="Comfortaa"/>
                <a:sym typeface="Comfortaa"/>
              </a:rPr>
              <a:t> Albert began to show fear of other similar objects, like a rabbit or a dog, not just the rat. </a:t>
            </a:r>
            <a:endParaRPr b="0" i="0" sz="18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accent1"/>
              </a:solidFill>
              <a:latin typeface="Comfortaa"/>
              <a:ea typeface="Comfortaa"/>
              <a:cs typeface="Comfortaa"/>
              <a:sym typeface="Comfortaa"/>
            </a:endParaRPr>
          </a:p>
        </p:txBody>
      </p:sp>
      <p:pic>
        <p:nvPicPr>
          <p:cNvPr id="258" name="Google Shape;258;p28"/>
          <p:cNvPicPr preferRelativeResize="0"/>
          <p:nvPr/>
        </p:nvPicPr>
        <p:blipFill rotWithShape="1">
          <a:blip r:embed="rId3">
            <a:alphaModFix/>
          </a:blip>
          <a:srcRect b="0" l="0" r="0" t="0"/>
          <a:stretch/>
        </p:blipFill>
        <p:spPr>
          <a:xfrm>
            <a:off x="6576050" y="3284200"/>
            <a:ext cx="2484150" cy="1613250"/>
          </a:xfrm>
          <a:prstGeom prst="rect">
            <a:avLst/>
          </a:prstGeom>
          <a:noFill/>
          <a:ln>
            <a:noFill/>
          </a:ln>
        </p:spPr>
      </p:pic>
      <p:sp>
        <p:nvSpPr>
          <p:cNvPr id="259" name="Google Shape;259;p28"/>
          <p:cNvSpPr txBox="1"/>
          <p:nvPr/>
        </p:nvSpPr>
        <p:spPr>
          <a:xfrm>
            <a:off x="144800" y="3185125"/>
            <a:ext cx="6477000" cy="149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1800" u="none" cap="none" strike="noStrike">
                <a:solidFill>
                  <a:schemeClr val="accent1"/>
                </a:solidFill>
                <a:latin typeface="Comfortaa"/>
                <a:ea typeface="Comfortaa"/>
                <a:cs typeface="Comfortaa"/>
                <a:sym typeface="Comfortaa"/>
              </a:rPr>
              <a:t>Conclusión:</a:t>
            </a:r>
            <a:endParaRPr b="1" i="0" sz="1800" u="none" cap="none" strike="noStrike">
              <a:solidFill>
                <a:schemeClr val="accent1"/>
              </a:solidFill>
              <a:latin typeface="Comfortaa"/>
              <a:ea typeface="Comfortaa"/>
              <a:cs typeface="Comfortaa"/>
              <a:sym typeface="Comfortaa"/>
            </a:endParaRPr>
          </a:p>
          <a:p>
            <a:pPr indent="-330200" lvl="0" marL="457200" marR="0" rtl="0" algn="l">
              <a:lnSpc>
                <a:spcPct val="100000"/>
              </a:lnSpc>
              <a:spcBef>
                <a:spcPts val="0"/>
              </a:spcBef>
              <a:spcAft>
                <a:spcPts val="0"/>
              </a:spcAft>
              <a:buClr>
                <a:schemeClr val="accent1"/>
              </a:buClr>
              <a:buSzPts val="1600"/>
              <a:buFont typeface="Comfortaa"/>
              <a:buAutoNum type="arabicPeriod"/>
            </a:pPr>
            <a:r>
              <a:rPr b="1" i="0" lang="en" sz="1600" u="none" cap="none" strike="noStrike">
                <a:solidFill>
                  <a:schemeClr val="accent1"/>
                </a:solidFill>
                <a:latin typeface="Comfortaa"/>
                <a:ea typeface="Comfortaa"/>
                <a:cs typeface="Comfortaa"/>
                <a:sym typeface="Comfortaa"/>
              </a:rPr>
              <a:t>Condicionamiento clásico:</a:t>
            </a:r>
            <a:r>
              <a:rPr b="0" i="0" lang="en" sz="1600" u="none" cap="none" strike="noStrike">
                <a:solidFill>
                  <a:schemeClr val="accent1"/>
                </a:solidFill>
                <a:latin typeface="Comfortaa"/>
                <a:ea typeface="Comfortaa"/>
                <a:cs typeface="Comfortaa"/>
                <a:sym typeface="Comfortaa"/>
              </a:rPr>
              <a:t> Little Albert aprendió a tener miedo de la rata porque esta se emparejaba repetidamente con el ruido fuerte.</a:t>
            </a:r>
            <a:endParaRPr b="0" i="0" sz="1600" u="none" cap="none" strike="noStrike">
              <a:solidFill>
                <a:schemeClr val="accent1"/>
              </a:solidFill>
              <a:latin typeface="Comfortaa"/>
              <a:ea typeface="Comfortaa"/>
              <a:cs typeface="Comfortaa"/>
              <a:sym typeface="Comfortaa"/>
            </a:endParaRPr>
          </a:p>
          <a:p>
            <a:pPr indent="-330200" lvl="0" marL="457200" marR="0" rtl="0" algn="l">
              <a:lnSpc>
                <a:spcPct val="100000"/>
              </a:lnSpc>
              <a:spcBef>
                <a:spcPts val="0"/>
              </a:spcBef>
              <a:spcAft>
                <a:spcPts val="0"/>
              </a:spcAft>
              <a:buClr>
                <a:schemeClr val="accent1"/>
              </a:buClr>
              <a:buSzPts val="1600"/>
              <a:buFont typeface="Comfortaa"/>
              <a:buAutoNum type="arabicPeriod"/>
            </a:pPr>
            <a:r>
              <a:rPr b="1" i="0" lang="en" sz="1600" u="none" cap="none" strike="noStrike">
                <a:solidFill>
                  <a:schemeClr val="accent1"/>
                </a:solidFill>
                <a:latin typeface="Comfortaa"/>
                <a:ea typeface="Comfortaa"/>
                <a:cs typeface="Comfortaa"/>
                <a:sym typeface="Comfortaa"/>
              </a:rPr>
              <a:t>Generalización:</a:t>
            </a:r>
            <a:r>
              <a:rPr b="0" i="0" lang="en" sz="1600" u="none" cap="none" strike="noStrike">
                <a:solidFill>
                  <a:schemeClr val="accent1"/>
                </a:solidFill>
                <a:latin typeface="Comfortaa"/>
                <a:ea typeface="Comfortaa"/>
                <a:cs typeface="Comfortaa"/>
                <a:sym typeface="Comfortaa"/>
              </a:rPr>
              <a:t> Albert comenzó a mostrar miedo de otros objetos similares, como un conejo o un perro, no solo de la rata.</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pic>
        <p:nvPicPr>
          <p:cNvPr id="264" name="Google Shape;264;g3f6456eb57b_0_0" title="watson-scaring-little-albert-with-a-mask.jpg"/>
          <p:cNvPicPr preferRelativeResize="0"/>
          <p:nvPr/>
        </p:nvPicPr>
        <p:blipFill>
          <a:blip r:embed="rId3">
            <a:alphaModFix/>
          </a:blip>
          <a:stretch>
            <a:fillRect/>
          </a:stretch>
        </p:blipFill>
        <p:spPr>
          <a:xfrm>
            <a:off x="152400" y="152400"/>
            <a:ext cx="6048376" cy="4838701"/>
          </a:xfrm>
          <a:prstGeom prst="rect">
            <a:avLst/>
          </a:prstGeom>
          <a:noFill/>
          <a:ln>
            <a:noFill/>
          </a:ln>
        </p:spPr>
      </p:pic>
      <p:sp>
        <p:nvSpPr>
          <p:cNvPr id="265" name="Google Shape;265;g3f6456eb57b_0_0"/>
          <p:cNvSpPr txBox="1"/>
          <p:nvPr/>
        </p:nvSpPr>
        <p:spPr>
          <a:xfrm>
            <a:off x="6353025" y="264500"/>
            <a:ext cx="2517600" cy="472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Comfortaa"/>
                <a:ea typeface="Comfortaa"/>
                <a:cs typeface="Comfortaa"/>
                <a:sym typeface="Comfortaa"/>
              </a:rPr>
              <a:t>Shown here is psychologist John Watson wearing a bunny mask and little Albert’s fearful response</a:t>
            </a:r>
            <a:endParaRPr sz="1800">
              <a:solidFill>
                <a:schemeClr val="dk1"/>
              </a:solidFill>
              <a:latin typeface="Comfortaa"/>
              <a:ea typeface="Comfortaa"/>
              <a:cs typeface="Comfortaa"/>
              <a:sym typeface="Comfortaa"/>
            </a:endParaRPr>
          </a:p>
          <a:p>
            <a:pPr indent="0" lvl="0" marL="0" rtl="0" algn="l">
              <a:spcBef>
                <a:spcPts val="0"/>
              </a:spcBef>
              <a:spcAft>
                <a:spcPts val="0"/>
              </a:spcAft>
              <a:buNone/>
            </a:pPr>
            <a:r>
              <a:t/>
            </a:r>
            <a:endParaRPr sz="1800">
              <a:solidFill>
                <a:schemeClr val="dk1"/>
              </a:solidFill>
              <a:latin typeface="Comfortaa"/>
              <a:ea typeface="Comfortaa"/>
              <a:cs typeface="Comfortaa"/>
              <a:sym typeface="Comfortaa"/>
            </a:endParaRPr>
          </a:p>
          <a:p>
            <a:pPr indent="0" lvl="0" marL="0" rtl="0" algn="l">
              <a:spcBef>
                <a:spcPts val="0"/>
              </a:spcBef>
              <a:spcAft>
                <a:spcPts val="0"/>
              </a:spcAft>
              <a:buNone/>
            </a:pPr>
            <a:r>
              <a:rPr lang="en" sz="1800">
                <a:solidFill>
                  <a:schemeClr val="accent1"/>
                </a:solidFill>
                <a:latin typeface="Comfortaa"/>
                <a:ea typeface="Comfortaa"/>
                <a:cs typeface="Comfortaa"/>
                <a:sym typeface="Comfortaa"/>
              </a:rPr>
              <a:t>Aquí se muestra al psicólogo John Watson con una máscara de conejo y la reacción de miedo del pequeño Albert.</a:t>
            </a:r>
            <a:endParaRPr sz="1800">
              <a:solidFill>
                <a:schemeClr val="accent1"/>
              </a:solidFill>
              <a:latin typeface="Comfortaa"/>
              <a:ea typeface="Comfortaa"/>
              <a:cs typeface="Comfortaa"/>
              <a:sym typeface="Comfortaa"/>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9"/>
          <p:cNvSpPr txBox="1"/>
          <p:nvPr/>
        </p:nvSpPr>
        <p:spPr>
          <a:xfrm>
            <a:off x="275700" y="171100"/>
            <a:ext cx="8592600" cy="1109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Comfortaa"/>
                <a:ea typeface="Comfortaa"/>
                <a:cs typeface="Comfortaa"/>
                <a:sym typeface="Comfortaa"/>
              </a:rPr>
              <a:t>Milgram Obedience Experiment (1961)</a:t>
            </a:r>
            <a:endParaRPr b="1" i="0" sz="25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accent1"/>
                </a:solidFill>
                <a:latin typeface="Comfortaa"/>
                <a:ea typeface="Comfortaa"/>
                <a:cs typeface="Comfortaa"/>
                <a:sym typeface="Comfortaa"/>
              </a:rPr>
              <a:t>Experimento de obediencia de Milgram</a:t>
            </a:r>
            <a:endParaRPr b="1" i="0" sz="1800" u="none" cap="none" strike="noStrike">
              <a:solidFill>
                <a:schemeClr val="accent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3100"/>
              <a:buFont typeface="Arial"/>
              <a:buNone/>
            </a:pPr>
            <a:r>
              <a:t/>
            </a:r>
            <a:endParaRPr b="1" i="0" sz="3100" u="none" cap="none" strike="noStrike">
              <a:solidFill>
                <a:schemeClr val="dk1"/>
              </a:solidFill>
              <a:latin typeface="Comfortaa"/>
              <a:ea typeface="Comfortaa"/>
              <a:cs typeface="Comfortaa"/>
              <a:sym typeface="Comfortaa"/>
            </a:endParaRPr>
          </a:p>
          <a:p>
            <a:pPr indent="0" lvl="0" marL="45720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3100"/>
              <a:buFont typeface="Arial"/>
              <a:buNone/>
            </a:pPr>
            <a:r>
              <a:t/>
            </a:r>
            <a:endParaRPr b="1" i="0" sz="3100" u="none" cap="none" strike="noStrike">
              <a:solidFill>
                <a:schemeClr val="dk1"/>
              </a:solidFill>
              <a:latin typeface="Comfortaa"/>
              <a:ea typeface="Comfortaa"/>
              <a:cs typeface="Comfortaa"/>
              <a:sym typeface="Comfortaa"/>
            </a:endParaRPr>
          </a:p>
        </p:txBody>
      </p:sp>
      <p:pic>
        <p:nvPicPr>
          <p:cNvPr id="271" name="Google Shape;271;p29"/>
          <p:cNvPicPr preferRelativeResize="0"/>
          <p:nvPr/>
        </p:nvPicPr>
        <p:blipFill rotWithShape="1">
          <a:blip r:embed="rId3">
            <a:alphaModFix/>
          </a:blip>
          <a:srcRect b="0" l="0" r="0" t="15476"/>
          <a:stretch/>
        </p:blipFill>
        <p:spPr>
          <a:xfrm>
            <a:off x="0" y="3118500"/>
            <a:ext cx="3596650" cy="1781150"/>
          </a:xfrm>
          <a:prstGeom prst="rect">
            <a:avLst/>
          </a:prstGeom>
          <a:noFill/>
          <a:ln>
            <a:noFill/>
          </a:ln>
        </p:spPr>
      </p:pic>
      <p:sp>
        <p:nvSpPr>
          <p:cNvPr id="272" name="Google Shape;272;p29"/>
          <p:cNvSpPr txBox="1"/>
          <p:nvPr/>
        </p:nvSpPr>
        <p:spPr>
          <a:xfrm>
            <a:off x="203400" y="1028750"/>
            <a:ext cx="8737200" cy="3429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Comfortaa"/>
                <a:ea typeface="Comfortaa"/>
                <a:cs typeface="Comfortaa"/>
                <a:sym typeface="Comfortaa"/>
              </a:rPr>
              <a:t>Methods: </a:t>
            </a:r>
            <a:r>
              <a:rPr b="0" i="0" lang="en" sz="1800" u="none" cap="none" strike="noStrike">
                <a:solidFill>
                  <a:schemeClr val="dk1"/>
                </a:solidFill>
                <a:latin typeface="Comfortaa"/>
                <a:ea typeface="Comfortaa"/>
                <a:cs typeface="Comfortaa"/>
                <a:sym typeface="Comfortaa"/>
              </a:rPr>
              <a:t>Participants were told they were part of a learning experiment. Each participant was the “teacher” and had to give electric shocks to a “learner” whenever the learner answered a question wrong.</a:t>
            </a:r>
            <a:endParaRPr b="0" i="0" sz="18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chemeClr val="dk1"/>
              </a:buClr>
              <a:buSzPts val="1100"/>
              <a:buFont typeface="Arial"/>
              <a:buNone/>
            </a:pPr>
            <a:r>
              <a:rPr b="0" i="0" lang="en" sz="1800" u="none" cap="none" strike="noStrike">
                <a:solidFill>
                  <a:schemeClr val="dk1"/>
                </a:solidFill>
                <a:latin typeface="Comfortaa"/>
                <a:ea typeface="Comfortaa"/>
                <a:cs typeface="Comfortaa"/>
                <a:sym typeface="Comfortaa"/>
              </a:rPr>
              <a:t>The shocks were actually fake, and the learner was an actor. The shocks started low and got stronger with each mistake.</a:t>
            </a:r>
            <a:endParaRPr b="0" i="0" sz="1800" u="none" cap="none" strike="noStrike">
              <a:solidFill>
                <a:schemeClr val="dk1"/>
              </a:solidFill>
              <a:latin typeface="Comfortaa"/>
              <a:ea typeface="Comfortaa"/>
              <a:cs typeface="Comfortaa"/>
              <a:sym typeface="Comfortaa"/>
            </a:endParaRPr>
          </a:p>
        </p:txBody>
      </p:sp>
      <p:sp>
        <p:nvSpPr>
          <p:cNvPr id="273" name="Google Shape;273;p29"/>
          <p:cNvSpPr txBox="1"/>
          <p:nvPr/>
        </p:nvSpPr>
        <p:spPr>
          <a:xfrm>
            <a:off x="3810000" y="2971775"/>
            <a:ext cx="5257800" cy="171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chemeClr val="accent1"/>
                </a:solidFill>
                <a:latin typeface="Comfortaa"/>
                <a:ea typeface="Comfortaa"/>
                <a:cs typeface="Comfortaa"/>
                <a:sym typeface="Comfortaa"/>
              </a:rPr>
              <a:t>Métodos:</a:t>
            </a:r>
            <a:r>
              <a:rPr b="0" i="0" lang="en" sz="1700" u="none" cap="none" strike="noStrike">
                <a:solidFill>
                  <a:schemeClr val="accent1"/>
                </a:solidFill>
                <a:latin typeface="Comfortaa"/>
                <a:ea typeface="Comfortaa"/>
                <a:cs typeface="Comfortaa"/>
                <a:sym typeface="Comfortaa"/>
              </a:rPr>
              <a:t> </a:t>
            </a:r>
            <a:r>
              <a:rPr b="0" i="0" lang="en" sz="1500" u="none" cap="none" strike="noStrike">
                <a:solidFill>
                  <a:schemeClr val="accent1"/>
                </a:solidFill>
                <a:latin typeface="Comfortaa"/>
                <a:ea typeface="Comfortaa"/>
                <a:cs typeface="Comfortaa"/>
                <a:sym typeface="Comfortaa"/>
              </a:rPr>
              <a:t>A los participantes se les dijo que formaban parte de un experimento sobre aprendizaje. Cada participante era el “maestro” y debía dar descargas eléctricas al “aprendiz” cada vez que este respondiera mal a una pregunta.</a:t>
            </a:r>
            <a:endParaRPr b="0" i="0" sz="1500" u="none" cap="none" strike="noStrike">
              <a:solidFill>
                <a:schemeClr val="accent1"/>
              </a:solidFill>
              <a:latin typeface="Comfortaa"/>
              <a:ea typeface="Comfortaa"/>
              <a:cs typeface="Comfortaa"/>
              <a:sym typeface="Comfortaa"/>
            </a:endParaRPr>
          </a:p>
          <a:p>
            <a:pPr indent="0" lvl="0" marL="0" marR="0" rtl="0" algn="l">
              <a:lnSpc>
                <a:spcPct val="100000"/>
              </a:lnSpc>
              <a:spcBef>
                <a:spcPts val="0"/>
              </a:spcBef>
              <a:spcAft>
                <a:spcPts val="0"/>
              </a:spcAft>
              <a:buClr>
                <a:schemeClr val="dk1"/>
              </a:buClr>
              <a:buSzPts val="1100"/>
              <a:buFont typeface="Arial"/>
              <a:buNone/>
            </a:pPr>
            <a:r>
              <a:rPr b="0" i="0" lang="en" sz="1500" u="none" cap="none" strike="noStrike">
                <a:solidFill>
                  <a:schemeClr val="accent1"/>
                </a:solidFill>
                <a:latin typeface="Comfortaa"/>
                <a:ea typeface="Comfortaa"/>
                <a:cs typeface="Comfortaa"/>
                <a:sym typeface="Comfortaa"/>
              </a:rPr>
              <a:t>Las descargas en realidad eran falsas, y el aprendiz era un actor. Las descargas comenzaban bajas y aumentaban de intensidad con cada error.</a:t>
            </a:r>
            <a:endParaRPr b="0" i="0" sz="1500" u="none" cap="none" strike="noStrike">
              <a:solidFill>
                <a:schemeClr val="accent1"/>
              </a:solidFill>
              <a:latin typeface="Comfortaa"/>
              <a:ea typeface="Comfortaa"/>
              <a:cs typeface="Comfortaa"/>
              <a:sym typeface="Comfortaa"/>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0"/>
          <p:cNvSpPr txBox="1"/>
          <p:nvPr/>
        </p:nvSpPr>
        <p:spPr>
          <a:xfrm>
            <a:off x="266700" y="297175"/>
            <a:ext cx="8519100" cy="484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Comfortaa"/>
                <a:ea typeface="Comfortaa"/>
                <a:cs typeface="Comfortaa"/>
                <a:sym typeface="Comfortaa"/>
              </a:rPr>
              <a:t>Results: </a:t>
            </a:r>
            <a:r>
              <a:rPr b="0" i="0" lang="en" sz="1800" u="none" cap="none" strike="noStrike">
                <a:solidFill>
                  <a:schemeClr val="dk1"/>
                </a:solidFill>
                <a:latin typeface="Comfortaa"/>
                <a:ea typeface="Comfortaa"/>
                <a:cs typeface="Comfortaa"/>
                <a:sym typeface="Comfortaa"/>
              </a:rPr>
              <a:t>Many participants kept giving shocks, even when the learner pretended to be in pain. About 65% of participants went all the way and gave the highest level of shocks, even though they felt uncomfortable.</a:t>
            </a:r>
            <a:endParaRPr b="0" i="0" sz="18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accent1"/>
                </a:solidFill>
                <a:latin typeface="Comfortaa"/>
                <a:ea typeface="Comfortaa"/>
                <a:cs typeface="Comfortaa"/>
                <a:sym typeface="Comfortaa"/>
              </a:rPr>
              <a:t>Resultados:</a:t>
            </a:r>
            <a:r>
              <a:rPr b="0" i="0" lang="en" sz="1600" u="none" cap="none" strike="noStrike">
                <a:solidFill>
                  <a:schemeClr val="accent1"/>
                </a:solidFill>
                <a:latin typeface="Comfortaa"/>
                <a:ea typeface="Comfortaa"/>
                <a:cs typeface="Comfortaa"/>
                <a:sym typeface="Comfortaa"/>
              </a:rPr>
              <a:t> Muchos participantes continuaron aplicando descargas, incluso cuando el aprendiz simulaba dolor. Aproximadamente el 65% de los participantes llegó hasta el final y aplicó el nivel más alto de descargas, aunque se sintieran incómodos.</a:t>
            </a:r>
            <a:endParaRPr b="0" i="0" sz="1600" u="none" cap="none" strike="noStrike">
              <a:solidFill>
                <a:schemeClr val="accent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Comfortaa"/>
                <a:ea typeface="Comfortaa"/>
                <a:cs typeface="Comfortaa"/>
                <a:sym typeface="Comfortaa"/>
              </a:rPr>
              <a:t>Takeaway: </a:t>
            </a:r>
            <a:r>
              <a:rPr b="0" i="0" lang="en" sz="1800" u="none" cap="none" strike="noStrike">
                <a:solidFill>
                  <a:schemeClr val="dk1"/>
                </a:solidFill>
                <a:latin typeface="Comfortaa"/>
                <a:ea typeface="Comfortaa"/>
                <a:cs typeface="Comfortaa"/>
                <a:sym typeface="Comfortaa"/>
              </a:rPr>
              <a:t>The experiment shows that people tend to obey authority, even when it goes against their own morals. It helps us understand how social influence and authority can affect human behavior.</a:t>
            </a:r>
            <a:endParaRPr b="0" i="0" sz="18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accent1"/>
                </a:solidFill>
                <a:latin typeface="Comfortaa"/>
                <a:ea typeface="Comfortaa"/>
                <a:cs typeface="Comfortaa"/>
                <a:sym typeface="Comfortaa"/>
              </a:rPr>
              <a:t>Conclusión:</a:t>
            </a:r>
            <a:r>
              <a:rPr b="0" i="0" lang="en" sz="1600" u="none" cap="none" strike="noStrike">
                <a:solidFill>
                  <a:schemeClr val="accent1"/>
                </a:solidFill>
                <a:latin typeface="Comfortaa"/>
                <a:ea typeface="Comfortaa"/>
                <a:cs typeface="Comfortaa"/>
                <a:sym typeface="Comfortaa"/>
              </a:rPr>
              <a:t> El experimento muestra que las personas tienden a obedecer a la autoridad, incluso cuando eso va en contra de su propia moral. Esto ayuda a entender cómo la influencia social y la autoridad pueden afectar el comportamiento humano</a:t>
            </a:r>
            <a:endParaRPr b="0" i="0" sz="1600" u="none" cap="none" strike="noStrike">
              <a:solidFill>
                <a:schemeClr val="accent1"/>
              </a:solidFill>
              <a:latin typeface="Comfortaa"/>
              <a:ea typeface="Comfortaa"/>
              <a:cs typeface="Comfortaa"/>
              <a:sym typeface="Comfortaa"/>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pic>
        <p:nvPicPr>
          <p:cNvPr id="283" name="Google Shape;283;p31"/>
          <p:cNvPicPr preferRelativeResize="0"/>
          <p:nvPr/>
        </p:nvPicPr>
        <p:blipFill rotWithShape="1">
          <a:blip r:embed="rId3">
            <a:alphaModFix/>
          </a:blip>
          <a:srcRect b="0" l="0" r="0" t="0"/>
          <a:stretch/>
        </p:blipFill>
        <p:spPr>
          <a:xfrm>
            <a:off x="4297675" y="0"/>
            <a:ext cx="4846325" cy="3227651"/>
          </a:xfrm>
          <a:prstGeom prst="rect">
            <a:avLst/>
          </a:prstGeom>
          <a:noFill/>
          <a:ln>
            <a:noFill/>
          </a:ln>
        </p:spPr>
      </p:pic>
      <p:sp>
        <p:nvSpPr>
          <p:cNvPr id="284" name="Google Shape;284;p31"/>
          <p:cNvSpPr txBox="1"/>
          <p:nvPr/>
        </p:nvSpPr>
        <p:spPr>
          <a:xfrm>
            <a:off x="143075" y="1799525"/>
            <a:ext cx="972900" cy="483600"/>
          </a:xfrm>
          <a:prstGeom prst="rect">
            <a:avLst/>
          </a:prstGeom>
          <a:noFill/>
          <a:ln>
            <a:noFill/>
          </a:ln>
          <a:effectLst>
            <a:outerShdw blurRad="28575" rotWithShape="0" algn="bl" dir="5340000" dist="28575">
              <a:srgbClr val="000000">
                <a:alpha val="49020"/>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t/>
            </a:r>
            <a:endParaRPr b="1" i="0" sz="2200" u="none" cap="none" strike="noStrike">
              <a:solidFill>
                <a:srgbClr val="FF0000"/>
              </a:solidFill>
              <a:latin typeface="Courier New"/>
              <a:ea typeface="Courier New"/>
              <a:cs typeface="Courier New"/>
              <a:sym typeface="Courier New"/>
            </a:endParaRPr>
          </a:p>
        </p:txBody>
      </p:sp>
      <p:sp>
        <p:nvSpPr>
          <p:cNvPr id="285" name="Google Shape;285;p31"/>
          <p:cNvSpPr txBox="1"/>
          <p:nvPr/>
        </p:nvSpPr>
        <p:spPr>
          <a:xfrm>
            <a:off x="143075" y="83500"/>
            <a:ext cx="3705000" cy="78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1"/>
                </a:solidFill>
                <a:latin typeface="Comfortaa"/>
                <a:ea typeface="Comfortaa"/>
                <a:cs typeface="Comfortaa"/>
                <a:sym typeface="Comfortaa"/>
              </a:rPr>
              <a:t>Stanford Prison Experiment (1971)</a:t>
            </a:r>
            <a:endParaRPr b="1" i="0" sz="26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3300"/>
              <a:buFont typeface="Arial"/>
              <a:buNone/>
            </a:pPr>
            <a:r>
              <a:t/>
            </a:r>
            <a:endParaRPr b="1" i="0" sz="3300" u="none" cap="none" strike="noStrike">
              <a:solidFill>
                <a:schemeClr val="dk1"/>
              </a:solidFill>
              <a:latin typeface="Courier New"/>
              <a:ea typeface="Courier New"/>
              <a:cs typeface="Courier New"/>
              <a:sym typeface="Courier New"/>
            </a:endParaRPr>
          </a:p>
          <a:p>
            <a:pPr indent="0" lvl="0" marL="45720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3300"/>
              <a:buFont typeface="Arial"/>
              <a:buNone/>
            </a:pPr>
            <a:r>
              <a:t/>
            </a:r>
            <a:endParaRPr b="1" i="0" sz="3300" u="none" cap="none" strike="noStrike">
              <a:solidFill>
                <a:schemeClr val="dk1"/>
              </a:solidFill>
              <a:latin typeface="Courier New"/>
              <a:ea typeface="Courier New"/>
              <a:cs typeface="Courier New"/>
              <a:sym typeface="Courier New"/>
            </a:endParaRPr>
          </a:p>
        </p:txBody>
      </p:sp>
      <p:sp>
        <p:nvSpPr>
          <p:cNvPr id="286" name="Google Shape;286;p31"/>
          <p:cNvSpPr txBox="1"/>
          <p:nvPr/>
        </p:nvSpPr>
        <p:spPr>
          <a:xfrm>
            <a:off x="143075" y="1066800"/>
            <a:ext cx="4154700" cy="2529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Comfortaa"/>
                <a:ea typeface="Comfortaa"/>
                <a:cs typeface="Comfortaa"/>
                <a:sym typeface="Comfortaa"/>
              </a:rPr>
              <a:t>Methods: </a:t>
            </a:r>
            <a:endParaRPr b="1" i="0" sz="25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Comfortaa"/>
                <a:ea typeface="Comfortaa"/>
                <a:cs typeface="Comfortaa"/>
                <a:sym typeface="Comfortaa"/>
              </a:rPr>
              <a:t>Participants:</a:t>
            </a:r>
            <a:r>
              <a:rPr b="0" i="0" lang="en" sz="1800" u="none" cap="none" strike="noStrike">
                <a:solidFill>
                  <a:schemeClr val="dk1"/>
                </a:solidFill>
                <a:latin typeface="Comfortaa"/>
                <a:ea typeface="Comfortaa"/>
                <a:cs typeface="Comfortaa"/>
                <a:sym typeface="Comfortaa"/>
              </a:rPr>
              <a:t> 24 male college students</a:t>
            </a:r>
            <a:endParaRPr b="0" i="0" sz="18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chemeClr val="dk1"/>
              </a:buClr>
              <a:buSzPts val="1100"/>
              <a:buFont typeface="Arial"/>
              <a:buNone/>
            </a:pPr>
            <a:r>
              <a:rPr b="1" i="0" lang="en" sz="1800" u="none" cap="none" strike="noStrike">
                <a:solidFill>
                  <a:schemeClr val="dk1"/>
                </a:solidFill>
                <a:latin typeface="Comfortaa"/>
                <a:ea typeface="Comfortaa"/>
                <a:cs typeface="Comfortaa"/>
                <a:sym typeface="Comfortaa"/>
              </a:rPr>
              <a:t>Procedure:</a:t>
            </a:r>
            <a:r>
              <a:rPr b="0" i="0" lang="en" sz="1800" u="none" cap="none" strike="noStrike">
                <a:solidFill>
                  <a:schemeClr val="dk1"/>
                </a:solidFill>
                <a:latin typeface="Comfortaa"/>
                <a:ea typeface="Comfortaa"/>
                <a:cs typeface="Comfortaa"/>
                <a:sym typeface="Comfortaa"/>
              </a:rPr>
              <a:t> Students were randomly assigned to be guards or prisoners. They were told to act according to their roles, with very little other instruction.</a:t>
            </a:r>
            <a:endParaRPr sz="1800">
              <a:solidFill>
                <a:srgbClr val="FF0000"/>
              </a:solidFill>
              <a:latin typeface="Comfortaa"/>
              <a:ea typeface="Comfortaa"/>
              <a:cs typeface="Comfortaa"/>
              <a:sym typeface="Comfortaa"/>
            </a:endParaRPr>
          </a:p>
          <a:p>
            <a:pPr indent="0" lvl="0" marL="0" marR="0" rtl="0" algn="l">
              <a:lnSpc>
                <a:spcPct val="100000"/>
              </a:lnSpc>
              <a:spcBef>
                <a:spcPts val="0"/>
              </a:spcBef>
              <a:spcAft>
                <a:spcPts val="0"/>
              </a:spcAft>
              <a:buClr>
                <a:schemeClr val="dk1"/>
              </a:buClr>
              <a:buSzPts val="1100"/>
              <a:buFont typeface="Arial"/>
              <a:buNone/>
            </a:pPr>
            <a:r>
              <a:t/>
            </a:r>
            <a:endParaRPr b="0" i="0" sz="1600" u="none" cap="none" strike="noStrike">
              <a:solidFill>
                <a:schemeClr val="accent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
        <p:nvSpPr>
          <p:cNvPr id="287" name="Google Shape;287;p31"/>
          <p:cNvSpPr txBox="1"/>
          <p:nvPr/>
        </p:nvSpPr>
        <p:spPr>
          <a:xfrm>
            <a:off x="151500" y="3794000"/>
            <a:ext cx="8841000" cy="88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1600" u="none" cap="none" strike="noStrike">
                <a:solidFill>
                  <a:schemeClr val="accent1"/>
                </a:solidFill>
                <a:latin typeface="Comfortaa"/>
                <a:ea typeface="Comfortaa"/>
                <a:cs typeface="Comfortaa"/>
                <a:sym typeface="Comfortaa"/>
              </a:rPr>
              <a:t>Métodos:</a:t>
            </a:r>
            <a:r>
              <a:rPr b="0" i="0" lang="en" sz="1600" u="none" cap="none" strike="noStrike">
                <a:solidFill>
                  <a:schemeClr val="accent1"/>
                </a:solidFill>
                <a:latin typeface="Comfortaa"/>
                <a:ea typeface="Comfortaa"/>
                <a:cs typeface="Comfortaa"/>
                <a:sym typeface="Comfortaa"/>
              </a:rPr>
              <a:t> </a:t>
            </a:r>
            <a:r>
              <a:rPr b="1" i="0" lang="en" sz="1600" u="none" cap="none" strike="noStrike">
                <a:solidFill>
                  <a:schemeClr val="accent1"/>
                </a:solidFill>
                <a:latin typeface="Comfortaa"/>
                <a:ea typeface="Comfortaa"/>
                <a:cs typeface="Comfortaa"/>
                <a:sym typeface="Comfortaa"/>
              </a:rPr>
              <a:t>Participantes:</a:t>
            </a:r>
            <a:r>
              <a:rPr b="0" i="0" lang="en" sz="1600" u="none" cap="none" strike="noStrike">
                <a:solidFill>
                  <a:schemeClr val="accent1"/>
                </a:solidFill>
                <a:latin typeface="Comfortaa"/>
                <a:ea typeface="Comfortaa"/>
                <a:cs typeface="Comfortaa"/>
                <a:sym typeface="Comfortaa"/>
              </a:rPr>
              <a:t> 24 estudiantes universitarios varones. </a:t>
            </a:r>
            <a:r>
              <a:rPr b="1" i="0" lang="en" sz="1600" u="none" cap="none" strike="noStrike">
                <a:solidFill>
                  <a:schemeClr val="accent1"/>
                </a:solidFill>
                <a:latin typeface="Comfortaa"/>
                <a:ea typeface="Comfortaa"/>
                <a:cs typeface="Comfortaa"/>
                <a:sym typeface="Comfortaa"/>
              </a:rPr>
              <a:t>Procedimiento: </a:t>
            </a:r>
            <a:r>
              <a:rPr b="0" i="0" lang="en" sz="1600" u="none" cap="none" strike="noStrike">
                <a:solidFill>
                  <a:schemeClr val="accent1"/>
                </a:solidFill>
                <a:latin typeface="Comfortaa"/>
                <a:ea typeface="Comfortaa"/>
                <a:cs typeface="Comfortaa"/>
                <a:sym typeface="Comfortaa"/>
              </a:rPr>
              <a:t>Los estudiantes fueron asignados al azar para ser guardias o prisioneros. Se les dijo que actuaran según su rol, con muy pocas instrucciones adicionales.</a:t>
            </a:r>
            <a:endParaRPr b="0" i="0" sz="1600" u="none" cap="none" strike="noStrike">
              <a:solidFill>
                <a:schemeClr val="accent1"/>
              </a:solidFill>
              <a:latin typeface="Comfortaa"/>
              <a:ea typeface="Comfortaa"/>
              <a:cs typeface="Comfortaa"/>
              <a:sym typeface="Comfortaa"/>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2"/>
          <p:cNvSpPr txBox="1"/>
          <p:nvPr/>
        </p:nvSpPr>
        <p:spPr>
          <a:xfrm>
            <a:off x="236200" y="148650"/>
            <a:ext cx="8694600" cy="484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Comfortaa"/>
                <a:ea typeface="Comfortaa"/>
                <a:cs typeface="Comfortaa"/>
                <a:sym typeface="Comfortaa"/>
              </a:rPr>
              <a:t>Results: </a:t>
            </a:r>
            <a:r>
              <a:rPr b="0" i="0" lang="en" sz="1700" u="none" cap="none" strike="noStrike">
                <a:solidFill>
                  <a:schemeClr val="dk1"/>
                </a:solidFill>
                <a:latin typeface="Comfortaa"/>
                <a:ea typeface="Comfortaa"/>
                <a:cs typeface="Comfortaa"/>
                <a:sym typeface="Comfortaa"/>
              </a:rPr>
              <a:t>Within 2 days, guards were removing mattresses, stripping prisoners, and spraying them with fire extinguishers. Prisoners began refusing orders and insulting guards.</a:t>
            </a:r>
            <a:endParaRPr b="0" i="0" sz="17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700"/>
              <a:buFont typeface="Arial"/>
              <a:buNone/>
            </a:pPr>
            <a:r>
              <a:rPr b="0" i="0" lang="en" sz="1700" u="none" cap="none" strike="noStrike">
                <a:solidFill>
                  <a:schemeClr val="dk1"/>
                </a:solidFill>
                <a:latin typeface="Comfortaa"/>
                <a:ea typeface="Comfortaa"/>
                <a:cs typeface="Comfortaa"/>
                <a:sym typeface="Comfortaa"/>
              </a:rPr>
              <a:t>The situation escalated quickly, showing intense changes in behavior due to assigned roles.</a:t>
            </a:r>
            <a:endParaRPr b="0" i="0" sz="17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000"/>
              <a:buFont typeface="Arial"/>
              <a:buNone/>
            </a:pPr>
            <a:r>
              <a:t/>
            </a:r>
            <a:endParaRPr b="1" i="0" sz="1000" u="none" cap="none" strike="noStrike">
              <a:solidFill>
                <a:schemeClr val="accent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chemeClr val="accent1"/>
                </a:solidFill>
                <a:latin typeface="Comfortaa"/>
                <a:ea typeface="Comfortaa"/>
                <a:cs typeface="Comfortaa"/>
                <a:sym typeface="Comfortaa"/>
              </a:rPr>
              <a:t>Resultados:</a:t>
            </a:r>
            <a:r>
              <a:rPr b="0" i="0" lang="en" sz="1500" u="none" cap="none" strike="noStrike">
                <a:solidFill>
                  <a:schemeClr val="accent1"/>
                </a:solidFill>
                <a:latin typeface="Comfortaa"/>
                <a:ea typeface="Comfortaa"/>
                <a:cs typeface="Comfortaa"/>
                <a:sym typeface="Comfortaa"/>
              </a:rPr>
              <a:t> En 2 días, los guardias comenzaron a quitar colchones, desnudar a los prisioneros y rociarlos con extintores. Los prisioneros empezaron a rechazar órdenes e insultar a los guardias. La situación escaló rápidamente, mostrando cambios intensos en el comportamiento debido a los roles asignados.</a:t>
            </a:r>
            <a:endParaRPr b="0" i="0" sz="1500" u="none" cap="none" strike="noStrike">
              <a:solidFill>
                <a:schemeClr val="accent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Comfortaa"/>
                <a:ea typeface="Comfortaa"/>
                <a:cs typeface="Comfortaa"/>
                <a:sym typeface="Comfortaa"/>
              </a:rPr>
              <a:t>Takeaway: </a:t>
            </a:r>
            <a:r>
              <a:rPr b="0" i="0" lang="en" sz="1700" u="none" cap="none" strike="noStrike">
                <a:solidFill>
                  <a:schemeClr val="dk1"/>
                </a:solidFill>
                <a:latin typeface="Comfortaa"/>
                <a:ea typeface="Comfortaa"/>
                <a:cs typeface="Comfortaa"/>
                <a:sym typeface="Comfortaa"/>
              </a:rPr>
              <a:t>The experiment shows that ordinary people can behave cruelly or submissively when placed in certain roles and social situations, highlighting the power of environment and authority on behavior.</a:t>
            </a:r>
            <a:endParaRPr b="0" i="0" sz="17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chemeClr val="accent1"/>
                </a:solidFill>
                <a:latin typeface="Comfortaa"/>
                <a:ea typeface="Comfortaa"/>
                <a:cs typeface="Comfortaa"/>
                <a:sym typeface="Comfortaa"/>
              </a:rPr>
              <a:t>Conclusión:</a:t>
            </a:r>
            <a:r>
              <a:rPr b="0" i="0" lang="en" sz="1500" u="none" cap="none" strike="noStrike">
                <a:solidFill>
                  <a:schemeClr val="accent1"/>
                </a:solidFill>
                <a:latin typeface="Comfortaa"/>
                <a:ea typeface="Comfortaa"/>
                <a:cs typeface="Comfortaa"/>
                <a:sym typeface="Comfortaa"/>
              </a:rPr>
              <a:t> El experimento muestra que personas comunes pueden comportarse de manera cruel o sumisa cuando se les asignan ciertos roles y se encuentran en determinadas situaciones sociales, lo que resalta el poder del entorno y la autoridad sobre el comportamiento.</a:t>
            </a:r>
            <a:endParaRPr b="0" i="0" sz="1500" u="none" cap="none" strike="noStrike">
              <a:solidFill>
                <a:schemeClr val="accent1"/>
              </a:solidFill>
              <a:latin typeface="Comfortaa"/>
              <a:ea typeface="Comfortaa"/>
              <a:cs typeface="Comfortaa"/>
              <a:sym typeface="Comfortaa"/>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pic>
        <p:nvPicPr>
          <p:cNvPr descr="http://www.prisonexp.org/ &#10;Official site of the Stanford Prison Experiment, a classic study on the  psychology of imprisonment" id="297" name="Google Shape;297;p33" title="Stanford Prison Experiment: Post-Experimental Interview">
            <a:hlinkClick r:id="rId3"/>
          </p:cNvPr>
          <p:cNvPicPr preferRelativeResize="0"/>
          <p:nvPr/>
        </p:nvPicPr>
        <p:blipFill rotWithShape="1">
          <a:blip r:embed="rId4">
            <a:alphaModFix/>
          </a:blip>
          <a:srcRect b="0" l="0" r="0" t="0"/>
          <a:stretch/>
        </p:blipFill>
        <p:spPr>
          <a:xfrm>
            <a:off x="618488" y="347911"/>
            <a:ext cx="7907025" cy="4447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1000"/>
                                        <p:tgtEl>
                                          <p:spTgt spid="2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g3f6456eb57b_0_5"/>
          <p:cNvSpPr txBox="1"/>
          <p:nvPr>
            <p:ph type="ctrTitle"/>
          </p:nvPr>
        </p:nvSpPr>
        <p:spPr>
          <a:xfrm>
            <a:off x="311700" y="192400"/>
            <a:ext cx="4959300" cy="6210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2600">
                <a:latin typeface="Comfortaa"/>
                <a:ea typeface="Comfortaa"/>
                <a:cs typeface="Comfortaa"/>
                <a:sym typeface="Comfortaa"/>
              </a:rPr>
              <a:t>Important context</a:t>
            </a:r>
            <a:endParaRPr b="1" sz="2600">
              <a:latin typeface="Comfortaa"/>
              <a:ea typeface="Comfortaa"/>
              <a:cs typeface="Comfortaa"/>
              <a:sym typeface="Comfortaa"/>
            </a:endParaRPr>
          </a:p>
        </p:txBody>
      </p:sp>
      <p:sp>
        <p:nvSpPr>
          <p:cNvPr id="303" name="Google Shape;303;g3f6456eb57b_0_5"/>
          <p:cNvSpPr txBox="1"/>
          <p:nvPr>
            <p:ph idx="1" type="subTitle"/>
          </p:nvPr>
        </p:nvSpPr>
        <p:spPr>
          <a:xfrm>
            <a:off x="311700" y="920975"/>
            <a:ext cx="5500200" cy="3960300"/>
          </a:xfrm>
          <a:prstGeom prst="rect">
            <a:avLst/>
          </a:prstGeom>
        </p:spPr>
        <p:txBody>
          <a:bodyPr anchorCtr="0" anchor="t" bIns="91425" lIns="91425" spcFirstLastPara="1" rIns="91425" wrap="square" tIns="91425">
            <a:normAutofit lnSpcReduction="20000"/>
          </a:bodyPr>
          <a:lstStyle/>
          <a:p>
            <a:pPr indent="-330200" lvl="0" marL="457200" rtl="0" algn="l">
              <a:spcBef>
                <a:spcPts val="0"/>
              </a:spcBef>
              <a:spcAft>
                <a:spcPts val="0"/>
              </a:spcAft>
              <a:buClr>
                <a:schemeClr val="dk1"/>
              </a:buClr>
              <a:buSzPts val="1600"/>
              <a:buFont typeface="Comfortaa"/>
              <a:buChar char="●"/>
            </a:pPr>
            <a:r>
              <a:rPr lang="en" sz="1600">
                <a:solidFill>
                  <a:schemeClr val="dk1"/>
                </a:solidFill>
                <a:latin typeface="Comfortaa"/>
                <a:ea typeface="Comfortaa"/>
                <a:cs typeface="Comfortaa"/>
                <a:sym typeface="Comfortaa"/>
              </a:rPr>
              <a:t>This experiment was led by a psychologist named Philip Zimbardo</a:t>
            </a:r>
            <a:endParaRPr sz="1600">
              <a:solidFill>
                <a:schemeClr val="dk1"/>
              </a:solidFill>
              <a:latin typeface="Comfortaa"/>
              <a:ea typeface="Comfortaa"/>
              <a:cs typeface="Comfortaa"/>
              <a:sym typeface="Comfortaa"/>
            </a:endParaRPr>
          </a:p>
          <a:p>
            <a:pPr indent="-330200" lvl="0" marL="457200" rtl="0" algn="l">
              <a:spcBef>
                <a:spcPts val="0"/>
              </a:spcBef>
              <a:spcAft>
                <a:spcPts val="0"/>
              </a:spcAft>
              <a:buClr>
                <a:schemeClr val="dk1"/>
              </a:buClr>
              <a:buSzPts val="1600"/>
              <a:buFont typeface="Comfortaa"/>
              <a:buChar char="●"/>
            </a:pPr>
            <a:r>
              <a:rPr lang="en" sz="1600">
                <a:solidFill>
                  <a:schemeClr val="dk1"/>
                </a:solidFill>
                <a:latin typeface="Comfortaa"/>
                <a:ea typeface="Comfortaa"/>
                <a:cs typeface="Comfortaa"/>
                <a:sym typeface="Comfortaa"/>
              </a:rPr>
              <a:t>He only stopped the experiment after his TA, Christina Maslach, </a:t>
            </a:r>
            <a:r>
              <a:rPr lang="en" sz="1600">
                <a:solidFill>
                  <a:schemeClr val="dk1"/>
                </a:solidFill>
                <a:latin typeface="Comfortaa"/>
                <a:ea typeface="Comfortaa"/>
                <a:cs typeface="Comfortaa"/>
                <a:sym typeface="Comfortaa"/>
              </a:rPr>
              <a:t>convinced</a:t>
            </a:r>
            <a:r>
              <a:rPr lang="en" sz="1600">
                <a:solidFill>
                  <a:schemeClr val="dk1"/>
                </a:solidFill>
                <a:latin typeface="Comfortaa"/>
                <a:ea typeface="Comfortaa"/>
                <a:cs typeface="Comfortaa"/>
                <a:sym typeface="Comfortaa"/>
              </a:rPr>
              <a:t> him</a:t>
            </a:r>
            <a:endParaRPr sz="1600">
              <a:solidFill>
                <a:schemeClr val="dk1"/>
              </a:solidFill>
              <a:latin typeface="Comfortaa"/>
              <a:ea typeface="Comfortaa"/>
              <a:cs typeface="Comfortaa"/>
              <a:sym typeface="Comfortaa"/>
            </a:endParaRPr>
          </a:p>
          <a:p>
            <a:pPr indent="-330200" lvl="0" marL="457200" rtl="0" algn="l">
              <a:spcBef>
                <a:spcPts val="0"/>
              </a:spcBef>
              <a:spcAft>
                <a:spcPts val="0"/>
              </a:spcAft>
              <a:buClr>
                <a:schemeClr val="dk1"/>
              </a:buClr>
              <a:buSzPts val="1600"/>
              <a:buFont typeface="Comfortaa"/>
              <a:buChar char="●"/>
            </a:pPr>
            <a:r>
              <a:rPr lang="en" sz="1600">
                <a:solidFill>
                  <a:schemeClr val="dk1"/>
                </a:solidFill>
                <a:latin typeface="Comfortaa"/>
                <a:ea typeface="Comfortaa"/>
                <a:cs typeface="Comfortaa"/>
                <a:sym typeface="Comfortaa"/>
              </a:rPr>
              <a:t>Zimbardo was cheating on his wife with Maslach</a:t>
            </a:r>
            <a:endParaRPr sz="1600">
              <a:solidFill>
                <a:schemeClr val="dk1"/>
              </a:solidFill>
              <a:latin typeface="Comfortaa"/>
              <a:ea typeface="Comfortaa"/>
              <a:cs typeface="Comfortaa"/>
              <a:sym typeface="Comfortaa"/>
            </a:endParaRPr>
          </a:p>
          <a:p>
            <a:pPr indent="-330200" lvl="0" marL="457200" rtl="0" algn="l">
              <a:spcBef>
                <a:spcPts val="0"/>
              </a:spcBef>
              <a:spcAft>
                <a:spcPts val="0"/>
              </a:spcAft>
              <a:buClr>
                <a:schemeClr val="dk1"/>
              </a:buClr>
              <a:buSzPts val="1600"/>
              <a:buFont typeface="Comfortaa"/>
              <a:buChar char="●"/>
            </a:pPr>
            <a:r>
              <a:rPr lang="en" sz="1600">
                <a:solidFill>
                  <a:schemeClr val="dk1"/>
                </a:solidFill>
                <a:latin typeface="Comfortaa"/>
                <a:ea typeface="Comfortaa"/>
                <a:cs typeface="Comfortaa"/>
                <a:sym typeface="Comfortaa"/>
              </a:rPr>
              <a:t>He and Maslach married soon after the end of the experiment</a:t>
            </a:r>
            <a:endParaRPr sz="1600">
              <a:solidFill>
                <a:schemeClr val="dk1"/>
              </a:solidFill>
              <a:latin typeface="Comfortaa"/>
              <a:ea typeface="Comfortaa"/>
              <a:cs typeface="Comfortaa"/>
              <a:sym typeface="Comfortaa"/>
            </a:endParaRPr>
          </a:p>
          <a:p>
            <a:pPr indent="-330200" lvl="0" marL="457200" rtl="0" algn="l">
              <a:lnSpc>
                <a:spcPct val="115000"/>
              </a:lnSpc>
              <a:spcBef>
                <a:spcPts val="0"/>
              </a:spcBef>
              <a:spcAft>
                <a:spcPts val="0"/>
              </a:spcAft>
              <a:buClr>
                <a:schemeClr val="accent1"/>
              </a:buClr>
              <a:buSzPts val="1600"/>
              <a:buFont typeface="Comfortaa"/>
              <a:buChar char="●"/>
            </a:pPr>
            <a:r>
              <a:rPr lang="en" sz="1600">
                <a:solidFill>
                  <a:schemeClr val="accent1"/>
                </a:solidFill>
                <a:latin typeface="Comfortaa"/>
                <a:ea typeface="Comfortaa"/>
                <a:cs typeface="Comfortaa"/>
                <a:sym typeface="Comfortaa"/>
              </a:rPr>
              <a:t>Este experimento fue dirigido por un psicólogo llamado Philip Zimbardo.</a:t>
            </a:r>
            <a:endParaRPr sz="1600">
              <a:solidFill>
                <a:schemeClr val="accent1"/>
              </a:solidFill>
              <a:latin typeface="Comfortaa"/>
              <a:ea typeface="Comfortaa"/>
              <a:cs typeface="Comfortaa"/>
              <a:sym typeface="Comfortaa"/>
            </a:endParaRPr>
          </a:p>
          <a:p>
            <a:pPr indent="-330200" lvl="0" marL="457200" rtl="0" algn="l">
              <a:lnSpc>
                <a:spcPct val="115000"/>
              </a:lnSpc>
              <a:spcBef>
                <a:spcPts val="0"/>
              </a:spcBef>
              <a:spcAft>
                <a:spcPts val="0"/>
              </a:spcAft>
              <a:buClr>
                <a:schemeClr val="accent1"/>
              </a:buClr>
              <a:buSzPts val="1600"/>
              <a:buFont typeface="Comfortaa"/>
              <a:buChar char="●"/>
            </a:pPr>
            <a:r>
              <a:rPr lang="en" sz="1600">
                <a:solidFill>
                  <a:schemeClr val="accent1"/>
                </a:solidFill>
                <a:latin typeface="Comfortaa"/>
                <a:ea typeface="Comfortaa"/>
                <a:cs typeface="Comfortaa"/>
                <a:sym typeface="Comfortaa"/>
              </a:rPr>
              <a:t>Solo detuvo el experimento después de que su asistente, Christina Maslach, lo convenciera de hacerlo.</a:t>
            </a:r>
            <a:endParaRPr sz="1600">
              <a:solidFill>
                <a:schemeClr val="accent1"/>
              </a:solidFill>
              <a:latin typeface="Comfortaa"/>
              <a:ea typeface="Comfortaa"/>
              <a:cs typeface="Comfortaa"/>
              <a:sym typeface="Comfortaa"/>
            </a:endParaRPr>
          </a:p>
          <a:p>
            <a:pPr indent="-330200" lvl="0" marL="457200" rtl="0" algn="l">
              <a:lnSpc>
                <a:spcPct val="115000"/>
              </a:lnSpc>
              <a:spcBef>
                <a:spcPts val="0"/>
              </a:spcBef>
              <a:spcAft>
                <a:spcPts val="0"/>
              </a:spcAft>
              <a:buClr>
                <a:schemeClr val="accent1"/>
              </a:buClr>
              <a:buSzPts val="1600"/>
              <a:buFont typeface="Comfortaa"/>
              <a:buChar char="●"/>
            </a:pPr>
            <a:r>
              <a:rPr lang="en" sz="1600">
                <a:solidFill>
                  <a:schemeClr val="accent1"/>
                </a:solidFill>
                <a:latin typeface="Comfortaa"/>
                <a:ea typeface="Comfortaa"/>
                <a:cs typeface="Comfortaa"/>
                <a:sym typeface="Comfortaa"/>
              </a:rPr>
              <a:t>Zimbardo le era infiel a su esposa con Maslach.</a:t>
            </a:r>
            <a:endParaRPr sz="1600">
              <a:solidFill>
                <a:schemeClr val="accent1"/>
              </a:solidFill>
              <a:latin typeface="Comfortaa"/>
              <a:ea typeface="Comfortaa"/>
              <a:cs typeface="Comfortaa"/>
              <a:sym typeface="Comfortaa"/>
            </a:endParaRPr>
          </a:p>
          <a:p>
            <a:pPr indent="-330200" lvl="0" marL="457200" rtl="0" algn="l">
              <a:lnSpc>
                <a:spcPct val="115000"/>
              </a:lnSpc>
              <a:spcBef>
                <a:spcPts val="0"/>
              </a:spcBef>
              <a:spcAft>
                <a:spcPts val="0"/>
              </a:spcAft>
              <a:buClr>
                <a:schemeClr val="accent1"/>
              </a:buClr>
              <a:buSzPts val="1600"/>
              <a:buFont typeface="Comfortaa"/>
              <a:buChar char="●"/>
            </a:pPr>
            <a:r>
              <a:rPr lang="en" sz="1600">
                <a:solidFill>
                  <a:schemeClr val="accent1"/>
                </a:solidFill>
                <a:latin typeface="Comfortaa"/>
                <a:ea typeface="Comfortaa"/>
                <a:cs typeface="Comfortaa"/>
                <a:sym typeface="Comfortaa"/>
              </a:rPr>
              <a:t>Él y Maslach se casaron poco después de finalizar el experimento.</a:t>
            </a:r>
            <a:endParaRPr sz="1600">
              <a:solidFill>
                <a:schemeClr val="accent1"/>
              </a:solidFill>
              <a:latin typeface="Comfortaa"/>
              <a:ea typeface="Comfortaa"/>
              <a:cs typeface="Comfortaa"/>
              <a:sym typeface="Comfortaa"/>
            </a:endParaRPr>
          </a:p>
        </p:txBody>
      </p:sp>
      <p:pic>
        <p:nvPicPr>
          <p:cNvPr id="304" name="Google Shape;304;g3f6456eb57b_0_5" title="SC0750_phil_side.jpg"/>
          <p:cNvPicPr preferRelativeResize="0"/>
          <p:nvPr/>
        </p:nvPicPr>
        <p:blipFill>
          <a:blip r:embed="rId3">
            <a:alphaModFix/>
          </a:blip>
          <a:stretch>
            <a:fillRect/>
          </a:stretch>
        </p:blipFill>
        <p:spPr>
          <a:xfrm>
            <a:off x="6021172" y="677662"/>
            <a:ext cx="2571799" cy="378817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4"/>
          <p:cNvSpPr txBox="1"/>
          <p:nvPr>
            <p:ph type="title"/>
          </p:nvPr>
        </p:nvSpPr>
        <p:spPr>
          <a:xfrm>
            <a:off x="311700" y="277375"/>
            <a:ext cx="8520600" cy="858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b="1" lang="en" sz="2520">
                <a:latin typeface="Comfortaa"/>
                <a:ea typeface="Comfortaa"/>
                <a:cs typeface="Comfortaa"/>
                <a:sym typeface="Comfortaa"/>
              </a:rPr>
              <a:t>Ethics</a:t>
            </a:r>
            <a:endParaRPr b="1" sz="2520">
              <a:latin typeface="Comfortaa"/>
              <a:ea typeface="Comfortaa"/>
              <a:cs typeface="Comfortaa"/>
              <a:sym typeface="Comfortaa"/>
            </a:endParaRPr>
          </a:p>
          <a:p>
            <a:pPr indent="0" lvl="0" marL="0" rtl="0" algn="l">
              <a:lnSpc>
                <a:spcPct val="100000"/>
              </a:lnSpc>
              <a:spcBef>
                <a:spcPts val="0"/>
              </a:spcBef>
              <a:spcAft>
                <a:spcPts val="0"/>
              </a:spcAft>
              <a:buSzPts val="990"/>
              <a:buNone/>
            </a:pPr>
            <a:r>
              <a:rPr b="1" lang="en" sz="2020">
                <a:solidFill>
                  <a:schemeClr val="accent1"/>
                </a:solidFill>
                <a:latin typeface="Comfortaa"/>
                <a:ea typeface="Comfortaa"/>
                <a:cs typeface="Comfortaa"/>
                <a:sym typeface="Comfortaa"/>
              </a:rPr>
              <a:t>Ética</a:t>
            </a:r>
            <a:endParaRPr b="1" sz="2020">
              <a:solidFill>
                <a:schemeClr val="accent1"/>
              </a:solidFill>
              <a:latin typeface="Comfortaa"/>
              <a:ea typeface="Comfortaa"/>
              <a:cs typeface="Comfortaa"/>
              <a:sym typeface="Comfortaa"/>
            </a:endParaRPr>
          </a:p>
        </p:txBody>
      </p:sp>
      <p:sp>
        <p:nvSpPr>
          <p:cNvPr id="310" name="Google Shape;310;p34"/>
          <p:cNvSpPr txBox="1"/>
          <p:nvPr>
            <p:ph idx="1" type="body"/>
          </p:nvPr>
        </p:nvSpPr>
        <p:spPr>
          <a:xfrm>
            <a:off x="311700" y="124392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2000">
                <a:solidFill>
                  <a:schemeClr val="dk1"/>
                </a:solidFill>
                <a:latin typeface="Comfortaa"/>
                <a:ea typeface="Comfortaa"/>
                <a:cs typeface="Comfortaa"/>
                <a:sym typeface="Comfortaa"/>
              </a:rPr>
              <a:t>What are the ethical issues with these studies?</a:t>
            </a:r>
            <a:endParaRPr sz="2000">
              <a:solidFill>
                <a:schemeClr val="dk1"/>
              </a:solidFill>
              <a:latin typeface="Comfortaa"/>
              <a:ea typeface="Comfortaa"/>
              <a:cs typeface="Comfortaa"/>
              <a:sym typeface="Comfortaa"/>
            </a:endParaRPr>
          </a:p>
          <a:p>
            <a:pPr indent="0" lvl="0" marL="0" rtl="0" algn="l">
              <a:lnSpc>
                <a:spcPct val="115000"/>
              </a:lnSpc>
              <a:spcBef>
                <a:spcPts val="1200"/>
              </a:spcBef>
              <a:spcAft>
                <a:spcPts val="0"/>
              </a:spcAft>
              <a:buSzPts val="1800"/>
              <a:buNone/>
            </a:pPr>
            <a:r>
              <a:rPr lang="en">
                <a:solidFill>
                  <a:schemeClr val="accent1"/>
                </a:solidFill>
                <a:latin typeface="Comfortaa"/>
                <a:ea typeface="Comfortaa"/>
                <a:cs typeface="Comfortaa"/>
                <a:sym typeface="Comfortaa"/>
              </a:rPr>
              <a:t>¿Cuáles son los problemas éticos de estos estudios?</a:t>
            </a:r>
            <a:endParaRPr>
              <a:solidFill>
                <a:schemeClr val="accent1"/>
              </a:solidFill>
              <a:latin typeface="Comfortaa"/>
              <a:ea typeface="Comfortaa"/>
              <a:cs typeface="Comfortaa"/>
              <a:sym typeface="Comfortaa"/>
            </a:endParaRPr>
          </a:p>
          <a:p>
            <a:pPr indent="0" lvl="0" marL="0" rtl="0" algn="l">
              <a:lnSpc>
                <a:spcPct val="115000"/>
              </a:lnSpc>
              <a:spcBef>
                <a:spcPts val="1200"/>
              </a:spcBef>
              <a:spcAft>
                <a:spcPts val="0"/>
              </a:spcAft>
              <a:buSzPts val="1800"/>
              <a:buNone/>
            </a:pPr>
            <a:r>
              <a:t/>
            </a:r>
            <a:endParaRPr>
              <a:solidFill>
                <a:schemeClr val="accent1"/>
              </a:solidFill>
              <a:latin typeface="Comfortaa"/>
              <a:ea typeface="Comfortaa"/>
              <a:cs typeface="Comfortaa"/>
              <a:sym typeface="Comfortaa"/>
            </a:endParaRPr>
          </a:p>
          <a:p>
            <a:pPr indent="-355600" lvl="0" marL="457200" rtl="0" algn="l">
              <a:lnSpc>
                <a:spcPct val="115000"/>
              </a:lnSpc>
              <a:spcBef>
                <a:spcPts val="1200"/>
              </a:spcBef>
              <a:spcAft>
                <a:spcPts val="0"/>
              </a:spcAft>
              <a:buClr>
                <a:schemeClr val="dk1"/>
              </a:buClr>
              <a:buSzPts val="2000"/>
              <a:buFont typeface="Comfortaa"/>
              <a:buChar char="●"/>
            </a:pPr>
            <a:r>
              <a:rPr lang="en" sz="2000">
                <a:solidFill>
                  <a:schemeClr val="dk1"/>
                </a:solidFill>
                <a:latin typeface="Comfortaa"/>
                <a:ea typeface="Comfortaa"/>
                <a:cs typeface="Comfortaa"/>
                <a:sym typeface="Comfortaa"/>
              </a:rPr>
              <a:t>Little Albert</a:t>
            </a:r>
            <a:endParaRPr sz="2000">
              <a:solidFill>
                <a:schemeClr val="dk1"/>
              </a:solidFill>
              <a:latin typeface="Comfortaa"/>
              <a:ea typeface="Comfortaa"/>
              <a:cs typeface="Comfortaa"/>
              <a:sym typeface="Comfortaa"/>
            </a:endParaRPr>
          </a:p>
          <a:p>
            <a:pPr indent="-355600" lvl="0" marL="457200" rtl="0" algn="l">
              <a:lnSpc>
                <a:spcPct val="115000"/>
              </a:lnSpc>
              <a:spcBef>
                <a:spcPts val="0"/>
              </a:spcBef>
              <a:spcAft>
                <a:spcPts val="0"/>
              </a:spcAft>
              <a:buClr>
                <a:schemeClr val="dk1"/>
              </a:buClr>
              <a:buSzPts val="2000"/>
              <a:buFont typeface="Comfortaa"/>
              <a:buChar char="●"/>
            </a:pPr>
            <a:r>
              <a:rPr lang="en" sz="2000">
                <a:solidFill>
                  <a:schemeClr val="dk1"/>
                </a:solidFill>
                <a:latin typeface="Comfortaa"/>
                <a:ea typeface="Comfortaa"/>
                <a:cs typeface="Comfortaa"/>
                <a:sym typeface="Comfortaa"/>
              </a:rPr>
              <a:t>Milgram Obedience </a:t>
            </a:r>
            <a:endParaRPr sz="2000">
              <a:solidFill>
                <a:schemeClr val="dk1"/>
              </a:solidFill>
              <a:latin typeface="Comfortaa"/>
              <a:ea typeface="Comfortaa"/>
              <a:cs typeface="Comfortaa"/>
              <a:sym typeface="Comfortaa"/>
            </a:endParaRPr>
          </a:p>
          <a:p>
            <a:pPr indent="-355600" lvl="0" marL="457200" rtl="0" algn="l">
              <a:lnSpc>
                <a:spcPct val="115000"/>
              </a:lnSpc>
              <a:spcBef>
                <a:spcPts val="0"/>
              </a:spcBef>
              <a:spcAft>
                <a:spcPts val="0"/>
              </a:spcAft>
              <a:buClr>
                <a:schemeClr val="dk1"/>
              </a:buClr>
              <a:buSzPts val="2000"/>
              <a:buFont typeface="Comfortaa"/>
              <a:buChar char="●"/>
            </a:pPr>
            <a:r>
              <a:rPr lang="en" sz="2000">
                <a:solidFill>
                  <a:schemeClr val="dk1"/>
                </a:solidFill>
                <a:latin typeface="Comfortaa"/>
                <a:ea typeface="Comfortaa"/>
                <a:cs typeface="Comfortaa"/>
                <a:sym typeface="Comfortaa"/>
              </a:rPr>
              <a:t>Stanford Prison</a:t>
            </a:r>
            <a:endParaRPr sz="2000">
              <a:solidFill>
                <a:schemeClr val="dk1"/>
              </a:solidFill>
              <a:latin typeface="Comfortaa"/>
              <a:ea typeface="Comfortaa"/>
              <a:cs typeface="Comfortaa"/>
              <a:sym typeface="Comfortaa"/>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5"/>
          <p:cNvSpPr txBox="1"/>
          <p:nvPr>
            <p:ph type="title"/>
          </p:nvPr>
        </p:nvSpPr>
        <p:spPr>
          <a:xfrm>
            <a:off x="311700" y="277375"/>
            <a:ext cx="8520600" cy="858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b="1" lang="en" sz="2520">
                <a:latin typeface="Comfortaa"/>
                <a:ea typeface="Comfortaa"/>
                <a:cs typeface="Comfortaa"/>
                <a:sym typeface="Comfortaa"/>
              </a:rPr>
              <a:t>Ethics is an ongoing debate</a:t>
            </a:r>
            <a:endParaRPr b="1" sz="2520">
              <a:latin typeface="Comfortaa"/>
              <a:ea typeface="Comfortaa"/>
              <a:cs typeface="Comfortaa"/>
              <a:sym typeface="Comfortaa"/>
            </a:endParaRPr>
          </a:p>
          <a:p>
            <a:pPr indent="0" lvl="0" marL="0" rtl="0" algn="l">
              <a:lnSpc>
                <a:spcPct val="100000"/>
              </a:lnSpc>
              <a:spcBef>
                <a:spcPts val="0"/>
              </a:spcBef>
              <a:spcAft>
                <a:spcPts val="0"/>
              </a:spcAft>
              <a:buSzPts val="990"/>
              <a:buNone/>
            </a:pPr>
            <a:r>
              <a:rPr b="1" lang="en" sz="2020">
                <a:solidFill>
                  <a:schemeClr val="accent1"/>
                </a:solidFill>
                <a:latin typeface="Comfortaa"/>
                <a:ea typeface="Comfortaa"/>
                <a:cs typeface="Comfortaa"/>
                <a:sym typeface="Comfortaa"/>
              </a:rPr>
              <a:t>Ética</a:t>
            </a:r>
            <a:endParaRPr b="1" sz="2020">
              <a:solidFill>
                <a:schemeClr val="accent1"/>
              </a:solidFill>
              <a:latin typeface="Comfortaa"/>
              <a:ea typeface="Comfortaa"/>
              <a:cs typeface="Comfortaa"/>
              <a:sym typeface="Comfortaa"/>
            </a:endParaRPr>
          </a:p>
        </p:txBody>
      </p:sp>
      <p:sp>
        <p:nvSpPr>
          <p:cNvPr id="316" name="Google Shape;316;p35"/>
          <p:cNvSpPr txBox="1"/>
          <p:nvPr>
            <p:ph idx="1" type="body"/>
          </p:nvPr>
        </p:nvSpPr>
        <p:spPr>
          <a:xfrm>
            <a:off x="311700" y="1243925"/>
            <a:ext cx="8520600" cy="3416400"/>
          </a:xfrm>
          <a:prstGeom prst="rect">
            <a:avLst/>
          </a:prstGeom>
          <a:noFill/>
          <a:ln>
            <a:noFill/>
          </a:ln>
        </p:spPr>
        <p:txBody>
          <a:bodyPr anchorCtr="0" anchor="t" bIns="91425" lIns="91425" spcFirstLastPara="1" rIns="91425" wrap="square" tIns="91425">
            <a:normAutofit/>
          </a:bodyPr>
          <a:lstStyle/>
          <a:p>
            <a:pPr indent="-355600" lvl="0" marL="457200" rtl="0" algn="l">
              <a:lnSpc>
                <a:spcPct val="115000"/>
              </a:lnSpc>
              <a:spcBef>
                <a:spcPts val="0"/>
              </a:spcBef>
              <a:spcAft>
                <a:spcPts val="0"/>
              </a:spcAft>
              <a:buClr>
                <a:schemeClr val="dk1"/>
              </a:buClr>
              <a:buSzPts val="2000"/>
              <a:buFont typeface="Comfortaa"/>
              <a:buChar char="●"/>
            </a:pPr>
            <a:r>
              <a:rPr lang="en" sz="2000">
                <a:solidFill>
                  <a:schemeClr val="dk1"/>
                </a:solidFill>
                <a:latin typeface="Comfortaa"/>
                <a:ea typeface="Comfortaa"/>
                <a:cs typeface="Comfortaa"/>
                <a:sym typeface="Comfortaa"/>
              </a:rPr>
              <a:t>Is it ethical to use people’s social media posts for psychological research without consent?</a:t>
            </a:r>
            <a:endParaRPr sz="2000">
              <a:solidFill>
                <a:schemeClr val="dk1"/>
              </a:solidFill>
              <a:latin typeface="Comfortaa"/>
              <a:ea typeface="Comfortaa"/>
              <a:cs typeface="Comfortaa"/>
              <a:sym typeface="Comfortaa"/>
            </a:endParaRPr>
          </a:p>
          <a:p>
            <a:pPr indent="-355600" lvl="0" marL="457200" rtl="0" algn="l">
              <a:lnSpc>
                <a:spcPct val="115000"/>
              </a:lnSpc>
              <a:spcBef>
                <a:spcPts val="0"/>
              </a:spcBef>
              <a:spcAft>
                <a:spcPts val="0"/>
              </a:spcAft>
              <a:buClr>
                <a:schemeClr val="dk1"/>
              </a:buClr>
              <a:buSzPts val="2000"/>
              <a:buFont typeface="Comfortaa"/>
              <a:buChar char="●"/>
            </a:pPr>
            <a:r>
              <a:rPr lang="en" sz="2000">
                <a:solidFill>
                  <a:schemeClr val="dk1"/>
                </a:solidFill>
                <a:latin typeface="Comfortaa"/>
                <a:ea typeface="Comfortaa"/>
                <a:cs typeface="Comfortaa"/>
                <a:sym typeface="Comfortaa"/>
              </a:rPr>
              <a:t>Is it ethical to withhold a potentially effective therapy from a control group, especially for severe conditions like suicidality or PTSD?</a:t>
            </a:r>
            <a:endParaRPr sz="2000">
              <a:solidFill>
                <a:schemeClr val="dk1"/>
              </a:solidFill>
              <a:latin typeface="Comfortaa"/>
              <a:ea typeface="Comfortaa"/>
              <a:cs typeface="Comfortaa"/>
              <a:sym typeface="Comfortaa"/>
            </a:endParaRPr>
          </a:p>
          <a:p>
            <a:pPr indent="-355600" lvl="0" marL="457200" rtl="0" algn="l">
              <a:lnSpc>
                <a:spcPct val="115000"/>
              </a:lnSpc>
              <a:spcBef>
                <a:spcPts val="0"/>
              </a:spcBef>
              <a:spcAft>
                <a:spcPts val="0"/>
              </a:spcAft>
              <a:buClr>
                <a:schemeClr val="dk1"/>
              </a:buClr>
              <a:buSzPts val="2000"/>
              <a:buFont typeface="Comfortaa"/>
              <a:buChar char="●"/>
            </a:pPr>
            <a:r>
              <a:rPr lang="en" sz="2000">
                <a:solidFill>
                  <a:schemeClr val="dk1"/>
                </a:solidFill>
                <a:latin typeface="Comfortaa"/>
                <a:ea typeface="Comfortaa"/>
                <a:cs typeface="Comfortaa"/>
                <a:sym typeface="Comfortaa"/>
              </a:rPr>
              <a:t>Should study participants be paid more depending on socioeconomic status or minority group membership?</a:t>
            </a:r>
            <a:endParaRPr sz="2000">
              <a:solidFill>
                <a:schemeClr val="dk1"/>
              </a:solidFill>
              <a:latin typeface="Comfortaa"/>
              <a:ea typeface="Comfortaa"/>
              <a:cs typeface="Comfortaa"/>
              <a:sym typeface="Comfortaa"/>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6"/>
          <p:cNvSpPr txBox="1"/>
          <p:nvPr>
            <p:ph type="title"/>
          </p:nvPr>
        </p:nvSpPr>
        <p:spPr>
          <a:xfrm>
            <a:off x="311700" y="0"/>
            <a:ext cx="5228100" cy="7557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2400"/>
              <a:buNone/>
            </a:pPr>
            <a:r>
              <a:rPr b="1" lang="en" sz="2500">
                <a:latin typeface="Comfortaa"/>
                <a:ea typeface="Comfortaa"/>
                <a:cs typeface="Comfortaa"/>
                <a:sym typeface="Comfortaa"/>
              </a:rPr>
              <a:t>Ethical Differences Today</a:t>
            </a:r>
            <a:endParaRPr b="1" sz="2500">
              <a:latin typeface="Comfortaa"/>
              <a:ea typeface="Comfortaa"/>
              <a:cs typeface="Comfortaa"/>
              <a:sym typeface="Comfortaa"/>
            </a:endParaRPr>
          </a:p>
        </p:txBody>
      </p:sp>
      <p:sp>
        <p:nvSpPr>
          <p:cNvPr id="322" name="Google Shape;322;p36"/>
          <p:cNvSpPr txBox="1"/>
          <p:nvPr>
            <p:ph idx="1" type="body"/>
          </p:nvPr>
        </p:nvSpPr>
        <p:spPr>
          <a:xfrm>
            <a:off x="311700" y="755700"/>
            <a:ext cx="4260300" cy="423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b="1" lang="en" sz="1600">
                <a:solidFill>
                  <a:schemeClr val="dk1"/>
                </a:solidFill>
                <a:latin typeface="Comfortaa"/>
                <a:ea typeface="Comfortaa"/>
                <a:cs typeface="Comfortaa"/>
                <a:sym typeface="Comfortaa"/>
              </a:rPr>
              <a:t>Informed Consent</a:t>
            </a:r>
            <a:r>
              <a:rPr lang="en" sz="1500">
                <a:solidFill>
                  <a:schemeClr val="dk1"/>
                </a:solidFill>
                <a:latin typeface="Comfortaa Medium"/>
                <a:ea typeface="Comfortaa Medium"/>
                <a:cs typeface="Comfortaa Medium"/>
                <a:sym typeface="Comfortaa Medium"/>
              </a:rPr>
              <a:t> – Participants must know what they are agreeing to and voluntarily participate.</a:t>
            </a:r>
            <a:endParaRPr sz="1500">
              <a:solidFill>
                <a:schemeClr val="dk1"/>
              </a:solidFill>
              <a:latin typeface="Comfortaa Medium"/>
              <a:ea typeface="Comfortaa Medium"/>
              <a:cs typeface="Comfortaa Medium"/>
              <a:sym typeface="Comfortaa Medium"/>
            </a:endParaRPr>
          </a:p>
          <a:p>
            <a:pPr indent="0" lvl="0" marL="0" rtl="0" algn="l">
              <a:lnSpc>
                <a:spcPct val="100000"/>
              </a:lnSpc>
              <a:spcBef>
                <a:spcPts val="0"/>
              </a:spcBef>
              <a:spcAft>
                <a:spcPts val="0"/>
              </a:spcAft>
              <a:buSzPts val="1200"/>
              <a:buNone/>
            </a:pPr>
            <a:r>
              <a:rPr b="1" lang="en" sz="1300">
                <a:solidFill>
                  <a:schemeClr val="accent1"/>
                </a:solidFill>
                <a:latin typeface="Comfortaa"/>
                <a:ea typeface="Comfortaa"/>
                <a:cs typeface="Comfortaa"/>
                <a:sym typeface="Comfortaa"/>
              </a:rPr>
              <a:t>Consentimiento informado</a:t>
            </a:r>
            <a:r>
              <a:rPr lang="en" sz="1300">
                <a:solidFill>
                  <a:schemeClr val="accent1"/>
                </a:solidFill>
                <a:latin typeface="Comfortaa Medium"/>
                <a:ea typeface="Comfortaa Medium"/>
                <a:cs typeface="Comfortaa Medium"/>
                <a:sym typeface="Comfortaa Medium"/>
              </a:rPr>
              <a:t> – Los participantes deben saber en qué se están involucrando y participar voluntariamente.</a:t>
            </a:r>
            <a:endParaRPr sz="1300">
              <a:solidFill>
                <a:schemeClr val="accent1"/>
              </a:solidFill>
              <a:latin typeface="Comfortaa Medium"/>
              <a:ea typeface="Comfortaa Medium"/>
              <a:cs typeface="Comfortaa Medium"/>
              <a:sym typeface="Comfortaa Medium"/>
            </a:endParaRPr>
          </a:p>
          <a:p>
            <a:pPr indent="0" lvl="0" marL="0" rtl="0" algn="l">
              <a:lnSpc>
                <a:spcPct val="100000"/>
              </a:lnSpc>
              <a:spcBef>
                <a:spcPts val="0"/>
              </a:spcBef>
              <a:spcAft>
                <a:spcPts val="0"/>
              </a:spcAft>
              <a:buSzPts val="1200"/>
              <a:buNone/>
            </a:pPr>
            <a:r>
              <a:t/>
            </a:r>
            <a:endParaRPr sz="600">
              <a:solidFill>
                <a:schemeClr val="accent1"/>
              </a:solidFill>
              <a:latin typeface="Comfortaa Medium"/>
              <a:ea typeface="Comfortaa Medium"/>
              <a:cs typeface="Comfortaa Medium"/>
              <a:sym typeface="Comfortaa Medium"/>
            </a:endParaRPr>
          </a:p>
          <a:p>
            <a:pPr indent="0" lvl="0" marL="0" rtl="0" algn="l">
              <a:lnSpc>
                <a:spcPct val="100000"/>
              </a:lnSpc>
              <a:spcBef>
                <a:spcPts val="0"/>
              </a:spcBef>
              <a:spcAft>
                <a:spcPts val="0"/>
              </a:spcAft>
              <a:buSzPts val="1200"/>
              <a:buNone/>
            </a:pPr>
            <a:r>
              <a:rPr b="1" lang="en" sz="1600">
                <a:solidFill>
                  <a:schemeClr val="dk1"/>
                </a:solidFill>
                <a:latin typeface="Comfortaa"/>
                <a:ea typeface="Comfortaa"/>
                <a:cs typeface="Comfortaa"/>
                <a:sym typeface="Comfortaa"/>
              </a:rPr>
              <a:t>Right to Withdraw</a:t>
            </a:r>
            <a:r>
              <a:rPr lang="en" sz="1500">
                <a:solidFill>
                  <a:schemeClr val="dk1"/>
                </a:solidFill>
                <a:latin typeface="Comfortaa Medium"/>
                <a:ea typeface="Comfortaa Medium"/>
                <a:cs typeface="Comfortaa Medium"/>
                <a:sym typeface="Comfortaa Medium"/>
              </a:rPr>
              <a:t> – Participants can leave the study at any time without penalty.</a:t>
            </a:r>
            <a:endParaRPr sz="1500">
              <a:solidFill>
                <a:schemeClr val="dk1"/>
              </a:solidFill>
              <a:latin typeface="Comfortaa Medium"/>
              <a:ea typeface="Comfortaa Medium"/>
              <a:cs typeface="Comfortaa Medium"/>
              <a:sym typeface="Comfortaa Medium"/>
            </a:endParaRPr>
          </a:p>
          <a:p>
            <a:pPr indent="0" lvl="0" marL="0" rtl="0" algn="l">
              <a:lnSpc>
                <a:spcPct val="100000"/>
              </a:lnSpc>
              <a:spcBef>
                <a:spcPts val="0"/>
              </a:spcBef>
              <a:spcAft>
                <a:spcPts val="0"/>
              </a:spcAft>
              <a:buSzPts val="1200"/>
              <a:buNone/>
            </a:pPr>
            <a:r>
              <a:rPr b="1" lang="en" sz="1300">
                <a:solidFill>
                  <a:schemeClr val="accent1"/>
                </a:solidFill>
                <a:latin typeface="Comfortaa"/>
                <a:ea typeface="Comfortaa"/>
                <a:cs typeface="Comfortaa"/>
                <a:sym typeface="Comfortaa"/>
              </a:rPr>
              <a:t>Derecho a retirarse </a:t>
            </a:r>
            <a:r>
              <a:rPr lang="en" sz="1300">
                <a:solidFill>
                  <a:schemeClr val="accent1"/>
                </a:solidFill>
                <a:latin typeface="Comfortaa Medium"/>
                <a:ea typeface="Comfortaa Medium"/>
                <a:cs typeface="Comfortaa Medium"/>
                <a:sym typeface="Comfortaa Medium"/>
              </a:rPr>
              <a:t>– Los participantes pueden abandonar el estudio en cualquier momento sin consecuencias.</a:t>
            </a:r>
            <a:endParaRPr sz="1300">
              <a:solidFill>
                <a:schemeClr val="accent1"/>
              </a:solidFill>
              <a:latin typeface="Comfortaa Medium"/>
              <a:ea typeface="Comfortaa Medium"/>
              <a:cs typeface="Comfortaa Medium"/>
              <a:sym typeface="Comfortaa Medium"/>
            </a:endParaRPr>
          </a:p>
          <a:p>
            <a:pPr indent="0" lvl="0" marL="0" rtl="0" algn="l">
              <a:lnSpc>
                <a:spcPct val="100000"/>
              </a:lnSpc>
              <a:spcBef>
                <a:spcPts val="0"/>
              </a:spcBef>
              <a:spcAft>
                <a:spcPts val="0"/>
              </a:spcAft>
              <a:buSzPts val="1200"/>
              <a:buNone/>
            </a:pPr>
            <a:r>
              <a:t/>
            </a:r>
            <a:endParaRPr sz="600">
              <a:solidFill>
                <a:schemeClr val="accent1"/>
              </a:solidFill>
              <a:latin typeface="Comfortaa Medium"/>
              <a:ea typeface="Comfortaa Medium"/>
              <a:cs typeface="Comfortaa Medium"/>
              <a:sym typeface="Comfortaa Medium"/>
            </a:endParaRPr>
          </a:p>
          <a:p>
            <a:pPr indent="0" lvl="0" marL="0" rtl="0" algn="l">
              <a:lnSpc>
                <a:spcPct val="100000"/>
              </a:lnSpc>
              <a:spcBef>
                <a:spcPts val="0"/>
              </a:spcBef>
              <a:spcAft>
                <a:spcPts val="0"/>
              </a:spcAft>
              <a:buSzPts val="1200"/>
              <a:buNone/>
            </a:pPr>
            <a:r>
              <a:rPr b="1" lang="en" sz="1600">
                <a:solidFill>
                  <a:schemeClr val="dk1"/>
                </a:solidFill>
                <a:latin typeface="Comfortaa"/>
                <a:ea typeface="Comfortaa"/>
                <a:cs typeface="Comfortaa"/>
                <a:sym typeface="Comfortaa"/>
              </a:rPr>
              <a:t>Minimizing Harm</a:t>
            </a:r>
            <a:r>
              <a:rPr lang="en" sz="1500">
                <a:solidFill>
                  <a:schemeClr val="dk1"/>
                </a:solidFill>
                <a:latin typeface="Comfortaa Medium"/>
                <a:ea typeface="Comfortaa Medium"/>
                <a:cs typeface="Comfortaa Medium"/>
                <a:sym typeface="Comfortaa Medium"/>
              </a:rPr>
              <a:t> – Researchers must avoid physical or psychological harm whenever possible.</a:t>
            </a:r>
            <a:endParaRPr sz="1500">
              <a:solidFill>
                <a:schemeClr val="dk1"/>
              </a:solidFill>
              <a:latin typeface="Comfortaa Medium"/>
              <a:ea typeface="Comfortaa Medium"/>
              <a:cs typeface="Comfortaa Medium"/>
              <a:sym typeface="Comfortaa Medium"/>
            </a:endParaRPr>
          </a:p>
          <a:p>
            <a:pPr indent="0" lvl="0" marL="0" rtl="0" algn="l">
              <a:lnSpc>
                <a:spcPct val="100000"/>
              </a:lnSpc>
              <a:spcBef>
                <a:spcPts val="0"/>
              </a:spcBef>
              <a:spcAft>
                <a:spcPts val="0"/>
              </a:spcAft>
              <a:buSzPts val="1200"/>
              <a:buNone/>
            </a:pPr>
            <a:r>
              <a:rPr b="1" lang="en" sz="1300">
                <a:solidFill>
                  <a:schemeClr val="accent1"/>
                </a:solidFill>
                <a:latin typeface="Comfortaa"/>
                <a:ea typeface="Comfortaa"/>
                <a:cs typeface="Comfortaa"/>
                <a:sym typeface="Comfortaa"/>
              </a:rPr>
              <a:t>Minimizar daños</a:t>
            </a:r>
            <a:r>
              <a:rPr lang="en" sz="1300">
                <a:solidFill>
                  <a:schemeClr val="accent1"/>
                </a:solidFill>
                <a:latin typeface="Comfortaa Medium"/>
                <a:ea typeface="Comfortaa Medium"/>
                <a:cs typeface="Comfortaa Medium"/>
                <a:sym typeface="Comfortaa Medium"/>
              </a:rPr>
              <a:t> – Los investigadores deben evitar daños físicos o psicológicos siempre que sea posible.</a:t>
            </a:r>
            <a:endParaRPr sz="1300">
              <a:solidFill>
                <a:schemeClr val="accent1"/>
              </a:solidFill>
              <a:latin typeface="Comfortaa Medium"/>
              <a:ea typeface="Comfortaa Medium"/>
              <a:cs typeface="Comfortaa Medium"/>
              <a:sym typeface="Comfortaa Medium"/>
            </a:endParaRPr>
          </a:p>
          <a:p>
            <a:pPr indent="0" lvl="0" marL="0" rtl="0" algn="l">
              <a:lnSpc>
                <a:spcPct val="100000"/>
              </a:lnSpc>
              <a:spcBef>
                <a:spcPts val="0"/>
              </a:spcBef>
              <a:spcAft>
                <a:spcPts val="0"/>
              </a:spcAft>
              <a:buSzPts val="1200"/>
              <a:buNone/>
            </a:pPr>
            <a:r>
              <a:t/>
            </a:r>
            <a:endParaRPr sz="1300">
              <a:solidFill>
                <a:schemeClr val="accent1"/>
              </a:solidFill>
              <a:latin typeface="Comfortaa Medium"/>
              <a:ea typeface="Comfortaa Medium"/>
              <a:cs typeface="Comfortaa Medium"/>
              <a:sym typeface="Comfortaa Medium"/>
            </a:endParaRPr>
          </a:p>
        </p:txBody>
      </p:sp>
      <p:sp>
        <p:nvSpPr>
          <p:cNvPr id="323" name="Google Shape;323;p36"/>
          <p:cNvSpPr txBox="1"/>
          <p:nvPr/>
        </p:nvSpPr>
        <p:spPr>
          <a:xfrm>
            <a:off x="4572000" y="755700"/>
            <a:ext cx="4459800" cy="4325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n" sz="1600" u="none" cap="none" strike="noStrike">
                <a:solidFill>
                  <a:schemeClr val="dk1"/>
                </a:solidFill>
                <a:latin typeface="Comfortaa"/>
                <a:ea typeface="Comfortaa"/>
                <a:cs typeface="Comfortaa"/>
                <a:sym typeface="Comfortaa"/>
              </a:rPr>
              <a:t>Debriefing</a:t>
            </a:r>
            <a:r>
              <a:rPr b="0" i="0" lang="en" sz="1500" u="none" cap="none" strike="noStrike">
                <a:solidFill>
                  <a:schemeClr val="dk1"/>
                </a:solidFill>
                <a:latin typeface="Comfortaa Medium"/>
                <a:ea typeface="Comfortaa Medium"/>
                <a:cs typeface="Comfortaa Medium"/>
                <a:sym typeface="Comfortaa Medium"/>
              </a:rPr>
              <a:t> – Participants must be fully informed after the study, including any deception used.</a:t>
            </a:r>
            <a:endParaRPr b="0" i="0" sz="1500" u="none" cap="none" strike="noStrike">
              <a:solidFill>
                <a:schemeClr val="dk1"/>
              </a:solidFill>
              <a:latin typeface="Comfortaa Medium"/>
              <a:ea typeface="Comfortaa Medium"/>
              <a:cs typeface="Comfortaa Medium"/>
              <a:sym typeface="Comfortaa Medium"/>
            </a:endParaRPr>
          </a:p>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chemeClr val="accent1"/>
                </a:solidFill>
                <a:latin typeface="Comfortaa"/>
                <a:ea typeface="Comfortaa"/>
                <a:cs typeface="Comfortaa"/>
                <a:sym typeface="Comfortaa"/>
              </a:rPr>
              <a:t>Explicación posterior</a:t>
            </a:r>
            <a:r>
              <a:rPr b="0" i="0" lang="en" sz="1300" u="none" cap="none" strike="noStrike">
                <a:solidFill>
                  <a:schemeClr val="accent1"/>
                </a:solidFill>
                <a:latin typeface="Comfortaa Medium"/>
                <a:ea typeface="Comfortaa Medium"/>
                <a:cs typeface="Comfortaa Medium"/>
                <a:sym typeface="Comfortaa Medium"/>
              </a:rPr>
              <a:t> – Los participantes deben ser informados completamente después del estudio, incluyendo cualquier engaño usado.</a:t>
            </a:r>
            <a:endParaRPr b="0" i="0" sz="1300" u="none" cap="none" strike="noStrike">
              <a:solidFill>
                <a:schemeClr val="accent1"/>
              </a:solidFill>
              <a:latin typeface="Comfortaa Medium"/>
              <a:ea typeface="Comfortaa Medium"/>
              <a:cs typeface="Comfortaa Medium"/>
              <a:sym typeface="Comfortaa Medium"/>
            </a:endParaRPr>
          </a:p>
          <a:p>
            <a:pPr indent="0" lvl="0" marL="0" marR="0" rtl="0" algn="l">
              <a:lnSpc>
                <a:spcPct val="100000"/>
              </a:lnSpc>
              <a:spcBef>
                <a:spcPts val="0"/>
              </a:spcBef>
              <a:spcAft>
                <a:spcPts val="0"/>
              </a:spcAft>
              <a:buClr>
                <a:schemeClr val="dk1"/>
              </a:buClr>
              <a:buSzPts val="1100"/>
              <a:buFont typeface="Arial"/>
              <a:buNone/>
            </a:pPr>
            <a:r>
              <a:t/>
            </a:r>
            <a:endParaRPr b="0" i="0" sz="600" u="none" cap="none" strike="noStrike">
              <a:solidFill>
                <a:schemeClr val="accent1"/>
              </a:solidFill>
              <a:latin typeface="Comfortaa Medium"/>
              <a:ea typeface="Comfortaa Medium"/>
              <a:cs typeface="Comfortaa Medium"/>
              <a:sym typeface="Comfortaa Medium"/>
            </a:endParaRPr>
          </a:p>
          <a:p>
            <a:pPr indent="0" lvl="0" marL="0" marR="0" rtl="0" algn="l">
              <a:lnSpc>
                <a:spcPct val="100000"/>
              </a:lnSpc>
              <a:spcBef>
                <a:spcPts val="0"/>
              </a:spcBef>
              <a:spcAft>
                <a:spcPts val="0"/>
              </a:spcAft>
              <a:buClr>
                <a:schemeClr val="dk1"/>
              </a:buClr>
              <a:buSzPts val="1100"/>
              <a:buFont typeface="Arial"/>
              <a:buNone/>
            </a:pPr>
            <a:r>
              <a:rPr b="1" i="0" lang="en" sz="1600" u="none" cap="none" strike="noStrike">
                <a:solidFill>
                  <a:schemeClr val="dk1"/>
                </a:solidFill>
                <a:latin typeface="Comfortaa"/>
                <a:ea typeface="Comfortaa"/>
                <a:cs typeface="Comfortaa"/>
                <a:sym typeface="Comfortaa"/>
              </a:rPr>
              <a:t>Review Boards</a:t>
            </a:r>
            <a:r>
              <a:rPr b="0" i="0" lang="en" sz="1500" u="none" cap="none" strike="noStrike">
                <a:solidFill>
                  <a:schemeClr val="dk1"/>
                </a:solidFill>
                <a:latin typeface="Comfortaa Medium"/>
                <a:ea typeface="Comfortaa Medium"/>
                <a:cs typeface="Comfortaa Medium"/>
                <a:sym typeface="Comfortaa Medium"/>
              </a:rPr>
              <a:t> – Studies must be approved by an Institutional Review Board (IRB) to ensure ethical standards are met.</a:t>
            </a:r>
            <a:endParaRPr b="0" i="0" sz="1500" u="none" cap="none" strike="noStrike">
              <a:solidFill>
                <a:schemeClr val="dk1"/>
              </a:solidFill>
              <a:latin typeface="Comfortaa Medium"/>
              <a:ea typeface="Comfortaa Medium"/>
              <a:cs typeface="Comfortaa Medium"/>
              <a:sym typeface="Comfortaa Medium"/>
            </a:endParaRPr>
          </a:p>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chemeClr val="accent1"/>
                </a:solidFill>
                <a:latin typeface="Comfortaa"/>
                <a:ea typeface="Comfortaa"/>
                <a:cs typeface="Comfortaa"/>
                <a:sym typeface="Comfortaa"/>
              </a:rPr>
              <a:t>Comités de revisión </a:t>
            </a:r>
            <a:r>
              <a:rPr b="0" i="0" lang="en" sz="1300" u="none" cap="none" strike="noStrike">
                <a:solidFill>
                  <a:schemeClr val="accent1"/>
                </a:solidFill>
                <a:latin typeface="Comfortaa Medium"/>
                <a:ea typeface="Comfortaa Medium"/>
                <a:cs typeface="Comfortaa Medium"/>
                <a:sym typeface="Comfortaa Medium"/>
              </a:rPr>
              <a:t>– Los estudios deben ser aprobados por un Comité de Revisión Institucional para garantizar que cumplan normas éticas.</a:t>
            </a:r>
            <a:endParaRPr b="0" i="0" sz="1300" u="none" cap="none" strike="noStrike">
              <a:solidFill>
                <a:schemeClr val="accent1"/>
              </a:solidFill>
              <a:latin typeface="Comfortaa Medium"/>
              <a:ea typeface="Comfortaa Medium"/>
              <a:cs typeface="Comfortaa Medium"/>
              <a:sym typeface="Comfortaa Medium"/>
            </a:endParaRPr>
          </a:p>
          <a:p>
            <a:pPr indent="0" lvl="0" marL="0" marR="0" rtl="0" algn="l">
              <a:lnSpc>
                <a:spcPct val="100000"/>
              </a:lnSpc>
              <a:spcBef>
                <a:spcPts val="0"/>
              </a:spcBef>
              <a:spcAft>
                <a:spcPts val="0"/>
              </a:spcAft>
              <a:buClr>
                <a:schemeClr val="dk1"/>
              </a:buClr>
              <a:buSzPts val="1100"/>
              <a:buFont typeface="Arial"/>
              <a:buNone/>
            </a:pPr>
            <a:r>
              <a:t/>
            </a:r>
            <a:endParaRPr b="0" i="0" sz="600" u="none" cap="none" strike="noStrike">
              <a:solidFill>
                <a:schemeClr val="accent1"/>
              </a:solidFill>
              <a:latin typeface="Comfortaa Medium"/>
              <a:ea typeface="Comfortaa Medium"/>
              <a:cs typeface="Comfortaa Medium"/>
              <a:sym typeface="Comfortaa Medium"/>
            </a:endParaRPr>
          </a:p>
          <a:p>
            <a:pPr indent="0" lvl="0" marL="0" marR="0" rtl="0" algn="l">
              <a:lnSpc>
                <a:spcPct val="100000"/>
              </a:lnSpc>
              <a:spcBef>
                <a:spcPts val="0"/>
              </a:spcBef>
              <a:spcAft>
                <a:spcPts val="0"/>
              </a:spcAft>
              <a:buClr>
                <a:schemeClr val="dk1"/>
              </a:buClr>
              <a:buSzPts val="1100"/>
              <a:buFont typeface="Arial"/>
              <a:buNone/>
            </a:pPr>
            <a:r>
              <a:rPr b="1" i="0" lang="en" sz="1600" u="none" cap="none" strike="noStrike">
                <a:solidFill>
                  <a:schemeClr val="dk1"/>
                </a:solidFill>
                <a:latin typeface="Comfortaa"/>
                <a:ea typeface="Comfortaa"/>
                <a:cs typeface="Comfortaa"/>
                <a:sym typeface="Comfortaa"/>
              </a:rPr>
              <a:t>Confidentiality</a:t>
            </a:r>
            <a:r>
              <a:rPr b="0" i="0" lang="en" sz="1500" u="none" cap="none" strike="noStrike">
                <a:solidFill>
                  <a:schemeClr val="dk1"/>
                </a:solidFill>
                <a:latin typeface="Comfortaa Medium"/>
                <a:ea typeface="Comfortaa Medium"/>
                <a:cs typeface="Comfortaa Medium"/>
                <a:sym typeface="Comfortaa Medium"/>
              </a:rPr>
              <a:t> – Participants’ identities and data must be protected.</a:t>
            </a:r>
            <a:endParaRPr b="0" i="0" sz="1500" u="none" cap="none" strike="noStrike">
              <a:solidFill>
                <a:schemeClr val="dk1"/>
              </a:solidFill>
              <a:latin typeface="Comfortaa Medium"/>
              <a:ea typeface="Comfortaa Medium"/>
              <a:cs typeface="Comfortaa Medium"/>
              <a:sym typeface="Comfortaa Medium"/>
            </a:endParaRPr>
          </a:p>
          <a:p>
            <a:pPr indent="0" lvl="0" marL="0" marR="0" rtl="0" algn="l">
              <a:lnSpc>
                <a:spcPct val="100000"/>
              </a:lnSpc>
              <a:spcBef>
                <a:spcPts val="0"/>
              </a:spcBef>
              <a:spcAft>
                <a:spcPts val="0"/>
              </a:spcAft>
              <a:buClr>
                <a:schemeClr val="dk1"/>
              </a:buClr>
              <a:buSzPts val="1100"/>
              <a:buFont typeface="Arial"/>
              <a:buNone/>
            </a:pPr>
            <a:r>
              <a:rPr b="1" i="0" lang="en" sz="1300" u="none" cap="none" strike="noStrike">
                <a:solidFill>
                  <a:schemeClr val="accent1"/>
                </a:solidFill>
                <a:latin typeface="Comfortaa"/>
                <a:ea typeface="Comfortaa"/>
                <a:cs typeface="Comfortaa"/>
                <a:sym typeface="Comfortaa"/>
              </a:rPr>
              <a:t>Confidencialidad</a:t>
            </a:r>
            <a:r>
              <a:rPr b="0" i="0" lang="en" sz="1300" u="none" cap="none" strike="noStrike">
                <a:solidFill>
                  <a:schemeClr val="accent1"/>
                </a:solidFill>
                <a:latin typeface="Comfortaa Medium"/>
                <a:ea typeface="Comfortaa Medium"/>
                <a:cs typeface="Comfortaa Medium"/>
                <a:sym typeface="Comfortaa Medium"/>
              </a:rPr>
              <a:t> – Las identidades y datos de los participantes deben protegerse.</a:t>
            </a:r>
            <a:endParaRPr b="0" i="0" sz="1300" u="none" cap="none" strike="noStrike">
              <a:solidFill>
                <a:schemeClr val="accent1"/>
              </a:solidFill>
              <a:latin typeface="Comfortaa Medium"/>
              <a:ea typeface="Comfortaa Medium"/>
              <a:cs typeface="Comfortaa Medium"/>
              <a:sym typeface="Comfortaa Medium"/>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2"/>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
          <p:cNvSpPr txBox="1"/>
          <p:nvPr>
            <p:ph type="ctrTitle"/>
          </p:nvPr>
        </p:nvSpPr>
        <p:spPr>
          <a:xfrm>
            <a:off x="311700" y="608825"/>
            <a:ext cx="8520600" cy="9132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 sz="4400"/>
              <a:t>How does psychology get done?</a:t>
            </a:r>
            <a:endParaRPr sz="4400"/>
          </a:p>
        </p:txBody>
      </p:sp>
      <p:pic>
        <p:nvPicPr>
          <p:cNvPr id="329" name="Google Shape;329;p2"/>
          <p:cNvPicPr preferRelativeResize="0"/>
          <p:nvPr/>
        </p:nvPicPr>
        <p:blipFill rotWithShape="1">
          <a:blip r:embed="rId3">
            <a:alphaModFix/>
          </a:blip>
          <a:srcRect b="11473" l="0" r="0" t="0"/>
          <a:stretch/>
        </p:blipFill>
        <p:spPr>
          <a:xfrm>
            <a:off x="2314575" y="1843099"/>
            <a:ext cx="4514850" cy="31114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
          <p:cNvSpPr txBox="1"/>
          <p:nvPr/>
        </p:nvSpPr>
        <p:spPr>
          <a:xfrm>
            <a:off x="288350" y="353475"/>
            <a:ext cx="6836400" cy="400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Comfortaa"/>
                <a:ea typeface="Comfortaa"/>
                <a:cs typeface="Comfortaa"/>
                <a:sym typeface="Comfortaa"/>
              </a:rPr>
              <a:t>Parts of a controlled experiment:</a:t>
            </a:r>
            <a:endParaRPr b="1" i="0" sz="25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accent1"/>
                </a:solidFill>
                <a:latin typeface="Comfortaa"/>
                <a:ea typeface="Comfortaa"/>
                <a:cs typeface="Comfortaa"/>
                <a:sym typeface="Comfortaa"/>
              </a:rPr>
              <a:t>Partes de un experimento controlado:</a:t>
            </a:r>
            <a:endParaRPr b="1" i="0" sz="1800" u="none" cap="none" strike="noStrike">
              <a:solidFill>
                <a:schemeClr val="accent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chemeClr val="dk1"/>
              </a:solidFill>
              <a:latin typeface="Comfortaa"/>
              <a:ea typeface="Comfortaa"/>
              <a:cs typeface="Comfortaa"/>
              <a:sym typeface="Comfortaa"/>
            </a:endParaRPr>
          </a:p>
          <a:p>
            <a:pPr indent="-342900" lvl="0" marL="457200" marR="0" rtl="0" algn="l">
              <a:lnSpc>
                <a:spcPct val="100000"/>
              </a:lnSpc>
              <a:spcBef>
                <a:spcPts val="0"/>
              </a:spcBef>
              <a:spcAft>
                <a:spcPts val="0"/>
              </a:spcAft>
              <a:buClr>
                <a:schemeClr val="dk1"/>
              </a:buClr>
              <a:buSzPts val="1800"/>
              <a:buFont typeface="Comfortaa"/>
              <a:buChar char="●"/>
            </a:pPr>
            <a:r>
              <a:rPr b="0" i="0" lang="en" sz="1800" u="none" cap="none" strike="noStrike">
                <a:solidFill>
                  <a:schemeClr val="dk1"/>
                </a:solidFill>
                <a:latin typeface="Comfortaa"/>
                <a:ea typeface="Comfortaa"/>
                <a:cs typeface="Comfortaa"/>
                <a:sym typeface="Comfortaa"/>
              </a:rPr>
              <a:t>Hypothesis </a:t>
            </a:r>
            <a:r>
              <a:rPr b="0" i="0" lang="en" sz="1800" u="none" cap="none" strike="noStrike">
                <a:solidFill>
                  <a:schemeClr val="accent1"/>
                </a:solidFill>
                <a:latin typeface="Comfortaa"/>
                <a:ea typeface="Comfortaa"/>
                <a:cs typeface="Comfortaa"/>
                <a:sym typeface="Comfortaa"/>
              </a:rPr>
              <a:t>(Hipótesis)</a:t>
            </a:r>
            <a:endParaRPr b="0" i="0" sz="1800" u="none" cap="none" strike="noStrike">
              <a:solidFill>
                <a:schemeClr val="accent1"/>
              </a:solidFill>
              <a:latin typeface="Comfortaa"/>
              <a:ea typeface="Comfortaa"/>
              <a:cs typeface="Comfortaa"/>
              <a:sym typeface="Comfortaa"/>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mfortaa"/>
              <a:ea typeface="Comfortaa"/>
              <a:cs typeface="Comfortaa"/>
              <a:sym typeface="Comfortaa"/>
            </a:endParaRPr>
          </a:p>
          <a:p>
            <a:pPr indent="-342900" lvl="0" marL="457200" marR="0" rtl="0" algn="l">
              <a:lnSpc>
                <a:spcPct val="100000"/>
              </a:lnSpc>
              <a:spcBef>
                <a:spcPts val="0"/>
              </a:spcBef>
              <a:spcAft>
                <a:spcPts val="0"/>
              </a:spcAft>
              <a:buClr>
                <a:schemeClr val="dk1"/>
              </a:buClr>
              <a:buSzPts val="1800"/>
              <a:buFont typeface="Comfortaa"/>
              <a:buChar char="●"/>
            </a:pPr>
            <a:r>
              <a:rPr b="0" i="0" lang="en" sz="1800" u="none" cap="none" strike="noStrike">
                <a:solidFill>
                  <a:schemeClr val="dk1"/>
                </a:solidFill>
                <a:latin typeface="Comfortaa"/>
                <a:ea typeface="Comfortaa"/>
                <a:cs typeface="Comfortaa"/>
                <a:sym typeface="Comfortaa"/>
              </a:rPr>
              <a:t>Independent variable </a:t>
            </a:r>
            <a:r>
              <a:rPr b="0" i="0" lang="en" sz="1800" u="none" cap="none" strike="noStrike">
                <a:solidFill>
                  <a:schemeClr val="accent1"/>
                </a:solidFill>
                <a:latin typeface="Comfortaa"/>
                <a:ea typeface="Comfortaa"/>
                <a:cs typeface="Comfortaa"/>
                <a:sym typeface="Comfortaa"/>
              </a:rPr>
              <a:t>(Variable independiente)</a:t>
            </a:r>
            <a:endParaRPr b="0" i="0" sz="1800" u="none" cap="none" strike="noStrike">
              <a:solidFill>
                <a:schemeClr val="accent1"/>
              </a:solidFill>
              <a:latin typeface="Comfortaa"/>
              <a:ea typeface="Comfortaa"/>
              <a:cs typeface="Comfortaa"/>
              <a:sym typeface="Comfortaa"/>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mfortaa"/>
              <a:ea typeface="Comfortaa"/>
              <a:cs typeface="Comfortaa"/>
              <a:sym typeface="Comfortaa"/>
            </a:endParaRPr>
          </a:p>
          <a:p>
            <a:pPr indent="-342900" lvl="0" marL="457200" marR="0" rtl="0" algn="l">
              <a:lnSpc>
                <a:spcPct val="100000"/>
              </a:lnSpc>
              <a:spcBef>
                <a:spcPts val="0"/>
              </a:spcBef>
              <a:spcAft>
                <a:spcPts val="0"/>
              </a:spcAft>
              <a:buClr>
                <a:schemeClr val="dk1"/>
              </a:buClr>
              <a:buSzPts val="1800"/>
              <a:buFont typeface="Comfortaa"/>
              <a:buChar char="●"/>
            </a:pPr>
            <a:r>
              <a:rPr b="0" i="0" lang="en" sz="1800" u="none" cap="none" strike="noStrike">
                <a:solidFill>
                  <a:schemeClr val="dk1"/>
                </a:solidFill>
                <a:latin typeface="Comfortaa"/>
                <a:ea typeface="Comfortaa"/>
                <a:cs typeface="Comfortaa"/>
                <a:sym typeface="Comfortaa"/>
              </a:rPr>
              <a:t>Dependent variable </a:t>
            </a:r>
            <a:r>
              <a:rPr b="0" i="0" lang="en" sz="1800" u="none" cap="none" strike="noStrike">
                <a:solidFill>
                  <a:schemeClr val="accent1"/>
                </a:solidFill>
                <a:latin typeface="Comfortaa"/>
                <a:ea typeface="Comfortaa"/>
                <a:cs typeface="Comfortaa"/>
                <a:sym typeface="Comfortaa"/>
              </a:rPr>
              <a:t>(Variable dependiente)</a:t>
            </a:r>
            <a:endParaRPr b="0" i="0" sz="1800" u="none" cap="none" strike="noStrike">
              <a:solidFill>
                <a:schemeClr val="accent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mfortaa"/>
              <a:ea typeface="Comfortaa"/>
              <a:cs typeface="Comfortaa"/>
              <a:sym typeface="Comfortaa"/>
            </a:endParaRPr>
          </a:p>
          <a:p>
            <a:pPr indent="-342900" lvl="0" marL="457200" marR="0" rtl="0" algn="l">
              <a:lnSpc>
                <a:spcPct val="100000"/>
              </a:lnSpc>
              <a:spcBef>
                <a:spcPts val="0"/>
              </a:spcBef>
              <a:spcAft>
                <a:spcPts val="0"/>
              </a:spcAft>
              <a:buClr>
                <a:schemeClr val="dk1"/>
              </a:buClr>
              <a:buSzPts val="1800"/>
              <a:buFont typeface="Comfortaa"/>
              <a:buChar char="●"/>
            </a:pPr>
            <a:r>
              <a:rPr b="0" i="0" lang="en" sz="1800" u="none" cap="none" strike="noStrike">
                <a:solidFill>
                  <a:schemeClr val="dk1"/>
                </a:solidFill>
                <a:latin typeface="Comfortaa"/>
                <a:ea typeface="Comfortaa"/>
                <a:cs typeface="Comfortaa"/>
                <a:sym typeface="Comfortaa"/>
              </a:rPr>
              <a:t>Confounding variables </a:t>
            </a:r>
            <a:r>
              <a:rPr b="0" i="0" lang="en" sz="1800" u="none" cap="none" strike="noStrike">
                <a:solidFill>
                  <a:schemeClr val="accent1"/>
                </a:solidFill>
                <a:latin typeface="Comfortaa"/>
                <a:ea typeface="Comfortaa"/>
                <a:cs typeface="Comfortaa"/>
                <a:sym typeface="Comfortaa"/>
              </a:rPr>
              <a:t>(Variables de confusión)</a:t>
            </a:r>
            <a:endParaRPr b="0" i="0" sz="1800" u="none" cap="none" strike="noStrike">
              <a:solidFill>
                <a:schemeClr val="accent1"/>
              </a:solidFill>
              <a:latin typeface="Comfortaa"/>
              <a:ea typeface="Comfortaa"/>
              <a:cs typeface="Comfortaa"/>
              <a:sym typeface="Comfortaa"/>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mfortaa"/>
              <a:ea typeface="Comfortaa"/>
              <a:cs typeface="Comfortaa"/>
              <a:sym typeface="Comfortaa"/>
            </a:endParaRPr>
          </a:p>
          <a:p>
            <a:pPr indent="-342900" lvl="0" marL="457200" marR="0" rtl="0" algn="l">
              <a:lnSpc>
                <a:spcPct val="100000"/>
              </a:lnSpc>
              <a:spcBef>
                <a:spcPts val="0"/>
              </a:spcBef>
              <a:spcAft>
                <a:spcPts val="0"/>
              </a:spcAft>
              <a:buClr>
                <a:schemeClr val="dk1"/>
              </a:buClr>
              <a:buSzPts val="1800"/>
              <a:buFont typeface="Comfortaa"/>
              <a:buChar char="●"/>
            </a:pPr>
            <a:r>
              <a:rPr b="0" i="0" lang="en" sz="1800" u="none" cap="none" strike="noStrike">
                <a:solidFill>
                  <a:schemeClr val="dk1"/>
                </a:solidFill>
                <a:latin typeface="Comfortaa"/>
                <a:ea typeface="Comfortaa"/>
                <a:cs typeface="Comfortaa"/>
                <a:sym typeface="Comfortaa"/>
              </a:rPr>
              <a:t>Control group </a:t>
            </a:r>
            <a:r>
              <a:rPr b="0" i="0" lang="en" sz="1800" u="none" cap="none" strike="noStrike">
                <a:solidFill>
                  <a:schemeClr val="accent1"/>
                </a:solidFill>
                <a:latin typeface="Comfortaa"/>
                <a:ea typeface="Comfortaa"/>
                <a:cs typeface="Comfortaa"/>
                <a:sym typeface="Comfortaa"/>
              </a:rPr>
              <a:t>(Grupo de control)</a:t>
            </a:r>
            <a:endParaRPr b="0" i="0" sz="1800" u="none" cap="none" strike="noStrike">
              <a:solidFill>
                <a:schemeClr val="accent1"/>
              </a:solidFill>
              <a:latin typeface="Comfortaa"/>
              <a:ea typeface="Comfortaa"/>
              <a:cs typeface="Comfortaa"/>
              <a:sym typeface="Comfortaa"/>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mfortaa"/>
              <a:ea typeface="Comfortaa"/>
              <a:cs typeface="Comfortaa"/>
              <a:sym typeface="Comfortaa"/>
            </a:endParaRPr>
          </a:p>
        </p:txBody>
      </p:sp>
      <p:pic>
        <p:nvPicPr>
          <p:cNvPr descr="Creative Bulb with Brain Logo Design Template. (Provided by Getty Images)" id="335" name="Google Shape;335;p3"/>
          <p:cNvPicPr preferRelativeResize="0"/>
          <p:nvPr/>
        </p:nvPicPr>
        <p:blipFill rotWithShape="1">
          <a:blip r:embed="rId3">
            <a:alphaModFix/>
          </a:blip>
          <a:srcRect b="0" l="27987" r="-1733" t="21765"/>
          <a:stretch/>
        </p:blipFill>
        <p:spPr>
          <a:xfrm>
            <a:off x="6492250" y="2171700"/>
            <a:ext cx="2585677" cy="2743199"/>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
          <p:cNvSpPr txBox="1"/>
          <p:nvPr/>
        </p:nvSpPr>
        <p:spPr>
          <a:xfrm>
            <a:off x="97600" y="74450"/>
            <a:ext cx="8245500" cy="93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Comfortaa"/>
                <a:ea typeface="Comfortaa"/>
                <a:cs typeface="Comfortaa"/>
                <a:sym typeface="Comfortaa"/>
              </a:rPr>
              <a:t>Define the variables: </a:t>
            </a:r>
            <a:r>
              <a:rPr b="1" i="0" lang="en" sz="1700" u="none" cap="none" strike="noStrike">
                <a:solidFill>
                  <a:schemeClr val="dk1"/>
                </a:solidFill>
                <a:latin typeface="Comfortaa"/>
                <a:ea typeface="Comfortaa"/>
                <a:cs typeface="Comfortaa"/>
                <a:sym typeface="Comfortaa"/>
              </a:rPr>
              <a:t>independent, dependent, confounding</a:t>
            </a:r>
            <a:endParaRPr b="1" i="0" sz="17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chemeClr val="accent1"/>
                </a:solidFill>
                <a:latin typeface="Comfortaa"/>
                <a:ea typeface="Comfortaa"/>
                <a:cs typeface="Comfortaa"/>
                <a:sym typeface="Comfortaa"/>
              </a:rPr>
              <a:t>Define las variables: independiente, dependiente y de confusión</a:t>
            </a:r>
            <a:endParaRPr b="1" i="0" sz="1700" u="none" cap="none" strike="noStrike">
              <a:solidFill>
                <a:schemeClr val="accent1"/>
              </a:solidFill>
              <a:latin typeface="Comfortaa"/>
              <a:ea typeface="Comfortaa"/>
              <a:cs typeface="Comfortaa"/>
              <a:sym typeface="Comfortaa"/>
            </a:endParaRPr>
          </a:p>
        </p:txBody>
      </p:sp>
      <p:sp>
        <p:nvSpPr>
          <p:cNvPr id="341" name="Google Shape;341;p4"/>
          <p:cNvSpPr txBox="1"/>
          <p:nvPr/>
        </p:nvSpPr>
        <p:spPr>
          <a:xfrm>
            <a:off x="213350" y="882450"/>
            <a:ext cx="8724900" cy="4179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chemeClr val="dk1"/>
              </a:buClr>
              <a:buSzPts val="1100"/>
              <a:buFont typeface="Arial"/>
              <a:buNone/>
            </a:pPr>
            <a:r>
              <a:rPr b="0" i="0" lang="en" sz="1400" u="none" cap="none" strike="noStrike">
                <a:solidFill>
                  <a:schemeClr val="dk1"/>
                </a:solidFill>
                <a:latin typeface="Comfortaa"/>
                <a:ea typeface="Comfortaa"/>
                <a:cs typeface="Comfortaa"/>
                <a:sym typeface="Comfortaa"/>
              </a:rPr>
              <a:t>A public health researcher wants to determine whether daily coffee consumption affects resting heart rate in adults. To test this, the researcher recruits 100 adults between the ages of 25 and 50. For two weeks, participants are assigned to one of two groups:</a:t>
            </a:r>
            <a:endParaRPr b="0" i="0" sz="1400" u="none" cap="none" strike="noStrike">
              <a:solidFill>
                <a:schemeClr val="dk1"/>
              </a:solidFill>
              <a:latin typeface="Comfortaa"/>
              <a:ea typeface="Comfortaa"/>
              <a:cs typeface="Comfortaa"/>
              <a:sym typeface="Comfortaa"/>
            </a:endParaRPr>
          </a:p>
          <a:p>
            <a:pPr indent="-317500" lvl="0" marL="457200" marR="0" rtl="0" algn="l">
              <a:lnSpc>
                <a:spcPct val="115000"/>
              </a:lnSpc>
              <a:spcBef>
                <a:spcPts val="1200"/>
              </a:spcBef>
              <a:spcAft>
                <a:spcPts val="0"/>
              </a:spcAft>
              <a:buClr>
                <a:schemeClr val="dk1"/>
              </a:buClr>
              <a:buSzPts val="1400"/>
              <a:buFont typeface="Arial"/>
              <a:buChar char="●"/>
            </a:pPr>
            <a:r>
              <a:rPr b="0" i="0" lang="en" sz="1400" u="none" cap="none" strike="noStrike">
                <a:solidFill>
                  <a:schemeClr val="dk1"/>
                </a:solidFill>
                <a:latin typeface="Comfortaa"/>
                <a:ea typeface="Comfortaa"/>
                <a:cs typeface="Comfortaa"/>
                <a:sym typeface="Comfortaa"/>
              </a:rPr>
              <a:t>Group A drinks two cups of coffee per day</a:t>
            </a:r>
            <a:endParaRPr b="0" i="0" sz="1400" u="none" cap="none" strike="noStrike">
              <a:solidFill>
                <a:schemeClr val="dk1"/>
              </a:solidFill>
              <a:latin typeface="Comfortaa"/>
              <a:ea typeface="Comfortaa"/>
              <a:cs typeface="Comfortaa"/>
              <a:sym typeface="Comfortaa"/>
            </a:endParaRPr>
          </a:p>
          <a:p>
            <a:pPr indent="-317500" lvl="0" marL="457200" marR="0" rtl="0" algn="l">
              <a:lnSpc>
                <a:spcPct val="115000"/>
              </a:lnSpc>
              <a:spcBef>
                <a:spcPts val="0"/>
              </a:spcBef>
              <a:spcAft>
                <a:spcPts val="0"/>
              </a:spcAft>
              <a:buClr>
                <a:schemeClr val="dk1"/>
              </a:buClr>
              <a:buSzPts val="1400"/>
              <a:buFont typeface="Arial"/>
              <a:buChar char="●"/>
            </a:pPr>
            <a:r>
              <a:rPr b="0" i="0" lang="en" sz="1400" u="none" cap="none" strike="noStrike">
                <a:solidFill>
                  <a:schemeClr val="dk1"/>
                </a:solidFill>
                <a:latin typeface="Comfortaa"/>
                <a:ea typeface="Comfortaa"/>
                <a:cs typeface="Comfortaa"/>
                <a:sym typeface="Comfortaa"/>
              </a:rPr>
              <a:t>Group B drinks no coffee</a:t>
            </a:r>
            <a:endParaRPr b="0" i="0" sz="1400" u="none" cap="none" strike="noStrike">
              <a:solidFill>
                <a:srgbClr val="FF0000"/>
              </a:solidFill>
              <a:latin typeface="Comfortaa"/>
              <a:ea typeface="Comfortaa"/>
              <a:cs typeface="Comfortaa"/>
              <a:sym typeface="Comfortaa"/>
            </a:endParaRPr>
          </a:p>
          <a:p>
            <a:pPr indent="0" lvl="0" marL="0" marR="0" rtl="0" algn="l">
              <a:lnSpc>
                <a:spcPct val="115000"/>
              </a:lnSpc>
              <a:spcBef>
                <a:spcPts val="1200"/>
              </a:spcBef>
              <a:spcAft>
                <a:spcPts val="0"/>
              </a:spcAft>
              <a:buClr>
                <a:schemeClr val="dk1"/>
              </a:buClr>
              <a:buSzPts val="1100"/>
              <a:buFont typeface="Arial"/>
              <a:buNone/>
            </a:pPr>
            <a:r>
              <a:rPr b="0" i="0" lang="en" sz="1400" u="none" cap="none" strike="noStrike">
                <a:solidFill>
                  <a:schemeClr val="dk1"/>
                </a:solidFill>
                <a:latin typeface="Comfortaa"/>
                <a:ea typeface="Comfortaa"/>
                <a:cs typeface="Comfortaa"/>
                <a:sym typeface="Comfortaa"/>
              </a:rPr>
              <a:t>At the end of the two-week period, each participant’s resting heart rate is measured in the morning. The researcher then compares the average resting heart rate between the two groups to see whether coffee consumption has an effect.</a:t>
            </a:r>
            <a:endParaRPr b="0" i="0" sz="1400" u="none" cap="none" strike="noStrike">
              <a:solidFill>
                <a:schemeClr val="dk1"/>
              </a:solidFill>
              <a:latin typeface="Comfortaa"/>
              <a:ea typeface="Comfortaa"/>
              <a:cs typeface="Comfortaa"/>
              <a:sym typeface="Comfortaa"/>
            </a:endParaRPr>
          </a:p>
          <a:p>
            <a:pPr indent="0" lvl="0" marL="0" marR="0" rtl="0" algn="l">
              <a:lnSpc>
                <a:spcPct val="115000"/>
              </a:lnSpc>
              <a:spcBef>
                <a:spcPts val="1200"/>
              </a:spcBef>
              <a:spcAft>
                <a:spcPts val="0"/>
              </a:spcAft>
              <a:buClr>
                <a:schemeClr val="dk1"/>
              </a:buClr>
              <a:buSzPts val="1100"/>
              <a:buFont typeface="Arial"/>
              <a:buNone/>
            </a:pPr>
            <a:r>
              <a:rPr b="0" i="0" lang="en" sz="1300" u="none" cap="none" strike="noStrike">
                <a:solidFill>
                  <a:schemeClr val="accent1"/>
                </a:solidFill>
                <a:latin typeface="Comfortaa"/>
                <a:ea typeface="Comfortaa"/>
                <a:cs typeface="Comfortaa"/>
                <a:sym typeface="Comfortaa"/>
              </a:rPr>
              <a:t>Un investigador de salud pública quiere determinar si el consumo diario de café afecta la frecuencia cardíaca en reposo en adultos. Para probar esto, el investigador recluta a 100 adultos entre 25 y 50 años. Durante dos semanas, los participantes se asignan a uno de dos grupos:</a:t>
            </a:r>
            <a:endParaRPr b="0" i="0" sz="1300" u="none" cap="none" strike="noStrike">
              <a:solidFill>
                <a:schemeClr val="accent1"/>
              </a:solidFill>
              <a:latin typeface="Comfortaa"/>
              <a:ea typeface="Comfortaa"/>
              <a:cs typeface="Comfortaa"/>
              <a:sym typeface="Comfortaa"/>
            </a:endParaRPr>
          </a:p>
          <a:p>
            <a:pPr indent="-311150" lvl="0" marL="457200" marR="0" rtl="0" algn="l">
              <a:lnSpc>
                <a:spcPct val="100000"/>
              </a:lnSpc>
              <a:spcBef>
                <a:spcPts val="0"/>
              </a:spcBef>
              <a:spcAft>
                <a:spcPts val="0"/>
              </a:spcAft>
              <a:buClr>
                <a:schemeClr val="accent1"/>
              </a:buClr>
              <a:buSzPts val="1300"/>
              <a:buFont typeface="Comfortaa"/>
              <a:buChar char="●"/>
            </a:pPr>
            <a:r>
              <a:rPr b="0" i="0" lang="en" sz="1300" u="none" cap="none" strike="noStrike">
                <a:solidFill>
                  <a:schemeClr val="accent1"/>
                </a:solidFill>
                <a:latin typeface="Comfortaa"/>
                <a:ea typeface="Comfortaa"/>
                <a:cs typeface="Comfortaa"/>
                <a:sym typeface="Comfortaa"/>
              </a:rPr>
              <a:t>Grupo A: bebe dos tazas de café al día, Grupo B: no bebe café</a:t>
            </a:r>
            <a:endParaRPr b="0" i="0" sz="1300" u="none" cap="none" strike="noStrike">
              <a:solidFill>
                <a:schemeClr val="accent1"/>
              </a:solidFill>
              <a:latin typeface="Comfortaa"/>
              <a:ea typeface="Comfortaa"/>
              <a:cs typeface="Comfortaa"/>
              <a:sym typeface="Comfortaa"/>
            </a:endParaRPr>
          </a:p>
          <a:p>
            <a:pPr indent="0" lvl="0" marL="0" marR="0" rtl="0" algn="l">
              <a:lnSpc>
                <a:spcPct val="115000"/>
              </a:lnSpc>
              <a:spcBef>
                <a:spcPts val="0"/>
              </a:spcBef>
              <a:spcAft>
                <a:spcPts val="0"/>
              </a:spcAft>
              <a:buClr>
                <a:schemeClr val="dk1"/>
              </a:buClr>
              <a:buSzPts val="1100"/>
              <a:buFont typeface="Arial"/>
              <a:buNone/>
            </a:pPr>
            <a:r>
              <a:rPr b="0" i="0" lang="en" sz="1300" u="none" cap="none" strike="noStrike">
                <a:solidFill>
                  <a:schemeClr val="accent1"/>
                </a:solidFill>
                <a:latin typeface="Comfortaa"/>
                <a:ea typeface="Comfortaa"/>
                <a:cs typeface="Comfortaa"/>
                <a:sym typeface="Comfortaa"/>
              </a:rPr>
              <a:t>Al final del período de dos semanas, se mide la frecuencia cardíaca en reposo de cada participante por la mañana. Luego, el investigador compara la frecuencia cardíaca en reposo promedio entre los dos grupos para determinar si el consumo de café tiene algún efecto.</a:t>
            </a:r>
            <a:endParaRPr b="0" i="0" sz="2000" u="none" cap="none" strike="noStrike">
              <a:solidFill>
                <a:schemeClr val="dk2"/>
              </a:solidFill>
              <a:latin typeface="Comfortaa"/>
              <a:ea typeface="Comfortaa"/>
              <a:cs typeface="Comfortaa"/>
              <a:sym typeface="Comfortaa"/>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
          <p:cNvSpPr txBox="1"/>
          <p:nvPr>
            <p:ph type="title"/>
          </p:nvPr>
        </p:nvSpPr>
        <p:spPr>
          <a:xfrm>
            <a:off x="206375" y="861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latin typeface="Comfortaa"/>
                <a:ea typeface="Comfortaa"/>
                <a:cs typeface="Comfortaa"/>
                <a:sym typeface="Comfortaa"/>
              </a:rPr>
              <a:t>Measurements in psychology experiments</a:t>
            </a:r>
            <a:endParaRPr b="1">
              <a:latin typeface="Comfortaa"/>
              <a:ea typeface="Comfortaa"/>
              <a:cs typeface="Comfortaa"/>
              <a:sym typeface="Comfortaa"/>
            </a:endParaRPr>
          </a:p>
          <a:p>
            <a:pPr indent="0" lvl="0" marL="0" rtl="0" algn="l">
              <a:lnSpc>
                <a:spcPct val="100000"/>
              </a:lnSpc>
              <a:spcBef>
                <a:spcPts val="0"/>
              </a:spcBef>
              <a:spcAft>
                <a:spcPts val="0"/>
              </a:spcAft>
              <a:buSzPct val="153863"/>
              <a:buNone/>
            </a:pPr>
            <a:r>
              <a:rPr b="1" lang="en" sz="2022">
                <a:solidFill>
                  <a:schemeClr val="accent1"/>
                </a:solidFill>
                <a:latin typeface="Comfortaa"/>
                <a:ea typeface="Comfortaa"/>
                <a:cs typeface="Comfortaa"/>
                <a:sym typeface="Comfortaa"/>
              </a:rPr>
              <a:t>Mediciones en experimentos de psicología</a:t>
            </a:r>
            <a:endParaRPr b="1" sz="2022">
              <a:solidFill>
                <a:schemeClr val="accent1"/>
              </a:solidFill>
              <a:latin typeface="Comfortaa"/>
              <a:ea typeface="Comfortaa"/>
              <a:cs typeface="Comfortaa"/>
              <a:sym typeface="Comfortaa"/>
            </a:endParaRPr>
          </a:p>
        </p:txBody>
      </p:sp>
      <p:sp>
        <p:nvSpPr>
          <p:cNvPr id="347" name="Google Shape;347;p5"/>
          <p:cNvSpPr txBox="1"/>
          <p:nvPr>
            <p:ph idx="1" type="body"/>
          </p:nvPr>
        </p:nvSpPr>
        <p:spPr>
          <a:xfrm>
            <a:off x="267325" y="917925"/>
            <a:ext cx="2534700" cy="712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ctr">
              <a:lnSpc>
                <a:spcPct val="115000"/>
              </a:lnSpc>
              <a:spcBef>
                <a:spcPts val="0"/>
              </a:spcBef>
              <a:spcAft>
                <a:spcPts val="0"/>
              </a:spcAft>
              <a:buSzPct val="100000"/>
              <a:buNone/>
            </a:pPr>
            <a:r>
              <a:rPr lang="en" sz="7200">
                <a:solidFill>
                  <a:schemeClr val="dk1"/>
                </a:solidFill>
                <a:latin typeface="Comfortaa"/>
                <a:ea typeface="Comfortaa"/>
                <a:cs typeface="Comfortaa"/>
                <a:sym typeface="Comfortaa"/>
              </a:rPr>
              <a:t>Brain recordings</a:t>
            </a:r>
            <a:endParaRPr sz="7200">
              <a:solidFill>
                <a:schemeClr val="dk1"/>
              </a:solidFill>
              <a:latin typeface="Comfortaa"/>
              <a:ea typeface="Comfortaa"/>
              <a:cs typeface="Comfortaa"/>
              <a:sym typeface="Comfortaa"/>
            </a:endParaRPr>
          </a:p>
          <a:p>
            <a:pPr indent="0" lvl="0" marL="0" rtl="0" algn="ctr">
              <a:lnSpc>
                <a:spcPct val="115000"/>
              </a:lnSpc>
              <a:spcBef>
                <a:spcPts val="0"/>
              </a:spcBef>
              <a:spcAft>
                <a:spcPts val="0"/>
              </a:spcAft>
              <a:buSzPct val="112500"/>
              <a:buNone/>
            </a:pPr>
            <a:r>
              <a:rPr lang="en" sz="6400">
                <a:solidFill>
                  <a:schemeClr val="accent1"/>
                </a:solidFill>
                <a:latin typeface="Comfortaa"/>
                <a:ea typeface="Comfortaa"/>
                <a:cs typeface="Comfortaa"/>
                <a:sym typeface="Comfortaa"/>
              </a:rPr>
              <a:t>Registros cerebrales</a:t>
            </a:r>
            <a:endParaRPr sz="6400">
              <a:solidFill>
                <a:schemeClr val="accent1"/>
              </a:solidFill>
              <a:latin typeface="Comfortaa"/>
              <a:ea typeface="Comfortaa"/>
              <a:cs typeface="Comfortaa"/>
              <a:sym typeface="Comfortaa"/>
            </a:endParaRPr>
          </a:p>
          <a:p>
            <a:pPr indent="0" lvl="0" marL="0" rtl="0" algn="ctr">
              <a:lnSpc>
                <a:spcPct val="115000"/>
              </a:lnSpc>
              <a:spcBef>
                <a:spcPts val="1200"/>
              </a:spcBef>
              <a:spcAft>
                <a:spcPts val="1200"/>
              </a:spcAft>
              <a:buSzPts val="1800"/>
              <a:buNone/>
            </a:pPr>
            <a:r>
              <a:t/>
            </a:r>
            <a:endParaRPr>
              <a:solidFill>
                <a:schemeClr val="dk1"/>
              </a:solidFill>
              <a:latin typeface="Comfortaa"/>
              <a:ea typeface="Comfortaa"/>
              <a:cs typeface="Comfortaa"/>
              <a:sym typeface="Comfortaa"/>
            </a:endParaRPr>
          </a:p>
        </p:txBody>
      </p:sp>
      <p:pic>
        <p:nvPicPr>
          <p:cNvPr id="348" name="Google Shape;348;p5"/>
          <p:cNvPicPr preferRelativeResize="0"/>
          <p:nvPr/>
        </p:nvPicPr>
        <p:blipFill rotWithShape="1">
          <a:blip r:embed="rId3">
            <a:alphaModFix/>
          </a:blip>
          <a:srcRect b="0" l="0" r="43905" t="0"/>
          <a:stretch/>
        </p:blipFill>
        <p:spPr>
          <a:xfrm>
            <a:off x="696701" y="1721174"/>
            <a:ext cx="1602684" cy="1495226"/>
          </a:xfrm>
          <a:prstGeom prst="rect">
            <a:avLst/>
          </a:prstGeom>
          <a:noFill/>
          <a:ln>
            <a:noFill/>
          </a:ln>
        </p:spPr>
      </p:pic>
      <p:pic>
        <p:nvPicPr>
          <p:cNvPr id="349" name="Google Shape;349;p5"/>
          <p:cNvPicPr preferRelativeResize="0"/>
          <p:nvPr/>
        </p:nvPicPr>
        <p:blipFill rotWithShape="1">
          <a:blip r:embed="rId4">
            <a:alphaModFix/>
          </a:blip>
          <a:srcRect b="23528" l="25937" r="0" t="12064"/>
          <a:stretch/>
        </p:blipFill>
        <p:spPr>
          <a:xfrm>
            <a:off x="3049388" y="1436313"/>
            <a:ext cx="2834575" cy="1495250"/>
          </a:xfrm>
          <a:prstGeom prst="rect">
            <a:avLst/>
          </a:prstGeom>
          <a:noFill/>
          <a:ln>
            <a:noFill/>
          </a:ln>
        </p:spPr>
      </p:pic>
      <p:pic>
        <p:nvPicPr>
          <p:cNvPr id="350" name="Google Shape;350;p5"/>
          <p:cNvPicPr preferRelativeResize="0"/>
          <p:nvPr/>
        </p:nvPicPr>
        <p:blipFill rotWithShape="1">
          <a:blip r:embed="rId5">
            <a:alphaModFix/>
          </a:blip>
          <a:srcRect b="0" l="0" r="0" t="0"/>
          <a:stretch/>
        </p:blipFill>
        <p:spPr>
          <a:xfrm>
            <a:off x="206375" y="3183775"/>
            <a:ext cx="1969625" cy="1909449"/>
          </a:xfrm>
          <a:prstGeom prst="rect">
            <a:avLst/>
          </a:prstGeom>
          <a:noFill/>
          <a:ln>
            <a:noFill/>
          </a:ln>
        </p:spPr>
      </p:pic>
      <p:pic>
        <p:nvPicPr>
          <p:cNvPr id="351" name="Google Shape;351;p5"/>
          <p:cNvPicPr preferRelativeResize="0"/>
          <p:nvPr/>
        </p:nvPicPr>
        <p:blipFill rotWithShape="1">
          <a:blip r:embed="rId6">
            <a:alphaModFix/>
          </a:blip>
          <a:srcRect b="10029" l="0" r="0" t="8164"/>
          <a:stretch/>
        </p:blipFill>
        <p:spPr>
          <a:xfrm>
            <a:off x="5043650" y="3374600"/>
            <a:ext cx="3953450" cy="1255425"/>
          </a:xfrm>
          <a:prstGeom prst="rect">
            <a:avLst/>
          </a:prstGeom>
          <a:noFill/>
          <a:ln>
            <a:noFill/>
          </a:ln>
        </p:spPr>
      </p:pic>
      <p:pic>
        <p:nvPicPr>
          <p:cNvPr id="352" name="Google Shape;352;p5"/>
          <p:cNvPicPr preferRelativeResize="0"/>
          <p:nvPr/>
        </p:nvPicPr>
        <p:blipFill rotWithShape="1">
          <a:blip r:embed="rId7">
            <a:alphaModFix/>
          </a:blip>
          <a:srcRect b="13801" l="6164" r="16009" t="0"/>
          <a:stretch/>
        </p:blipFill>
        <p:spPr>
          <a:xfrm>
            <a:off x="6199891" y="1505150"/>
            <a:ext cx="2720959" cy="1753825"/>
          </a:xfrm>
          <a:prstGeom prst="rect">
            <a:avLst/>
          </a:prstGeom>
          <a:noFill/>
          <a:ln>
            <a:noFill/>
          </a:ln>
        </p:spPr>
      </p:pic>
      <p:pic>
        <p:nvPicPr>
          <p:cNvPr id="353" name="Google Shape;353;p5"/>
          <p:cNvPicPr preferRelativeResize="0"/>
          <p:nvPr/>
        </p:nvPicPr>
        <p:blipFill rotWithShape="1">
          <a:blip r:embed="rId8">
            <a:alphaModFix/>
          </a:blip>
          <a:srcRect b="4301" l="0" r="0" t="10352"/>
          <a:stretch/>
        </p:blipFill>
        <p:spPr>
          <a:xfrm>
            <a:off x="2176000" y="3352200"/>
            <a:ext cx="1791400" cy="1572600"/>
          </a:xfrm>
          <a:prstGeom prst="rect">
            <a:avLst/>
          </a:prstGeom>
          <a:noFill/>
          <a:ln>
            <a:noFill/>
          </a:ln>
        </p:spPr>
      </p:pic>
      <p:sp>
        <p:nvSpPr>
          <p:cNvPr id="354" name="Google Shape;354;p5"/>
          <p:cNvSpPr txBox="1"/>
          <p:nvPr>
            <p:ph idx="1" type="body"/>
          </p:nvPr>
        </p:nvSpPr>
        <p:spPr>
          <a:xfrm>
            <a:off x="3199325" y="917925"/>
            <a:ext cx="2534700" cy="712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ctr">
              <a:lnSpc>
                <a:spcPct val="115000"/>
              </a:lnSpc>
              <a:spcBef>
                <a:spcPts val="0"/>
              </a:spcBef>
              <a:spcAft>
                <a:spcPts val="0"/>
              </a:spcAft>
              <a:buSzPct val="100000"/>
              <a:buNone/>
            </a:pPr>
            <a:r>
              <a:rPr lang="en" sz="7200">
                <a:solidFill>
                  <a:schemeClr val="dk1"/>
                </a:solidFill>
                <a:latin typeface="Comfortaa"/>
                <a:ea typeface="Comfortaa"/>
                <a:cs typeface="Comfortaa"/>
                <a:sym typeface="Comfortaa"/>
              </a:rPr>
              <a:t>Surveys</a:t>
            </a:r>
            <a:endParaRPr sz="7200">
              <a:solidFill>
                <a:schemeClr val="dk1"/>
              </a:solidFill>
              <a:latin typeface="Comfortaa"/>
              <a:ea typeface="Comfortaa"/>
              <a:cs typeface="Comfortaa"/>
              <a:sym typeface="Comfortaa"/>
            </a:endParaRPr>
          </a:p>
          <a:p>
            <a:pPr indent="0" lvl="0" marL="0" rtl="0" algn="ctr">
              <a:lnSpc>
                <a:spcPct val="115000"/>
              </a:lnSpc>
              <a:spcBef>
                <a:spcPts val="0"/>
              </a:spcBef>
              <a:spcAft>
                <a:spcPts val="0"/>
              </a:spcAft>
              <a:buSzPct val="112500"/>
              <a:buNone/>
            </a:pPr>
            <a:r>
              <a:rPr lang="en" sz="6400">
                <a:solidFill>
                  <a:schemeClr val="accent1"/>
                </a:solidFill>
                <a:latin typeface="Comfortaa"/>
                <a:ea typeface="Comfortaa"/>
                <a:cs typeface="Comfortaa"/>
                <a:sym typeface="Comfortaa"/>
              </a:rPr>
              <a:t>Encuestas</a:t>
            </a:r>
            <a:endParaRPr sz="6400">
              <a:solidFill>
                <a:schemeClr val="accent1"/>
              </a:solidFill>
              <a:latin typeface="Comfortaa"/>
              <a:ea typeface="Comfortaa"/>
              <a:cs typeface="Comfortaa"/>
              <a:sym typeface="Comfortaa"/>
            </a:endParaRPr>
          </a:p>
          <a:p>
            <a:pPr indent="0" lvl="0" marL="0" rtl="0" algn="ctr">
              <a:lnSpc>
                <a:spcPct val="115000"/>
              </a:lnSpc>
              <a:spcBef>
                <a:spcPts val="1200"/>
              </a:spcBef>
              <a:spcAft>
                <a:spcPts val="1200"/>
              </a:spcAft>
              <a:buSzPts val="1800"/>
              <a:buNone/>
            </a:pPr>
            <a:r>
              <a:t/>
            </a:r>
            <a:endParaRPr>
              <a:solidFill>
                <a:schemeClr val="dk1"/>
              </a:solidFill>
              <a:latin typeface="Comfortaa"/>
              <a:ea typeface="Comfortaa"/>
              <a:cs typeface="Comfortaa"/>
              <a:sym typeface="Comfortaa"/>
            </a:endParaRPr>
          </a:p>
        </p:txBody>
      </p:sp>
      <p:sp>
        <p:nvSpPr>
          <p:cNvPr id="355" name="Google Shape;355;p5"/>
          <p:cNvSpPr txBox="1"/>
          <p:nvPr>
            <p:ph idx="1" type="body"/>
          </p:nvPr>
        </p:nvSpPr>
        <p:spPr>
          <a:xfrm>
            <a:off x="6253250" y="917925"/>
            <a:ext cx="2534700" cy="712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ctr">
              <a:lnSpc>
                <a:spcPct val="115000"/>
              </a:lnSpc>
              <a:spcBef>
                <a:spcPts val="0"/>
              </a:spcBef>
              <a:spcAft>
                <a:spcPts val="0"/>
              </a:spcAft>
              <a:buSzPct val="100000"/>
              <a:buNone/>
            </a:pPr>
            <a:r>
              <a:rPr lang="en" sz="7200">
                <a:solidFill>
                  <a:schemeClr val="dk1"/>
                </a:solidFill>
                <a:latin typeface="Comfortaa"/>
                <a:ea typeface="Comfortaa"/>
                <a:cs typeface="Comfortaa"/>
                <a:sym typeface="Comfortaa"/>
              </a:rPr>
              <a:t>Behavioral Tasks</a:t>
            </a:r>
            <a:endParaRPr sz="7200">
              <a:solidFill>
                <a:schemeClr val="dk1"/>
              </a:solidFill>
              <a:latin typeface="Comfortaa"/>
              <a:ea typeface="Comfortaa"/>
              <a:cs typeface="Comfortaa"/>
              <a:sym typeface="Comfortaa"/>
            </a:endParaRPr>
          </a:p>
          <a:p>
            <a:pPr indent="0" lvl="0" marL="0" rtl="0" algn="ctr">
              <a:lnSpc>
                <a:spcPct val="115000"/>
              </a:lnSpc>
              <a:spcBef>
                <a:spcPts val="0"/>
              </a:spcBef>
              <a:spcAft>
                <a:spcPts val="0"/>
              </a:spcAft>
              <a:buSzPct val="112500"/>
              <a:buNone/>
            </a:pPr>
            <a:r>
              <a:rPr lang="en" sz="6400">
                <a:solidFill>
                  <a:schemeClr val="accent1"/>
                </a:solidFill>
                <a:latin typeface="Comfortaa"/>
                <a:ea typeface="Comfortaa"/>
                <a:cs typeface="Comfortaa"/>
                <a:sym typeface="Comfortaa"/>
              </a:rPr>
              <a:t>Tareas conductuales</a:t>
            </a:r>
            <a:endParaRPr sz="6400">
              <a:solidFill>
                <a:schemeClr val="accent1"/>
              </a:solidFill>
              <a:latin typeface="Comfortaa"/>
              <a:ea typeface="Comfortaa"/>
              <a:cs typeface="Comfortaa"/>
              <a:sym typeface="Comfortaa"/>
            </a:endParaRPr>
          </a:p>
          <a:p>
            <a:pPr indent="0" lvl="0" marL="0" rtl="0" algn="ctr">
              <a:lnSpc>
                <a:spcPct val="115000"/>
              </a:lnSpc>
              <a:spcBef>
                <a:spcPts val="1200"/>
              </a:spcBef>
              <a:spcAft>
                <a:spcPts val="1200"/>
              </a:spcAft>
              <a:buSzPts val="1800"/>
              <a:buNone/>
            </a:pPr>
            <a:r>
              <a:t/>
            </a:r>
            <a:endParaRPr>
              <a:solidFill>
                <a:schemeClr val="dk1"/>
              </a:solidFill>
              <a:latin typeface="Comfortaa"/>
              <a:ea typeface="Comfortaa"/>
              <a:cs typeface="Comfortaa"/>
              <a:sym typeface="Comforta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6"/>
          <p:cNvSpPr txBox="1"/>
          <p:nvPr>
            <p:ph type="title"/>
          </p:nvPr>
        </p:nvSpPr>
        <p:spPr>
          <a:xfrm>
            <a:off x="311700" y="218750"/>
            <a:ext cx="8520600" cy="4538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latin typeface="Comfortaa"/>
                <a:ea typeface="Comfortaa"/>
                <a:cs typeface="Comfortaa"/>
                <a:sym typeface="Comfortaa"/>
              </a:rPr>
              <a:t>Once we have data, then what?</a:t>
            </a:r>
            <a:endParaRPr b="1">
              <a:latin typeface="Comfortaa"/>
              <a:ea typeface="Comfortaa"/>
              <a:cs typeface="Comfortaa"/>
              <a:sym typeface="Comfortaa"/>
            </a:endParaRPr>
          </a:p>
          <a:p>
            <a:pPr indent="0" lvl="0" marL="0" rtl="0" algn="l">
              <a:lnSpc>
                <a:spcPct val="100000"/>
              </a:lnSpc>
              <a:spcBef>
                <a:spcPts val="0"/>
              </a:spcBef>
              <a:spcAft>
                <a:spcPts val="0"/>
              </a:spcAft>
              <a:buSzPct val="155556"/>
              <a:buNone/>
            </a:pPr>
            <a:r>
              <a:rPr b="1" lang="en" sz="2000">
                <a:solidFill>
                  <a:schemeClr val="accent1"/>
                </a:solidFill>
                <a:latin typeface="Comfortaa"/>
                <a:ea typeface="Comfortaa"/>
                <a:cs typeface="Comfortaa"/>
                <a:sym typeface="Comfortaa"/>
              </a:rPr>
              <a:t>Una vez que tenemos los datos, ¿y luego qué?</a:t>
            </a:r>
            <a:endParaRPr b="1" sz="2000">
              <a:solidFill>
                <a:schemeClr val="accent1"/>
              </a:solidFill>
              <a:latin typeface="Comfortaa"/>
              <a:ea typeface="Comfortaa"/>
              <a:cs typeface="Comfortaa"/>
              <a:sym typeface="Comfortaa"/>
            </a:endParaRPr>
          </a:p>
          <a:p>
            <a:pPr indent="0" lvl="0" marL="0" rtl="0" algn="l">
              <a:lnSpc>
                <a:spcPct val="100000"/>
              </a:lnSpc>
              <a:spcBef>
                <a:spcPts val="0"/>
              </a:spcBef>
              <a:spcAft>
                <a:spcPts val="0"/>
              </a:spcAft>
              <a:buSzPct val="155556"/>
              <a:buNone/>
            </a:pPr>
            <a:r>
              <a:t/>
            </a:r>
            <a:endParaRPr sz="2000">
              <a:solidFill>
                <a:schemeClr val="accent1"/>
              </a:solidFill>
            </a:endParaRPr>
          </a:p>
          <a:p>
            <a:pPr indent="-344227" lvl="0" marL="457200" rtl="0" algn="l">
              <a:lnSpc>
                <a:spcPct val="100000"/>
              </a:lnSpc>
              <a:spcBef>
                <a:spcPts val="0"/>
              </a:spcBef>
              <a:spcAft>
                <a:spcPts val="0"/>
              </a:spcAft>
              <a:buSzPct val="99951"/>
              <a:buFont typeface="Comfortaa"/>
              <a:buChar char="●"/>
            </a:pPr>
            <a:r>
              <a:rPr lang="en" sz="2022">
                <a:latin typeface="Comfortaa"/>
                <a:ea typeface="Comfortaa"/>
                <a:cs typeface="Comfortaa"/>
                <a:sym typeface="Comfortaa"/>
              </a:rPr>
              <a:t>Visualize with graphs </a:t>
            </a:r>
            <a:endParaRPr sz="2022">
              <a:latin typeface="Comfortaa"/>
              <a:ea typeface="Comfortaa"/>
              <a:cs typeface="Comfortaa"/>
              <a:sym typeface="Comfortaa"/>
            </a:endParaRPr>
          </a:p>
          <a:p>
            <a:pPr indent="0" lvl="0" marL="0" rtl="0" algn="l">
              <a:lnSpc>
                <a:spcPct val="100000"/>
              </a:lnSpc>
              <a:spcBef>
                <a:spcPts val="0"/>
              </a:spcBef>
              <a:spcAft>
                <a:spcPts val="0"/>
              </a:spcAft>
              <a:buSzPct val="172840"/>
              <a:buNone/>
            </a:pPr>
            <a:r>
              <a:rPr lang="en" sz="1800">
                <a:solidFill>
                  <a:schemeClr val="accent1"/>
                </a:solidFill>
                <a:latin typeface="Comfortaa"/>
                <a:ea typeface="Comfortaa"/>
                <a:cs typeface="Comfortaa"/>
                <a:sym typeface="Comfortaa"/>
              </a:rPr>
              <a:t>Visualizar con gráficos</a:t>
            </a:r>
            <a:endParaRPr sz="1800">
              <a:solidFill>
                <a:schemeClr val="accent1"/>
              </a:solidFill>
              <a:latin typeface="Comfortaa"/>
              <a:ea typeface="Comfortaa"/>
              <a:cs typeface="Comfortaa"/>
              <a:sym typeface="Comfortaa"/>
            </a:endParaRPr>
          </a:p>
          <a:p>
            <a:pPr indent="0" lvl="0" marL="0" rtl="0" algn="l">
              <a:lnSpc>
                <a:spcPct val="100000"/>
              </a:lnSpc>
              <a:spcBef>
                <a:spcPts val="0"/>
              </a:spcBef>
              <a:spcAft>
                <a:spcPts val="0"/>
              </a:spcAft>
              <a:buSzPct val="162800"/>
              <a:buNone/>
            </a:pPr>
            <a:r>
              <a:t/>
            </a:r>
            <a:endParaRPr sz="1911">
              <a:latin typeface="Comfortaa"/>
              <a:ea typeface="Comfortaa"/>
              <a:cs typeface="Comfortaa"/>
              <a:sym typeface="Comfortaa"/>
            </a:endParaRPr>
          </a:p>
          <a:p>
            <a:pPr indent="-344227" lvl="0" marL="457200" rtl="0" algn="l">
              <a:lnSpc>
                <a:spcPct val="100000"/>
              </a:lnSpc>
              <a:spcBef>
                <a:spcPts val="0"/>
              </a:spcBef>
              <a:spcAft>
                <a:spcPts val="0"/>
              </a:spcAft>
              <a:buSzPct val="99951"/>
              <a:buFont typeface="Comfortaa"/>
              <a:buChar char="●"/>
            </a:pPr>
            <a:r>
              <a:rPr lang="en" sz="2022">
                <a:latin typeface="Comfortaa"/>
                <a:ea typeface="Comfortaa"/>
                <a:cs typeface="Comfortaa"/>
                <a:sym typeface="Comfortaa"/>
              </a:rPr>
              <a:t>Calculate averages</a:t>
            </a:r>
            <a:endParaRPr sz="2022">
              <a:latin typeface="Comfortaa"/>
              <a:ea typeface="Comfortaa"/>
              <a:cs typeface="Comfortaa"/>
              <a:sym typeface="Comfortaa"/>
            </a:endParaRPr>
          </a:p>
          <a:p>
            <a:pPr indent="0" lvl="0" marL="0" rtl="0" algn="l">
              <a:lnSpc>
                <a:spcPct val="100000"/>
              </a:lnSpc>
              <a:spcBef>
                <a:spcPts val="0"/>
              </a:spcBef>
              <a:spcAft>
                <a:spcPts val="0"/>
              </a:spcAft>
              <a:buSzPct val="172840"/>
              <a:buNone/>
            </a:pPr>
            <a:r>
              <a:rPr lang="en" sz="1800">
                <a:solidFill>
                  <a:schemeClr val="accent1"/>
                </a:solidFill>
                <a:latin typeface="Comfortaa"/>
                <a:ea typeface="Comfortaa"/>
                <a:cs typeface="Comfortaa"/>
                <a:sym typeface="Comfortaa"/>
              </a:rPr>
              <a:t>Calcular promedios</a:t>
            </a:r>
            <a:endParaRPr sz="1800">
              <a:solidFill>
                <a:schemeClr val="accent1"/>
              </a:solidFill>
              <a:latin typeface="Comfortaa"/>
              <a:ea typeface="Comfortaa"/>
              <a:cs typeface="Comfortaa"/>
              <a:sym typeface="Comfortaa"/>
            </a:endParaRPr>
          </a:p>
          <a:p>
            <a:pPr indent="0" lvl="0" marL="457200" rtl="0" algn="l">
              <a:lnSpc>
                <a:spcPct val="100000"/>
              </a:lnSpc>
              <a:spcBef>
                <a:spcPts val="0"/>
              </a:spcBef>
              <a:spcAft>
                <a:spcPts val="0"/>
              </a:spcAft>
              <a:buSzPct val="162800"/>
              <a:buNone/>
            </a:pPr>
            <a:r>
              <a:t/>
            </a:r>
            <a:endParaRPr sz="1911">
              <a:latin typeface="Comfortaa"/>
              <a:ea typeface="Comfortaa"/>
              <a:cs typeface="Comfortaa"/>
              <a:sym typeface="Comfortaa"/>
            </a:endParaRPr>
          </a:p>
          <a:p>
            <a:pPr indent="-344227" lvl="0" marL="457200" rtl="0" algn="l">
              <a:lnSpc>
                <a:spcPct val="100000"/>
              </a:lnSpc>
              <a:spcBef>
                <a:spcPts val="0"/>
              </a:spcBef>
              <a:spcAft>
                <a:spcPts val="0"/>
              </a:spcAft>
              <a:buSzPct val="99951"/>
              <a:buFont typeface="Comfortaa"/>
              <a:buChar char="●"/>
            </a:pPr>
            <a:r>
              <a:rPr lang="en" sz="2022">
                <a:latin typeface="Comfortaa"/>
                <a:ea typeface="Comfortaa"/>
                <a:cs typeface="Comfortaa"/>
                <a:sym typeface="Comfortaa"/>
              </a:rPr>
              <a:t>Check for statistical significance</a:t>
            </a:r>
            <a:endParaRPr sz="2022">
              <a:latin typeface="Comfortaa"/>
              <a:ea typeface="Comfortaa"/>
              <a:cs typeface="Comfortaa"/>
              <a:sym typeface="Comfortaa"/>
            </a:endParaRPr>
          </a:p>
          <a:p>
            <a:pPr indent="0" lvl="0" marL="0" rtl="0" algn="l">
              <a:lnSpc>
                <a:spcPct val="100000"/>
              </a:lnSpc>
              <a:spcBef>
                <a:spcPts val="0"/>
              </a:spcBef>
              <a:spcAft>
                <a:spcPts val="0"/>
              </a:spcAft>
              <a:buSzPct val="172840"/>
              <a:buNone/>
            </a:pPr>
            <a:r>
              <a:rPr lang="en" sz="1800">
                <a:solidFill>
                  <a:schemeClr val="accent1"/>
                </a:solidFill>
                <a:latin typeface="Comfortaa"/>
                <a:ea typeface="Comfortaa"/>
                <a:cs typeface="Comfortaa"/>
                <a:sym typeface="Comfortaa"/>
              </a:rPr>
              <a:t>Comprobar la significancia estadística</a:t>
            </a:r>
            <a:endParaRPr sz="1800">
              <a:solidFill>
                <a:schemeClr val="accent1"/>
              </a:solidFill>
              <a:latin typeface="Comfortaa"/>
              <a:ea typeface="Comfortaa"/>
              <a:cs typeface="Comfortaa"/>
              <a:sym typeface="Comfortaa"/>
            </a:endParaRPr>
          </a:p>
          <a:p>
            <a:pPr indent="0" lvl="0" marL="0" rtl="0" algn="l">
              <a:lnSpc>
                <a:spcPct val="100000"/>
              </a:lnSpc>
              <a:spcBef>
                <a:spcPts val="0"/>
              </a:spcBef>
              <a:spcAft>
                <a:spcPts val="0"/>
              </a:spcAft>
              <a:buSzPct val="162800"/>
              <a:buNone/>
            </a:pPr>
            <a:r>
              <a:t/>
            </a:r>
            <a:endParaRPr sz="1911">
              <a:solidFill>
                <a:schemeClr val="accent1"/>
              </a:solidFill>
              <a:latin typeface="Comfortaa"/>
              <a:ea typeface="Comfortaa"/>
              <a:cs typeface="Comfortaa"/>
              <a:sym typeface="Comfortaa"/>
            </a:endParaRPr>
          </a:p>
          <a:p>
            <a:pPr indent="-344227" lvl="0" marL="457200" rtl="0" algn="l">
              <a:lnSpc>
                <a:spcPct val="100000"/>
              </a:lnSpc>
              <a:spcBef>
                <a:spcPts val="0"/>
              </a:spcBef>
              <a:spcAft>
                <a:spcPts val="0"/>
              </a:spcAft>
              <a:buSzPct val="99951"/>
              <a:buFont typeface="Comfortaa"/>
              <a:buChar char="●"/>
            </a:pPr>
            <a:r>
              <a:rPr lang="en" sz="2022">
                <a:latin typeface="Comfortaa"/>
                <a:ea typeface="Comfortaa"/>
                <a:cs typeface="Comfortaa"/>
                <a:sym typeface="Comfortaa"/>
              </a:rPr>
              <a:t>Detect outliers </a:t>
            </a:r>
            <a:endParaRPr sz="2022">
              <a:latin typeface="Comfortaa"/>
              <a:ea typeface="Comfortaa"/>
              <a:cs typeface="Comfortaa"/>
              <a:sym typeface="Comfortaa"/>
            </a:endParaRPr>
          </a:p>
          <a:p>
            <a:pPr indent="0" lvl="0" marL="0" rtl="0" algn="l">
              <a:lnSpc>
                <a:spcPct val="100000"/>
              </a:lnSpc>
              <a:spcBef>
                <a:spcPts val="0"/>
              </a:spcBef>
              <a:spcAft>
                <a:spcPts val="0"/>
              </a:spcAft>
              <a:buSzPct val="172840"/>
              <a:buNone/>
            </a:pPr>
            <a:r>
              <a:rPr lang="en" sz="1800">
                <a:solidFill>
                  <a:schemeClr val="accent1"/>
                </a:solidFill>
                <a:latin typeface="Comfortaa"/>
                <a:ea typeface="Comfortaa"/>
                <a:cs typeface="Comfortaa"/>
                <a:sym typeface="Comfortaa"/>
              </a:rPr>
              <a:t>Detectar valores atípicos</a:t>
            </a:r>
            <a:endParaRPr sz="1800">
              <a:solidFill>
                <a:schemeClr val="accent1"/>
              </a:solidFill>
              <a:latin typeface="Comfortaa"/>
              <a:ea typeface="Comfortaa"/>
              <a:cs typeface="Comfortaa"/>
              <a:sym typeface="Comfortaa"/>
            </a:endParaRPr>
          </a:p>
          <a:p>
            <a:pPr indent="0" lvl="0" marL="0" rtl="0" algn="l">
              <a:lnSpc>
                <a:spcPct val="100000"/>
              </a:lnSpc>
              <a:spcBef>
                <a:spcPts val="0"/>
              </a:spcBef>
              <a:spcAft>
                <a:spcPts val="0"/>
              </a:spcAft>
              <a:buSzPct val="162800"/>
              <a:buNone/>
            </a:pPr>
            <a:r>
              <a:t/>
            </a:r>
            <a:endParaRPr sz="1911">
              <a:latin typeface="Comfortaa"/>
              <a:ea typeface="Comfortaa"/>
              <a:cs typeface="Comfortaa"/>
              <a:sym typeface="Comfortaa"/>
            </a:endParaRPr>
          </a:p>
          <a:p>
            <a:pPr indent="-344227" lvl="0" marL="457200" rtl="0" algn="l">
              <a:lnSpc>
                <a:spcPct val="100000"/>
              </a:lnSpc>
              <a:spcBef>
                <a:spcPts val="0"/>
              </a:spcBef>
              <a:spcAft>
                <a:spcPts val="0"/>
              </a:spcAft>
              <a:buSzPct val="99951"/>
              <a:buFont typeface="Comfortaa"/>
              <a:buChar char="●"/>
            </a:pPr>
            <a:r>
              <a:rPr lang="en" sz="2022">
                <a:latin typeface="Comfortaa"/>
                <a:ea typeface="Comfortaa"/>
                <a:cs typeface="Comfortaa"/>
                <a:sym typeface="Comfortaa"/>
              </a:rPr>
              <a:t>Make predictions based on trends </a:t>
            </a:r>
            <a:endParaRPr sz="2022">
              <a:latin typeface="Comfortaa"/>
              <a:ea typeface="Comfortaa"/>
              <a:cs typeface="Comfortaa"/>
              <a:sym typeface="Comfortaa"/>
            </a:endParaRPr>
          </a:p>
          <a:p>
            <a:pPr indent="0" lvl="0" marL="0" rtl="0" algn="l">
              <a:lnSpc>
                <a:spcPct val="100000"/>
              </a:lnSpc>
              <a:spcBef>
                <a:spcPts val="0"/>
              </a:spcBef>
              <a:spcAft>
                <a:spcPts val="0"/>
              </a:spcAft>
              <a:buSzPct val="172840"/>
              <a:buNone/>
            </a:pPr>
            <a:r>
              <a:rPr lang="en" sz="1800">
                <a:solidFill>
                  <a:schemeClr val="accent1"/>
                </a:solidFill>
                <a:latin typeface="Comfortaa"/>
                <a:ea typeface="Comfortaa"/>
                <a:cs typeface="Comfortaa"/>
                <a:sym typeface="Comfortaa"/>
              </a:rPr>
              <a:t>Hacer predicciones basadas en tendencias</a:t>
            </a:r>
            <a:endParaRPr sz="1800">
              <a:solidFill>
                <a:schemeClr val="accent1"/>
              </a:solidFill>
              <a:latin typeface="Comfortaa"/>
              <a:ea typeface="Comfortaa"/>
              <a:cs typeface="Comfortaa"/>
              <a:sym typeface="Comfortaa"/>
            </a:endParaRPr>
          </a:p>
        </p:txBody>
      </p:sp>
      <p:pic>
        <p:nvPicPr>
          <p:cNvPr id="361" name="Google Shape;361;p6"/>
          <p:cNvPicPr preferRelativeResize="0"/>
          <p:nvPr/>
        </p:nvPicPr>
        <p:blipFill rotWithShape="1">
          <a:blip r:embed="rId3">
            <a:alphaModFix/>
          </a:blip>
          <a:srcRect b="0" l="0" r="0" t="0"/>
          <a:stretch/>
        </p:blipFill>
        <p:spPr>
          <a:xfrm>
            <a:off x="6137796" y="490750"/>
            <a:ext cx="2564954" cy="1818225"/>
          </a:xfrm>
          <a:prstGeom prst="rect">
            <a:avLst/>
          </a:prstGeom>
          <a:noFill/>
          <a:ln>
            <a:noFill/>
          </a:ln>
        </p:spPr>
      </p:pic>
      <p:pic>
        <p:nvPicPr>
          <p:cNvPr id="362" name="Google Shape;362;p6"/>
          <p:cNvPicPr preferRelativeResize="0"/>
          <p:nvPr/>
        </p:nvPicPr>
        <p:blipFill rotWithShape="1">
          <a:blip r:embed="rId4">
            <a:alphaModFix/>
          </a:blip>
          <a:srcRect b="0" l="0" r="0" t="0"/>
          <a:stretch/>
        </p:blipFill>
        <p:spPr>
          <a:xfrm>
            <a:off x="5433100" y="2571750"/>
            <a:ext cx="3544000" cy="23269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7"/>
          <p:cNvSpPr txBox="1"/>
          <p:nvPr>
            <p:ph type="title"/>
          </p:nvPr>
        </p:nvSpPr>
        <p:spPr>
          <a:xfrm>
            <a:off x="197400" y="17835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latin typeface="Comfortaa"/>
                <a:ea typeface="Comfortaa"/>
                <a:cs typeface="Comfortaa"/>
                <a:sym typeface="Comfortaa"/>
              </a:rPr>
              <a:t>Correlation vs Causation</a:t>
            </a:r>
            <a:endParaRPr b="1">
              <a:latin typeface="Comfortaa"/>
              <a:ea typeface="Comfortaa"/>
              <a:cs typeface="Comfortaa"/>
              <a:sym typeface="Comfortaa"/>
            </a:endParaRPr>
          </a:p>
        </p:txBody>
      </p:sp>
      <p:sp>
        <p:nvSpPr>
          <p:cNvPr id="368" name="Google Shape;368;p7"/>
          <p:cNvSpPr txBox="1"/>
          <p:nvPr>
            <p:ph idx="1" type="body"/>
          </p:nvPr>
        </p:nvSpPr>
        <p:spPr>
          <a:xfrm>
            <a:off x="311700" y="863550"/>
            <a:ext cx="8520600" cy="41124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b="1" lang="en" sz="1900">
                <a:solidFill>
                  <a:schemeClr val="dk1"/>
                </a:solidFill>
                <a:latin typeface="Comfortaa"/>
                <a:ea typeface="Comfortaa"/>
                <a:cs typeface="Comfortaa"/>
                <a:sym typeface="Comfortaa"/>
              </a:rPr>
              <a:t>Correlation:</a:t>
            </a:r>
            <a:r>
              <a:rPr lang="en">
                <a:solidFill>
                  <a:schemeClr val="dk1"/>
                </a:solidFill>
                <a:latin typeface="Comfortaa"/>
                <a:ea typeface="Comfortaa"/>
                <a:cs typeface="Comfortaa"/>
                <a:sym typeface="Comfortaa"/>
              </a:rPr>
              <a:t> Two variables change together, but one does not necessarily cause the other.</a:t>
            </a:r>
            <a:endParaRPr>
              <a:solidFill>
                <a:schemeClr val="dk1"/>
              </a:solidFill>
              <a:latin typeface="Comfortaa"/>
              <a:ea typeface="Comfortaa"/>
              <a:cs typeface="Comfortaa"/>
              <a:sym typeface="Comfortaa"/>
            </a:endParaRPr>
          </a:p>
          <a:p>
            <a:pPr indent="0" lvl="0" marL="0" rtl="0" algn="l">
              <a:lnSpc>
                <a:spcPct val="115000"/>
              </a:lnSpc>
              <a:spcBef>
                <a:spcPts val="1200"/>
              </a:spcBef>
              <a:spcAft>
                <a:spcPts val="0"/>
              </a:spcAft>
              <a:buSzPts val="1800"/>
              <a:buNone/>
            </a:pPr>
            <a:r>
              <a:rPr b="1" lang="en" sz="1900">
                <a:solidFill>
                  <a:schemeClr val="dk1"/>
                </a:solidFill>
                <a:latin typeface="Comfortaa"/>
                <a:ea typeface="Comfortaa"/>
                <a:cs typeface="Comfortaa"/>
                <a:sym typeface="Comfortaa"/>
              </a:rPr>
              <a:t>Causation:</a:t>
            </a:r>
            <a:r>
              <a:rPr lang="en">
                <a:solidFill>
                  <a:schemeClr val="dk1"/>
                </a:solidFill>
                <a:latin typeface="Comfortaa"/>
                <a:ea typeface="Comfortaa"/>
                <a:cs typeface="Comfortaa"/>
                <a:sym typeface="Comfortaa"/>
              </a:rPr>
              <a:t> One variable directly affects the other.</a:t>
            </a:r>
            <a:endParaRPr>
              <a:solidFill>
                <a:schemeClr val="dk1"/>
              </a:solidFill>
              <a:latin typeface="Comfortaa"/>
              <a:ea typeface="Comfortaa"/>
              <a:cs typeface="Comfortaa"/>
              <a:sym typeface="Comfortaa"/>
            </a:endParaRPr>
          </a:p>
          <a:p>
            <a:pPr indent="0" lvl="0" marL="0" rtl="0" algn="l">
              <a:lnSpc>
                <a:spcPct val="115000"/>
              </a:lnSpc>
              <a:spcBef>
                <a:spcPts val="1200"/>
              </a:spcBef>
              <a:spcAft>
                <a:spcPts val="0"/>
              </a:spcAft>
              <a:buSzPts val="1800"/>
              <a:buNone/>
            </a:pPr>
            <a:r>
              <a:rPr lang="en">
                <a:solidFill>
                  <a:schemeClr val="dk1"/>
                </a:solidFill>
                <a:latin typeface="Comfortaa"/>
                <a:ea typeface="Comfortaa"/>
                <a:cs typeface="Comfortaa"/>
                <a:sym typeface="Comfortaa"/>
              </a:rPr>
              <a:t>* Just because two things happen together doesn’t mean one causes the other. Always check for other explanations or confounding factors.</a:t>
            </a:r>
            <a:endParaRPr>
              <a:solidFill>
                <a:schemeClr val="dk1"/>
              </a:solidFill>
              <a:latin typeface="Comfortaa"/>
              <a:ea typeface="Comfortaa"/>
              <a:cs typeface="Comfortaa"/>
              <a:sym typeface="Comfortaa"/>
            </a:endParaRPr>
          </a:p>
          <a:p>
            <a:pPr indent="0" lvl="0" marL="0" rtl="0" algn="l">
              <a:lnSpc>
                <a:spcPct val="115000"/>
              </a:lnSpc>
              <a:spcBef>
                <a:spcPts val="1200"/>
              </a:spcBef>
              <a:spcAft>
                <a:spcPts val="0"/>
              </a:spcAft>
              <a:buSzPts val="1800"/>
              <a:buNone/>
            </a:pPr>
            <a:r>
              <a:t/>
            </a:r>
            <a:endParaRPr sz="900">
              <a:solidFill>
                <a:schemeClr val="dk1"/>
              </a:solidFill>
              <a:latin typeface="Comfortaa"/>
              <a:ea typeface="Comfortaa"/>
              <a:cs typeface="Comfortaa"/>
              <a:sym typeface="Comfortaa"/>
            </a:endParaRPr>
          </a:p>
          <a:p>
            <a:pPr indent="0" lvl="0" marL="0" rtl="0" algn="l">
              <a:lnSpc>
                <a:spcPct val="115000"/>
              </a:lnSpc>
              <a:spcBef>
                <a:spcPts val="1200"/>
              </a:spcBef>
              <a:spcAft>
                <a:spcPts val="0"/>
              </a:spcAft>
              <a:buSzPts val="1800"/>
              <a:buNone/>
            </a:pPr>
            <a:r>
              <a:rPr b="1" lang="en" sz="1600">
                <a:solidFill>
                  <a:schemeClr val="accent1"/>
                </a:solidFill>
                <a:latin typeface="Comfortaa"/>
                <a:ea typeface="Comfortaa"/>
                <a:cs typeface="Comfortaa"/>
                <a:sym typeface="Comfortaa"/>
              </a:rPr>
              <a:t>Correlación:</a:t>
            </a:r>
            <a:r>
              <a:rPr lang="en" sz="1600">
                <a:solidFill>
                  <a:schemeClr val="accent1"/>
                </a:solidFill>
                <a:latin typeface="Comfortaa"/>
                <a:ea typeface="Comfortaa"/>
                <a:cs typeface="Comfortaa"/>
                <a:sym typeface="Comfortaa"/>
              </a:rPr>
              <a:t> Dos variables cambian juntas, pero una no necesariamente causa a la otra.</a:t>
            </a:r>
            <a:endParaRPr sz="1600">
              <a:solidFill>
                <a:schemeClr val="accent1"/>
              </a:solidFill>
              <a:latin typeface="Comfortaa"/>
              <a:ea typeface="Comfortaa"/>
              <a:cs typeface="Comfortaa"/>
              <a:sym typeface="Comfortaa"/>
            </a:endParaRPr>
          </a:p>
          <a:p>
            <a:pPr indent="0" lvl="0" marL="0" rtl="0" algn="l">
              <a:lnSpc>
                <a:spcPct val="115000"/>
              </a:lnSpc>
              <a:spcBef>
                <a:spcPts val="1200"/>
              </a:spcBef>
              <a:spcAft>
                <a:spcPts val="0"/>
              </a:spcAft>
              <a:buSzPts val="1800"/>
              <a:buNone/>
            </a:pPr>
            <a:r>
              <a:rPr b="1" lang="en" sz="1600">
                <a:solidFill>
                  <a:schemeClr val="accent1"/>
                </a:solidFill>
                <a:latin typeface="Comfortaa"/>
                <a:ea typeface="Comfortaa"/>
                <a:cs typeface="Comfortaa"/>
                <a:sym typeface="Comfortaa"/>
              </a:rPr>
              <a:t>Causalidad:</a:t>
            </a:r>
            <a:r>
              <a:rPr lang="en" sz="1600">
                <a:solidFill>
                  <a:schemeClr val="accent1"/>
                </a:solidFill>
                <a:latin typeface="Comfortaa"/>
                <a:ea typeface="Comfortaa"/>
                <a:cs typeface="Comfortaa"/>
                <a:sym typeface="Comfortaa"/>
              </a:rPr>
              <a:t> Una variable afecta directamente a la otra.</a:t>
            </a:r>
            <a:endParaRPr sz="1600">
              <a:solidFill>
                <a:schemeClr val="accent1"/>
              </a:solidFill>
              <a:latin typeface="Comfortaa"/>
              <a:ea typeface="Comfortaa"/>
              <a:cs typeface="Comfortaa"/>
              <a:sym typeface="Comfortaa"/>
            </a:endParaRPr>
          </a:p>
          <a:p>
            <a:pPr indent="0" lvl="0" marL="0" rtl="0" algn="l">
              <a:lnSpc>
                <a:spcPct val="115000"/>
              </a:lnSpc>
              <a:spcBef>
                <a:spcPts val="1200"/>
              </a:spcBef>
              <a:spcAft>
                <a:spcPts val="1200"/>
              </a:spcAft>
              <a:buSzPts val="1800"/>
              <a:buNone/>
            </a:pPr>
            <a:r>
              <a:rPr lang="en" sz="1600">
                <a:solidFill>
                  <a:schemeClr val="accent1"/>
                </a:solidFill>
                <a:latin typeface="Comfortaa"/>
                <a:ea typeface="Comfortaa"/>
                <a:cs typeface="Comfortaa"/>
                <a:sym typeface="Comfortaa"/>
              </a:rPr>
              <a:t>* El hecho de que dos cosas ocurran juntas no significa que una cause a la otra. Siempre hay que revisar otras explicaciones o factores de confusión.</a:t>
            </a:r>
            <a:endParaRPr sz="1600">
              <a:solidFill>
                <a:schemeClr val="accent1"/>
              </a:solidFill>
              <a:latin typeface="Comfortaa"/>
              <a:ea typeface="Comfortaa"/>
              <a:cs typeface="Comfortaa"/>
              <a:sym typeface="Comfortaa"/>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g3f6429ab5ef_0_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111111"/>
              <a:buFont typeface="Arial"/>
              <a:buNone/>
            </a:pPr>
            <a:r>
              <a:rPr b="1" lang="en">
                <a:latin typeface="Comfortaa"/>
                <a:ea typeface="Comfortaa"/>
                <a:cs typeface="Comfortaa"/>
                <a:sym typeface="Comfortaa"/>
              </a:rPr>
              <a:t>Correlation or Causation?</a:t>
            </a:r>
            <a:endParaRPr b="1">
              <a:latin typeface="Comfortaa"/>
              <a:ea typeface="Comfortaa"/>
              <a:cs typeface="Comfortaa"/>
              <a:sym typeface="Comfortaa"/>
            </a:endParaRPr>
          </a:p>
          <a:p>
            <a:pPr indent="0" lvl="0" marL="0" rtl="0" algn="l">
              <a:spcBef>
                <a:spcPts val="0"/>
              </a:spcBef>
              <a:spcAft>
                <a:spcPts val="0"/>
              </a:spcAft>
              <a:buClr>
                <a:schemeClr val="dk1"/>
              </a:buClr>
              <a:buSzPct val="132075"/>
              <a:buFont typeface="Arial"/>
              <a:buNone/>
            </a:pPr>
            <a:r>
              <a:rPr b="1" lang="en" sz="2356">
                <a:solidFill>
                  <a:schemeClr val="accent1"/>
                </a:solidFill>
                <a:latin typeface="Comfortaa"/>
                <a:ea typeface="Comfortaa"/>
                <a:cs typeface="Comfortaa"/>
                <a:sym typeface="Comfortaa"/>
              </a:rPr>
              <a:t>¿Correlación o causalidad?</a:t>
            </a:r>
            <a:endParaRPr b="1" sz="2356">
              <a:solidFill>
                <a:schemeClr val="accent1"/>
              </a:solidFill>
              <a:latin typeface="Comfortaa"/>
              <a:ea typeface="Comfortaa"/>
              <a:cs typeface="Comfortaa"/>
              <a:sym typeface="Comfortaa"/>
            </a:endParaRPr>
          </a:p>
          <a:p>
            <a:pPr indent="0" lvl="0" marL="0" rtl="0" algn="l">
              <a:lnSpc>
                <a:spcPct val="100000"/>
              </a:lnSpc>
              <a:spcBef>
                <a:spcPts val="0"/>
              </a:spcBef>
              <a:spcAft>
                <a:spcPts val="0"/>
              </a:spcAft>
              <a:buSzPct val="111111"/>
              <a:buNone/>
            </a:pPr>
            <a:r>
              <a:t/>
            </a:r>
            <a:endParaRPr b="1">
              <a:latin typeface="Comfortaa"/>
              <a:ea typeface="Comfortaa"/>
              <a:cs typeface="Comfortaa"/>
              <a:sym typeface="Comfortaa"/>
            </a:endParaRPr>
          </a:p>
        </p:txBody>
      </p:sp>
      <p:pic>
        <p:nvPicPr>
          <p:cNvPr id="374" name="Google Shape;374;g3f6429ab5ef_0_30" title="Screenshot 2026-08-03 at 3.56.09 PM.png"/>
          <p:cNvPicPr preferRelativeResize="0"/>
          <p:nvPr/>
        </p:nvPicPr>
        <p:blipFill>
          <a:blip r:embed="rId3">
            <a:alphaModFix/>
          </a:blip>
          <a:stretch>
            <a:fillRect/>
          </a:stretch>
        </p:blipFill>
        <p:spPr>
          <a:xfrm>
            <a:off x="1956902" y="1463513"/>
            <a:ext cx="5230174" cy="320582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g3f6429ab5ef_0_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111111"/>
              <a:buFont typeface="Arial"/>
              <a:buNone/>
            </a:pPr>
            <a:r>
              <a:rPr b="1" lang="en">
                <a:latin typeface="Comfortaa"/>
                <a:ea typeface="Comfortaa"/>
                <a:cs typeface="Comfortaa"/>
                <a:sym typeface="Comfortaa"/>
              </a:rPr>
              <a:t>Correlation or Causation?</a:t>
            </a:r>
            <a:endParaRPr b="1">
              <a:latin typeface="Comfortaa"/>
              <a:ea typeface="Comfortaa"/>
              <a:cs typeface="Comfortaa"/>
              <a:sym typeface="Comfortaa"/>
            </a:endParaRPr>
          </a:p>
          <a:p>
            <a:pPr indent="0" lvl="0" marL="0" rtl="0" algn="l">
              <a:spcBef>
                <a:spcPts val="0"/>
              </a:spcBef>
              <a:spcAft>
                <a:spcPts val="0"/>
              </a:spcAft>
              <a:buClr>
                <a:schemeClr val="dk1"/>
              </a:buClr>
              <a:buSzPct val="132075"/>
              <a:buFont typeface="Arial"/>
              <a:buNone/>
            </a:pPr>
            <a:r>
              <a:rPr b="1" lang="en" sz="2356">
                <a:solidFill>
                  <a:schemeClr val="accent1"/>
                </a:solidFill>
                <a:latin typeface="Comfortaa"/>
                <a:ea typeface="Comfortaa"/>
                <a:cs typeface="Comfortaa"/>
                <a:sym typeface="Comfortaa"/>
              </a:rPr>
              <a:t>¿Correlación o causalidad?</a:t>
            </a:r>
            <a:endParaRPr b="1" sz="2356">
              <a:solidFill>
                <a:schemeClr val="accent1"/>
              </a:solidFill>
              <a:latin typeface="Comfortaa"/>
              <a:ea typeface="Comfortaa"/>
              <a:cs typeface="Comfortaa"/>
              <a:sym typeface="Comfortaa"/>
            </a:endParaRPr>
          </a:p>
          <a:p>
            <a:pPr indent="0" lvl="0" marL="0" rtl="0" algn="l">
              <a:lnSpc>
                <a:spcPct val="100000"/>
              </a:lnSpc>
              <a:spcBef>
                <a:spcPts val="0"/>
              </a:spcBef>
              <a:spcAft>
                <a:spcPts val="0"/>
              </a:spcAft>
              <a:buSzPct val="111111"/>
              <a:buNone/>
            </a:pPr>
            <a:r>
              <a:t/>
            </a:r>
            <a:endParaRPr b="1">
              <a:latin typeface="Comfortaa"/>
              <a:ea typeface="Comfortaa"/>
              <a:cs typeface="Comfortaa"/>
              <a:sym typeface="Comfortaa"/>
            </a:endParaRPr>
          </a:p>
        </p:txBody>
      </p:sp>
      <p:pic>
        <p:nvPicPr>
          <p:cNvPr id="380" name="Google Shape;380;g3f6429ab5ef_0_41" title="Screenshot 2026-08-03 at 3.57.26 PM.png"/>
          <p:cNvPicPr preferRelativeResize="0"/>
          <p:nvPr/>
        </p:nvPicPr>
        <p:blipFill>
          <a:blip r:embed="rId3">
            <a:alphaModFix/>
          </a:blip>
          <a:stretch>
            <a:fillRect/>
          </a:stretch>
        </p:blipFill>
        <p:spPr>
          <a:xfrm>
            <a:off x="1565656" y="1433702"/>
            <a:ext cx="6012682" cy="33340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g3f6429ab5ef_0_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fortaa"/>
                <a:ea typeface="Comfortaa"/>
                <a:cs typeface="Comfortaa"/>
                <a:sym typeface="Comfortaa"/>
              </a:rPr>
              <a:t>Marshmallow</a:t>
            </a:r>
            <a:r>
              <a:rPr b="1" lang="en">
                <a:latin typeface="Comfortaa"/>
                <a:ea typeface="Comfortaa"/>
                <a:cs typeface="Comfortaa"/>
                <a:sym typeface="Comfortaa"/>
              </a:rPr>
              <a:t> </a:t>
            </a:r>
            <a:r>
              <a:rPr b="1" lang="en">
                <a:latin typeface="Comfortaa"/>
                <a:ea typeface="Comfortaa"/>
                <a:cs typeface="Comfortaa"/>
                <a:sym typeface="Comfortaa"/>
              </a:rPr>
              <a:t>Experiment</a:t>
            </a:r>
            <a:endParaRPr b="1">
              <a:latin typeface="Comfortaa"/>
              <a:ea typeface="Comfortaa"/>
              <a:cs typeface="Comfortaa"/>
              <a:sym typeface="Comfortaa"/>
            </a:endParaRPr>
          </a:p>
          <a:p>
            <a:pPr indent="0" lvl="0" marL="0" rtl="0" algn="l">
              <a:spcBef>
                <a:spcPts val="0"/>
              </a:spcBef>
              <a:spcAft>
                <a:spcPts val="0"/>
              </a:spcAft>
              <a:buClr>
                <a:schemeClr val="dk1"/>
              </a:buClr>
              <a:buSzPct val="132075"/>
              <a:buFont typeface="Arial"/>
              <a:buNone/>
            </a:pPr>
            <a:r>
              <a:rPr b="1" lang="en" sz="2356">
                <a:solidFill>
                  <a:schemeClr val="accent1"/>
                </a:solidFill>
                <a:latin typeface="Comfortaa"/>
                <a:ea typeface="Comfortaa"/>
                <a:cs typeface="Comfortaa"/>
                <a:sym typeface="Comfortaa"/>
              </a:rPr>
              <a:t>Experimento del malvavisco</a:t>
            </a:r>
            <a:endParaRPr b="1" sz="2356">
              <a:solidFill>
                <a:schemeClr val="accent1"/>
              </a:solidFill>
              <a:latin typeface="Comfortaa"/>
              <a:ea typeface="Comfortaa"/>
              <a:cs typeface="Comfortaa"/>
              <a:sym typeface="Comfortaa"/>
            </a:endParaRPr>
          </a:p>
          <a:p>
            <a:pPr indent="0" lvl="0" marL="0" rtl="0" algn="l">
              <a:spcBef>
                <a:spcPts val="0"/>
              </a:spcBef>
              <a:spcAft>
                <a:spcPts val="0"/>
              </a:spcAft>
              <a:buNone/>
            </a:pPr>
            <a:r>
              <a:t/>
            </a:r>
            <a:endParaRPr/>
          </a:p>
        </p:txBody>
      </p:sp>
      <p:sp>
        <p:nvSpPr>
          <p:cNvPr id="386" name="Google Shape;386;g3f6429ab5ef_0_48"/>
          <p:cNvSpPr txBox="1"/>
          <p:nvPr>
            <p:ph idx="1" type="body"/>
          </p:nvPr>
        </p:nvSpPr>
        <p:spPr>
          <a:xfrm>
            <a:off x="311700" y="1474475"/>
            <a:ext cx="8520600" cy="3557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solidFill>
                  <a:srgbClr val="000000"/>
                </a:solidFill>
                <a:latin typeface="Comfortaa"/>
                <a:ea typeface="Comfortaa"/>
                <a:cs typeface="Comfortaa"/>
                <a:sym typeface="Comfortaa"/>
              </a:rPr>
              <a:t>Methods: </a:t>
            </a:r>
            <a:endParaRPr>
              <a:solidFill>
                <a:srgbClr val="000000"/>
              </a:solidFill>
              <a:latin typeface="Comfortaa"/>
              <a:ea typeface="Comfortaa"/>
              <a:cs typeface="Comfortaa"/>
              <a:sym typeface="Comfortaa"/>
            </a:endParaRPr>
          </a:p>
          <a:p>
            <a:pPr indent="-311150" lvl="0" marL="457200" rtl="0" algn="l">
              <a:spcBef>
                <a:spcPts val="0"/>
              </a:spcBef>
              <a:spcAft>
                <a:spcPts val="0"/>
              </a:spcAft>
              <a:buClr>
                <a:srgbClr val="000000"/>
              </a:buClr>
              <a:buSzPts val="1300"/>
              <a:buFont typeface="Comfortaa"/>
              <a:buAutoNum type="arabicPeriod"/>
            </a:pPr>
            <a:r>
              <a:rPr lang="en" sz="1300">
                <a:solidFill>
                  <a:srgbClr val="000000"/>
                </a:solidFill>
                <a:latin typeface="Comfortaa"/>
                <a:ea typeface="Comfortaa"/>
                <a:cs typeface="Comfortaa"/>
                <a:sym typeface="Comfortaa"/>
              </a:rPr>
              <a:t>Researches gave children (ages 3-5) a choice between having one </a:t>
            </a:r>
            <a:r>
              <a:rPr lang="en" sz="1300">
                <a:solidFill>
                  <a:srgbClr val="000000"/>
                </a:solidFill>
                <a:latin typeface="Comfortaa"/>
                <a:ea typeface="Comfortaa"/>
                <a:cs typeface="Comfortaa"/>
                <a:sym typeface="Comfortaa"/>
              </a:rPr>
              <a:t>marshmallow</a:t>
            </a:r>
            <a:r>
              <a:rPr lang="en" sz="1300">
                <a:solidFill>
                  <a:srgbClr val="000000"/>
                </a:solidFill>
                <a:latin typeface="Comfortaa"/>
                <a:ea typeface="Comfortaa"/>
                <a:cs typeface="Comfortaa"/>
                <a:sym typeface="Comfortaa"/>
              </a:rPr>
              <a:t> right now or waiting 15 minutes and have two marshmallows. </a:t>
            </a:r>
            <a:endParaRPr sz="1300">
              <a:solidFill>
                <a:srgbClr val="000000"/>
              </a:solidFill>
              <a:latin typeface="Comfortaa"/>
              <a:ea typeface="Comfortaa"/>
              <a:cs typeface="Comfortaa"/>
              <a:sym typeface="Comfortaa"/>
            </a:endParaRPr>
          </a:p>
          <a:p>
            <a:pPr indent="-311150" lvl="0" marL="457200" rtl="0" algn="l">
              <a:spcBef>
                <a:spcPts val="0"/>
              </a:spcBef>
              <a:spcAft>
                <a:spcPts val="0"/>
              </a:spcAft>
              <a:buClr>
                <a:srgbClr val="000000"/>
              </a:buClr>
              <a:buSzPts val="1300"/>
              <a:buFont typeface="Comfortaa"/>
              <a:buAutoNum type="arabicPeriod"/>
            </a:pPr>
            <a:r>
              <a:rPr lang="en" sz="1300">
                <a:solidFill>
                  <a:srgbClr val="000000"/>
                </a:solidFill>
                <a:latin typeface="Comfortaa"/>
                <a:ea typeface="Comfortaa"/>
                <a:cs typeface="Comfortaa"/>
                <a:sym typeface="Comfortaa"/>
              </a:rPr>
              <a:t>The </a:t>
            </a:r>
            <a:r>
              <a:rPr lang="en" sz="1300">
                <a:solidFill>
                  <a:srgbClr val="000000"/>
                </a:solidFill>
                <a:latin typeface="Comfortaa"/>
                <a:ea typeface="Comfortaa"/>
                <a:cs typeface="Comfortaa"/>
                <a:sym typeface="Comfortaa"/>
              </a:rPr>
              <a:t>researchers</a:t>
            </a:r>
            <a:r>
              <a:rPr lang="en" sz="1300">
                <a:solidFill>
                  <a:srgbClr val="000000"/>
                </a:solidFill>
                <a:latin typeface="Comfortaa"/>
                <a:ea typeface="Comfortaa"/>
                <a:cs typeface="Comfortaa"/>
                <a:sym typeface="Comfortaa"/>
              </a:rPr>
              <a:t> would then leave the room and observe which children would eat the marshmallows .</a:t>
            </a:r>
            <a:endParaRPr sz="1300">
              <a:solidFill>
                <a:srgbClr val="000000"/>
              </a:solidFill>
              <a:latin typeface="Comfortaa"/>
              <a:ea typeface="Comfortaa"/>
              <a:cs typeface="Comfortaa"/>
              <a:sym typeface="Comfortaa"/>
            </a:endParaRPr>
          </a:p>
          <a:p>
            <a:pPr indent="-311150" lvl="0" marL="457200" rtl="0" algn="l">
              <a:spcBef>
                <a:spcPts val="0"/>
              </a:spcBef>
              <a:spcAft>
                <a:spcPts val="0"/>
              </a:spcAft>
              <a:buClr>
                <a:srgbClr val="000000"/>
              </a:buClr>
              <a:buSzPts val="1300"/>
              <a:buFont typeface="Comfortaa"/>
              <a:buAutoNum type="arabicPeriod"/>
            </a:pPr>
            <a:r>
              <a:rPr lang="en" sz="1300">
                <a:solidFill>
                  <a:srgbClr val="000000"/>
                </a:solidFill>
                <a:latin typeface="Comfortaa"/>
                <a:ea typeface="Comfortaa"/>
                <a:cs typeface="Comfortaa"/>
                <a:sym typeface="Comfortaa"/>
              </a:rPr>
              <a:t>They then followed up years later and looked at which kids were successful. </a:t>
            </a:r>
            <a:endParaRPr sz="1300">
              <a:solidFill>
                <a:srgbClr val="000000"/>
              </a:solidFill>
              <a:latin typeface="Comfortaa"/>
              <a:ea typeface="Comfortaa"/>
              <a:cs typeface="Comfortaa"/>
              <a:sym typeface="Comfortaa"/>
            </a:endParaRPr>
          </a:p>
          <a:p>
            <a:pPr indent="0" lvl="0" marL="0" rtl="0" algn="l">
              <a:spcBef>
                <a:spcPts val="0"/>
              </a:spcBef>
              <a:spcAft>
                <a:spcPts val="0"/>
              </a:spcAft>
              <a:buNone/>
            </a:pPr>
            <a:r>
              <a:t/>
            </a:r>
            <a:endParaRPr sz="1300">
              <a:solidFill>
                <a:srgbClr val="000000"/>
              </a:solidFill>
              <a:latin typeface="Comfortaa"/>
              <a:ea typeface="Comfortaa"/>
              <a:cs typeface="Comfortaa"/>
              <a:sym typeface="Comfortaa"/>
            </a:endParaRPr>
          </a:p>
          <a:p>
            <a:pPr indent="0" lvl="0" marL="0" rtl="0" algn="l">
              <a:spcBef>
                <a:spcPts val="0"/>
              </a:spcBef>
              <a:spcAft>
                <a:spcPts val="0"/>
              </a:spcAft>
              <a:buNone/>
            </a:pPr>
            <a:r>
              <a:t/>
            </a:r>
            <a:endParaRPr sz="1750">
              <a:solidFill>
                <a:schemeClr val="dk1"/>
              </a:solidFill>
              <a:latin typeface="Comfortaa"/>
              <a:ea typeface="Comfortaa"/>
              <a:cs typeface="Comfortaa"/>
              <a:sym typeface="Comfortaa"/>
            </a:endParaRPr>
          </a:p>
          <a:p>
            <a:pPr indent="0" lvl="0" marL="0" rtl="0" algn="l">
              <a:spcBef>
                <a:spcPts val="0"/>
              </a:spcBef>
              <a:spcAft>
                <a:spcPts val="0"/>
              </a:spcAft>
              <a:buNone/>
            </a:pPr>
            <a:r>
              <a:rPr lang="en" sz="1750">
                <a:solidFill>
                  <a:schemeClr val="accent1"/>
                </a:solidFill>
                <a:latin typeface="Comfortaa"/>
                <a:ea typeface="Comfortaa"/>
                <a:cs typeface="Comfortaa"/>
                <a:sym typeface="Comfortaa"/>
              </a:rPr>
              <a:t>Métodos:</a:t>
            </a:r>
            <a:endParaRPr sz="1750">
              <a:solidFill>
                <a:schemeClr val="accent1"/>
              </a:solidFill>
              <a:latin typeface="Comfortaa"/>
              <a:ea typeface="Comfortaa"/>
              <a:cs typeface="Comfortaa"/>
              <a:sym typeface="Comfortaa"/>
            </a:endParaRPr>
          </a:p>
          <a:p>
            <a:pPr indent="-311150" lvl="0" marL="457200" rtl="0" algn="l">
              <a:spcBef>
                <a:spcPts val="0"/>
              </a:spcBef>
              <a:spcAft>
                <a:spcPts val="0"/>
              </a:spcAft>
              <a:buClr>
                <a:schemeClr val="accent1"/>
              </a:buClr>
              <a:buSzPts val="1300"/>
              <a:buFont typeface="Comfortaa"/>
              <a:buAutoNum type="arabicPeriod"/>
            </a:pPr>
            <a:r>
              <a:rPr lang="en" sz="1300">
                <a:solidFill>
                  <a:schemeClr val="accent1"/>
                </a:solidFill>
                <a:latin typeface="Comfortaa"/>
                <a:ea typeface="Comfortaa"/>
                <a:cs typeface="Comfortaa"/>
                <a:sym typeface="Comfortaa"/>
              </a:rPr>
              <a:t>Los investigadores les dieron a niños de 3 a 5 años la opción de comer un malvavisco de inmediato o esperar 15 minutos para recibir dos malvaviscos.</a:t>
            </a:r>
            <a:endParaRPr sz="1300">
              <a:solidFill>
                <a:schemeClr val="accent1"/>
              </a:solidFill>
              <a:latin typeface="Comfortaa"/>
              <a:ea typeface="Comfortaa"/>
              <a:cs typeface="Comfortaa"/>
              <a:sym typeface="Comfortaa"/>
            </a:endParaRPr>
          </a:p>
          <a:p>
            <a:pPr indent="-311150" lvl="0" marL="457200" rtl="0" algn="l">
              <a:spcBef>
                <a:spcPts val="0"/>
              </a:spcBef>
              <a:spcAft>
                <a:spcPts val="0"/>
              </a:spcAft>
              <a:buClr>
                <a:schemeClr val="accent1"/>
              </a:buClr>
              <a:buSzPts val="1300"/>
              <a:buFont typeface="Comfortaa"/>
              <a:buAutoNum type="arabicPeriod"/>
            </a:pPr>
            <a:r>
              <a:rPr lang="en" sz="1300">
                <a:solidFill>
                  <a:schemeClr val="accent1"/>
                </a:solidFill>
                <a:latin typeface="Comfortaa"/>
                <a:ea typeface="Comfortaa"/>
                <a:cs typeface="Comfortaa"/>
                <a:sym typeface="Comfortaa"/>
              </a:rPr>
              <a:t>Luego, los investigadores salían de la habitación y observaban cuáles niños comían el malvavisco.</a:t>
            </a:r>
            <a:endParaRPr sz="1300">
              <a:solidFill>
                <a:schemeClr val="accent1"/>
              </a:solidFill>
              <a:latin typeface="Comfortaa"/>
              <a:ea typeface="Comfortaa"/>
              <a:cs typeface="Comfortaa"/>
              <a:sym typeface="Comfortaa"/>
            </a:endParaRPr>
          </a:p>
          <a:p>
            <a:pPr indent="-311150" lvl="0" marL="457200" rtl="0" algn="l">
              <a:spcBef>
                <a:spcPts val="0"/>
              </a:spcBef>
              <a:spcAft>
                <a:spcPts val="0"/>
              </a:spcAft>
              <a:buClr>
                <a:schemeClr val="accent1"/>
              </a:buClr>
              <a:buSzPts val="1300"/>
              <a:buFont typeface="Comfortaa"/>
              <a:buAutoNum type="arabicPeriod"/>
            </a:pPr>
            <a:r>
              <a:rPr lang="en" sz="1300">
                <a:solidFill>
                  <a:schemeClr val="accent1"/>
                </a:solidFill>
                <a:latin typeface="Comfortaa"/>
                <a:ea typeface="Comfortaa"/>
                <a:cs typeface="Comfortaa"/>
                <a:sym typeface="Comfortaa"/>
              </a:rPr>
              <a:t>Años después, hicieron un seguimiento de los participantes para evaluar cuáles de ellos habían tenido más éxito en la vida.</a:t>
            </a:r>
            <a:endParaRPr sz="1300">
              <a:solidFill>
                <a:schemeClr val="accent1"/>
              </a:solidFill>
              <a:latin typeface="Comfortaa"/>
              <a:ea typeface="Comfortaa"/>
              <a:cs typeface="Comfortaa"/>
              <a:sym typeface="Comfortaa"/>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g3f6429ab5ef_0_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fortaa"/>
                <a:ea typeface="Comfortaa"/>
                <a:cs typeface="Comfortaa"/>
                <a:sym typeface="Comfortaa"/>
              </a:rPr>
              <a:t>Marshmallow Experiment</a:t>
            </a:r>
            <a:endParaRPr b="1">
              <a:latin typeface="Comfortaa"/>
              <a:ea typeface="Comfortaa"/>
              <a:cs typeface="Comfortaa"/>
              <a:sym typeface="Comfortaa"/>
            </a:endParaRPr>
          </a:p>
          <a:p>
            <a:pPr indent="0" lvl="0" marL="0" rtl="0" algn="l">
              <a:spcBef>
                <a:spcPts val="0"/>
              </a:spcBef>
              <a:spcAft>
                <a:spcPts val="0"/>
              </a:spcAft>
              <a:buNone/>
            </a:pPr>
            <a:r>
              <a:rPr b="1" lang="en" sz="2356">
                <a:solidFill>
                  <a:schemeClr val="accent1"/>
                </a:solidFill>
                <a:latin typeface="Comfortaa"/>
                <a:ea typeface="Comfortaa"/>
                <a:cs typeface="Comfortaa"/>
                <a:sym typeface="Comfortaa"/>
              </a:rPr>
              <a:t>Experimento del malvavisco</a:t>
            </a:r>
            <a:endParaRPr b="1" sz="2356">
              <a:solidFill>
                <a:schemeClr val="accent1"/>
              </a:solidFill>
              <a:latin typeface="Comfortaa"/>
              <a:ea typeface="Comfortaa"/>
              <a:cs typeface="Comfortaa"/>
              <a:sym typeface="Comfortaa"/>
            </a:endParaRPr>
          </a:p>
          <a:p>
            <a:pPr indent="0" lvl="0" marL="0" rtl="0" algn="l">
              <a:spcBef>
                <a:spcPts val="0"/>
              </a:spcBef>
              <a:spcAft>
                <a:spcPts val="0"/>
              </a:spcAft>
              <a:buNone/>
            </a:pPr>
            <a:r>
              <a:t/>
            </a:r>
            <a:endParaRPr/>
          </a:p>
        </p:txBody>
      </p:sp>
      <p:sp>
        <p:nvSpPr>
          <p:cNvPr id="392" name="Google Shape;392;g3f6429ab5ef_0_56"/>
          <p:cNvSpPr txBox="1"/>
          <p:nvPr>
            <p:ph idx="1" type="body"/>
          </p:nvPr>
        </p:nvSpPr>
        <p:spPr>
          <a:xfrm>
            <a:off x="311700" y="1474475"/>
            <a:ext cx="8520600" cy="35577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sz="1682">
                <a:solidFill>
                  <a:srgbClr val="000000"/>
                </a:solidFill>
                <a:latin typeface="Comfortaa"/>
                <a:ea typeface="Comfortaa"/>
                <a:cs typeface="Comfortaa"/>
                <a:sym typeface="Comfortaa"/>
              </a:rPr>
              <a:t>Results:</a:t>
            </a:r>
            <a:endParaRPr sz="1682">
              <a:solidFill>
                <a:srgbClr val="000000"/>
              </a:solidFill>
              <a:latin typeface="Comfortaa"/>
              <a:ea typeface="Comfortaa"/>
              <a:cs typeface="Comfortaa"/>
              <a:sym typeface="Comfortaa"/>
            </a:endParaRPr>
          </a:p>
          <a:p>
            <a:pPr indent="-304959" lvl="0" marL="457200" rtl="0" algn="l">
              <a:spcBef>
                <a:spcPts val="0"/>
              </a:spcBef>
              <a:spcAft>
                <a:spcPts val="0"/>
              </a:spcAft>
              <a:buClr>
                <a:srgbClr val="000000"/>
              </a:buClr>
              <a:buSzPct val="100000"/>
              <a:buFont typeface="Comfortaa"/>
              <a:buChar char="-"/>
            </a:pPr>
            <a:r>
              <a:rPr lang="en" sz="1300">
                <a:solidFill>
                  <a:srgbClr val="000000"/>
                </a:solidFill>
                <a:latin typeface="Comfortaa"/>
                <a:ea typeface="Comfortaa"/>
                <a:cs typeface="Comfortaa"/>
                <a:sym typeface="Comfortaa"/>
              </a:rPr>
              <a:t>They found that children who waited often ended having higher </a:t>
            </a:r>
            <a:r>
              <a:rPr lang="en" sz="1300">
                <a:solidFill>
                  <a:srgbClr val="000000"/>
                </a:solidFill>
                <a:latin typeface="Comfortaa"/>
                <a:ea typeface="Comfortaa"/>
                <a:cs typeface="Comfortaa"/>
                <a:sym typeface="Comfortaa"/>
              </a:rPr>
              <a:t>academic</a:t>
            </a:r>
            <a:r>
              <a:rPr lang="en" sz="1300">
                <a:solidFill>
                  <a:srgbClr val="000000"/>
                </a:solidFill>
                <a:latin typeface="Comfortaa"/>
                <a:ea typeface="Comfortaa"/>
                <a:cs typeface="Comfortaa"/>
                <a:sym typeface="Comfortaa"/>
              </a:rPr>
              <a:t> success and less behavioral problems. </a:t>
            </a:r>
            <a:endParaRPr sz="1300">
              <a:solidFill>
                <a:srgbClr val="000000"/>
              </a:solidFill>
              <a:latin typeface="Comfortaa"/>
              <a:ea typeface="Comfortaa"/>
              <a:cs typeface="Comfortaa"/>
              <a:sym typeface="Comfortaa"/>
            </a:endParaRPr>
          </a:p>
          <a:p>
            <a:pPr indent="-304959" lvl="0" marL="457200" rtl="0" algn="l">
              <a:spcBef>
                <a:spcPts val="0"/>
              </a:spcBef>
              <a:spcAft>
                <a:spcPts val="0"/>
              </a:spcAft>
              <a:buClr>
                <a:srgbClr val="000000"/>
              </a:buClr>
              <a:buSzPct val="100000"/>
              <a:buFont typeface="Comfortaa"/>
              <a:buChar char="-"/>
            </a:pPr>
            <a:r>
              <a:rPr lang="en" sz="1300">
                <a:solidFill>
                  <a:srgbClr val="000000"/>
                </a:solidFill>
                <a:latin typeface="Comfortaa"/>
                <a:ea typeface="Comfortaa"/>
                <a:cs typeface="Comfortaa"/>
                <a:sym typeface="Comfortaa"/>
              </a:rPr>
              <a:t>The experiment became a symbol for will power, self-control, and delayed gratification. </a:t>
            </a:r>
            <a:endParaRPr sz="1300">
              <a:solidFill>
                <a:srgbClr val="000000"/>
              </a:solidFill>
              <a:latin typeface="Comfortaa"/>
              <a:ea typeface="Comfortaa"/>
              <a:cs typeface="Comfortaa"/>
              <a:sym typeface="Comfortaa"/>
            </a:endParaRPr>
          </a:p>
          <a:p>
            <a:pPr indent="0" lvl="0" marL="0" rtl="0" algn="l">
              <a:spcBef>
                <a:spcPts val="0"/>
              </a:spcBef>
              <a:spcAft>
                <a:spcPts val="0"/>
              </a:spcAft>
              <a:buNone/>
            </a:pPr>
            <a:r>
              <a:rPr lang="en" sz="1682">
                <a:solidFill>
                  <a:srgbClr val="000000"/>
                </a:solidFill>
                <a:latin typeface="Comfortaa"/>
                <a:ea typeface="Comfortaa"/>
                <a:cs typeface="Comfortaa"/>
                <a:sym typeface="Comfortaa"/>
              </a:rPr>
              <a:t>Confounding Variable</a:t>
            </a:r>
            <a:endParaRPr sz="1682">
              <a:solidFill>
                <a:srgbClr val="000000"/>
              </a:solidFill>
              <a:latin typeface="Comfortaa"/>
              <a:ea typeface="Comfortaa"/>
              <a:cs typeface="Comfortaa"/>
              <a:sym typeface="Comfortaa"/>
            </a:endParaRPr>
          </a:p>
          <a:p>
            <a:pPr indent="-304959" lvl="0" marL="457200" rtl="0" algn="l">
              <a:spcBef>
                <a:spcPts val="0"/>
              </a:spcBef>
              <a:spcAft>
                <a:spcPts val="0"/>
              </a:spcAft>
              <a:buClr>
                <a:srgbClr val="000000"/>
              </a:buClr>
              <a:buSzPct val="100000"/>
              <a:buFont typeface="Comfortaa"/>
              <a:buChar char="-"/>
            </a:pPr>
            <a:r>
              <a:rPr lang="en" sz="1300">
                <a:solidFill>
                  <a:srgbClr val="000000"/>
                </a:solidFill>
                <a:latin typeface="Comfortaa"/>
                <a:ea typeface="Comfortaa"/>
                <a:cs typeface="Comfortaa"/>
                <a:sym typeface="Comfortaa"/>
              </a:rPr>
              <a:t>Researchers later found that waiting and life success were better explained by family income, home </a:t>
            </a:r>
            <a:r>
              <a:rPr lang="en" sz="1300">
                <a:solidFill>
                  <a:srgbClr val="000000"/>
                </a:solidFill>
                <a:latin typeface="Comfortaa"/>
                <a:ea typeface="Comfortaa"/>
                <a:cs typeface="Comfortaa"/>
                <a:sym typeface="Comfortaa"/>
              </a:rPr>
              <a:t>environment</a:t>
            </a:r>
            <a:r>
              <a:rPr lang="en" sz="1300">
                <a:solidFill>
                  <a:srgbClr val="000000"/>
                </a:solidFill>
                <a:latin typeface="Comfortaa"/>
                <a:ea typeface="Comfortaa"/>
                <a:cs typeface="Comfortaa"/>
                <a:sym typeface="Comfortaa"/>
              </a:rPr>
              <a:t>, and parental education.  </a:t>
            </a:r>
            <a:endParaRPr sz="1300">
              <a:solidFill>
                <a:srgbClr val="000000"/>
              </a:solidFill>
              <a:latin typeface="Comfortaa"/>
              <a:ea typeface="Comfortaa"/>
              <a:cs typeface="Comfortaa"/>
              <a:sym typeface="Comfortaa"/>
            </a:endParaRPr>
          </a:p>
          <a:p>
            <a:pPr indent="0" lvl="0" marL="0" rtl="0" algn="l">
              <a:spcBef>
                <a:spcPts val="0"/>
              </a:spcBef>
              <a:spcAft>
                <a:spcPts val="0"/>
              </a:spcAft>
              <a:buNone/>
            </a:pPr>
            <a:r>
              <a:t/>
            </a:r>
            <a:endParaRPr sz="1300">
              <a:solidFill>
                <a:srgbClr val="000000"/>
              </a:solidFill>
              <a:latin typeface="Comfortaa"/>
              <a:ea typeface="Comfortaa"/>
              <a:cs typeface="Comfortaa"/>
              <a:sym typeface="Comfortaa"/>
            </a:endParaRPr>
          </a:p>
          <a:p>
            <a:pPr indent="0" lvl="0" marL="0" rtl="0" algn="l">
              <a:spcBef>
                <a:spcPts val="0"/>
              </a:spcBef>
              <a:spcAft>
                <a:spcPts val="0"/>
              </a:spcAft>
              <a:buNone/>
            </a:pPr>
            <a:r>
              <a:rPr lang="en" sz="1688">
                <a:solidFill>
                  <a:schemeClr val="accent1"/>
                </a:solidFill>
                <a:latin typeface="Comfortaa"/>
                <a:ea typeface="Comfortaa"/>
                <a:cs typeface="Comfortaa"/>
                <a:sym typeface="Comfortaa"/>
              </a:rPr>
              <a:t>Resultados:</a:t>
            </a:r>
            <a:endParaRPr sz="1688">
              <a:solidFill>
                <a:schemeClr val="accent1"/>
              </a:solidFill>
              <a:latin typeface="Comfortaa"/>
              <a:ea typeface="Comfortaa"/>
              <a:cs typeface="Comfortaa"/>
              <a:sym typeface="Comfortaa"/>
            </a:endParaRPr>
          </a:p>
          <a:p>
            <a:pPr indent="-293211" lvl="0" marL="457200" rtl="0" algn="l">
              <a:spcBef>
                <a:spcPts val="0"/>
              </a:spcBef>
              <a:spcAft>
                <a:spcPts val="0"/>
              </a:spcAft>
              <a:buClr>
                <a:schemeClr val="accent1"/>
              </a:buClr>
              <a:buSzPct val="100000"/>
              <a:buFont typeface="Comfortaa"/>
              <a:buChar char="-"/>
            </a:pPr>
            <a:r>
              <a:rPr lang="en" sz="1100">
                <a:solidFill>
                  <a:schemeClr val="accent1"/>
                </a:solidFill>
                <a:latin typeface="Comfortaa"/>
                <a:ea typeface="Comfortaa"/>
                <a:cs typeface="Comfortaa"/>
                <a:sym typeface="Comfortaa"/>
              </a:rPr>
              <a:t>Encontraron que los niños que esperaron tendían a tener un mayor éxito académico y menos problemas de comportamiento.</a:t>
            </a:r>
            <a:endParaRPr sz="1100">
              <a:solidFill>
                <a:schemeClr val="accent1"/>
              </a:solidFill>
              <a:latin typeface="Comfortaa"/>
              <a:ea typeface="Comfortaa"/>
              <a:cs typeface="Comfortaa"/>
              <a:sym typeface="Comfortaa"/>
            </a:endParaRPr>
          </a:p>
          <a:p>
            <a:pPr indent="-293211" lvl="0" marL="457200" rtl="0" algn="l">
              <a:spcBef>
                <a:spcPts val="0"/>
              </a:spcBef>
              <a:spcAft>
                <a:spcPts val="0"/>
              </a:spcAft>
              <a:buClr>
                <a:schemeClr val="accent1"/>
              </a:buClr>
              <a:buSzPct val="100000"/>
              <a:buFont typeface="Comfortaa"/>
              <a:buChar char="-"/>
            </a:pPr>
            <a:r>
              <a:rPr lang="en" sz="1100">
                <a:solidFill>
                  <a:schemeClr val="accent1"/>
                </a:solidFill>
                <a:latin typeface="Comfortaa"/>
                <a:ea typeface="Comfortaa"/>
                <a:cs typeface="Comfortaa"/>
                <a:sym typeface="Comfortaa"/>
              </a:rPr>
              <a:t>El experimento se convirtió en un símbolo de la fuerza de voluntad, el autocontrol y la gratificación retrasada.</a:t>
            </a:r>
            <a:endParaRPr sz="1100">
              <a:solidFill>
                <a:schemeClr val="accent1"/>
              </a:solidFill>
              <a:latin typeface="Comfortaa"/>
              <a:ea typeface="Comfortaa"/>
              <a:cs typeface="Comfortaa"/>
              <a:sym typeface="Comfortaa"/>
            </a:endParaRPr>
          </a:p>
          <a:p>
            <a:pPr indent="0" lvl="0" marL="0" rtl="0" algn="l">
              <a:spcBef>
                <a:spcPts val="1200"/>
              </a:spcBef>
              <a:spcAft>
                <a:spcPts val="0"/>
              </a:spcAft>
              <a:buNone/>
            </a:pPr>
            <a:r>
              <a:rPr lang="en" sz="1688">
                <a:solidFill>
                  <a:schemeClr val="accent1"/>
                </a:solidFill>
                <a:latin typeface="Comfortaa"/>
                <a:ea typeface="Comfortaa"/>
                <a:cs typeface="Comfortaa"/>
                <a:sym typeface="Comfortaa"/>
              </a:rPr>
              <a:t>Variable de confusión</a:t>
            </a:r>
            <a:endParaRPr sz="1688">
              <a:solidFill>
                <a:schemeClr val="accent1"/>
              </a:solidFill>
              <a:latin typeface="Comfortaa"/>
              <a:ea typeface="Comfortaa"/>
              <a:cs typeface="Comfortaa"/>
              <a:sym typeface="Comfortaa"/>
            </a:endParaRPr>
          </a:p>
          <a:p>
            <a:pPr indent="-293211" lvl="0" marL="457200" rtl="0" algn="l">
              <a:spcBef>
                <a:spcPts val="1200"/>
              </a:spcBef>
              <a:spcAft>
                <a:spcPts val="0"/>
              </a:spcAft>
              <a:buClr>
                <a:schemeClr val="accent1"/>
              </a:buClr>
              <a:buSzPct val="100000"/>
              <a:buFont typeface="Comfortaa"/>
              <a:buChar char="-"/>
            </a:pPr>
            <a:r>
              <a:rPr lang="en" sz="1100">
                <a:solidFill>
                  <a:schemeClr val="accent1"/>
                </a:solidFill>
                <a:latin typeface="Comfortaa"/>
                <a:ea typeface="Comfortaa"/>
                <a:cs typeface="Comfortaa"/>
                <a:sym typeface="Comfortaa"/>
              </a:rPr>
              <a:t>Más tarde, los investigadores descubrieron que la relación entre esperar y el éxito en la vida se explicaba mejor por factores como los ingresos familiares, el ambiente del hogar y el nivel educativo de los padres.</a:t>
            </a:r>
            <a:endParaRPr sz="1100">
              <a:solidFill>
                <a:schemeClr val="accent1"/>
              </a:solidFill>
              <a:latin typeface="Comfortaa"/>
              <a:ea typeface="Comfortaa"/>
              <a:cs typeface="Comfortaa"/>
              <a:sym typeface="Comfortaa"/>
            </a:endParaRPr>
          </a:p>
          <a:p>
            <a:pPr indent="0" lvl="0" marL="0" rtl="0" algn="l">
              <a:spcBef>
                <a:spcPts val="1200"/>
              </a:spcBef>
              <a:spcAft>
                <a:spcPts val="0"/>
              </a:spcAft>
              <a:buNone/>
            </a:pPr>
            <a:r>
              <a:t/>
            </a:r>
            <a:endParaRPr sz="1300">
              <a:solidFill>
                <a:srgbClr val="000000"/>
              </a:solidFill>
              <a:latin typeface="Comfortaa"/>
              <a:ea typeface="Comfortaa"/>
              <a:cs typeface="Comfortaa"/>
              <a:sym typeface="Comfortaa"/>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9"/>
          <p:cNvSpPr txBox="1"/>
          <p:nvPr>
            <p:ph idx="4294967295" type="ctrTitle"/>
          </p:nvPr>
        </p:nvSpPr>
        <p:spPr>
          <a:xfrm>
            <a:off x="311700" y="608825"/>
            <a:ext cx="8520600" cy="913200"/>
          </a:xfrm>
          <a:prstGeom prst="rect">
            <a:avLst/>
          </a:prstGeom>
          <a:noFill/>
          <a:ln>
            <a:noFill/>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Clr>
                <a:schemeClr val="dk1"/>
              </a:buClr>
              <a:buSzPts val="2800"/>
              <a:buFont typeface="Arial"/>
              <a:buNone/>
            </a:pPr>
            <a:r>
              <a:rPr b="0" i="0" lang="en" sz="4400" u="none" cap="none" strike="noStrike">
                <a:solidFill>
                  <a:schemeClr val="dk1"/>
                </a:solidFill>
                <a:latin typeface="Arial"/>
                <a:ea typeface="Arial"/>
                <a:cs typeface="Arial"/>
                <a:sym typeface="Arial"/>
              </a:rPr>
              <a:t>Introduction to </a:t>
            </a:r>
            <a:r>
              <a:rPr lang="en" sz="4400"/>
              <a:t>M</a:t>
            </a:r>
            <a:r>
              <a:rPr b="0" i="0" lang="en" sz="4400" u="none" cap="none" strike="noStrike">
                <a:solidFill>
                  <a:schemeClr val="dk1"/>
                </a:solidFill>
                <a:latin typeface="Arial"/>
                <a:ea typeface="Arial"/>
                <a:cs typeface="Arial"/>
                <a:sym typeface="Arial"/>
              </a:rPr>
              <a:t>emory</a:t>
            </a:r>
            <a:endParaRPr b="0" i="0" sz="4400" u="none" cap="none" strike="noStrike">
              <a:solidFill>
                <a:schemeClr val="dk1"/>
              </a:solidFill>
              <a:latin typeface="Arial"/>
              <a:ea typeface="Arial"/>
              <a:cs typeface="Arial"/>
              <a:sym typeface="Arial"/>
            </a:endParaRPr>
          </a:p>
        </p:txBody>
      </p:sp>
      <p:pic>
        <p:nvPicPr>
          <p:cNvPr id="398" name="Google Shape;398;p9"/>
          <p:cNvPicPr preferRelativeResize="0"/>
          <p:nvPr/>
        </p:nvPicPr>
        <p:blipFill rotWithShape="1">
          <a:blip r:embed="rId3">
            <a:alphaModFix/>
          </a:blip>
          <a:srcRect b="0" l="0" r="0" t="0"/>
          <a:stretch/>
        </p:blipFill>
        <p:spPr>
          <a:xfrm>
            <a:off x="2788287" y="1391000"/>
            <a:ext cx="3567421" cy="3316675"/>
          </a:xfrm>
          <a:prstGeom prst="rect">
            <a:avLst/>
          </a:prstGeom>
          <a:noFill/>
          <a:ln>
            <a:noFill/>
          </a:ln>
        </p:spPr>
      </p:pic>
      <p:sp>
        <p:nvSpPr>
          <p:cNvPr id="399" name="Google Shape;399;p9"/>
          <p:cNvSpPr/>
          <p:nvPr/>
        </p:nvSpPr>
        <p:spPr>
          <a:xfrm>
            <a:off x="4734125" y="1627025"/>
            <a:ext cx="2183400" cy="1112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10"/>
          <p:cNvSpPr txBox="1"/>
          <p:nvPr>
            <p:ph type="title"/>
          </p:nvPr>
        </p:nvSpPr>
        <p:spPr>
          <a:xfrm>
            <a:off x="128825" y="12395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latin typeface="Comfortaa"/>
                <a:ea typeface="Comfortaa"/>
                <a:cs typeface="Comfortaa"/>
                <a:sym typeface="Comfortaa"/>
              </a:rPr>
              <a:t>Types of Memory</a:t>
            </a:r>
            <a:endParaRPr b="1">
              <a:latin typeface="Comfortaa"/>
              <a:ea typeface="Comfortaa"/>
              <a:cs typeface="Comfortaa"/>
              <a:sym typeface="Comfortaa"/>
            </a:endParaRPr>
          </a:p>
          <a:p>
            <a:pPr indent="0" lvl="0" marL="0" rtl="0" algn="l">
              <a:lnSpc>
                <a:spcPct val="100000"/>
              </a:lnSpc>
              <a:spcBef>
                <a:spcPts val="0"/>
              </a:spcBef>
              <a:spcAft>
                <a:spcPts val="0"/>
              </a:spcAft>
              <a:buSzPct val="153863"/>
              <a:buNone/>
            </a:pPr>
            <a:r>
              <a:rPr b="1" lang="en" sz="2022">
                <a:solidFill>
                  <a:schemeClr val="accent1"/>
                </a:solidFill>
                <a:latin typeface="Comfortaa"/>
                <a:ea typeface="Comfortaa"/>
                <a:cs typeface="Comfortaa"/>
                <a:sym typeface="Comfortaa"/>
              </a:rPr>
              <a:t>Tipos de memoria</a:t>
            </a:r>
            <a:endParaRPr b="1" sz="2022">
              <a:solidFill>
                <a:schemeClr val="accent1"/>
              </a:solidFill>
              <a:latin typeface="Comfortaa"/>
              <a:ea typeface="Comfortaa"/>
              <a:cs typeface="Comfortaa"/>
              <a:sym typeface="Comfortaa"/>
            </a:endParaRPr>
          </a:p>
        </p:txBody>
      </p:sp>
      <p:sp>
        <p:nvSpPr>
          <p:cNvPr id="405" name="Google Shape;405;p10"/>
          <p:cNvSpPr txBox="1"/>
          <p:nvPr>
            <p:ph idx="1" type="body"/>
          </p:nvPr>
        </p:nvSpPr>
        <p:spPr>
          <a:xfrm>
            <a:off x="311700" y="1066725"/>
            <a:ext cx="7755000" cy="38967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chemeClr val="dk1"/>
              </a:buClr>
              <a:buSzPts val="1800"/>
              <a:buAutoNum type="arabicPeriod"/>
            </a:pPr>
            <a:r>
              <a:rPr b="1" lang="en" sz="1900">
                <a:solidFill>
                  <a:schemeClr val="dk1"/>
                </a:solidFill>
                <a:latin typeface="Comfortaa"/>
                <a:ea typeface="Comfortaa"/>
                <a:cs typeface="Comfortaa"/>
                <a:sym typeface="Comfortaa"/>
              </a:rPr>
              <a:t>Sensory Memory:</a:t>
            </a:r>
            <a:r>
              <a:rPr lang="en">
                <a:solidFill>
                  <a:schemeClr val="dk1"/>
                </a:solidFill>
                <a:latin typeface="Comfortaa"/>
                <a:ea typeface="Comfortaa"/>
                <a:cs typeface="Comfortaa"/>
                <a:sym typeface="Comfortaa"/>
              </a:rPr>
              <a:t> Holds incoming information from your senses for a very short time.</a:t>
            </a:r>
            <a:endParaRPr>
              <a:solidFill>
                <a:schemeClr val="dk1"/>
              </a:solidFill>
              <a:latin typeface="Comfortaa"/>
              <a:ea typeface="Comfortaa"/>
              <a:cs typeface="Comfortaa"/>
              <a:sym typeface="Comfortaa"/>
            </a:endParaRPr>
          </a:p>
          <a:p>
            <a:pPr indent="0" lvl="0" marL="0" rtl="0" algn="l">
              <a:lnSpc>
                <a:spcPct val="115000"/>
              </a:lnSpc>
              <a:spcBef>
                <a:spcPts val="1200"/>
              </a:spcBef>
              <a:spcAft>
                <a:spcPts val="0"/>
              </a:spcAft>
              <a:buSzPts val="1800"/>
              <a:buNone/>
            </a:pPr>
            <a:r>
              <a:rPr b="1" lang="en" sz="1600">
                <a:solidFill>
                  <a:srgbClr val="4A86E8"/>
                </a:solidFill>
                <a:latin typeface="Comfortaa"/>
                <a:ea typeface="Comfortaa"/>
                <a:cs typeface="Comfortaa"/>
                <a:sym typeface="Comfortaa"/>
              </a:rPr>
              <a:t>Memoria sensorial:</a:t>
            </a:r>
            <a:r>
              <a:rPr lang="en" sz="1600">
                <a:solidFill>
                  <a:srgbClr val="4A86E8"/>
                </a:solidFill>
                <a:latin typeface="Comfortaa"/>
                <a:ea typeface="Comfortaa"/>
                <a:cs typeface="Comfortaa"/>
                <a:sym typeface="Comfortaa"/>
              </a:rPr>
              <a:t> Retiene la información que llega de tus sentidos por un tiempo muy breve.</a:t>
            </a:r>
            <a:endParaRPr sz="1600">
              <a:solidFill>
                <a:srgbClr val="4A86E8"/>
              </a:solidFill>
              <a:latin typeface="Comfortaa"/>
              <a:ea typeface="Comfortaa"/>
              <a:cs typeface="Comfortaa"/>
              <a:sym typeface="Comfortaa"/>
            </a:endParaRPr>
          </a:p>
          <a:p>
            <a:pPr indent="0" lvl="0" marL="0" rtl="0" algn="l">
              <a:lnSpc>
                <a:spcPct val="115000"/>
              </a:lnSpc>
              <a:spcBef>
                <a:spcPts val="0"/>
              </a:spcBef>
              <a:spcAft>
                <a:spcPts val="0"/>
              </a:spcAft>
              <a:buSzPts val="1800"/>
              <a:buNone/>
            </a:pPr>
            <a:r>
              <a:t/>
            </a:r>
            <a:endParaRPr sz="1400">
              <a:latin typeface="Comfortaa"/>
              <a:ea typeface="Comfortaa"/>
              <a:cs typeface="Comfortaa"/>
              <a:sym typeface="Comfortaa"/>
            </a:endParaRPr>
          </a:p>
          <a:p>
            <a:pPr indent="-342900" lvl="0" marL="457200" rtl="0" algn="l">
              <a:lnSpc>
                <a:spcPct val="115000"/>
              </a:lnSpc>
              <a:spcBef>
                <a:spcPts val="0"/>
              </a:spcBef>
              <a:spcAft>
                <a:spcPts val="0"/>
              </a:spcAft>
              <a:buClr>
                <a:schemeClr val="dk1"/>
              </a:buClr>
              <a:buSzPts val="1800"/>
              <a:buAutoNum type="arabicPeriod"/>
            </a:pPr>
            <a:r>
              <a:rPr b="1" lang="en" sz="1900">
                <a:solidFill>
                  <a:schemeClr val="dk1"/>
                </a:solidFill>
                <a:latin typeface="Comfortaa"/>
                <a:ea typeface="Comfortaa"/>
                <a:cs typeface="Comfortaa"/>
                <a:sym typeface="Comfortaa"/>
              </a:rPr>
              <a:t>Short-Term / Working Memory:</a:t>
            </a:r>
            <a:r>
              <a:rPr lang="en">
                <a:solidFill>
                  <a:schemeClr val="dk1"/>
                </a:solidFill>
                <a:latin typeface="Comfortaa"/>
                <a:ea typeface="Comfortaa"/>
                <a:cs typeface="Comfortaa"/>
                <a:sym typeface="Comfortaa"/>
              </a:rPr>
              <a:t> Holds a small amount of information for a short time so you can use it right away.</a:t>
            </a:r>
            <a:endParaRPr>
              <a:solidFill>
                <a:schemeClr val="dk1"/>
              </a:solidFill>
              <a:latin typeface="Comfortaa"/>
              <a:ea typeface="Comfortaa"/>
              <a:cs typeface="Comfortaa"/>
              <a:sym typeface="Comfortaa"/>
            </a:endParaRPr>
          </a:p>
          <a:p>
            <a:pPr indent="0" lvl="0" marL="0" rtl="0" algn="l">
              <a:lnSpc>
                <a:spcPct val="115000"/>
              </a:lnSpc>
              <a:spcBef>
                <a:spcPts val="1200"/>
              </a:spcBef>
              <a:spcAft>
                <a:spcPts val="0"/>
              </a:spcAft>
              <a:buSzPts val="1800"/>
              <a:buNone/>
            </a:pPr>
            <a:r>
              <a:rPr b="1" lang="en" sz="1600">
                <a:solidFill>
                  <a:schemeClr val="accent1"/>
                </a:solidFill>
                <a:latin typeface="Comfortaa"/>
                <a:ea typeface="Comfortaa"/>
                <a:cs typeface="Comfortaa"/>
                <a:sym typeface="Comfortaa"/>
              </a:rPr>
              <a:t>Memoria a corto plazo / Memoria de trabajo:</a:t>
            </a:r>
            <a:r>
              <a:rPr lang="en" sz="1600">
                <a:solidFill>
                  <a:schemeClr val="accent1"/>
                </a:solidFill>
                <a:latin typeface="Comfortaa"/>
                <a:ea typeface="Comfortaa"/>
                <a:cs typeface="Comfortaa"/>
                <a:sym typeface="Comfortaa"/>
              </a:rPr>
              <a:t> Retiene una pequeña cantidad de información por un tiempo breve para poder usarla de inmediato.</a:t>
            </a:r>
            <a:endParaRPr>
              <a:solidFill>
                <a:schemeClr val="accent1"/>
              </a:solidFill>
              <a:latin typeface="Comfortaa"/>
              <a:ea typeface="Comfortaa"/>
              <a:cs typeface="Comfortaa"/>
              <a:sym typeface="Comfortaa"/>
            </a:endParaRPr>
          </a:p>
        </p:txBody>
      </p:sp>
      <p:pic>
        <p:nvPicPr>
          <p:cNvPr id="406" name="Google Shape;406;p10"/>
          <p:cNvPicPr preferRelativeResize="0"/>
          <p:nvPr/>
        </p:nvPicPr>
        <p:blipFill rotWithShape="1">
          <a:blip r:embed="rId3">
            <a:alphaModFix/>
          </a:blip>
          <a:srcRect b="0" l="0" r="0" t="0"/>
          <a:stretch/>
        </p:blipFill>
        <p:spPr>
          <a:xfrm>
            <a:off x="7722650" y="0"/>
            <a:ext cx="1421350" cy="142135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11"/>
          <p:cNvSpPr txBox="1"/>
          <p:nvPr>
            <p:ph type="title"/>
          </p:nvPr>
        </p:nvSpPr>
        <p:spPr>
          <a:xfrm>
            <a:off x="129550" y="1062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latin typeface="Comfortaa"/>
                <a:ea typeface="Comfortaa"/>
                <a:cs typeface="Comfortaa"/>
                <a:sym typeface="Comfortaa"/>
              </a:rPr>
              <a:t>Types of Memory</a:t>
            </a:r>
            <a:endParaRPr b="1">
              <a:latin typeface="Comfortaa"/>
              <a:ea typeface="Comfortaa"/>
              <a:cs typeface="Comfortaa"/>
              <a:sym typeface="Comfortaa"/>
            </a:endParaRPr>
          </a:p>
          <a:p>
            <a:pPr indent="0" lvl="0" marL="0" rtl="0" algn="l">
              <a:lnSpc>
                <a:spcPct val="100000"/>
              </a:lnSpc>
              <a:spcBef>
                <a:spcPts val="0"/>
              </a:spcBef>
              <a:spcAft>
                <a:spcPts val="0"/>
              </a:spcAft>
              <a:buSzPct val="153863"/>
              <a:buNone/>
            </a:pPr>
            <a:r>
              <a:rPr b="1" lang="en" sz="2022">
                <a:solidFill>
                  <a:schemeClr val="accent1"/>
                </a:solidFill>
                <a:latin typeface="Comfortaa"/>
                <a:ea typeface="Comfortaa"/>
                <a:cs typeface="Comfortaa"/>
                <a:sym typeface="Comfortaa"/>
              </a:rPr>
              <a:t>Tipos de memoria</a:t>
            </a:r>
            <a:endParaRPr b="1" sz="2022">
              <a:solidFill>
                <a:schemeClr val="accent1"/>
              </a:solidFill>
              <a:latin typeface="Comfortaa"/>
              <a:ea typeface="Comfortaa"/>
              <a:cs typeface="Comfortaa"/>
              <a:sym typeface="Comfortaa"/>
            </a:endParaRPr>
          </a:p>
        </p:txBody>
      </p:sp>
      <p:sp>
        <p:nvSpPr>
          <p:cNvPr id="412" name="Google Shape;412;p11"/>
          <p:cNvSpPr txBox="1"/>
          <p:nvPr>
            <p:ph idx="1" type="body"/>
          </p:nvPr>
        </p:nvSpPr>
        <p:spPr>
          <a:xfrm>
            <a:off x="129550" y="1023850"/>
            <a:ext cx="4793100" cy="4148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sz="1900">
                <a:solidFill>
                  <a:schemeClr val="dk1"/>
                </a:solidFill>
                <a:latin typeface="Comfortaa"/>
                <a:ea typeface="Comfortaa"/>
                <a:cs typeface="Comfortaa"/>
                <a:sym typeface="Comfortaa"/>
              </a:rPr>
              <a:t>3.   Long Term Memory:</a:t>
            </a:r>
            <a:endParaRPr b="1" sz="1900">
              <a:solidFill>
                <a:schemeClr val="dk1"/>
              </a:solidFill>
              <a:latin typeface="Comfortaa"/>
              <a:ea typeface="Comfortaa"/>
              <a:cs typeface="Comfortaa"/>
              <a:sym typeface="Comfortaa"/>
            </a:endParaRPr>
          </a:p>
          <a:p>
            <a:pPr indent="-342900" lvl="0" marL="457200" rtl="0" algn="l">
              <a:lnSpc>
                <a:spcPct val="115000"/>
              </a:lnSpc>
              <a:spcBef>
                <a:spcPts val="1200"/>
              </a:spcBef>
              <a:spcAft>
                <a:spcPts val="0"/>
              </a:spcAft>
              <a:buClr>
                <a:schemeClr val="dk1"/>
              </a:buClr>
              <a:buSzPts val="1800"/>
              <a:buChar char="●"/>
            </a:pPr>
            <a:r>
              <a:rPr b="1" lang="en">
                <a:solidFill>
                  <a:schemeClr val="dk1"/>
                </a:solidFill>
                <a:latin typeface="Comfortaa"/>
                <a:ea typeface="Comfortaa"/>
                <a:cs typeface="Comfortaa"/>
                <a:sym typeface="Comfortaa"/>
              </a:rPr>
              <a:t>Explicit:</a:t>
            </a:r>
            <a:r>
              <a:rPr lang="en">
                <a:solidFill>
                  <a:schemeClr val="dk1"/>
                </a:solidFill>
                <a:latin typeface="Comfortaa"/>
                <a:ea typeface="Comfortaa"/>
                <a:cs typeface="Comfortaa"/>
                <a:sym typeface="Comfortaa"/>
              </a:rPr>
              <a:t> Memories you can consciously recall and describe.</a:t>
            </a:r>
            <a:endParaRPr>
              <a:solidFill>
                <a:schemeClr val="dk1"/>
              </a:solidFill>
              <a:latin typeface="Comfortaa"/>
              <a:ea typeface="Comfortaa"/>
              <a:cs typeface="Comfortaa"/>
              <a:sym typeface="Comfortaa"/>
            </a:endParaRPr>
          </a:p>
          <a:p>
            <a:pPr indent="-342900" lvl="1" marL="914400" rtl="0" algn="l">
              <a:lnSpc>
                <a:spcPct val="115000"/>
              </a:lnSpc>
              <a:spcBef>
                <a:spcPts val="0"/>
              </a:spcBef>
              <a:spcAft>
                <a:spcPts val="0"/>
              </a:spcAft>
              <a:buClr>
                <a:schemeClr val="dk1"/>
              </a:buClr>
              <a:buSzPts val="1800"/>
              <a:buFont typeface="Comfortaa"/>
              <a:buChar char="○"/>
            </a:pPr>
            <a:r>
              <a:rPr lang="en" sz="1800" u="sng">
                <a:solidFill>
                  <a:schemeClr val="dk1"/>
                </a:solidFill>
                <a:latin typeface="Comfortaa"/>
                <a:ea typeface="Comfortaa"/>
                <a:cs typeface="Comfortaa"/>
                <a:sym typeface="Comfortaa"/>
              </a:rPr>
              <a:t>Episodic:</a:t>
            </a:r>
            <a:r>
              <a:rPr lang="en" sz="1800">
                <a:solidFill>
                  <a:schemeClr val="dk1"/>
                </a:solidFill>
                <a:latin typeface="Comfortaa"/>
                <a:ea typeface="Comfortaa"/>
                <a:cs typeface="Comfortaa"/>
                <a:sym typeface="Comfortaa"/>
              </a:rPr>
              <a:t> Personal experiences and events</a:t>
            </a:r>
            <a:endParaRPr sz="1800">
              <a:solidFill>
                <a:schemeClr val="dk1"/>
              </a:solidFill>
              <a:latin typeface="Comfortaa"/>
              <a:ea typeface="Comfortaa"/>
              <a:cs typeface="Comfortaa"/>
              <a:sym typeface="Comfortaa"/>
            </a:endParaRPr>
          </a:p>
          <a:p>
            <a:pPr indent="-342900" lvl="1" marL="914400" rtl="0" algn="l">
              <a:lnSpc>
                <a:spcPct val="115000"/>
              </a:lnSpc>
              <a:spcBef>
                <a:spcPts val="0"/>
              </a:spcBef>
              <a:spcAft>
                <a:spcPts val="0"/>
              </a:spcAft>
              <a:buClr>
                <a:schemeClr val="dk1"/>
              </a:buClr>
              <a:buSzPts val="1800"/>
              <a:buFont typeface="Comfortaa"/>
              <a:buChar char="○"/>
            </a:pPr>
            <a:r>
              <a:rPr lang="en" sz="1800" u="sng">
                <a:solidFill>
                  <a:schemeClr val="dk1"/>
                </a:solidFill>
                <a:latin typeface="Comfortaa"/>
                <a:ea typeface="Comfortaa"/>
                <a:cs typeface="Comfortaa"/>
                <a:sym typeface="Comfortaa"/>
              </a:rPr>
              <a:t>Semantic:</a:t>
            </a:r>
            <a:r>
              <a:rPr lang="en" sz="1800">
                <a:solidFill>
                  <a:schemeClr val="dk1"/>
                </a:solidFill>
                <a:latin typeface="Comfortaa"/>
                <a:ea typeface="Comfortaa"/>
                <a:cs typeface="Comfortaa"/>
                <a:sym typeface="Comfortaa"/>
              </a:rPr>
              <a:t> Facts and general knowledge</a:t>
            </a:r>
            <a:endParaRPr sz="1800">
              <a:solidFill>
                <a:schemeClr val="dk1"/>
              </a:solidFill>
              <a:latin typeface="Comfortaa"/>
              <a:ea typeface="Comfortaa"/>
              <a:cs typeface="Comfortaa"/>
              <a:sym typeface="Comfortaa"/>
            </a:endParaRPr>
          </a:p>
          <a:p>
            <a:pPr indent="0" lvl="0" marL="0" rtl="0" algn="l">
              <a:lnSpc>
                <a:spcPct val="115000"/>
              </a:lnSpc>
              <a:spcBef>
                <a:spcPts val="0"/>
              </a:spcBef>
              <a:spcAft>
                <a:spcPts val="0"/>
              </a:spcAft>
              <a:buSzPts val="1800"/>
              <a:buNone/>
            </a:pPr>
            <a:r>
              <a:t/>
            </a:r>
            <a:endParaRPr sz="1600">
              <a:solidFill>
                <a:schemeClr val="dk1"/>
              </a:solidFill>
              <a:latin typeface="Comfortaa"/>
              <a:ea typeface="Comfortaa"/>
              <a:cs typeface="Comfortaa"/>
              <a:sym typeface="Comfortaa"/>
            </a:endParaRPr>
          </a:p>
          <a:p>
            <a:pPr indent="-342900" lvl="0" marL="457200" rtl="0" algn="l">
              <a:lnSpc>
                <a:spcPct val="115000"/>
              </a:lnSpc>
              <a:spcBef>
                <a:spcPts val="0"/>
              </a:spcBef>
              <a:spcAft>
                <a:spcPts val="0"/>
              </a:spcAft>
              <a:buClr>
                <a:schemeClr val="dk1"/>
              </a:buClr>
              <a:buSzPts val="1800"/>
              <a:buChar char="●"/>
            </a:pPr>
            <a:r>
              <a:rPr b="1" lang="en">
                <a:solidFill>
                  <a:schemeClr val="dk1"/>
                </a:solidFill>
                <a:latin typeface="Comfortaa"/>
                <a:ea typeface="Comfortaa"/>
                <a:cs typeface="Comfortaa"/>
                <a:sym typeface="Comfortaa"/>
              </a:rPr>
              <a:t>Implicit/Procedural: </a:t>
            </a:r>
            <a:r>
              <a:rPr lang="en">
                <a:solidFill>
                  <a:schemeClr val="dk1"/>
                </a:solidFill>
                <a:latin typeface="Comfortaa"/>
                <a:ea typeface="Comfortaa"/>
                <a:cs typeface="Comfortaa"/>
                <a:sym typeface="Comfortaa"/>
              </a:rPr>
              <a:t>Memory that affects what you do or how you act without thinking.</a:t>
            </a:r>
            <a:endParaRPr>
              <a:solidFill>
                <a:schemeClr val="dk1"/>
              </a:solidFill>
              <a:latin typeface="Comfortaa"/>
              <a:ea typeface="Comfortaa"/>
              <a:cs typeface="Comfortaa"/>
              <a:sym typeface="Comfortaa"/>
            </a:endParaRPr>
          </a:p>
        </p:txBody>
      </p:sp>
      <p:pic>
        <p:nvPicPr>
          <p:cNvPr id="413" name="Google Shape;413;p11"/>
          <p:cNvPicPr preferRelativeResize="0"/>
          <p:nvPr/>
        </p:nvPicPr>
        <p:blipFill rotWithShape="1">
          <a:blip r:embed="rId3">
            <a:alphaModFix/>
          </a:blip>
          <a:srcRect b="0" l="0" r="0" t="0"/>
          <a:stretch/>
        </p:blipFill>
        <p:spPr>
          <a:xfrm>
            <a:off x="5379750" y="0"/>
            <a:ext cx="3416726" cy="2253651"/>
          </a:xfrm>
          <a:prstGeom prst="rect">
            <a:avLst/>
          </a:prstGeom>
          <a:noFill/>
          <a:ln>
            <a:noFill/>
          </a:ln>
        </p:spPr>
      </p:pic>
      <p:sp>
        <p:nvSpPr>
          <p:cNvPr id="414" name="Google Shape;414;p11"/>
          <p:cNvSpPr txBox="1"/>
          <p:nvPr>
            <p:ph idx="1" type="body"/>
          </p:nvPr>
        </p:nvSpPr>
        <p:spPr>
          <a:xfrm>
            <a:off x="4922650" y="2253650"/>
            <a:ext cx="4221300" cy="236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688"/>
              <a:buNone/>
            </a:pPr>
            <a:r>
              <a:rPr lang="en" sz="1600">
                <a:solidFill>
                  <a:schemeClr val="accent1"/>
                </a:solidFill>
                <a:latin typeface="Comfortaa"/>
                <a:ea typeface="Comfortaa"/>
                <a:cs typeface="Comfortaa"/>
                <a:sym typeface="Comfortaa"/>
              </a:rPr>
              <a:t>3.</a:t>
            </a:r>
            <a:r>
              <a:rPr b="1" lang="en" sz="1700">
                <a:solidFill>
                  <a:schemeClr val="accent1"/>
                </a:solidFill>
                <a:latin typeface="Comfortaa"/>
                <a:ea typeface="Comfortaa"/>
                <a:cs typeface="Comfortaa"/>
                <a:sym typeface="Comfortaa"/>
              </a:rPr>
              <a:t>   Memoria a Largo Plazo:</a:t>
            </a:r>
            <a:endParaRPr b="1" sz="1700">
              <a:solidFill>
                <a:schemeClr val="accent1"/>
              </a:solidFill>
              <a:latin typeface="Comfortaa"/>
              <a:ea typeface="Comfortaa"/>
              <a:cs typeface="Comfortaa"/>
              <a:sym typeface="Comfortaa"/>
            </a:endParaRPr>
          </a:p>
          <a:p>
            <a:pPr indent="-330200" lvl="0" marL="457200" rtl="0" algn="l">
              <a:lnSpc>
                <a:spcPct val="115000"/>
              </a:lnSpc>
              <a:spcBef>
                <a:spcPts val="0"/>
              </a:spcBef>
              <a:spcAft>
                <a:spcPts val="0"/>
              </a:spcAft>
              <a:buClr>
                <a:schemeClr val="accent1"/>
              </a:buClr>
              <a:buSzPts val="1600"/>
              <a:buChar char="●"/>
            </a:pPr>
            <a:r>
              <a:rPr b="1" lang="en" sz="1600">
                <a:solidFill>
                  <a:schemeClr val="accent1"/>
                </a:solidFill>
                <a:latin typeface="Comfortaa"/>
                <a:ea typeface="Comfortaa"/>
                <a:cs typeface="Comfortaa"/>
                <a:sym typeface="Comfortaa"/>
              </a:rPr>
              <a:t>Explícita: </a:t>
            </a:r>
            <a:r>
              <a:rPr lang="en" sz="1600">
                <a:solidFill>
                  <a:schemeClr val="accent1"/>
                </a:solidFill>
                <a:latin typeface="Comfortaa"/>
                <a:ea typeface="Comfortaa"/>
                <a:cs typeface="Comfortaa"/>
                <a:sym typeface="Comfortaa"/>
              </a:rPr>
              <a:t>Recuerdos que puedes recordar y describir.</a:t>
            </a:r>
            <a:endParaRPr sz="1600">
              <a:solidFill>
                <a:schemeClr val="accent1"/>
              </a:solidFill>
              <a:latin typeface="Comfortaa"/>
              <a:ea typeface="Comfortaa"/>
              <a:cs typeface="Comfortaa"/>
              <a:sym typeface="Comfortaa"/>
            </a:endParaRPr>
          </a:p>
          <a:p>
            <a:pPr indent="-330200" lvl="1" marL="914400" rtl="0" algn="l">
              <a:lnSpc>
                <a:spcPct val="115000"/>
              </a:lnSpc>
              <a:spcBef>
                <a:spcPts val="0"/>
              </a:spcBef>
              <a:spcAft>
                <a:spcPts val="0"/>
              </a:spcAft>
              <a:buClr>
                <a:schemeClr val="accent1"/>
              </a:buClr>
              <a:buSzPts val="1600"/>
              <a:buFont typeface="Comfortaa"/>
              <a:buChar char="○"/>
            </a:pPr>
            <a:r>
              <a:rPr lang="en" sz="1600" u="sng">
                <a:solidFill>
                  <a:schemeClr val="accent1"/>
                </a:solidFill>
                <a:latin typeface="Comfortaa"/>
                <a:ea typeface="Comfortaa"/>
                <a:cs typeface="Comfortaa"/>
                <a:sym typeface="Comfortaa"/>
              </a:rPr>
              <a:t>Episódica:</a:t>
            </a:r>
            <a:r>
              <a:rPr lang="en" sz="1600">
                <a:solidFill>
                  <a:schemeClr val="accent1"/>
                </a:solidFill>
                <a:latin typeface="Comfortaa"/>
                <a:ea typeface="Comfortaa"/>
                <a:cs typeface="Comfortaa"/>
                <a:sym typeface="Comfortaa"/>
              </a:rPr>
              <a:t> Experiencias y eventos personales</a:t>
            </a:r>
            <a:endParaRPr sz="1600">
              <a:solidFill>
                <a:schemeClr val="accent1"/>
              </a:solidFill>
              <a:latin typeface="Comfortaa"/>
              <a:ea typeface="Comfortaa"/>
              <a:cs typeface="Comfortaa"/>
              <a:sym typeface="Comfortaa"/>
            </a:endParaRPr>
          </a:p>
          <a:p>
            <a:pPr indent="-330200" lvl="1" marL="914400" rtl="0" algn="l">
              <a:lnSpc>
                <a:spcPct val="115000"/>
              </a:lnSpc>
              <a:spcBef>
                <a:spcPts val="0"/>
              </a:spcBef>
              <a:spcAft>
                <a:spcPts val="0"/>
              </a:spcAft>
              <a:buClr>
                <a:schemeClr val="accent1"/>
              </a:buClr>
              <a:buSzPts val="1600"/>
              <a:buFont typeface="Comfortaa"/>
              <a:buChar char="○"/>
            </a:pPr>
            <a:r>
              <a:rPr lang="en" sz="1600" u="sng">
                <a:solidFill>
                  <a:schemeClr val="accent1"/>
                </a:solidFill>
                <a:latin typeface="Comfortaa"/>
                <a:ea typeface="Comfortaa"/>
                <a:cs typeface="Comfortaa"/>
                <a:sym typeface="Comfortaa"/>
              </a:rPr>
              <a:t>Semántica:</a:t>
            </a:r>
            <a:r>
              <a:rPr lang="en" sz="1600">
                <a:solidFill>
                  <a:schemeClr val="accent1"/>
                </a:solidFill>
                <a:latin typeface="Comfortaa"/>
                <a:ea typeface="Comfortaa"/>
                <a:cs typeface="Comfortaa"/>
                <a:sym typeface="Comfortaa"/>
              </a:rPr>
              <a:t> Hechos y conocimientos generales</a:t>
            </a:r>
            <a:endParaRPr sz="1600">
              <a:solidFill>
                <a:schemeClr val="accent1"/>
              </a:solidFill>
              <a:latin typeface="Comfortaa"/>
              <a:ea typeface="Comfortaa"/>
              <a:cs typeface="Comfortaa"/>
              <a:sym typeface="Comfortaa"/>
            </a:endParaRPr>
          </a:p>
          <a:p>
            <a:pPr indent="-330200" lvl="0" marL="457200" rtl="0" algn="l">
              <a:lnSpc>
                <a:spcPct val="115000"/>
              </a:lnSpc>
              <a:spcBef>
                <a:spcPts val="0"/>
              </a:spcBef>
              <a:spcAft>
                <a:spcPts val="0"/>
              </a:spcAft>
              <a:buClr>
                <a:schemeClr val="accent1"/>
              </a:buClr>
              <a:buSzPts val="1600"/>
              <a:buChar char="●"/>
            </a:pPr>
            <a:r>
              <a:rPr b="1" lang="en" sz="1600">
                <a:solidFill>
                  <a:schemeClr val="accent1"/>
                </a:solidFill>
                <a:latin typeface="Comfortaa"/>
                <a:ea typeface="Comfortaa"/>
                <a:cs typeface="Comfortaa"/>
                <a:sym typeface="Comfortaa"/>
              </a:rPr>
              <a:t>Implícita/Procedimental: </a:t>
            </a:r>
            <a:r>
              <a:rPr lang="en" sz="1600">
                <a:solidFill>
                  <a:schemeClr val="accent1"/>
                </a:solidFill>
                <a:latin typeface="Comfortaa"/>
                <a:ea typeface="Comfortaa"/>
                <a:cs typeface="Comfortaa"/>
                <a:sym typeface="Comfortaa"/>
              </a:rPr>
              <a:t>Memoria que influye en lo que haces o cómo actúas sin pensar.</a:t>
            </a:r>
            <a:endParaRPr sz="1600">
              <a:solidFill>
                <a:schemeClr val="accent1"/>
              </a:solidFill>
              <a:latin typeface="Comfortaa"/>
              <a:ea typeface="Comfortaa"/>
              <a:cs typeface="Comfortaa"/>
              <a:sym typeface="Comfortaa"/>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12"/>
          <p:cNvSpPr txBox="1"/>
          <p:nvPr>
            <p:ph type="title"/>
          </p:nvPr>
        </p:nvSpPr>
        <p:spPr>
          <a:xfrm>
            <a:off x="311700" y="2037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latin typeface="Comfortaa"/>
                <a:ea typeface="Comfortaa"/>
                <a:cs typeface="Comfortaa"/>
                <a:sym typeface="Comfortaa"/>
              </a:rPr>
              <a:t>Stages of Memory</a:t>
            </a:r>
            <a:endParaRPr b="1">
              <a:latin typeface="Comfortaa"/>
              <a:ea typeface="Comfortaa"/>
              <a:cs typeface="Comfortaa"/>
              <a:sym typeface="Comfortaa"/>
            </a:endParaRPr>
          </a:p>
          <a:p>
            <a:pPr indent="0" lvl="0" marL="0" rtl="0" algn="l">
              <a:lnSpc>
                <a:spcPct val="100000"/>
              </a:lnSpc>
              <a:spcBef>
                <a:spcPts val="0"/>
              </a:spcBef>
              <a:spcAft>
                <a:spcPts val="0"/>
              </a:spcAft>
              <a:buSzPct val="153863"/>
              <a:buNone/>
            </a:pPr>
            <a:r>
              <a:rPr b="1" lang="en" sz="2022">
                <a:solidFill>
                  <a:schemeClr val="accent1"/>
                </a:solidFill>
                <a:latin typeface="Comfortaa"/>
                <a:ea typeface="Comfortaa"/>
                <a:cs typeface="Comfortaa"/>
                <a:sym typeface="Comfortaa"/>
              </a:rPr>
              <a:t>Etapas de la memoria</a:t>
            </a:r>
            <a:endParaRPr b="1" sz="2022">
              <a:solidFill>
                <a:schemeClr val="accent1"/>
              </a:solidFill>
              <a:latin typeface="Comfortaa"/>
              <a:ea typeface="Comfortaa"/>
              <a:cs typeface="Comfortaa"/>
              <a:sym typeface="Comfortaa"/>
            </a:endParaRPr>
          </a:p>
        </p:txBody>
      </p:sp>
      <p:sp>
        <p:nvSpPr>
          <p:cNvPr id="420" name="Google Shape;420;p12"/>
          <p:cNvSpPr txBox="1"/>
          <p:nvPr>
            <p:ph idx="1" type="body"/>
          </p:nvPr>
        </p:nvSpPr>
        <p:spPr>
          <a:xfrm>
            <a:off x="311700" y="1089600"/>
            <a:ext cx="7857000" cy="40539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Clr>
                <a:schemeClr val="dk1"/>
              </a:buClr>
              <a:buSzPts val="1800"/>
              <a:buAutoNum type="arabicPeriod"/>
            </a:pPr>
            <a:r>
              <a:rPr b="1" lang="en">
                <a:solidFill>
                  <a:schemeClr val="dk1"/>
                </a:solidFill>
                <a:latin typeface="Comfortaa"/>
                <a:ea typeface="Comfortaa"/>
                <a:cs typeface="Comfortaa"/>
                <a:sym typeface="Comfortaa"/>
              </a:rPr>
              <a:t>Encoding:</a:t>
            </a:r>
            <a:r>
              <a:rPr lang="en">
                <a:solidFill>
                  <a:schemeClr val="dk1"/>
                </a:solidFill>
                <a:latin typeface="Comfortaa"/>
                <a:ea typeface="Comfortaa"/>
                <a:cs typeface="Comfortaa"/>
                <a:sym typeface="Comfortaa"/>
              </a:rPr>
              <a:t> The process of taking in information and converting it into a form the brain can store.</a:t>
            </a:r>
            <a:endParaRPr>
              <a:solidFill>
                <a:schemeClr val="dk1"/>
              </a:solidFill>
              <a:latin typeface="Comfortaa"/>
              <a:ea typeface="Comfortaa"/>
              <a:cs typeface="Comfortaa"/>
              <a:sym typeface="Comfortaa"/>
            </a:endParaRPr>
          </a:p>
          <a:p>
            <a:pPr indent="0" lvl="0" marL="0" rtl="0" algn="l">
              <a:lnSpc>
                <a:spcPct val="115000"/>
              </a:lnSpc>
              <a:spcBef>
                <a:spcPts val="1200"/>
              </a:spcBef>
              <a:spcAft>
                <a:spcPts val="0"/>
              </a:spcAft>
              <a:buSzPts val="1800"/>
              <a:buNone/>
            </a:pPr>
            <a:r>
              <a:rPr b="1" lang="en" sz="1600">
                <a:solidFill>
                  <a:schemeClr val="accent1"/>
                </a:solidFill>
                <a:latin typeface="Comfortaa"/>
                <a:ea typeface="Comfortaa"/>
                <a:cs typeface="Comfortaa"/>
                <a:sym typeface="Comfortaa"/>
              </a:rPr>
              <a:t>Codificación:</a:t>
            </a:r>
            <a:r>
              <a:rPr lang="en" sz="1600">
                <a:solidFill>
                  <a:schemeClr val="accent1"/>
                </a:solidFill>
                <a:latin typeface="Comfortaa"/>
                <a:ea typeface="Comfortaa"/>
                <a:cs typeface="Comfortaa"/>
                <a:sym typeface="Comfortaa"/>
              </a:rPr>
              <a:t> El proceso de recibir información y convertirla en una forma que el cerebro pueda almacenar.</a:t>
            </a:r>
            <a:endParaRPr>
              <a:solidFill>
                <a:schemeClr val="dk1"/>
              </a:solidFill>
              <a:latin typeface="Comfortaa"/>
              <a:ea typeface="Comfortaa"/>
              <a:cs typeface="Comfortaa"/>
              <a:sym typeface="Comfortaa"/>
            </a:endParaRPr>
          </a:p>
          <a:p>
            <a:pPr indent="-342900" lvl="0" marL="457200" rtl="0" algn="l">
              <a:lnSpc>
                <a:spcPct val="115000"/>
              </a:lnSpc>
              <a:spcBef>
                <a:spcPts val="1200"/>
              </a:spcBef>
              <a:spcAft>
                <a:spcPts val="0"/>
              </a:spcAft>
              <a:buClr>
                <a:schemeClr val="dk1"/>
              </a:buClr>
              <a:buSzPts val="1800"/>
              <a:buAutoNum type="arabicPeriod"/>
            </a:pPr>
            <a:r>
              <a:rPr b="1" lang="en">
                <a:solidFill>
                  <a:schemeClr val="dk1"/>
                </a:solidFill>
                <a:latin typeface="Comfortaa"/>
                <a:ea typeface="Comfortaa"/>
                <a:cs typeface="Comfortaa"/>
                <a:sym typeface="Comfortaa"/>
              </a:rPr>
              <a:t>Storage: </a:t>
            </a:r>
            <a:r>
              <a:rPr lang="en">
                <a:solidFill>
                  <a:schemeClr val="dk1"/>
                </a:solidFill>
                <a:latin typeface="Comfortaa"/>
                <a:ea typeface="Comfortaa"/>
                <a:cs typeface="Comfortaa"/>
                <a:sym typeface="Comfortaa"/>
              </a:rPr>
              <a:t>Maintaining the information over time in your memory system.</a:t>
            </a:r>
            <a:endParaRPr>
              <a:solidFill>
                <a:schemeClr val="dk1"/>
              </a:solidFill>
              <a:latin typeface="Comfortaa"/>
              <a:ea typeface="Comfortaa"/>
              <a:cs typeface="Comfortaa"/>
              <a:sym typeface="Comfortaa"/>
            </a:endParaRPr>
          </a:p>
          <a:p>
            <a:pPr indent="0" lvl="0" marL="0" rtl="0" algn="l">
              <a:lnSpc>
                <a:spcPct val="115000"/>
              </a:lnSpc>
              <a:spcBef>
                <a:spcPts val="1200"/>
              </a:spcBef>
              <a:spcAft>
                <a:spcPts val="0"/>
              </a:spcAft>
              <a:buSzPts val="1800"/>
              <a:buNone/>
            </a:pPr>
            <a:r>
              <a:rPr b="1" lang="en" sz="1600">
                <a:solidFill>
                  <a:schemeClr val="accent1"/>
                </a:solidFill>
                <a:latin typeface="Comfortaa"/>
                <a:ea typeface="Comfortaa"/>
                <a:cs typeface="Comfortaa"/>
                <a:sym typeface="Comfortaa"/>
              </a:rPr>
              <a:t>Almacenamiento:</a:t>
            </a:r>
            <a:r>
              <a:rPr lang="en" sz="1600">
                <a:solidFill>
                  <a:schemeClr val="accent1"/>
                </a:solidFill>
                <a:latin typeface="Comfortaa"/>
                <a:ea typeface="Comfortaa"/>
                <a:cs typeface="Comfortaa"/>
                <a:sym typeface="Comfortaa"/>
              </a:rPr>
              <a:t> Mantener la información a lo largo del tiempo en tu sistema de memoria.</a:t>
            </a:r>
            <a:endParaRPr>
              <a:solidFill>
                <a:schemeClr val="dk1"/>
              </a:solidFill>
              <a:latin typeface="Comfortaa"/>
              <a:ea typeface="Comfortaa"/>
              <a:cs typeface="Comfortaa"/>
              <a:sym typeface="Comfortaa"/>
            </a:endParaRPr>
          </a:p>
          <a:p>
            <a:pPr indent="-342900" lvl="0" marL="457200" rtl="0" algn="l">
              <a:lnSpc>
                <a:spcPct val="115000"/>
              </a:lnSpc>
              <a:spcBef>
                <a:spcPts val="1200"/>
              </a:spcBef>
              <a:spcAft>
                <a:spcPts val="0"/>
              </a:spcAft>
              <a:buClr>
                <a:schemeClr val="dk1"/>
              </a:buClr>
              <a:buSzPts val="1800"/>
              <a:buAutoNum type="arabicPeriod"/>
            </a:pPr>
            <a:r>
              <a:rPr b="1" lang="en">
                <a:solidFill>
                  <a:schemeClr val="dk1"/>
                </a:solidFill>
                <a:latin typeface="Comfortaa"/>
                <a:ea typeface="Comfortaa"/>
                <a:cs typeface="Comfortaa"/>
                <a:sym typeface="Comfortaa"/>
              </a:rPr>
              <a:t>Retrieval:</a:t>
            </a:r>
            <a:r>
              <a:rPr lang="en">
                <a:solidFill>
                  <a:schemeClr val="dk1"/>
                </a:solidFill>
                <a:latin typeface="Comfortaa"/>
                <a:ea typeface="Comfortaa"/>
                <a:cs typeface="Comfortaa"/>
                <a:sym typeface="Comfortaa"/>
              </a:rPr>
              <a:t> Accessing stored information when you need it.</a:t>
            </a:r>
            <a:endParaRPr>
              <a:solidFill>
                <a:schemeClr val="dk1"/>
              </a:solidFill>
              <a:latin typeface="Comfortaa"/>
              <a:ea typeface="Comfortaa"/>
              <a:cs typeface="Comfortaa"/>
              <a:sym typeface="Comfortaa"/>
            </a:endParaRPr>
          </a:p>
          <a:p>
            <a:pPr indent="0" lvl="0" marL="0" rtl="0" algn="l">
              <a:lnSpc>
                <a:spcPct val="115000"/>
              </a:lnSpc>
              <a:spcBef>
                <a:spcPts val="1200"/>
              </a:spcBef>
              <a:spcAft>
                <a:spcPts val="1200"/>
              </a:spcAft>
              <a:buSzPts val="1800"/>
              <a:buNone/>
            </a:pPr>
            <a:r>
              <a:rPr b="1" lang="en" sz="1600">
                <a:solidFill>
                  <a:schemeClr val="accent1"/>
                </a:solidFill>
                <a:latin typeface="Comfortaa"/>
                <a:ea typeface="Comfortaa"/>
                <a:cs typeface="Comfortaa"/>
                <a:sym typeface="Comfortaa"/>
              </a:rPr>
              <a:t>Recuperación:</a:t>
            </a:r>
            <a:r>
              <a:rPr lang="en" sz="1600">
                <a:solidFill>
                  <a:schemeClr val="accent1"/>
                </a:solidFill>
                <a:latin typeface="Comfortaa"/>
                <a:ea typeface="Comfortaa"/>
                <a:cs typeface="Comfortaa"/>
                <a:sym typeface="Comfortaa"/>
              </a:rPr>
              <a:t> Acceder a la información almacenada cuando la necesitas.</a:t>
            </a:r>
            <a:endParaRPr>
              <a:solidFill>
                <a:schemeClr val="dk1"/>
              </a:solidFill>
              <a:latin typeface="Comfortaa"/>
              <a:ea typeface="Comfortaa"/>
              <a:cs typeface="Comfortaa"/>
              <a:sym typeface="Comfortaa"/>
            </a:endParaRPr>
          </a:p>
        </p:txBody>
      </p:sp>
      <p:pic>
        <p:nvPicPr>
          <p:cNvPr id="421" name="Google Shape;421;p12"/>
          <p:cNvPicPr preferRelativeResize="0"/>
          <p:nvPr/>
        </p:nvPicPr>
        <p:blipFill rotWithShape="1">
          <a:blip r:embed="rId3">
            <a:alphaModFix/>
          </a:blip>
          <a:srcRect b="0" l="14749" r="0" t="0"/>
          <a:stretch/>
        </p:blipFill>
        <p:spPr>
          <a:xfrm>
            <a:off x="7292325" y="119875"/>
            <a:ext cx="1800375" cy="140787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13"/>
          <p:cNvSpPr txBox="1"/>
          <p:nvPr>
            <p:ph type="title"/>
          </p:nvPr>
        </p:nvSpPr>
        <p:spPr>
          <a:xfrm>
            <a:off x="311700" y="2306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latin typeface="Comfortaa"/>
                <a:ea typeface="Comfortaa"/>
                <a:cs typeface="Comfortaa"/>
                <a:sym typeface="Comfortaa"/>
              </a:rPr>
              <a:t>Activity:</a:t>
            </a:r>
            <a:endParaRPr b="1">
              <a:latin typeface="Comfortaa"/>
              <a:ea typeface="Comfortaa"/>
              <a:cs typeface="Comfortaa"/>
              <a:sym typeface="Comfortaa"/>
            </a:endParaRPr>
          </a:p>
          <a:p>
            <a:pPr indent="0" lvl="0" marL="0" rtl="0" algn="l">
              <a:lnSpc>
                <a:spcPct val="100000"/>
              </a:lnSpc>
              <a:spcBef>
                <a:spcPts val="0"/>
              </a:spcBef>
              <a:spcAft>
                <a:spcPts val="0"/>
              </a:spcAft>
              <a:buSzPct val="153863"/>
              <a:buNone/>
            </a:pPr>
            <a:r>
              <a:rPr b="1" lang="en" sz="2022">
                <a:solidFill>
                  <a:schemeClr val="accent1"/>
                </a:solidFill>
                <a:latin typeface="Comfortaa"/>
                <a:ea typeface="Comfortaa"/>
                <a:cs typeface="Comfortaa"/>
                <a:sym typeface="Comfortaa"/>
              </a:rPr>
              <a:t>Actividad</a:t>
            </a:r>
            <a:endParaRPr b="1" sz="2022">
              <a:solidFill>
                <a:schemeClr val="accent1"/>
              </a:solidFill>
              <a:latin typeface="Comfortaa"/>
              <a:ea typeface="Comfortaa"/>
              <a:cs typeface="Comfortaa"/>
              <a:sym typeface="Comfortaa"/>
            </a:endParaRPr>
          </a:p>
        </p:txBody>
      </p:sp>
      <p:sp>
        <p:nvSpPr>
          <p:cNvPr id="427" name="Google Shape;427;p13"/>
          <p:cNvSpPr txBox="1"/>
          <p:nvPr>
            <p:ph idx="1" type="body"/>
          </p:nvPr>
        </p:nvSpPr>
        <p:spPr>
          <a:xfrm>
            <a:off x="311700" y="1242050"/>
            <a:ext cx="8520600" cy="3326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2000">
                <a:solidFill>
                  <a:schemeClr val="dk1"/>
                </a:solidFill>
                <a:latin typeface="Comfortaa"/>
                <a:ea typeface="Comfortaa"/>
                <a:cs typeface="Comfortaa"/>
                <a:sym typeface="Comfortaa"/>
              </a:rPr>
              <a:t>We are going to show you a list of words for 20 seconds. After the time is up, write down as many words as you can remember.</a:t>
            </a:r>
            <a:endParaRPr sz="2000">
              <a:solidFill>
                <a:schemeClr val="dk1"/>
              </a:solidFill>
              <a:latin typeface="Comfortaa"/>
              <a:ea typeface="Comfortaa"/>
              <a:cs typeface="Comfortaa"/>
              <a:sym typeface="Comfortaa"/>
            </a:endParaRPr>
          </a:p>
          <a:p>
            <a:pPr indent="0" lvl="0" marL="0" rtl="0" algn="l">
              <a:lnSpc>
                <a:spcPct val="115000"/>
              </a:lnSpc>
              <a:spcBef>
                <a:spcPts val="1200"/>
              </a:spcBef>
              <a:spcAft>
                <a:spcPts val="0"/>
              </a:spcAft>
              <a:buSzPts val="1800"/>
              <a:buNone/>
            </a:pPr>
            <a:r>
              <a:t/>
            </a:r>
            <a:endParaRPr sz="2000">
              <a:latin typeface="Comfortaa"/>
              <a:ea typeface="Comfortaa"/>
              <a:cs typeface="Comfortaa"/>
              <a:sym typeface="Comfortaa"/>
            </a:endParaRPr>
          </a:p>
          <a:p>
            <a:pPr indent="0" lvl="0" marL="0" rtl="0" algn="l">
              <a:lnSpc>
                <a:spcPct val="115000"/>
              </a:lnSpc>
              <a:spcBef>
                <a:spcPts val="1200"/>
              </a:spcBef>
              <a:spcAft>
                <a:spcPts val="1200"/>
              </a:spcAft>
              <a:buSzPts val="1800"/>
              <a:buNone/>
            </a:pPr>
            <a:r>
              <a:rPr lang="en">
                <a:solidFill>
                  <a:schemeClr val="accent1"/>
                </a:solidFill>
                <a:latin typeface="Comfortaa"/>
                <a:ea typeface="Comfortaa"/>
                <a:cs typeface="Comfortaa"/>
                <a:sym typeface="Comfortaa"/>
              </a:rPr>
              <a:t>Vamos a mostrarles una lista de palabras durante 20 segundos. Cuando termine el tiempo, escriban todas las palabras que puedan recordar.</a:t>
            </a:r>
            <a:r>
              <a:rPr lang="en">
                <a:latin typeface="Comfortaa"/>
                <a:ea typeface="Comfortaa"/>
                <a:cs typeface="Comfortaa"/>
                <a:sym typeface="Comfortaa"/>
              </a:rPr>
              <a:t> </a:t>
            </a:r>
            <a:endParaRPr>
              <a:latin typeface="Comfortaa"/>
              <a:ea typeface="Comfortaa"/>
              <a:cs typeface="Comfortaa"/>
              <a:sym typeface="Comfortaa"/>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graphicFrame>
        <p:nvGraphicFramePr>
          <p:cNvPr id="432" name="Google Shape;432;p14"/>
          <p:cNvGraphicFramePr/>
          <p:nvPr/>
        </p:nvGraphicFramePr>
        <p:xfrm>
          <a:off x="952500" y="95025"/>
          <a:ext cx="3000000" cy="3000000"/>
        </p:xfrm>
        <a:graphic>
          <a:graphicData uri="http://schemas.openxmlformats.org/drawingml/2006/table">
            <a:tbl>
              <a:tblPr>
                <a:noFill/>
                <a:tableStyleId>{2A06B036-2650-47DB-8F29-C4CF594A36C5}</a:tableStyleId>
              </a:tblPr>
              <a:tblGrid>
                <a:gridCol w="3619500"/>
                <a:gridCol w="3619500"/>
              </a:tblGrid>
              <a:tr h="340975">
                <a:tc>
                  <a:txBody>
                    <a:bodyPr/>
                    <a:lstStyle/>
                    <a:p>
                      <a:pPr indent="0" lvl="0" marL="0" marR="0" rtl="0" algn="ctr">
                        <a:lnSpc>
                          <a:spcPct val="100000"/>
                        </a:lnSpc>
                        <a:spcBef>
                          <a:spcPts val="0"/>
                        </a:spcBef>
                        <a:spcAft>
                          <a:spcPts val="0"/>
                        </a:spcAft>
                        <a:buClr>
                          <a:srgbClr val="000000"/>
                        </a:buClr>
                        <a:buSzPts val="1500"/>
                        <a:buFont typeface="Arial"/>
                        <a:buNone/>
                      </a:pPr>
                      <a:r>
                        <a:rPr b="1" lang="en" sz="1500" u="none" cap="none" strike="noStrike">
                          <a:latin typeface="Comfortaa"/>
                          <a:ea typeface="Comfortaa"/>
                          <a:cs typeface="Comfortaa"/>
                          <a:sym typeface="Comfortaa"/>
                        </a:rPr>
                        <a:t>apple</a:t>
                      </a:r>
                      <a:endParaRPr b="1" sz="1500" u="none" cap="none" strike="noStrike">
                        <a:latin typeface="Comfortaa"/>
                        <a:ea typeface="Comfortaa"/>
                        <a:cs typeface="Comfortaa"/>
                        <a:sym typeface="Comfortaa"/>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500"/>
                        <a:buFont typeface="Arial"/>
                        <a:buNone/>
                      </a:pPr>
                      <a:r>
                        <a:rPr b="1" lang="en" sz="1500" u="none" cap="none" strike="noStrike">
                          <a:latin typeface="Comfortaa"/>
                          <a:ea typeface="Comfortaa"/>
                          <a:cs typeface="Comfortaa"/>
                          <a:sym typeface="Comfortaa"/>
                        </a:rPr>
                        <a:t>spinach</a:t>
                      </a:r>
                      <a:endParaRPr b="1" sz="1500" u="none" cap="none" strike="noStrike">
                        <a:latin typeface="Comfortaa"/>
                        <a:ea typeface="Comfortaa"/>
                        <a:cs typeface="Comfortaa"/>
                        <a:sym typeface="Comfortaa"/>
                      </a:endParaRPr>
                    </a:p>
                  </a:txBody>
                  <a:tcPr marT="91425" marB="91425" marR="91425" marL="91425"/>
                </a:tc>
              </a:tr>
              <a:tr h="340975">
                <a:tc>
                  <a:txBody>
                    <a:bodyPr/>
                    <a:lstStyle/>
                    <a:p>
                      <a:pPr indent="0" lvl="0" marL="0" marR="0" rtl="0" algn="ctr">
                        <a:lnSpc>
                          <a:spcPct val="100000"/>
                        </a:lnSpc>
                        <a:spcBef>
                          <a:spcPts val="0"/>
                        </a:spcBef>
                        <a:spcAft>
                          <a:spcPts val="0"/>
                        </a:spcAft>
                        <a:buClr>
                          <a:srgbClr val="000000"/>
                        </a:buClr>
                        <a:buSzPts val="1500"/>
                        <a:buFont typeface="Arial"/>
                        <a:buNone/>
                      </a:pPr>
                      <a:r>
                        <a:rPr b="1" lang="en" sz="1500" u="none" cap="none" strike="noStrike">
                          <a:latin typeface="Comfortaa"/>
                          <a:ea typeface="Comfortaa"/>
                          <a:cs typeface="Comfortaa"/>
                          <a:sym typeface="Comfortaa"/>
                        </a:rPr>
                        <a:t>banana</a:t>
                      </a:r>
                      <a:endParaRPr b="1" sz="1500" u="none" cap="none" strike="noStrike">
                        <a:latin typeface="Comfortaa"/>
                        <a:ea typeface="Comfortaa"/>
                        <a:cs typeface="Comfortaa"/>
                        <a:sym typeface="Comfortaa"/>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500"/>
                        <a:buFont typeface="Arial"/>
                        <a:buNone/>
                      </a:pPr>
                      <a:r>
                        <a:rPr b="1" lang="en" sz="1500" u="none" cap="none" strike="noStrike">
                          <a:latin typeface="Comfortaa"/>
                          <a:ea typeface="Comfortaa"/>
                          <a:cs typeface="Comfortaa"/>
                          <a:sym typeface="Comfortaa"/>
                        </a:rPr>
                        <a:t>hammer</a:t>
                      </a:r>
                      <a:endParaRPr b="1" sz="1500" u="none" cap="none" strike="noStrike">
                        <a:latin typeface="Comfortaa"/>
                        <a:ea typeface="Comfortaa"/>
                        <a:cs typeface="Comfortaa"/>
                        <a:sym typeface="Comfortaa"/>
                      </a:endParaRPr>
                    </a:p>
                  </a:txBody>
                  <a:tcPr marT="91425" marB="91425" marR="91425" marL="91425"/>
                </a:tc>
              </a:tr>
              <a:tr h="340975">
                <a:tc>
                  <a:txBody>
                    <a:bodyPr/>
                    <a:lstStyle/>
                    <a:p>
                      <a:pPr indent="0" lvl="0" marL="0" marR="0" rtl="0" algn="ctr">
                        <a:lnSpc>
                          <a:spcPct val="100000"/>
                        </a:lnSpc>
                        <a:spcBef>
                          <a:spcPts val="0"/>
                        </a:spcBef>
                        <a:spcAft>
                          <a:spcPts val="0"/>
                        </a:spcAft>
                        <a:buClr>
                          <a:srgbClr val="000000"/>
                        </a:buClr>
                        <a:buSzPts val="1500"/>
                        <a:buFont typeface="Arial"/>
                        <a:buNone/>
                      </a:pPr>
                      <a:r>
                        <a:rPr b="1" lang="en" sz="1500" u="none" cap="none" strike="noStrike">
                          <a:latin typeface="Comfortaa"/>
                          <a:ea typeface="Comfortaa"/>
                          <a:cs typeface="Comfortaa"/>
                          <a:sym typeface="Comfortaa"/>
                        </a:rPr>
                        <a:t>wrench</a:t>
                      </a:r>
                      <a:endParaRPr b="1" sz="1500" u="none" cap="none" strike="noStrike">
                        <a:latin typeface="Comfortaa"/>
                        <a:ea typeface="Comfortaa"/>
                        <a:cs typeface="Comfortaa"/>
                        <a:sym typeface="Comfortaa"/>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500"/>
                        <a:buFont typeface="Arial"/>
                        <a:buNone/>
                      </a:pPr>
                      <a:r>
                        <a:rPr b="1" lang="en" sz="1500" u="none" cap="none" strike="noStrike">
                          <a:latin typeface="Comfortaa"/>
                          <a:ea typeface="Comfortaa"/>
                          <a:cs typeface="Comfortaa"/>
                          <a:sym typeface="Comfortaa"/>
                        </a:rPr>
                        <a:t>passport</a:t>
                      </a:r>
                      <a:endParaRPr b="1" sz="1500" u="none" cap="none" strike="noStrike">
                        <a:latin typeface="Comfortaa"/>
                        <a:ea typeface="Comfortaa"/>
                        <a:cs typeface="Comfortaa"/>
                        <a:sym typeface="Comfortaa"/>
                      </a:endParaRPr>
                    </a:p>
                  </a:txBody>
                  <a:tcPr marT="91425" marB="91425" marR="91425" marL="91425"/>
                </a:tc>
              </a:tr>
              <a:tr h="340975">
                <a:tc>
                  <a:txBody>
                    <a:bodyPr/>
                    <a:lstStyle/>
                    <a:p>
                      <a:pPr indent="0" lvl="0" marL="0" marR="0" rtl="0" algn="ctr">
                        <a:lnSpc>
                          <a:spcPct val="100000"/>
                        </a:lnSpc>
                        <a:spcBef>
                          <a:spcPts val="0"/>
                        </a:spcBef>
                        <a:spcAft>
                          <a:spcPts val="0"/>
                        </a:spcAft>
                        <a:buClr>
                          <a:srgbClr val="000000"/>
                        </a:buClr>
                        <a:buSzPts val="1500"/>
                        <a:buFont typeface="Arial"/>
                        <a:buNone/>
                      </a:pPr>
                      <a:r>
                        <a:rPr b="1" lang="en" sz="1500" u="none" cap="none" strike="noStrike">
                          <a:latin typeface="Comfortaa"/>
                          <a:ea typeface="Comfortaa"/>
                          <a:cs typeface="Comfortaa"/>
                          <a:sym typeface="Comfortaa"/>
                        </a:rPr>
                        <a:t>suitcase</a:t>
                      </a:r>
                      <a:endParaRPr b="1" sz="1500" u="none" cap="none" strike="noStrike">
                        <a:latin typeface="Comfortaa"/>
                        <a:ea typeface="Comfortaa"/>
                        <a:cs typeface="Comfortaa"/>
                        <a:sym typeface="Comfortaa"/>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500"/>
                        <a:buFont typeface="Arial"/>
                        <a:buNone/>
                      </a:pPr>
                      <a:r>
                        <a:rPr b="1" lang="en" sz="1500" u="none" cap="none" strike="noStrike">
                          <a:latin typeface="Comfortaa"/>
                          <a:ea typeface="Comfortaa"/>
                          <a:cs typeface="Comfortaa"/>
                          <a:sym typeface="Comfortaa"/>
                        </a:rPr>
                        <a:t>nurse</a:t>
                      </a:r>
                      <a:endParaRPr b="1" sz="1500" u="none" cap="none" strike="noStrike">
                        <a:latin typeface="Comfortaa"/>
                        <a:ea typeface="Comfortaa"/>
                        <a:cs typeface="Comfortaa"/>
                        <a:sym typeface="Comfortaa"/>
                      </a:endParaRPr>
                    </a:p>
                  </a:txBody>
                  <a:tcPr marT="91425" marB="91425" marR="91425" marL="91425"/>
                </a:tc>
              </a:tr>
              <a:tr h="340975">
                <a:tc>
                  <a:txBody>
                    <a:bodyPr/>
                    <a:lstStyle/>
                    <a:p>
                      <a:pPr indent="0" lvl="0" marL="0" marR="0" rtl="0" algn="ctr">
                        <a:lnSpc>
                          <a:spcPct val="100000"/>
                        </a:lnSpc>
                        <a:spcBef>
                          <a:spcPts val="0"/>
                        </a:spcBef>
                        <a:spcAft>
                          <a:spcPts val="0"/>
                        </a:spcAft>
                        <a:buClr>
                          <a:srgbClr val="000000"/>
                        </a:buClr>
                        <a:buSzPts val="1500"/>
                        <a:buFont typeface="Arial"/>
                        <a:buNone/>
                      </a:pPr>
                      <a:r>
                        <a:rPr b="1" lang="en" sz="1500" u="none" cap="none" strike="noStrike">
                          <a:latin typeface="Comfortaa"/>
                          <a:ea typeface="Comfortaa"/>
                          <a:cs typeface="Comfortaa"/>
                          <a:sym typeface="Comfortaa"/>
                        </a:rPr>
                        <a:t>lawyer</a:t>
                      </a:r>
                      <a:endParaRPr b="1" sz="1500" u="none" cap="none" strike="noStrike">
                        <a:latin typeface="Comfortaa"/>
                        <a:ea typeface="Comfortaa"/>
                        <a:cs typeface="Comfortaa"/>
                        <a:sym typeface="Comfortaa"/>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500"/>
                        <a:buFont typeface="Arial"/>
                        <a:buNone/>
                      </a:pPr>
                      <a:r>
                        <a:rPr b="1" lang="en" sz="1500" u="none" cap="none" strike="noStrike">
                          <a:latin typeface="Comfortaa"/>
                          <a:ea typeface="Comfortaa"/>
                          <a:cs typeface="Comfortaa"/>
                          <a:sym typeface="Comfortaa"/>
                        </a:rPr>
                        <a:t>drill</a:t>
                      </a:r>
                      <a:endParaRPr b="1" sz="1500" u="none" cap="none" strike="noStrike">
                        <a:latin typeface="Comfortaa"/>
                        <a:ea typeface="Comfortaa"/>
                        <a:cs typeface="Comfortaa"/>
                        <a:sym typeface="Comfortaa"/>
                      </a:endParaRPr>
                    </a:p>
                  </a:txBody>
                  <a:tcPr marT="91425" marB="91425" marR="91425" marL="91425"/>
                </a:tc>
              </a:tr>
              <a:tr h="340975">
                <a:tc>
                  <a:txBody>
                    <a:bodyPr/>
                    <a:lstStyle/>
                    <a:p>
                      <a:pPr indent="0" lvl="0" marL="0" marR="0" rtl="0" algn="ctr">
                        <a:lnSpc>
                          <a:spcPct val="100000"/>
                        </a:lnSpc>
                        <a:spcBef>
                          <a:spcPts val="0"/>
                        </a:spcBef>
                        <a:spcAft>
                          <a:spcPts val="0"/>
                        </a:spcAft>
                        <a:buClr>
                          <a:srgbClr val="000000"/>
                        </a:buClr>
                        <a:buSzPts val="1500"/>
                        <a:buFont typeface="Arial"/>
                        <a:buNone/>
                      </a:pPr>
                      <a:r>
                        <a:rPr b="1" lang="en" sz="1500" u="none" cap="none" strike="noStrike">
                          <a:latin typeface="Comfortaa"/>
                          <a:ea typeface="Comfortaa"/>
                          <a:cs typeface="Comfortaa"/>
                          <a:sym typeface="Comfortaa"/>
                        </a:rPr>
                        <a:t>ticket</a:t>
                      </a:r>
                      <a:endParaRPr b="1" sz="1500" u="none" cap="none" strike="noStrike">
                        <a:latin typeface="Comfortaa"/>
                        <a:ea typeface="Comfortaa"/>
                        <a:cs typeface="Comfortaa"/>
                        <a:sym typeface="Comfortaa"/>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500"/>
                        <a:buFont typeface="Arial"/>
                        <a:buNone/>
                      </a:pPr>
                      <a:r>
                        <a:rPr b="1" lang="en" sz="1500" u="none" cap="none" strike="noStrike">
                          <a:latin typeface="Comfortaa"/>
                          <a:ea typeface="Comfortaa"/>
                          <a:cs typeface="Comfortaa"/>
                          <a:sym typeface="Comfortaa"/>
                        </a:rPr>
                        <a:t>doctor</a:t>
                      </a:r>
                      <a:endParaRPr b="1" sz="1500" u="none" cap="none" strike="noStrike">
                        <a:latin typeface="Comfortaa"/>
                        <a:ea typeface="Comfortaa"/>
                        <a:cs typeface="Comfortaa"/>
                        <a:sym typeface="Comfortaa"/>
                      </a:endParaRPr>
                    </a:p>
                  </a:txBody>
                  <a:tcPr marT="91425" marB="91425" marR="91425" marL="91425"/>
                </a:tc>
              </a:tr>
            </a:tbl>
          </a:graphicData>
        </a:graphic>
      </p:graphicFrame>
      <p:graphicFrame>
        <p:nvGraphicFramePr>
          <p:cNvPr id="433" name="Google Shape;433;p14"/>
          <p:cNvGraphicFramePr/>
          <p:nvPr/>
        </p:nvGraphicFramePr>
        <p:xfrm>
          <a:off x="1145450" y="2707700"/>
          <a:ext cx="3000000" cy="3000000"/>
        </p:xfrm>
        <a:graphic>
          <a:graphicData uri="http://schemas.openxmlformats.org/drawingml/2006/table">
            <a:tbl>
              <a:tblPr>
                <a:noFill/>
                <a:tableStyleId>{2A06B036-2650-47DB-8F29-C4CF594A36C5}</a:tableStyleId>
              </a:tblPr>
              <a:tblGrid>
                <a:gridCol w="3426550"/>
                <a:gridCol w="3426550"/>
              </a:tblGrid>
              <a:tr h="33545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chemeClr val="accent1"/>
                          </a:solidFill>
                          <a:latin typeface="Comfortaa"/>
                          <a:ea typeface="Comfortaa"/>
                          <a:cs typeface="Comfortaa"/>
                          <a:sym typeface="Comfortaa"/>
                        </a:rPr>
                        <a:t>manzana</a:t>
                      </a:r>
                      <a:endParaRPr b="1" sz="1400" u="none" cap="none" strike="noStrike">
                        <a:solidFill>
                          <a:schemeClr val="accent1"/>
                        </a:solidFill>
                        <a:latin typeface="Comfortaa"/>
                        <a:ea typeface="Comfortaa"/>
                        <a:cs typeface="Comfortaa"/>
                        <a:sym typeface="Comfortaa"/>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chemeClr val="accent1"/>
                          </a:solidFill>
                          <a:latin typeface="Comfortaa"/>
                          <a:ea typeface="Comfortaa"/>
                          <a:cs typeface="Comfortaa"/>
                          <a:sym typeface="Comfortaa"/>
                        </a:rPr>
                        <a:t>espinaca</a:t>
                      </a:r>
                      <a:endParaRPr b="1" sz="1400" u="none" cap="none" strike="noStrike">
                        <a:solidFill>
                          <a:schemeClr val="accent1"/>
                        </a:solidFill>
                        <a:latin typeface="Comfortaa"/>
                        <a:ea typeface="Comfortaa"/>
                        <a:cs typeface="Comfortaa"/>
                        <a:sym typeface="Comfortaa"/>
                      </a:endParaRPr>
                    </a:p>
                  </a:txBody>
                  <a:tcPr marT="91425" marB="91425" marR="91425" marL="91425"/>
                </a:tc>
              </a:tr>
              <a:tr h="33545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chemeClr val="accent1"/>
                          </a:solidFill>
                          <a:latin typeface="Comfortaa"/>
                          <a:ea typeface="Comfortaa"/>
                          <a:cs typeface="Comfortaa"/>
                          <a:sym typeface="Comfortaa"/>
                        </a:rPr>
                        <a:t>banana</a:t>
                      </a:r>
                      <a:endParaRPr b="1" sz="1400" u="none" cap="none" strike="noStrike">
                        <a:solidFill>
                          <a:schemeClr val="accent1"/>
                        </a:solidFill>
                        <a:latin typeface="Comfortaa"/>
                        <a:ea typeface="Comfortaa"/>
                        <a:cs typeface="Comfortaa"/>
                        <a:sym typeface="Comfortaa"/>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chemeClr val="accent1"/>
                          </a:solidFill>
                          <a:latin typeface="Comfortaa"/>
                          <a:ea typeface="Comfortaa"/>
                          <a:cs typeface="Comfortaa"/>
                          <a:sym typeface="Comfortaa"/>
                        </a:rPr>
                        <a:t>martillo</a:t>
                      </a:r>
                      <a:endParaRPr b="1" sz="1400" u="none" cap="none" strike="noStrike">
                        <a:solidFill>
                          <a:schemeClr val="accent1"/>
                        </a:solidFill>
                        <a:latin typeface="Comfortaa"/>
                        <a:ea typeface="Comfortaa"/>
                        <a:cs typeface="Comfortaa"/>
                        <a:sym typeface="Comfortaa"/>
                      </a:endParaRPr>
                    </a:p>
                  </a:txBody>
                  <a:tcPr marT="91425" marB="91425" marR="91425" marL="91425"/>
                </a:tc>
              </a:tr>
              <a:tr h="33545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chemeClr val="accent1"/>
                          </a:solidFill>
                          <a:latin typeface="Comfortaa"/>
                          <a:ea typeface="Comfortaa"/>
                          <a:cs typeface="Comfortaa"/>
                          <a:sym typeface="Comfortaa"/>
                        </a:rPr>
                        <a:t>llave inglesa</a:t>
                      </a:r>
                      <a:endParaRPr b="1" sz="1400" u="none" cap="none" strike="noStrike">
                        <a:solidFill>
                          <a:schemeClr val="accent1"/>
                        </a:solidFill>
                        <a:latin typeface="Comfortaa"/>
                        <a:ea typeface="Comfortaa"/>
                        <a:cs typeface="Comfortaa"/>
                        <a:sym typeface="Comfortaa"/>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chemeClr val="accent1"/>
                          </a:solidFill>
                          <a:latin typeface="Comfortaa"/>
                          <a:ea typeface="Comfortaa"/>
                          <a:cs typeface="Comfortaa"/>
                          <a:sym typeface="Comfortaa"/>
                        </a:rPr>
                        <a:t>pasaporte</a:t>
                      </a:r>
                      <a:endParaRPr b="1" sz="1400" u="none" cap="none" strike="noStrike">
                        <a:solidFill>
                          <a:schemeClr val="accent1"/>
                        </a:solidFill>
                        <a:latin typeface="Comfortaa"/>
                        <a:ea typeface="Comfortaa"/>
                        <a:cs typeface="Comfortaa"/>
                        <a:sym typeface="Comfortaa"/>
                      </a:endParaRPr>
                    </a:p>
                  </a:txBody>
                  <a:tcPr marT="91425" marB="91425" marR="91425" marL="91425"/>
                </a:tc>
              </a:tr>
              <a:tr h="33545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chemeClr val="accent1"/>
                          </a:solidFill>
                          <a:latin typeface="Comfortaa"/>
                          <a:ea typeface="Comfortaa"/>
                          <a:cs typeface="Comfortaa"/>
                          <a:sym typeface="Comfortaa"/>
                        </a:rPr>
                        <a:t>maleta</a:t>
                      </a:r>
                      <a:endParaRPr b="1" sz="1400" u="none" cap="none" strike="noStrike">
                        <a:solidFill>
                          <a:schemeClr val="accent1"/>
                        </a:solidFill>
                        <a:latin typeface="Comfortaa"/>
                        <a:ea typeface="Comfortaa"/>
                        <a:cs typeface="Comfortaa"/>
                        <a:sym typeface="Comfortaa"/>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chemeClr val="accent1"/>
                          </a:solidFill>
                          <a:latin typeface="Comfortaa"/>
                          <a:ea typeface="Comfortaa"/>
                          <a:cs typeface="Comfortaa"/>
                          <a:sym typeface="Comfortaa"/>
                        </a:rPr>
                        <a:t>enfermera</a:t>
                      </a:r>
                      <a:endParaRPr b="1" sz="1400" u="none" cap="none" strike="noStrike">
                        <a:solidFill>
                          <a:schemeClr val="accent1"/>
                        </a:solidFill>
                        <a:latin typeface="Comfortaa"/>
                        <a:ea typeface="Comfortaa"/>
                        <a:cs typeface="Comfortaa"/>
                        <a:sym typeface="Comfortaa"/>
                      </a:endParaRPr>
                    </a:p>
                  </a:txBody>
                  <a:tcPr marT="91425" marB="91425" marR="91425" marL="91425"/>
                </a:tc>
              </a:tr>
              <a:tr h="33545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chemeClr val="accent1"/>
                          </a:solidFill>
                          <a:latin typeface="Comfortaa"/>
                          <a:ea typeface="Comfortaa"/>
                          <a:cs typeface="Comfortaa"/>
                          <a:sym typeface="Comfortaa"/>
                        </a:rPr>
                        <a:t>abogado</a:t>
                      </a:r>
                      <a:endParaRPr b="1" sz="1400" u="none" cap="none" strike="noStrike">
                        <a:solidFill>
                          <a:schemeClr val="accent1"/>
                        </a:solidFill>
                        <a:latin typeface="Comfortaa"/>
                        <a:ea typeface="Comfortaa"/>
                        <a:cs typeface="Comfortaa"/>
                        <a:sym typeface="Comfortaa"/>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chemeClr val="accent1"/>
                          </a:solidFill>
                          <a:latin typeface="Comfortaa"/>
                          <a:ea typeface="Comfortaa"/>
                          <a:cs typeface="Comfortaa"/>
                          <a:sym typeface="Comfortaa"/>
                        </a:rPr>
                        <a:t>taladro</a:t>
                      </a:r>
                      <a:endParaRPr b="1" sz="1400" u="none" cap="none" strike="noStrike">
                        <a:solidFill>
                          <a:schemeClr val="accent1"/>
                        </a:solidFill>
                        <a:latin typeface="Comfortaa"/>
                        <a:ea typeface="Comfortaa"/>
                        <a:cs typeface="Comfortaa"/>
                        <a:sym typeface="Comfortaa"/>
                      </a:endParaRPr>
                    </a:p>
                  </a:txBody>
                  <a:tcPr marT="91425" marB="91425" marR="91425" marL="91425"/>
                </a:tc>
              </a:tr>
              <a:tr h="33545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chemeClr val="accent1"/>
                          </a:solidFill>
                          <a:latin typeface="Comfortaa"/>
                          <a:ea typeface="Comfortaa"/>
                          <a:cs typeface="Comfortaa"/>
                          <a:sym typeface="Comfortaa"/>
                        </a:rPr>
                        <a:t>boleto</a:t>
                      </a:r>
                      <a:endParaRPr b="1" sz="1400" u="none" cap="none" strike="noStrike">
                        <a:solidFill>
                          <a:schemeClr val="accent1"/>
                        </a:solidFill>
                        <a:latin typeface="Comfortaa"/>
                        <a:ea typeface="Comfortaa"/>
                        <a:cs typeface="Comfortaa"/>
                        <a:sym typeface="Comfortaa"/>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chemeClr val="accent1"/>
                          </a:solidFill>
                          <a:latin typeface="Comfortaa"/>
                          <a:ea typeface="Comfortaa"/>
                          <a:cs typeface="Comfortaa"/>
                          <a:sym typeface="Comfortaa"/>
                        </a:rPr>
                        <a:t>médico</a:t>
                      </a:r>
                      <a:endParaRPr b="1" sz="1400" u="none" cap="none" strike="noStrike">
                        <a:solidFill>
                          <a:schemeClr val="accent1"/>
                        </a:solidFill>
                        <a:latin typeface="Comfortaa"/>
                        <a:ea typeface="Comfortaa"/>
                        <a:cs typeface="Comfortaa"/>
                        <a:sym typeface="Comfortaa"/>
                      </a:endParaRPr>
                    </a:p>
                  </a:txBody>
                  <a:tcPr marT="91425" marB="91425" marR="91425" marL="91425"/>
                </a:tc>
              </a:tr>
            </a:tbl>
          </a:graphicData>
        </a:graphic>
      </p:graphicFrame>
      <p:cxnSp>
        <p:nvCxnSpPr>
          <p:cNvPr id="434" name="Google Shape;434;p14"/>
          <p:cNvCxnSpPr/>
          <p:nvPr/>
        </p:nvCxnSpPr>
        <p:spPr>
          <a:xfrm>
            <a:off x="5350" y="2621000"/>
            <a:ext cx="9106500" cy="0"/>
          </a:xfrm>
          <a:prstGeom prst="straightConnector1">
            <a:avLst/>
          </a:prstGeom>
          <a:noFill/>
          <a:ln cap="flat" cmpd="sng" w="38100">
            <a:solidFill>
              <a:schemeClr val="dk1"/>
            </a:solidFill>
            <a:prstDash val="solid"/>
            <a:round/>
            <a:headEnd len="sm" w="sm" type="none"/>
            <a:tailEnd len="sm" w="sm" type="none"/>
          </a:ln>
        </p:spPr>
      </p:cxn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15"/>
          <p:cNvSpPr txBox="1"/>
          <p:nvPr>
            <p:ph type="title"/>
          </p:nvPr>
        </p:nvSpPr>
        <p:spPr>
          <a:xfrm>
            <a:off x="311700" y="2574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latin typeface="Comfortaa"/>
                <a:ea typeface="Comfortaa"/>
                <a:cs typeface="Comfortaa"/>
                <a:sym typeface="Comfortaa"/>
              </a:rPr>
              <a:t>Memory Recall</a:t>
            </a:r>
            <a:endParaRPr b="1">
              <a:latin typeface="Comfortaa"/>
              <a:ea typeface="Comfortaa"/>
              <a:cs typeface="Comfortaa"/>
              <a:sym typeface="Comfortaa"/>
            </a:endParaRPr>
          </a:p>
          <a:p>
            <a:pPr indent="0" lvl="0" marL="0" rtl="0" algn="l">
              <a:lnSpc>
                <a:spcPct val="100000"/>
              </a:lnSpc>
              <a:spcBef>
                <a:spcPts val="0"/>
              </a:spcBef>
              <a:spcAft>
                <a:spcPts val="0"/>
              </a:spcAft>
              <a:buSzPct val="145856"/>
              <a:buNone/>
            </a:pPr>
            <a:r>
              <a:rPr b="1" lang="en" sz="2133">
                <a:solidFill>
                  <a:schemeClr val="accent1"/>
                </a:solidFill>
                <a:latin typeface="Comfortaa"/>
                <a:ea typeface="Comfortaa"/>
                <a:cs typeface="Comfortaa"/>
                <a:sym typeface="Comfortaa"/>
              </a:rPr>
              <a:t>Recuperación de la memoria</a:t>
            </a:r>
            <a:endParaRPr b="1" sz="2133">
              <a:solidFill>
                <a:schemeClr val="accent1"/>
              </a:solidFill>
              <a:latin typeface="Comfortaa"/>
              <a:ea typeface="Comfortaa"/>
              <a:cs typeface="Comfortaa"/>
              <a:sym typeface="Comfortaa"/>
            </a:endParaRPr>
          </a:p>
          <a:p>
            <a:pPr indent="0" lvl="0" marL="0" rtl="0" algn="l">
              <a:lnSpc>
                <a:spcPct val="100000"/>
              </a:lnSpc>
              <a:spcBef>
                <a:spcPts val="0"/>
              </a:spcBef>
              <a:spcAft>
                <a:spcPts val="0"/>
              </a:spcAft>
              <a:buSzPct val="145856"/>
              <a:buNone/>
            </a:pPr>
            <a:r>
              <a:t/>
            </a:r>
            <a:endParaRPr b="1" sz="2133">
              <a:solidFill>
                <a:schemeClr val="dk2"/>
              </a:solidFill>
              <a:latin typeface="Comfortaa"/>
              <a:ea typeface="Comfortaa"/>
              <a:cs typeface="Comfortaa"/>
              <a:sym typeface="Comfortaa"/>
            </a:endParaRPr>
          </a:p>
        </p:txBody>
      </p:sp>
      <p:sp>
        <p:nvSpPr>
          <p:cNvPr id="440" name="Google Shape;440;p15"/>
          <p:cNvSpPr txBox="1"/>
          <p:nvPr>
            <p:ph idx="1" type="body"/>
          </p:nvPr>
        </p:nvSpPr>
        <p:spPr>
          <a:xfrm>
            <a:off x="311700" y="1341125"/>
            <a:ext cx="8520600" cy="3292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solidFill>
                  <a:schemeClr val="dk1"/>
                </a:solidFill>
                <a:latin typeface="Comfortaa"/>
                <a:ea typeface="Comfortaa"/>
                <a:cs typeface="Comfortaa"/>
                <a:sym typeface="Comfortaa"/>
              </a:rPr>
              <a:t>How many words did you recall?</a:t>
            </a:r>
            <a:endParaRPr>
              <a:solidFill>
                <a:schemeClr val="dk1"/>
              </a:solidFill>
              <a:latin typeface="Comfortaa"/>
              <a:ea typeface="Comfortaa"/>
              <a:cs typeface="Comfortaa"/>
              <a:sym typeface="Comfortaa"/>
            </a:endParaRPr>
          </a:p>
          <a:p>
            <a:pPr indent="0" lvl="0" marL="0" rtl="0" algn="l">
              <a:lnSpc>
                <a:spcPct val="115000"/>
              </a:lnSpc>
              <a:spcBef>
                <a:spcPts val="1200"/>
              </a:spcBef>
              <a:spcAft>
                <a:spcPts val="0"/>
              </a:spcAft>
              <a:buSzPts val="1800"/>
              <a:buNone/>
            </a:pPr>
            <a:r>
              <a:rPr lang="en">
                <a:solidFill>
                  <a:schemeClr val="dk1"/>
                </a:solidFill>
                <a:latin typeface="Comfortaa"/>
                <a:ea typeface="Comfortaa"/>
                <a:cs typeface="Comfortaa"/>
                <a:sym typeface="Comfortaa"/>
              </a:rPr>
              <a:t>What strategies did you use to recall the words?</a:t>
            </a:r>
            <a:endParaRPr>
              <a:solidFill>
                <a:schemeClr val="dk1"/>
              </a:solidFill>
              <a:latin typeface="Comfortaa"/>
              <a:ea typeface="Comfortaa"/>
              <a:cs typeface="Comfortaa"/>
              <a:sym typeface="Comfortaa"/>
            </a:endParaRPr>
          </a:p>
          <a:p>
            <a:pPr indent="0" lvl="0" marL="0" rtl="0" algn="l">
              <a:lnSpc>
                <a:spcPct val="115000"/>
              </a:lnSpc>
              <a:spcBef>
                <a:spcPts val="1200"/>
              </a:spcBef>
              <a:spcAft>
                <a:spcPts val="0"/>
              </a:spcAft>
              <a:buSzPts val="1800"/>
              <a:buNone/>
            </a:pPr>
            <a:r>
              <a:t/>
            </a:r>
            <a:endParaRPr>
              <a:latin typeface="Comfortaa"/>
              <a:ea typeface="Comfortaa"/>
              <a:cs typeface="Comfortaa"/>
              <a:sym typeface="Comfortaa"/>
            </a:endParaRPr>
          </a:p>
          <a:p>
            <a:pPr indent="0" lvl="0" marL="0" rtl="0" algn="l">
              <a:lnSpc>
                <a:spcPct val="115000"/>
              </a:lnSpc>
              <a:spcBef>
                <a:spcPts val="1200"/>
              </a:spcBef>
              <a:spcAft>
                <a:spcPts val="0"/>
              </a:spcAft>
              <a:buSzPts val="1800"/>
              <a:buNone/>
            </a:pPr>
            <a:r>
              <a:rPr lang="en" sz="1600">
                <a:solidFill>
                  <a:schemeClr val="accent1"/>
                </a:solidFill>
                <a:latin typeface="Comfortaa"/>
                <a:ea typeface="Comfortaa"/>
                <a:cs typeface="Comfortaa"/>
                <a:sym typeface="Comfortaa"/>
              </a:rPr>
              <a:t>¿Cuántas palabras recuerdas?</a:t>
            </a:r>
            <a:endParaRPr sz="1600">
              <a:solidFill>
                <a:schemeClr val="accent1"/>
              </a:solidFill>
              <a:latin typeface="Comfortaa"/>
              <a:ea typeface="Comfortaa"/>
              <a:cs typeface="Comfortaa"/>
              <a:sym typeface="Comfortaa"/>
            </a:endParaRPr>
          </a:p>
          <a:p>
            <a:pPr indent="0" lvl="0" marL="0" rtl="0" algn="l">
              <a:lnSpc>
                <a:spcPct val="115000"/>
              </a:lnSpc>
              <a:spcBef>
                <a:spcPts val="1200"/>
              </a:spcBef>
              <a:spcAft>
                <a:spcPts val="1200"/>
              </a:spcAft>
              <a:buSzPts val="1800"/>
              <a:buNone/>
            </a:pPr>
            <a:r>
              <a:rPr lang="en" sz="1600">
                <a:solidFill>
                  <a:schemeClr val="accent1"/>
                </a:solidFill>
                <a:latin typeface="Comfortaa"/>
                <a:ea typeface="Comfortaa"/>
                <a:cs typeface="Comfortaa"/>
                <a:sym typeface="Comfortaa"/>
              </a:rPr>
              <a:t>¿Qué estrategias utilizaste para recordar las palabras?</a:t>
            </a:r>
            <a:endParaRPr sz="1600">
              <a:solidFill>
                <a:schemeClr val="accent1"/>
              </a:solidFill>
              <a:latin typeface="Comfortaa"/>
              <a:ea typeface="Comfortaa"/>
              <a:cs typeface="Comfortaa"/>
              <a:sym typeface="Comfortaa"/>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16"/>
          <p:cNvSpPr txBox="1"/>
          <p:nvPr>
            <p:ph type="title"/>
          </p:nvPr>
        </p:nvSpPr>
        <p:spPr>
          <a:xfrm>
            <a:off x="190200" y="1078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latin typeface="Comfortaa"/>
                <a:ea typeface="Comfortaa"/>
                <a:cs typeface="Comfortaa"/>
                <a:sym typeface="Comfortaa"/>
              </a:rPr>
              <a:t>Strategies for Encoding Memories</a:t>
            </a:r>
            <a:endParaRPr b="1">
              <a:latin typeface="Comfortaa"/>
              <a:ea typeface="Comfortaa"/>
              <a:cs typeface="Comfortaa"/>
              <a:sym typeface="Comfortaa"/>
            </a:endParaRPr>
          </a:p>
          <a:p>
            <a:pPr indent="0" lvl="0" marL="0" rtl="0" algn="l">
              <a:lnSpc>
                <a:spcPct val="100000"/>
              </a:lnSpc>
              <a:spcBef>
                <a:spcPts val="0"/>
              </a:spcBef>
              <a:spcAft>
                <a:spcPts val="0"/>
              </a:spcAft>
              <a:buSzPct val="153863"/>
              <a:buNone/>
            </a:pPr>
            <a:r>
              <a:rPr b="1" lang="en" sz="2022">
                <a:solidFill>
                  <a:schemeClr val="accent1"/>
                </a:solidFill>
                <a:latin typeface="Comfortaa"/>
                <a:ea typeface="Comfortaa"/>
                <a:cs typeface="Comfortaa"/>
                <a:sym typeface="Comfortaa"/>
              </a:rPr>
              <a:t>Estrategias para codificar recuerdos</a:t>
            </a:r>
            <a:endParaRPr b="1" sz="2022">
              <a:solidFill>
                <a:schemeClr val="accent1"/>
              </a:solidFill>
              <a:latin typeface="Comfortaa"/>
              <a:ea typeface="Comfortaa"/>
              <a:cs typeface="Comfortaa"/>
              <a:sym typeface="Comfortaa"/>
            </a:endParaRPr>
          </a:p>
        </p:txBody>
      </p:sp>
      <p:sp>
        <p:nvSpPr>
          <p:cNvPr id="446" name="Google Shape;446;p16"/>
          <p:cNvSpPr txBox="1"/>
          <p:nvPr>
            <p:ph idx="1" type="body"/>
          </p:nvPr>
        </p:nvSpPr>
        <p:spPr>
          <a:xfrm>
            <a:off x="190200" y="984800"/>
            <a:ext cx="8763600" cy="39453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1800"/>
              <a:buNone/>
            </a:pPr>
            <a:r>
              <a:rPr b="1" lang="en" sz="1900">
                <a:solidFill>
                  <a:schemeClr val="dk1"/>
                </a:solidFill>
                <a:latin typeface="Comfortaa"/>
                <a:ea typeface="Comfortaa"/>
                <a:cs typeface="Comfortaa"/>
                <a:sym typeface="Comfortaa"/>
              </a:rPr>
              <a:t>Chunking:</a:t>
            </a:r>
            <a:r>
              <a:rPr lang="en">
                <a:solidFill>
                  <a:schemeClr val="dk1"/>
                </a:solidFill>
                <a:latin typeface="Comfortaa"/>
                <a:ea typeface="Comfortaa"/>
                <a:cs typeface="Comfortaa"/>
                <a:sym typeface="Comfortaa"/>
              </a:rPr>
              <a:t> Grouping related items together to reduce the load on working memory.</a:t>
            </a:r>
            <a:endParaRPr>
              <a:solidFill>
                <a:schemeClr val="dk1"/>
              </a:solidFill>
              <a:latin typeface="Comfortaa"/>
              <a:ea typeface="Comfortaa"/>
              <a:cs typeface="Comfortaa"/>
              <a:sym typeface="Comfortaa"/>
            </a:endParaRPr>
          </a:p>
          <a:p>
            <a:pPr indent="0" lvl="0" marL="0" rtl="0" algn="l">
              <a:lnSpc>
                <a:spcPct val="95000"/>
              </a:lnSpc>
              <a:spcBef>
                <a:spcPts val="0"/>
              </a:spcBef>
              <a:spcAft>
                <a:spcPts val="0"/>
              </a:spcAft>
              <a:buSzPts val="1800"/>
              <a:buNone/>
            </a:pPr>
            <a:r>
              <a:rPr b="1" lang="en" sz="1600">
                <a:solidFill>
                  <a:schemeClr val="accent1"/>
                </a:solidFill>
                <a:latin typeface="Comfortaa"/>
                <a:ea typeface="Comfortaa"/>
                <a:cs typeface="Comfortaa"/>
                <a:sym typeface="Comfortaa"/>
              </a:rPr>
              <a:t>Agrupamiento:</a:t>
            </a:r>
            <a:r>
              <a:rPr lang="en" sz="1600">
                <a:solidFill>
                  <a:schemeClr val="accent1"/>
                </a:solidFill>
                <a:latin typeface="Comfortaa"/>
                <a:ea typeface="Comfortaa"/>
                <a:cs typeface="Comfortaa"/>
                <a:sym typeface="Comfortaa"/>
              </a:rPr>
              <a:t> Agrupar elementos relacionados para reducir la carga en la memoria de trabajo.</a:t>
            </a:r>
            <a:endParaRPr sz="1600">
              <a:solidFill>
                <a:schemeClr val="accent1"/>
              </a:solidFill>
              <a:latin typeface="Comfortaa"/>
              <a:ea typeface="Comfortaa"/>
              <a:cs typeface="Comfortaa"/>
              <a:sym typeface="Comfortaa"/>
            </a:endParaRPr>
          </a:p>
          <a:p>
            <a:pPr indent="0" lvl="0" marL="0" rtl="0" algn="l">
              <a:lnSpc>
                <a:spcPct val="95000"/>
              </a:lnSpc>
              <a:spcBef>
                <a:spcPts val="0"/>
              </a:spcBef>
              <a:spcAft>
                <a:spcPts val="0"/>
              </a:spcAft>
              <a:buSzPts val="1800"/>
              <a:buNone/>
            </a:pPr>
            <a:r>
              <a:t/>
            </a:r>
            <a:endParaRPr sz="1200">
              <a:solidFill>
                <a:schemeClr val="accent1"/>
              </a:solidFill>
              <a:latin typeface="Comfortaa"/>
              <a:ea typeface="Comfortaa"/>
              <a:cs typeface="Comfortaa"/>
              <a:sym typeface="Comfortaa"/>
            </a:endParaRPr>
          </a:p>
          <a:p>
            <a:pPr indent="0" lvl="0" marL="0" rtl="0" algn="l">
              <a:lnSpc>
                <a:spcPct val="95000"/>
              </a:lnSpc>
              <a:spcBef>
                <a:spcPts val="0"/>
              </a:spcBef>
              <a:spcAft>
                <a:spcPts val="0"/>
              </a:spcAft>
              <a:buSzPts val="1800"/>
              <a:buNone/>
            </a:pPr>
            <a:r>
              <a:rPr b="1" lang="en" sz="1900">
                <a:solidFill>
                  <a:schemeClr val="dk1"/>
                </a:solidFill>
                <a:latin typeface="Comfortaa"/>
                <a:ea typeface="Comfortaa"/>
                <a:cs typeface="Comfortaa"/>
                <a:sym typeface="Comfortaa"/>
              </a:rPr>
              <a:t>Visual Imagery:</a:t>
            </a:r>
            <a:r>
              <a:rPr b="1" lang="en">
                <a:solidFill>
                  <a:schemeClr val="dk1"/>
                </a:solidFill>
                <a:latin typeface="Comfortaa"/>
                <a:ea typeface="Comfortaa"/>
                <a:cs typeface="Comfortaa"/>
                <a:sym typeface="Comfortaa"/>
              </a:rPr>
              <a:t> </a:t>
            </a:r>
            <a:r>
              <a:rPr lang="en">
                <a:solidFill>
                  <a:schemeClr val="dk1"/>
                </a:solidFill>
                <a:latin typeface="Comfortaa"/>
                <a:ea typeface="Comfortaa"/>
                <a:cs typeface="Comfortaa"/>
                <a:sym typeface="Comfortaa"/>
              </a:rPr>
              <a:t>Creating mental pictures for items you want to remember.</a:t>
            </a:r>
            <a:endParaRPr>
              <a:solidFill>
                <a:schemeClr val="dk1"/>
              </a:solidFill>
              <a:latin typeface="Comfortaa"/>
              <a:ea typeface="Comfortaa"/>
              <a:cs typeface="Comfortaa"/>
              <a:sym typeface="Comfortaa"/>
            </a:endParaRPr>
          </a:p>
          <a:p>
            <a:pPr indent="0" lvl="0" marL="0" rtl="0" algn="l">
              <a:lnSpc>
                <a:spcPct val="95000"/>
              </a:lnSpc>
              <a:spcBef>
                <a:spcPts val="0"/>
              </a:spcBef>
              <a:spcAft>
                <a:spcPts val="0"/>
              </a:spcAft>
              <a:buSzPts val="1800"/>
              <a:buNone/>
            </a:pPr>
            <a:r>
              <a:rPr b="1" lang="en">
                <a:solidFill>
                  <a:schemeClr val="accent1"/>
                </a:solidFill>
                <a:latin typeface="Comfortaa"/>
                <a:ea typeface="Comfortaa"/>
                <a:cs typeface="Comfortaa"/>
                <a:sym typeface="Comfortaa"/>
              </a:rPr>
              <a:t>I</a:t>
            </a:r>
            <a:r>
              <a:rPr b="1" lang="en" sz="1600">
                <a:solidFill>
                  <a:schemeClr val="accent1"/>
                </a:solidFill>
                <a:latin typeface="Comfortaa"/>
                <a:ea typeface="Comfortaa"/>
                <a:cs typeface="Comfortaa"/>
                <a:sym typeface="Comfortaa"/>
              </a:rPr>
              <a:t>mágenes visuales</a:t>
            </a:r>
            <a:r>
              <a:rPr lang="en" sz="1600">
                <a:solidFill>
                  <a:schemeClr val="accent1"/>
                </a:solidFill>
                <a:latin typeface="Comfortaa"/>
                <a:ea typeface="Comfortaa"/>
                <a:cs typeface="Comfortaa"/>
                <a:sym typeface="Comfortaa"/>
              </a:rPr>
              <a:t>: Crear imágenes mentales de los elementos que quieres recordar.</a:t>
            </a:r>
            <a:endParaRPr sz="1600">
              <a:solidFill>
                <a:schemeClr val="dk1"/>
              </a:solidFill>
              <a:latin typeface="Comfortaa"/>
              <a:ea typeface="Comfortaa"/>
              <a:cs typeface="Comfortaa"/>
              <a:sym typeface="Comfortaa"/>
            </a:endParaRPr>
          </a:p>
          <a:p>
            <a:pPr indent="0" lvl="0" marL="0" rtl="0" algn="l">
              <a:lnSpc>
                <a:spcPct val="95000"/>
              </a:lnSpc>
              <a:spcBef>
                <a:spcPts val="0"/>
              </a:spcBef>
              <a:spcAft>
                <a:spcPts val="0"/>
              </a:spcAft>
              <a:buSzPts val="1800"/>
              <a:buNone/>
            </a:pPr>
            <a:r>
              <a:t/>
            </a:r>
            <a:endParaRPr sz="1200">
              <a:solidFill>
                <a:schemeClr val="accent1"/>
              </a:solidFill>
              <a:latin typeface="Comfortaa"/>
              <a:ea typeface="Comfortaa"/>
              <a:cs typeface="Comfortaa"/>
              <a:sym typeface="Comfortaa"/>
            </a:endParaRPr>
          </a:p>
          <a:p>
            <a:pPr indent="0" lvl="0" marL="0" rtl="0" algn="l">
              <a:lnSpc>
                <a:spcPct val="95000"/>
              </a:lnSpc>
              <a:spcBef>
                <a:spcPts val="0"/>
              </a:spcBef>
              <a:spcAft>
                <a:spcPts val="0"/>
              </a:spcAft>
              <a:buSzPts val="1800"/>
              <a:buNone/>
            </a:pPr>
            <a:r>
              <a:rPr b="1" lang="en" sz="1900">
                <a:solidFill>
                  <a:schemeClr val="dk1"/>
                </a:solidFill>
                <a:latin typeface="Comfortaa"/>
                <a:ea typeface="Comfortaa"/>
                <a:cs typeface="Comfortaa"/>
                <a:sym typeface="Comfortaa"/>
              </a:rPr>
              <a:t>Self-Referencing:</a:t>
            </a:r>
            <a:r>
              <a:rPr b="1" lang="en">
                <a:solidFill>
                  <a:schemeClr val="dk1"/>
                </a:solidFill>
                <a:latin typeface="Comfortaa"/>
                <a:ea typeface="Comfortaa"/>
                <a:cs typeface="Comfortaa"/>
                <a:sym typeface="Comfortaa"/>
              </a:rPr>
              <a:t> </a:t>
            </a:r>
            <a:r>
              <a:rPr lang="en">
                <a:solidFill>
                  <a:schemeClr val="dk1"/>
                </a:solidFill>
                <a:latin typeface="Comfortaa"/>
                <a:ea typeface="Comfortaa"/>
                <a:cs typeface="Comfortaa"/>
                <a:sym typeface="Comfortaa"/>
              </a:rPr>
              <a:t>Relating information to yourself personally.</a:t>
            </a:r>
            <a:endParaRPr>
              <a:solidFill>
                <a:schemeClr val="dk1"/>
              </a:solidFill>
              <a:latin typeface="Comfortaa"/>
              <a:ea typeface="Comfortaa"/>
              <a:cs typeface="Comfortaa"/>
              <a:sym typeface="Comfortaa"/>
            </a:endParaRPr>
          </a:p>
          <a:p>
            <a:pPr indent="0" lvl="0" marL="0" rtl="0" algn="l">
              <a:lnSpc>
                <a:spcPct val="95000"/>
              </a:lnSpc>
              <a:spcBef>
                <a:spcPts val="0"/>
              </a:spcBef>
              <a:spcAft>
                <a:spcPts val="0"/>
              </a:spcAft>
              <a:buSzPts val="1800"/>
              <a:buNone/>
            </a:pPr>
            <a:r>
              <a:rPr b="1" lang="en" sz="1600">
                <a:solidFill>
                  <a:schemeClr val="accent1"/>
                </a:solidFill>
                <a:latin typeface="Comfortaa"/>
                <a:ea typeface="Comfortaa"/>
                <a:cs typeface="Comfortaa"/>
                <a:sym typeface="Comfortaa"/>
              </a:rPr>
              <a:t>Auto-referencia:</a:t>
            </a:r>
            <a:r>
              <a:rPr lang="en" sz="1600">
                <a:solidFill>
                  <a:schemeClr val="accent1"/>
                </a:solidFill>
                <a:latin typeface="Comfortaa"/>
                <a:ea typeface="Comfortaa"/>
                <a:cs typeface="Comfortaa"/>
                <a:sym typeface="Comfortaa"/>
              </a:rPr>
              <a:t> Relacionar la información contigo mismo de manera personal.</a:t>
            </a:r>
            <a:endParaRPr>
              <a:solidFill>
                <a:schemeClr val="dk1"/>
              </a:solidFill>
              <a:latin typeface="Comfortaa"/>
              <a:ea typeface="Comfortaa"/>
              <a:cs typeface="Comfortaa"/>
              <a:sym typeface="Comfortaa"/>
            </a:endParaRPr>
          </a:p>
          <a:p>
            <a:pPr indent="0" lvl="0" marL="0" rtl="0" algn="l">
              <a:lnSpc>
                <a:spcPct val="95000"/>
              </a:lnSpc>
              <a:spcBef>
                <a:spcPts val="0"/>
              </a:spcBef>
              <a:spcAft>
                <a:spcPts val="0"/>
              </a:spcAft>
              <a:buSzPts val="1800"/>
              <a:buNone/>
            </a:pPr>
            <a:r>
              <a:t/>
            </a:r>
            <a:endParaRPr sz="1200">
              <a:solidFill>
                <a:schemeClr val="dk1"/>
              </a:solidFill>
              <a:latin typeface="Comfortaa"/>
              <a:ea typeface="Comfortaa"/>
              <a:cs typeface="Comfortaa"/>
              <a:sym typeface="Comfortaa"/>
            </a:endParaRPr>
          </a:p>
          <a:p>
            <a:pPr indent="0" lvl="0" marL="0" rtl="0" algn="l">
              <a:lnSpc>
                <a:spcPct val="95000"/>
              </a:lnSpc>
              <a:spcBef>
                <a:spcPts val="0"/>
              </a:spcBef>
              <a:spcAft>
                <a:spcPts val="0"/>
              </a:spcAft>
              <a:buSzPts val="1800"/>
              <a:buNone/>
            </a:pPr>
            <a:r>
              <a:rPr b="1" lang="en" sz="1900">
                <a:solidFill>
                  <a:schemeClr val="dk1"/>
                </a:solidFill>
                <a:latin typeface="Comfortaa"/>
                <a:ea typeface="Comfortaa"/>
                <a:cs typeface="Comfortaa"/>
                <a:sym typeface="Comfortaa"/>
              </a:rPr>
              <a:t>Mnemonics:</a:t>
            </a:r>
            <a:r>
              <a:rPr b="1" lang="en">
                <a:solidFill>
                  <a:schemeClr val="dk1"/>
                </a:solidFill>
                <a:latin typeface="Comfortaa"/>
                <a:ea typeface="Comfortaa"/>
                <a:cs typeface="Comfortaa"/>
                <a:sym typeface="Comfortaa"/>
              </a:rPr>
              <a:t> </a:t>
            </a:r>
            <a:r>
              <a:rPr lang="en">
                <a:solidFill>
                  <a:schemeClr val="dk1"/>
                </a:solidFill>
                <a:latin typeface="Comfortaa"/>
                <a:ea typeface="Comfortaa"/>
                <a:cs typeface="Comfortaa"/>
                <a:sym typeface="Comfortaa"/>
              </a:rPr>
              <a:t>Using acronyms, rhymes, or phrases to link items together.</a:t>
            </a:r>
            <a:endParaRPr>
              <a:solidFill>
                <a:schemeClr val="dk1"/>
              </a:solidFill>
              <a:latin typeface="Comfortaa"/>
              <a:ea typeface="Comfortaa"/>
              <a:cs typeface="Comfortaa"/>
              <a:sym typeface="Comfortaa"/>
            </a:endParaRPr>
          </a:p>
          <a:p>
            <a:pPr indent="0" lvl="0" marL="0" rtl="0" algn="l">
              <a:lnSpc>
                <a:spcPct val="95000"/>
              </a:lnSpc>
              <a:spcBef>
                <a:spcPts val="0"/>
              </a:spcBef>
              <a:spcAft>
                <a:spcPts val="0"/>
              </a:spcAft>
              <a:buSzPts val="1800"/>
              <a:buNone/>
            </a:pPr>
            <a:r>
              <a:rPr b="1" lang="en" sz="1600">
                <a:solidFill>
                  <a:schemeClr val="accent1"/>
                </a:solidFill>
                <a:latin typeface="Comfortaa"/>
                <a:ea typeface="Comfortaa"/>
                <a:cs typeface="Comfortaa"/>
                <a:sym typeface="Comfortaa"/>
              </a:rPr>
              <a:t>Mnemotecnia:</a:t>
            </a:r>
            <a:r>
              <a:rPr lang="en" sz="1600">
                <a:solidFill>
                  <a:schemeClr val="accent1"/>
                </a:solidFill>
                <a:latin typeface="Comfortaa"/>
                <a:ea typeface="Comfortaa"/>
                <a:cs typeface="Comfortaa"/>
                <a:sym typeface="Comfortaa"/>
              </a:rPr>
              <a:t> Usar acrónimos, rimas o frases para enlazar elementos.</a:t>
            </a:r>
            <a:endParaRPr sz="2000">
              <a:solidFill>
                <a:schemeClr val="accent1"/>
              </a:solidFill>
              <a:latin typeface="Comfortaa"/>
              <a:ea typeface="Comfortaa"/>
              <a:cs typeface="Comfortaa"/>
              <a:sym typeface="Comfortaa"/>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17"/>
          <p:cNvSpPr txBox="1"/>
          <p:nvPr>
            <p:ph type="title"/>
          </p:nvPr>
        </p:nvSpPr>
        <p:spPr>
          <a:xfrm>
            <a:off x="311700" y="176875"/>
            <a:ext cx="8520600" cy="8409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latin typeface="Comfortaa"/>
                <a:ea typeface="Comfortaa"/>
                <a:cs typeface="Comfortaa"/>
                <a:sym typeface="Comfortaa"/>
              </a:rPr>
              <a:t>Amnesia</a:t>
            </a:r>
            <a:endParaRPr b="1">
              <a:latin typeface="Comfortaa"/>
              <a:ea typeface="Comfortaa"/>
              <a:cs typeface="Comfortaa"/>
              <a:sym typeface="Comfortaa"/>
            </a:endParaRPr>
          </a:p>
          <a:p>
            <a:pPr indent="0" lvl="0" marL="0" rtl="0" algn="l">
              <a:lnSpc>
                <a:spcPct val="100000"/>
              </a:lnSpc>
              <a:spcBef>
                <a:spcPts val="0"/>
              </a:spcBef>
              <a:spcAft>
                <a:spcPts val="0"/>
              </a:spcAft>
              <a:buSzPct val="111111"/>
              <a:buNone/>
            </a:pPr>
            <a:r>
              <a:t/>
            </a:r>
            <a:endParaRPr b="1">
              <a:latin typeface="Comfortaa"/>
              <a:ea typeface="Comfortaa"/>
              <a:cs typeface="Comfortaa"/>
              <a:sym typeface="Comfortaa"/>
            </a:endParaRPr>
          </a:p>
        </p:txBody>
      </p:sp>
      <p:sp>
        <p:nvSpPr>
          <p:cNvPr id="452" name="Google Shape;452;p17"/>
          <p:cNvSpPr txBox="1"/>
          <p:nvPr>
            <p:ph idx="1" type="body"/>
          </p:nvPr>
        </p:nvSpPr>
        <p:spPr>
          <a:xfrm>
            <a:off x="311700" y="721450"/>
            <a:ext cx="8520600" cy="4094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sz="1900">
                <a:solidFill>
                  <a:schemeClr val="dk1"/>
                </a:solidFill>
                <a:latin typeface="Comfortaa"/>
                <a:ea typeface="Comfortaa"/>
                <a:cs typeface="Comfortaa"/>
                <a:sym typeface="Comfortaa"/>
              </a:rPr>
              <a:t>Amnesia:</a:t>
            </a:r>
            <a:r>
              <a:rPr lang="en">
                <a:solidFill>
                  <a:schemeClr val="dk1"/>
                </a:solidFill>
                <a:latin typeface="Comfortaa"/>
                <a:ea typeface="Comfortaa"/>
                <a:cs typeface="Comfortaa"/>
                <a:sym typeface="Comfortaa"/>
              </a:rPr>
              <a:t> loss of memories, either partial or complete, typically caused by brain injury, disease, or trauma.</a:t>
            </a:r>
            <a:endParaRPr>
              <a:solidFill>
                <a:schemeClr val="dk1"/>
              </a:solidFill>
              <a:latin typeface="Comfortaa"/>
              <a:ea typeface="Comfortaa"/>
              <a:cs typeface="Comfortaa"/>
              <a:sym typeface="Comfortaa"/>
            </a:endParaRPr>
          </a:p>
          <a:p>
            <a:pPr indent="-342900" lvl="0" marL="457200" rtl="0" algn="l">
              <a:lnSpc>
                <a:spcPct val="115000"/>
              </a:lnSpc>
              <a:spcBef>
                <a:spcPts val="1200"/>
              </a:spcBef>
              <a:spcAft>
                <a:spcPts val="0"/>
              </a:spcAft>
              <a:buClr>
                <a:schemeClr val="dk1"/>
              </a:buClr>
              <a:buSzPts val="1800"/>
              <a:buFont typeface="Comfortaa"/>
              <a:buChar char="●"/>
            </a:pPr>
            <a:r>
              <a:rPr lang="en" u="sng">
                <a:solidFill>
                  <a:schemeClr val="dk1"/>
                </a:solidFill>
                <a:latin typeface="Comfortaa"/>
                <a:ea typeface="Comfortaa"/>
                <a:cs typeface="Comfortaa"/>
                <a:sym typeface="Comfortaa"/>
              </a:rPr>
              <a:t>Retrograde Amnesia:</a:t>
            </a:r>
            <a:r>
              <a:rPr lang="en">
                <a:solidFill>
                  <a:schemeClr val="dk1"/>
                </a:solidFill>
                <a:latin typeface="Comfortaa"/>
                <a:ea typeface="Comfortaa"/>
                <a:cs typeface="Comfortaa"/>
                <a:sym typeface="Comfortaa"/>
              </a:rPr>
              <a:t> Loss of past memories prior to the injury/event</a:t>
            </a:r>
            <a:endParaRPr>
              <a:solidFill>
                <a:schemeClr val="dk1"/>
              </a:solidFill>
              <a:latin typeface="Comfortaa"/>
              <a:ea typeface="Comfortaa"/>
              <a:cs typeface="Comfortaa"/>
              <a:sym typeface="Comfortaa"/>
            </a:endParaRPr>
          </a:p>
          <a:p>
            <a:pPr indent="-342900" lvl="0" marL="457200" rtl="0" algn="l">
              <a:lnSpc>
                <a:spcPct val="115000"/>
              </a:lnSpc>
              <a:spcBef>
                <a:spcPts val="0"/>
              </a:spcBef>
              <a:spcAft>
                <a:spcPts val="0"/>
              </a:spcAft>
              <a:buClr>
                <a:schemeClr val="dk1"/>
              </a:buClr>
              <a:buSzPts val="1800"/>
              <a:buFont typeface="Comfortaa"/>
              <a:buChar char="●"/>
            </a:pPr>
            <a:r>
              <a:rPr lang="en" u="sng">
                <a:solidFill>
                  <a:schemeClr val="dk1"/>
                </a:solidFill>
                <a:latin typeface="Comfortaa"/>
                <a:ea typeface="Comfortaa"/>
                <a:cs typeface="Comfortaa"/>
                <a:sym typeface="Comfortaa"/>
              </a:rPr>
              <a:t>Anterograde Amnesia:</a:t>
            </a:r>
            <a:r>
              <a:rPr lang="en">
                <a:solidFill>
                  <a:schemeClr val="dk1"/>
                </a:solidFill>
                <a:latin typeface="Comfortaa"/>
                <a:ea typeface="Comfortaa"/>
                <a:cs typeface="Comfortaa"/>
                <a:sym typeface="Comfortaa"/>
              </a:rPr>
              <a:t> Inability to form new long-term memories after the injury/event</a:t>
            </a:r>
            <a:endParaRPr>
              <a:solidFill>
                <a:schemeClr val="dk1"/>
              </a:solidFill>
              <a:latin typeface="Comfortaa"/>
              <a:ea typeface="Comfortaa"/>
              <a:cs typeface="Comfortaa"/>
              <a:sym typeface="Comfortaa"/>
            </a:endParaRPr>
          </a:p>
          <a:p>
            <a:pPr indent="0" lvl="0" marL="0" rtl="0" algn="l">
              <a:lnSpc>
                <a:spcPct val="115000"/>
              </a:lnSpc>
              <a:spcBef>
                <a:spcPts val="1200"/>
              </a:spcBef>
              <a:spcAft>
                <a:spcPts val="0"/>
              </a:spcAft>
              <a:buSzPts val="1800"/>
              <a:buNone/>
            </a:pPr>
            <a:r>
              <a:rPr b="1" lang="en" sz="1600">
                <a:solidFill>
                  <a:schemeClr val="accent1"/>
                </a:solidFill>
                <a:latin typeface="Comfortaa"/>
                <a:ea typeface="Comfortaa"/>
                <a:cs typeface="Comfortaa"/>
                <a:sym typeface="Comfortaa"/>
              </a:rPr>
              <a:t>Amnesia:</a:t>
            </a:r>
            <a:r>
              <a:rPr lang="en" sz="1600">
                <a:solidFill>
                  <a:schemeClr val="accent1"/>
                </a:solidFill>
                <a:latin typeface="Comfortaa"/>
                <a:ea typeface="Comfortaa"/>
                <a:cs typeface="Comfortaa"/>
                <a:sym typeface="Comfortaa"/>
              </a:rPr>
              <a:t> pérdida de recuerdos, ya sea parcial o total, normalmente causada por una lesión cerebral, una enfermedad o un trauma.</a:t>
            </a:r>
            <a:endParaRPr sz="1600">
              <a:solidFill>
                <a:schemeClr val="accent1"/>
              </a:solidFill>
              <a:latin typeface="Comfortaa"/>
              <a:ea typeface="Comfortaa"/>
              <a:cs typeface="Comfortaa"/>
              <a:sym typeface="Comfortaa"/>
            </a:endParaRPr>
          </a:p>
          <a:p>
            <a:pPr indent="-330200" lvl="0" marL="457200" rtl="0" algn="l">
              <a:lnSpc>
                <a:spcPct val="115000"/>
              </a:lnSpc>
              <a:spcBef>
                <a:spcPts val="1200"/>
              </a:spcBef>
              <a:spcAft>
                <a:spcPts val="0"/>
              </a:spcAft>
              <a:buClr>
                <a:schemeClr val="accent1"/>
              </a:buClr>
              <a:buSzPts val="1600"/>
              <a:buFont typeface="Comfortaa"/>
              <a:buChar char="●"/>
            </a:pPr>
            <a:r>
              <a:rPr lang="en" sz="1600" u="sng">
                <a:solidFill>
                  <a:schemeClr val="accent1"/>
                </a:solidFill>
                <a:latin typeface="Comfortaa"/>
                <a:ea typeface="Comfortaa"/>
                <a:cs typeface="Comfortaa"/>
                <a:sym typeface="Comfortaa"/>
              </a:rPr>
              <a:t>Amnesia retrógrada:</a:t>
            </a:r>
            <a:r>
              <a:rPr lang="en" sz="1600">
                <a:solidFill>
                  <a:schemeClr val="accent1"/>
                </a:solidFill>
                <a:latin typeface="Comfortaa"/>
                <a:ea typeface="Comfortaa"/>
                <a:cs typeface="Comfortaa"/>
                <a:sym typeface="Comfortaa"/>
              </a:rPr>
              <a:t> pérdida de recuerdos anteriores a la lesión o evento.</a:t>
            </a:r>
            <a:endParaRPr sz="1600">
              <a:solidFill>
                <a:schemeClr val="accent1"/>
              </a:solidFill>
              <a:latin typeface="Comfortaa"/>
              <a:ea typeface="Comfortaa"/>
              <a:cs typeface="Comfortaa"/>
              <a:sym typeface="Comfortaa"/>
            </a:endParaRPr>
          </a:p>
          <a:p>
            <a:pPr indent="-330200" lvl="0" marL="457200" rtl="0" algn="l">
              <a:lnSpc>
                <a:spcPct val="115000"/>
              </a:lnSpc>
              <a:spcBef>
                <a:spcPts val="0"/>
              </a:spcBef>
              <a:spcAft>
                <a:spcPts val="0"/>
              </a:spcAft>
              <a:buClr>
                <a:schemeClr val="accent1"/>
              </a:buClr>
              <a:buSzPts val="1600"/>
              <a:buFont typeface="Comfortaa"/>
              <a:buChar char="●"/>
            </a:pPr>
            <a:r>
              <a:rPr lang="en" sz="1600" u="sng">
                <a:solidFill>
                  <a:schemeClr val="accent1"/>
                </a:solidFill>
                <a:latin typeface="Comfortaa"/>
                <a:ea typeface="Comfortaa"/>
                <a:cs typeface="Comfortaa"/>
                <a:sym typeface="Comfortaa"/>
              </a:rPr>
              <a:t>Amnesia anterógrada:</a:t>
            </a:r>
            <a:r>
              <a:rPr lang="en" sz="1600">
                <a:solidFill>
                  <a:schemeClr val="accent1"/>
                </a:solidFill>
                <a:latin typeface="Comfortaa"/>
                <a:ea typeface="Comfortaa"/>
                <a:cs typeface="Comfortaa"/>
                <a:sym typeface="Comfortaa"/>
              </a:rPr>
              <a:t> incapacidad para formar nuevos recuerdos a largo plazo después de la lesión o el evento.</a:t>
            </a:r>
            <a:endParaRPr sz="1600">
              <a:solidFill>
                <a:schemeClr val="accent1"/>
              </a:solidFill>
              <a:latin typeface="Comfortaa"/>
              <a:ea typeface="Comfortaa"/>
              <a:cs typeface="Comfortaa"/>
              <a:sym typeface="Comfortaa"/>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18"/>
          <p:cNvSpPr txBox="1"/>
          <p:nvPr>
            <p:ph type="title"/>
          </p:nvPr>
        </p:nvSpPr>
        <p:spPr>
          <a:xfrm>
            <a:off x="311700" y="1873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sz="2220">
                <a:latin typeface="Comfortaa"/>
                <a:ea typeface="Comfortaa"/>
                <a:cs typeface="Comfortaa"/>
                <a:sym typeface="Comfortaa"/>
              </a:rPr>
              <a:t>Henry Molaison’s (H.M.) Brian </a:t>
            </a:r>
            <a:endParaRPr b="1" sz="2220">
              <a:solidFill>
                <a:srgbClr val="FF0000"/>
              </a:solidFill>
              <a:latin typeface="Comfortaa"/>
              <a:ea typeface="Comfortaa"/>
              <a:cs typeface="Comfortaa"/>
              <a:sym typeface="Comfortaa"/>
            </a:endParaRPr>
          </a:p>
        </p:txBody>
      </p:sp>
      <p:sp>
        <p:nvSpPr>
          <p:cNvPr id="458" name="Google Shape;458;p18"/>
          <p:cNvSpPr txBox="1"/>
          <p:nvPr>
            <p:ph idx="1" type="body"/>
          </p:nvPr>
        </p:nvSpPr>
        <p:spPr>
          <a:xfrm>
            <a:off x="144775" y="760025"/>
            <a:ext cx="4732800" cy="4383600"/>
          </a:xfrm>
          <a:prstGeom prst="rect">
            <a:avLst/>
          </a:prstGeom>
          <a:noFill/>
          <a:ln>
            <a:noFill/>
          </a:ln>
        </p:spPr>
        <p:txBody>
          <a:bodyPr anchorCtr="0" anchor="t" bIns="91425" lIns="91425" spcFirstLastPara="1" rIns="91425" wrap="square" tIns="91425">
            <a:normAutofit/>
          </a:bodyPr>
          <a:lstStyle/>
          <a:p>
            <a:pPr indent="-336550" lvl="0" marL="457200" rtl="0" algn="l">
              <a:lnSpc>
                <a:spcPct val="115000"/>
              </a:lnSpc>
              <a:spcBef>
                <a:spcPts val="0"/>
              </a:spcBef>
              <a:spcAft>
                <a:spcPts val="0"/>
              </a:spcAft>
              <a:buClr>
                <a:schemeClr val="dk1"/>
              </a:buClr>
              <a:buSzPts val="1700"/>
              <a:buFont typeface="Comfortaa"/>
              <a:buChar char="●"/>
            </a:pPr>
            <a:r>
              <a:rPr lang="en" sz="1700">
                <a:solidFill>
                  <a:schemeClr val="dk1"/>
                </a:solidFill>
                <a:latin typeface="Comfortaa"/>
                <a:ea typeface="Comfortaa"/>
                <a:cs typeface="Comfortaa"/>
                <a:sym typeface="Comfortaa"/>
              </a:rPr>
              <a:t>H.M. was a patient</a:t>
            </a:r>
            <a:r>
              <a:rPr lang="en" sz="1700">
                <a:solidFill>
                  <a:schemeClr val="dk1"/>
                </a:solidFill>
                <a:latin typeface="Comfortaa"/>
                <a:ea typeface="Comfortaa"/>
                <a:cs typeface="Comfortaa"/>
                <a:sym typeface="Comfortaa"/>
              </a:rPr>
              <a:t> with severe epilepsy</a:t>
            </a:r>
            <a:endParaRPr sz="1700">
              <a:solidFill>
                <a:schemeClr val="dk1"/>
              </a:solidFill>
              <a:latin typeface="Comfortaa"/>
              <a:ea typeface="Comfortaa"/>
              <a:cs typeface="Comfortaa"/>
              <a:sym typeface="Comfortaa"/>
            </a:endParaRPr>
          </a:p>
          <a:p>
            <a:pPr indent="-336550" lvl="0" marL="457200" rtl="0" algn="l">
              <a:lnSpc>
                <a:spcPct val="115000"/>
              </a:lnSpc>
              <a:spcBef>
                <a:spcPts val="0"/>
              </a:spcBef>
              <a:spcAft>
                <a:spcPts val="0"/>
              </a:spcAft>
              <a:buClr>
                <a:schemeClr val="dk1"/>
              </a:buClr>
              <a:buSzPts val="1700"/>
              <a:buFont typeface="Comfortaa"/>
              <a:buChar char="●"/>
            </a:pPr>
            <a:r>
              <a:rPr lang="en" sz="1700">
                <a:solidFill>
                  <a:schemeClr val="dk1"/>
                </a:solidFill>
                <a:latin typeface="Comfortaa"/>
                <a:ea typeface="Comfortaa"/>
                <a:cs typeface="Comfortaa"/>
                <a:sym typeface="Comfortaa"/>
              </a:rPr>
              <a:t>Doctors removed his hippocampus</a:t>
            </a:r>
            <a:endParaRPr sz="1700">
              <a:solidFill>
                <a:schemeClr val="dk1"/>
              </a:solidFill>
              <a:latin typeface="Comfortaa"/>
              <a:ea typeface="Comfortaa"/>
              <a:cs typeface="Comfortaa"/>
              <a:sym typeface="Comfortaa"/>
            </a:endParaRPr>
          </a:p>
          <a:p>
            <a:pPr indent="-336550" lvl="0" marL="457200" rtl="0" algn="l">
              <a:lnSpc>
                <a:spcPct val="115000"/>
              </a:lnSpc>
              <a:spcBef>
                <a:spcPts val="0"/>
              </a:spcBef>
              <a:spcAft>
                <a:spcPts val="0"/>
              </a:spcAft>
              <a:buClr>
                <a:schemeClr val="dk1"/>
              </a:buClr>
              <a:buSzPts val="1700"/>
              <a:buFont typeface="Comfortaa"/>
              <a:buChar char="●"/>
            </a:pPr>
            <a:r>
              <a:rPr lang="en" sz="1700">
                <a:solidFill>
                  <a:schemeClr val="dk1"/>
                </a:solidFill>
                <a:latin typeface="Comfortaa"/>
                <a:ea typeface="Comfortaa"/>
                <a:cs typeface="Comfortaa"/>
                <a:sym typeface="Comfortaa"/>
              </a:rPr>
              <a:t>He could no longer form new long-term memories</a:t>
            </a:r>
            <a:endParaRPr sz="1700">
              <a:solidFill>
                <a:schemeClr val="dk1"/>
              </a:solidFill>
              <a:latin typeface="Comfortaa"/>
              <a:ea typeface="Comfortaa"/>
              <a:cs typeface="Comfortaa"/>
              <a:sym typeface="Comfortaa"/>
            </a:endParaRPr>
          </a:p>
          <a:p>
            <a:pPr indent="-336550" lvl="1" marL="914400" rtl="0" algn="l">
              <a:lnSpc>
                <a:spcPct val="115000"/>
              </a:lnSpc>
              <a:spcBef>
                <a:spcPts val="0"/>
              </a:spcBef>
              <a:spcAft>
                <a:spcPts val="0"/>
              </a:spcAft>
              <a:buClr>
                <a:schemeClr val="dk1"/>
              </a:buClr>
              <a:buSzPts val="1700"/>
              <a:buFont typeface="Comfortaa"/>
              <a:buChar char="○"/>
            </a:pPr>
            <a:r>
              <a:rPr lang="en" sz="1700" u="sng">
                <a:solidFill>
                  <a:schemeClr val="dk1"/>
                </a:solidFill>
                <a:latin typeface="Comfortaa"/>
                <a:ea typeface="Comfortaa"/>
                <a:cs typeface="Comfortaa"/>
                <a:sym typeface="Comfortaa"/>
              </a:rPr>
              <a:t>Which type of amnesia did he have?</a:t>
            </a:r>
            <a:endParaRPr sz="1700" u="sng">
              <a:solidFill>
                <a:schemeClr val="dk1"/>
              </a:solidFill>
              <a:latin typeface="Comfortaa"/>
              <a:ea typeface="Comfortaa"/>
              <a:cs typeface="Comfortaa"/>
              <a:sym typeface="Comfortaa"/>
            </a:endParaRPr>
          </a:p>
          <a:p>
            <a:pPr indent="0" lvl="0" marL="0" rtl="0" algn="l">
              <a:lnSpc>
                <a:spcPct val="115000"/>
              </a:lnSpc>
              <a:spcBef>
                <a:spcPts val="0"/>
              </a:spcBef>
              <a:spcAft>
                <a:spcPts val="0"/>
              </a:spcAft>
              <a:buSzPts val="1800"/>
              <a:buNone/>
            </a:pPr>
            <a:r>
              <a:t/>
            </a:r>
            <a:endParaRPr sz="1700" u="sng">
              <a:solidFill>
                <a:schemeClr val="dk1"/>
              </a:solidFill>
              <a:latin typeface="Comfortaa"/>
              <a:ea typeface="Comfortaa"/>
              <a:cs typeface="Comfortaa"/>
              <a:sym typeface="Comfortaa"/>
            </a:endParaRPr>
          </a:p>
          <a:p>
            <a:pPr indent="-336550" lvl="0" marL="457200" rtl="0" algn="l">
              <a:lnSpc>
                <a:spcPct val="115000"/>
              </a:lnSpc>
              <a:spcBef>
                <a:spcPts val="0"/>
              </a:spcBef>
              <a:spcAft>
                <a:spcPts val="0"/>
              </a:spcAft>
              <a:buClr>
                <a:schemeClr val="accent1"/>
              </a:buClr>
              <a:buSzPts val="1700"/>
              <a:buFont typeface="Comfortaa"/>
              <a:buChar char="●"/>
            </a:pPr>
            <a:r>
              <a:rPr lang="en" sz="1700">
                <a:solidFill>
                  <a:schemeClr val="accent1"/>
                </a:solidFill>
                <a:latin typeface="Comfortaa"/>
                <a:ea typeface="Comfortaa"/>
                <a:cs typeface="Comfortaa"/>
                <a:sym typeface="Comfortaa"/>
              </a:rPr>
              <a:t>Paciente con epilepsia severa</a:t>
            </a:r>
            <a:endParaRPr sz="1700">
              <a:solidFill>
                <a:schemeClr val="accent1"/>
              </a:solidFill>
              <a:latin typeface="Comfortaa"/>
              <a:ea typeface="Comfortaa"/>
              <a:cs typeface="Comfortaa"/>
              <a:sym typeface="Comfortaa"/>
            </a:endParaRPr>
          </a:p>
          <a:p>
            <a:pPr indent="-336550" lvl="0" marL="457200" rtl="0" algn="l">
              <a:lnSpc>
                <a:spcPct val="115000"/>
              </a:lnSpc>
              <a:spcBef>
                <a:spcPts val="0"/>
              </a:spcBef>
              <a:spcAft>
                <a:spcPts val="0"/>
              </a:spcAft>
              <a:buClr>
                <a:schemeClr val="accent1"/>
              </a:buClr>
              <a:buSzPts val="1700"/>
              <a:buFont typeface="Comfortaa"/>
              <a:buChar char="●"/>
            </a:pPr>
            <a:r>
              <a:rPr lang="en" sz="1700">
                <a:solidFill>
                  <a:schemeClr val="accent1"/>
                </a:solidFill>
                <a:latin typeface="Comfortaa"/>
                <a:ea typeface="Comfortaa"/>
                <a:cs typeface="Comfortaa"/>
                <a:sym typeface="Comfortaa"/>
              </a:rPr>
              <a:t>Los médicos le extirparon el hipocampo</a:t>
            </a:r>
            <a:endParaRPr sz="1700">
              <a:solidFill>
                <a:schemeClr val="accent1"/>
              </a:solidFill>
              <a:latin typeface="Comfortaa"/>
              <a:ea typeface="Comfortaa"/>
              <a:cs typeface="Comfortaa"/>
              <a:sym typeface="Comfortaa"/>
            </a:endParaRPr>
          </a:p>
          <a:p>
            <a:pPr indent="-336550" lvl="0" marL="457200" rtl="0" algn="l">
              <a:lnSpc>
                <a:spcPct val="115000"/>
              </a:lnSpc>
              <a:spcBef>
                <a:spcPts val="0"/>
              </a:spcBef>
              <a:spcAft>
                <a:spcPts val="0"/>
              </a:spcAft>
              <a:buClr>
                <a:schemeClr val="accent1"/>
              </a:buClr>
              <a:buSzPts val="1700"/>
              <a:buFont typeface="Comfortaa"/>
              <a:buChar char="●"/>
            </a:pPr>
            <a:r>
              <a:rPr lang="en" sz="1700">
                <a:solidFill>
                  <a:schemeClr val="accent1"/>
                </a:solidFill>
                <a:latin typeface="Comfortaa"/>
                <a:ea typeface="Comfortaa"/>
                <a:cs typeface="Comfortaa"/>
                <a:sym typeface="Comfortaa"/>
              </a:rPr>
              <a:t>Ya no podía formar nuevos recuerdos a largo plazo</a:t>
            </a:r>
            <a:endParaRPr sz="1700">
              <a:solidFill>
                <a:schemeClr val="accent1"/>
              </a:solidFill>
              <a:latin typeface="Comfortaa"/>
              <a:ea typeface="Comfortaa"/>
              <a:cs typeface="Comfortaa"/>
              <a:sym typeface="Comfortaa"/>
            </a:endParaRPr>
          </a:p>
          <a:p>
            <a:pPr indent="-336550" lvl="1" marL="914400" rtl="0" algn="l">
              <a:lnSpc>
                <a:spcPct val="115000"/>
              </a:lnSpc>
              <a:spcBef>
                <a:spcPts val="0"/>
              </a:spcBef>
              <a:spcAft>
                <a:spcPts val="0"/>
              </a:spcAft>
              <a:buClr>
                <a:schemeClr val="accent1"/>
              </a:buClr>
              <a:buSzPts val="1700"/>
              <a:buFont typeface="Comfortaa"/>
              <a:buChar char="○"/>
            </a:pPr>
            <a:r>
              <a:rPr lang="en" sz="1700" u="sng">
                <a:solidFill>
                  <a:schemeClr val="accent1"/>
                </a:solidFill>
                <a:latin typeface="Comfortaa"/>
                <a:ea typeface="Comfortaa"/>
                <a:cs typeface="Comfortaa"/>
                <a:sym typeface="Comfortaa"/>
              </a:rPr>
              <a:t>¿Qué tipo de amnesia tenía?</a:t>
            </a:r>
            <a:endParaRPr sz="1700" u="sng">
              <a:solidFill>
                <a:schemeClr val="accent1"/>
              </a:solidFill>
              <a:latin typeface="Comfortaa"/>
              <a:ea typeface="Comfortaa"/>
              <a:cs typeface="Comfortaa"/>
              <a:sym typeface="Comfortaa"/>
            </a:endParaRPr>
          </a:p>
        </p:txBody>
      </p:sp>
      <p:pic>
        <p:nvPicPr>
          <p:cNvPr id="459" name="Google Shape;459;p18"/>
          <p:cNvPicPr preferRelativeResize="0"/>
          <p:nvPr/>
        </p:nvPicPr>
        <p:blipFill rotWithShape="1">
          <a:blip r:embed="rId3">
            <a:alphaModFix/>
          </a:blip>
          <a:srcRect b="0" l="0" r="0" t="0"/>
          <a:stretch/>
        </p:blipFill>
        <p:spPr>
          <a:xfrm>
            <a:off x="4877550" y="187325"/>
            <a:ext cx="4050600" cy="2160325"/>
          </a:xfrm>
          <a:prstGeom prst="rect">
            <a:avLst/>
          </a:prstGeom>
          <a:noFill/>
          <a:ln>
            <a:noFill/>
          </a:ln>
        </p:spPr>
      </p:pic>
      <p:pic>
        <p:nvPicPr>
          <p:cNvPr id="460" name="Google Shape;460;p18"/>
          <p:cNvPicPr preferRelativeResize="0"/>
          <p:nvPr/>
        </p:nvPicPr>
        <p:blipFill rotWithShape="1">
          <a:blip r:embed="rId4">
            <a:alphaModFix/>
          </a:blip>
          <a:srcRect b="0" l="0" r="0" t="0"/>
          <a:stretch/>
        </p:blipFill>
        <p:spPr>
          <a:xfrm>
            <a:off x="5038300" y="2673594"/>
            <a:ext cx="1838900" cy="1396975"/>
          </a:xfrm>
          <a:prstGeom prst="rect">
            <a:avLst/>
          </a:prstGeom>
          <a:noFill/>
          <a:ln>
            <a:noFill/>
          </a:ln>
        </p:spPr>
      </p:pic>
      <p:pic>
        <p:nvPicPr>
          <p:cNvPr id="461" name="Google Shape;461;p18"/>
          <p:cNvPicPr preferRelativeResize="0"/>
          <p:nvPr/>
        </p:nvPicPr>
        <p:blipFill rotWithShape="1">
          <a:blip r:embed="rId5">
            <a:alphaModFix/>
          </a:blip>
          <a:srcRect b="0" l="0" r="0" t="0"/>
          <a:stretch/>
        </p:blipFill>
        <p:spPr>
          <a:xfrm>
            <a:off x="6993250" y="2761287"/>
            <a:ext cx="2036000" cy="122160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19"/>
          <p:cNvSpPr txBox="1"/>
          <p:nvPr>
            <p:ph type="title"/>
          </p:nvPr>
        </p:nvSpPr>
        <p:spPr>
          <a:xfrm>
            <a:off x="311700" y="142975"/>
            <a:ext cx="8520600" cy="5199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24444"/>
              <a:buNone/>
            </a:pPr>
            <a:r>
              <a:rPr b="1" lang="en" sz="2500">
                <a:latin typeface="Comfortaa"/>
                <a:ea typeface="Comfortaa"/>
                <a:cs typeface="Comfortaa"/>
                <a:sym typeface="Comfortaa"/>
              </a:rPr>
              <a:t>Clive Wearing</a:t>
            </a:r>
            <a:endParaRPr b="1" sz="2500">
              <a:latin typeface="Comfortaa"/>
              <a:ea typeface="Comfortaa"/>
              <a:cs typeface="Comfortaa"/>
              <a:sym typeface="Comfortaa"/>
            </a:endParaRPr>
          </a:p>
        </p:txBody>
      </p:sp>
      <p:sp>
        <p:nvSpPr>
          <p:cNvPr id="467" name="Google Shape;467;p19"/>
          <p:cNvSpPr txBox="1"/>
          <p:nvPr>
            <p:ph idx="1" type="body"/>
          </p:nvPr>
        </p:nvSpPr>
        <p:spPr>
          <a:xfrm>
            <a:off x="311700" y="662875"/>
            <a:ext cx="8520600" cy="48540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chemeClr val="dk1"/>
              </a:buClr>
              <a:buSzPts val="1800"/>
              <a:buFont typeface="Comfortaa"/>
              <a:buChar char="●"/>
            </a:pPr>
            <a:r>
              <a:rPr lang="en">
                <a:solidFill>
                  <a:schemeClr val="dk1"/>
                </a:solidFill>
                <a:latin typeface="Comfortaa"/>
                <a:ea typeface="Comfortaa"/>
                <a:cs typeface="Comfortaa"/>
                <a:sym typeface="Comfortaa"/>
              </a:rPr>
              <a:t>Music conductor, highly skilled in piano.</a:t>
            </a:r>
            <a:endParaRPr>
              <a:solidFill>
                <a:schemeClr val="dk1"/>
              </a:solidFill>
              <a:latin typeface="Comfortaa"/>
              <a:ea typeface="Comfortaa"/>
              <a:cs typeface="Comfortaa"/>
              <a:sym typeface="Comfortaa"/>
            </a:endParaRPr>
          </a:p>
          <a:p>
            <a:pPr indent="-342900" lvl="0" marL="457200" rtl="0" algn="l">
              <a:lnSpc>
                <a:spcPct val="115000"/>
              </a:lnSpc>
              <a:spcBef>
                <a:spcPts val="0"/>
              </a:spcBef>
              <a:spcAft>
                <a:spcPts val="0"/>
              </a:spcAft>
              <a:buClr>
                <a:schemeClr val="dk1"/>
              </a:buClr>
              <a:buSzPts val="1800"/>
              <a:buFont typeface="Comfortaa"/>
              <a:buChar char="●"/>
            </a:pPr>
            <a:r>
              <a:rPr lang="en">
                <a:solidFill>
                  <a:schemeClr val="dk1"/>
                </a:solidFill>
                <a:latin typeface="Comfortaa"/>
                <a:ea typeface="Comfortaa"/>
                <a:cs typeface="Comfortaa"/>
                <a:sym typeface="Comfortaa"/>
              </a:rPr>
              <a:t>In 1985, he contracted a virus that attacked his brain, </a:t>
            </a:r>
            <a:r>
              <a:rPr lang="en" sz="1800">
                <a:solidFill>
                  <a:schemeClr val="dk1"/>
                </a:solidFill>
                <a:latin typeface="Comfortaa"/>
                <a:ea typeface="Comfortaa"/>
                <a:cs typeface="Comfortaa"/>
                <a:sym typeface="Comfortaa"/>
              </a:rPr>
              <a:t>caus</a:t>
            </a:r>
            <a:r>
              <a:rPr lang="en">
                <a:solidFill>
                  <a:schemeClr val="dk1"/>
                </a:solidFill>
                <a:latin typeface="Comfortaa"/>
                <a:ea typeface="Comfortaa"/>
                <a:cs typeface="Comfortaa"/>
                <a:sym typeface="Comfortaa"/>
              </a:rPr>
              <a:t>ing</a:t>
            </a:r>
            <a:r>
              <a:rPr lang="en" sz="1800">
                <a:solidFill>
                  <a:schemeClr val="dk1"/>
                </a:solidFill>
                <a:latin typeface="Comfortaa"/>
                <a:ea typeface="Comfortaa"/>
                <a:cs typeface="Comfortaa"/>
                <a:sym typeface="Comfortaa"/>
              </a:rPr>
              <a:t> severe damage to the hippocampus and surrounding areas.</a:t>
            </a:r>
            <a:endParaRPr sz="1800">
              <a:solidFill>
                <a:schemeClr val="dk1"/>
              </a:solidFill>
              <a:latin typeface="Comfortaa"/>
              <a:ea typeface="Comfortaa"/>
              <a:cs typeface="Comfortaa"/>
              <a:sym typeface="Comfortaa"/>
            </a:endParaRPr>
          </a:p>
          <a:p>
            <a:pPr indent="-342900" lvl="0" marL="457200" rtl="0" algn="l">
              <a:lnSpc>
                <a:spcPct val="115000"/>
              </a:lnSpc>
              <a:spcBef>
                <a:spcPts val="0"/>
              </a:spcBef>
              <a:spcAft>
                <a:spcPts val="0"/>
              </a:spcAft>
              <a:buClr>
                <a:schemeClr val="dk1"/>
              </a:buClr>
              <a:buSzPts val="1800"/>
              <a:buFont typeface="Comfortaa"/>
              <a:buChar char="●"/>
            </a:pPr>
            <a:r>
              <a:rPr lang="en">
                <a:solidFill>
                  <a:schemeClr val="dk1"/>
                </a:solidFill>
                <a:latin typeface="Comfortaa"/>
                <a:ea typeface="Comfortaa"/>
                <a:cs typeface="Comfortaa"/>
                <a:sym typeface="Comfortaa"/>
              </a:rPr>
              <a:t>Has both anterograde and retrograde amnesia</a:t>
            </a:r>
            <a:endParaRPr>
              <a:solidFill>
                <a:schemeClr val="dk1"/>
              </a:solidFill>
              <a:latin typeface="Comfortaa"/>
              <a:ea typeface="Comfortaa"/>
              <a:cs typeface="Comfortaa"/>
              <a:sym typeface="Comfortaa"/>
            </a:endParaRPr>
          </a:p>
          <a:p>
            <a:pPr indent="-342900" lvl="1" marL="914400" rtl="0" algn="l">
              <a:lnSpc>
                <a:spcPct val="115000"/>
              </a:lnSpc>
              <a:spcBef>
                <a:spcPts val="0"/>
              </a:spcBef>
              <a:spcAft>
                <a:spcPts val="0"/>
              </a:spcAft>
              <a:buClr>
                <a:schemeClr val="dk1"/>
              </a:buClr>
              <a:buSzPts val="1800"/>
              <a:buFont typeface="Comfortaa"/>
              <a:buChar char="○"/>
            </a:pPr>
            <a:r>
              <a:rPr lang="en" sz="1800">
                <a:solidFill>
                  <a:schemeClr val="dk1"/>
                </a:solidFill>
                <a:latin typeface="Comfortaa"/>
                <a:ea typeface="Comfortaa"/>
                <a:cs typeface="Comfortaa"/>
                <a:sym typeface="Comfortaa"/>
              </a:rPr>
              <a:t>Cannot recall old memories or form new ones</a:t>
            </a:r>
            <a:endParaRPr sz="1800">
              <a:solidFill>
                <a:schemeClr val="dk1"/>
              </a:solidFill>
              <a:latin typeface="Comfortaa"/>
              <a:ea typeface="Comfortaa"/>
              <a:cs typeface="Comfortaa"/>
              <a:sym typeface="Comfortaa"/>
            </a:endParaRPr>
          </a:p>
          <a:p>
            <a:pPr indent="-342900" lvl="0" marL="457200" rtl="0" algn="l">
              <a:lnSpc>
                <a:spcPct val="115000"/>
              </a:lnSpc>
              <a:spcBef>
                <a:spcPts val="0"/>
              </a:spcBef>
              <a:spcAft>
                <a:spcPts val="0"/>
              </a:spcAft>
              <a:buClr>
                <a:schemeClr val="dk1"/>
              </a:buClr>
              <a:buSzPts val="1800"/>
              <a:buFont typeface="Comfortaa"/>
              <a:buChar char="●"/>
            </a:pPr>
            <a:r>
              <a:rPr lang="en">
                <a:solidFill>
                  <a:schemeClr val="dk1"/>
                </a:solidFill>
                <a:latin typeface="Comfortaa"/>
                <a:ea typeface="Comfortaa"/>
                <a:cs typeface="Comfortaa"/>
                <a:sym typeface="Comfortaa"/>
              </a:rPr>
              <a:t>Procedural memory remained intact: he could still play the piano and conduct music perfectly.</a:t>
            </a:r>
            <a:endParaRPr>
              <a:solidFill>
                <a:schemeClr val="dk1"/>
              </a:solidFill>
              <a:latin typeface="Comfortaa"/>
              <a:ea typeface="Comfortaa"/>
              <a:cs typeface="Comfortaa"/>
              <a:sym typeface="Comfortaa"/>
            </a:endParaRPr>
          </a:p>
          <a:p>
            <a:pPr indent="0" lvl="0" marL="0" rtl="0" algn="l">
              <a:lnSpc>
                <a:spcPct val="115000"/>
              </a:lnSpc>
              <a:spcBef>
                <a:spcPts val="0"/>
              </a:spcBef>
              <a:spcAft>
                <a:spcPts val="0"/>
              </a:spcAft>
              <a:buSzPts val="1800"/>
              <a:buNone/>
            </a:pPr>
            <a:r>
              <a:t/>
            </a:r>
            <a:endParaRPr sz="1000">
              <a:solidFill>
                <a:srgbClr val="666666"/>
              </a:solidFill>
              <a:latin typeface="Comfortaa"/>
              <a:ea typeface="Comfortaa"/>
              <a:cs typeface="Comfortaa"/>
              <a:sym typeface="Comfortaa"/>
            </a:endParaRPr>
          </a:p>
          <a:p>
            <a:pPr indent="-330200" lvl="0" marL="457200" rtl="0" algn="l">
              <a:lnSpc>
                <a:spcPct val="115000"/>
              </a:lnSpc>
              <a:spcBef>
                <a:spcPts val="0"/>
              </a:spcBef>
              <a:spcAft>
                <a:spcPts val="0"/>
              </a:spcAft>
              <a:buClr>
                <a:schemeClr val="accent1"/>
              </a:buClr>
              <a:buSzPts val="1600"/>
              <a:buFont typeface="Comfortaa"/>
              <a:buChar char="●"/>
            </a:pPr>
            <a:r>
              <a:rPr lang="en" sz="1600">
                <a:solidFill>
                  <a:schemeClr val="accent1"/>
                </a:solidFill>
                <a:latin typeface="Comfortaa"/>
                <a:ea typeface="Comfortaa"/>
                <a:cs typeface="Comfortaa"/>
                <a:sym typeface="Comfortaa"/>
              </a:rPr>
              <a:t>Director de orquesta, altamente capacitado en piano.</a:t>
            </a:r>
            <a:endParaRPr sz="1600">
              <a:solidFill>
                <a:schemeClr val="accent1"/>
              </a:solidFill>
              <a:latin typeface="Comfortaa"/>
              <a:ea typeface="Comfortaa"/>
              <a:cs typeface="Comfortaa"/>
              <a:sym typeface="Comfortaa"/>
            </a:endParaRPr>
          </a:p>
          <a:p>
            <a:pPr indent="-330200" lvl="0" marL="457200" rtl="0" algn="l">
              <a:lnSpc>
                <a:spcPct val="115000"/>
              </a:lnSpc>
              <a:spcBef>
                <a:spcPts val="0"/>
              </a:spcBef>
              <a:spcAft>
                <a:spcPts val="0"/>
              </a:spcAft>
              <a:buClr>
                <a:schemeClr val="accent1"/>
              </a:buClr>
              <a:buSzPts val="1600"/>
              <a:buFont typeface="Comfortaa"/>
              <a:buChar char="●"/>
            </a:pPr>
            <a:r>
              <a:rPr lang="en" sz="1600">
                <a:solidFill>
                  <a:schemeClr val="accent1"/>
                </a:solidFill>
                <a:latin typeface="Comfortaa"/>
                <a:ea typeface="Comfortaa"/>
                <a:cs typeface="Comfortaa"/>
                <a:sym typeface="Comfortaa"/>
              </a:rPr>
              <a:t>En 1985, contrajo un virus que atacó su cerebro. El virus causó daños graves en el hipocampo y las áreas circundantes.</a:t>
            </a:r>
            <a:endParaRPr sz="1600">
              <a:solidFill>
                <a:schemeClr val="accent1"/>
              </a:solidFill>
              <a:latin typeface="Comfortaa"/>
              <a:ea typeface="Comfortaa"/>
              <a:cs typeface="Comfortaa"/>
              <a:sym typeface="Comfortaa"/>
            </a:endParaRPr>
          </a:p>
          <a:p>
            <a:pPr indent="-330200" lvl="0" marL="457200" rtl="0" algn="l">
              <a:lnSpc>
                <a:spcPct val="115000"/>
              </a:lnSpc>
              <a:spcBef>
                <a:spcPts val="0"/>
              </a:spcBef>
              <a:spcAft>
                <a:spcPts val="0"/>
              </a:spcAft>
              <a:buClr>
                <a:schemeClr val="accent1"/>
              </a:buClr>
              <a:buSzPts val="1600"/>
              <a:buFont typeface="Comfortaa"/>
              <a:buChar char="●"/>
            </a:pPr>
            <a:r>
              <a:rPr lang="en" sz="1600">
                <a:solidFill>
                  <a:schemeClr val="accent1"/>
                </a:solidFill>
                <a:latin typeface="Comfortaa"/>
                <a:ea typeface="Comfortaa"/>
                <a:cs typeface="Comfortaa"/>
                <a:sym typeface="Comfortaa"/>
              </a:rPr>
              <a:t>Presenta amnesia anterógrada y retrógrada. No puede recordar recuerdos antiguos ni formar nuevos.</a:t>
            </a:r>
            <a:endParaRPr sz="1600">
              <a:solidFill>
                <a:schemeClr val="accent1"/>
              </a:solidFill>
              <a:latin typeface="Comfortaa"/>
              <a:ea typeface="Comfortaa"/>
              <a:cs typeface="Comfortaa"/>
              <a:sym typeface="Comfortaa"/>
            </a:endParaRPr>
          </a:p>
          <a:p>
            <a:pPr indent="-330200" lvl="0" marL="457200" rtl="0" algn="l">
              <a:lnSpc>
                <a:spcPct val="115000"/>
              </a:lnSpc>
              <a:spcBef>
                <a:spcPts val="0"/>
              </a:spcBef>
              <a:spcAft>
                <a:spcPts val="0"/>
              </a:spcAft>
              <a:buClr>
                <a:schemeClr val="accent1"/>
              </a:buClr>
              <a:buSzPts val="1600"/>
              <a:buFont typeface="Comfortaa"/>
              <a:buChar char="●"/>
            </a:pPr>
            <a:r>
              <a:rPr lang="en" sz="1600">
                <a:solidFill>
                  <a:schemeClr val="accent1"/>
                </a:solidFill>
                <a:latin typeface="Comfortaa"/>
                <a:ea typeface="Comfortaa"/>
                <a:cs typeface="Comfortaa"/>
                <a:sym typeface="Comfortaa"/>
              </a:rPr>
              <a:t>Su memoria procedimental se mantuvo intacta: todavía podía tocar el piano y dirigir música perfectamente.</a:t>
            </a:r>
            <a:endParaRPr sz="1600">
              <a:solidFill>
                <a:schemeClr val="accent1"/>
              </a:solidFill>
              <a:latin typeface="Comfortaa"/>
              <a:ea typeface="Comfortaa"/>
              <a:cs typeface="Comfortaa"/>
              <a:sym typeface="Comfortaa"/>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20"/>
          <p:cNvSpPr txBox="1"/>
          <p:nvPr>
            <p:ph type="title"/>
          </p:nvPr>
        </p:nvSpPr>
        <p:spPr>
          <a:xfrm>
            <a:off x="311700" y="145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Clive Wearing</a:t>
            </a:r>
            <a:endParaRPr/>
          </a:p>
        </p:txBody>
      </p:sp>
      <p:pic>
        <p:nvPicPr>
          <p:cNvPr descr="This is an edited version of the BBC documentary 'Man without a memory' (http://www.youtube.com/watch?v=wDNDRDJy-vo). It shows the essence of Clive's disability (and it's pretty sad to watch too!). &#10;Post-view question to ponder: do you think Clive is happy?" id="473" name="Google Shape;473;p20" title="Clive Wearing - The man with no short-term memory">
            <a:hlinkClick r:id="rId3"/>
          </p:cNvPr>
          <p:cNvPicPr preferRelativeResize="0"/>
          <p:nvPr/>
        </p:nvPicPr>
        <p:blipFill rotWithShape="1">
          <a:blip r:embed="rId4">
            <a:alphaModFix/>
          </a:blip>
          <a:srcRect b="0" l="0" r="0" t="0"/>
          <a:stretch/>
        </p:blipFill>
        <p:spPr>
          <a:xfrm>
            <a:off x="1016812" y="718575"/>
            <a:ext cx="7110375" cy="39995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3"/>
                                        </p:tgtEl>
                                        <p:attrNameLst>
                                          <p:attrName>style.visibility</p:attrName>
                                        </p:attrNameLst>
                                      </p:cBhvr>
                                      <p:to>
                                        <p:strVal val="visible"/>
                                      </p:to>
                                    </p:set>
                                    <p:animEffect filter="fade" transition="in">
                                      <p:cBhvr>
                                        <p:cTn dur="1000"/>
                                        <p:tgtEl>
                                          <p:spTgt spid="4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